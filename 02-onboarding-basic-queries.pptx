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4136" y="672022"/>
            <a:ext cx="7640955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Yu Gothic UI Light"/>
                <a:cs typeface="Yu Gothic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02020"/>
                </a:solidFill>
                <a:latin typeface="Yu Gothic UI Light"/>
                <a:cs typeface="Yu Gothic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9864" y="685519"/>
            <a:ext cx="8164271" cy="407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02020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9856" y="1220589"/>
            <a:ext cx="7936865" cy="3107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02020"/>
                </a:solidFill>
                <a:latin typeface="Yu Gothic UI Light"/>
                <a:cs typeface="Yu Gothic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002"/>
            <a:ext cx="9144000" cy="5090160"/>
          </a:xfrm>
          <a:custGeom>
            <a:avLst/>
            <a:gdLst/>
            <a:ahLst/>
            <a:cxnLst/>
            <a:rect l="l" t="t" r="r" b="b"/>
            <a:pathLst>
              <a:path w="9144000" h="5090160">
                <a:moveTo>
                  <a:pt x="0" y="5089677"/>
                </a:moveTo>
                <a:lnTo>
                  <a:pt x="9144000" y="5089677"/>
                </a:lnTo>
                <a:lnTo>
                  <a:pt x="9144000" y="0"/>
                </a:lnTo>
                <a:lnTo>
                  <a:pt x="0" y="0"/>
                </a:lnTo>
                <a:lnTo>
                  <a:pt x="0" y="5089677"/>
                </a:lnTo>
                <a:close/>
              </a:path>
            </a:pathLst>
          </a:custGeom>
          <a:solidFill>
            <a:srgbClr val="191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861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/>
          <p:nvPr/>
        </p:nvSpPr>
        <p:spPr>
          <a:xfrm>
            <a:off x="534136" y="1206260"/>
            <a:ext cx="2986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3880" algn="l"/>
                <a:tab pos="2298065" algn="l"/>
                <a:tab pos="2538730" algn="l"/>
              </a:tabLst>
            </a:pP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R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E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T</a:t>
            </a:r>
            <a:r>
              <a:rPr sz="1400" b="1" spc="16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A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I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L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M</a:t>
            </a:r>
            <a:r>
              <a:rPr sz="1400" b="1" spc="27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A</a:t>
            </a:r>
            <a:r>
              <a:rPr sz="1400" b="1" spc="27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R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V</a:t>
            </a:r>
            <a:r>
              <a:rPr sz="1400" b="1" spc="27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3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·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	S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86166"/>
                </a:solidFill>
                <a:latin typeface="Calibri"/>
                <a:cs typeface="Calibri"/>
              </a:rPr>
              <a:t>Q</a:t>
            </a:r>
            <a:r>
              <a:rPr sz="1400" b="1" spc="26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86166"/>
                </a:solidFill>
                <a:latin typeface="Calibri"/>
                <a:cs typeface="Calibri"/>
              </a:rPr>
              <a:t>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800620"/>
            <a:ext cx="68891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FFFFFF"/>
                </a:solidFill>
                <a:latin typeface="Georgia"/>
                <a:cs typeface="Georgia"/>
              </a:rPr>
              <a:t>Onboarding</a:t>
            </a:r>
            <a:r>
              <a:rPr sz="38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800" b="1" dirty="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sz="3800" b="1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800" b="1" dirty="0">
                <a:solidFill>
                  <a:srgbClr val="FFFFFF"/>
                </a:solidFill>
                <a:latin typeface="Georgia"/>
                <a:cs typeface="Georgia"/>
              </a:rPr>
              <a:t>First</a:t>
            </a:r>
            <a:r>
              <a:rPr sz="3800" b="1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800" b="1" spc="-10" dirty="0">
                <a:solidFill>
                  <a:srgbClr val="FFFFFF"/>
                </a:solidFill>
                <a:latin typeface="Georgia"/>
                <a:cs typeface="Georgia"/>
              </a:rPr>
              <a:t>Queries</a:t>
            </a:r>
            <a:endParaRPr sz="38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136" y="4482632"/>
            <a:ext cx="22136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solidFill>
                  <a:srgbClr val="545477"/>
                </a:solidFill>
                <a:latin typeface="Yu Gothic UI Light"/>
                <a:cs typeface="Yu Gothic UI Light"/>
              </a:rPr>
              <a:t>AccioJob </a:t>
            </a:r>
            <a:r>
              <a:rPr sz="1000" spc="-65" dirty="0">
                <a:solidFill>
                  <a:srgbClr val="545477"/>
                </a:solidFill>
                <a:latin typeface="Yu Gothic UI Light"/>
                <a:cs typeface="Yu Gothic UI Light"/>
              </a:rPr>
              <a:t>SQL</a:t>
            </a:r>
            <a:r>
              <a:rPr sz="1000" spc="-30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spc="-10" dirty="0">
                <a:solidFill>
                  <a:srgbClr val="545477"/>
                </a:solidFill>
                <a:latin typeface="Yu Gothic UI Light"/>
                <a:cs typeface="Yu Gothic UI Light"/>
              </a:rPr>
              <a:t>Masterclass</a:t>
            </a:r>
            <a:r>
              <a:rPr sz="1000" spc="-20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spc="-100" dirty="0">
                <a:solidFill>
                  <a:srgbClr val="545477"/>
                </a:solidFill>
                <a:latin typeface="Yu Gothic UI Light"/>
                <a:cs typeface="Yu Gothic UI Light"/>
              </a:rPr>
              <a:t>—</a:t>
            </a:r>
            <a:r>
              <a:rPr sz="1000" spc="-35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dirty="0">
                <a:solidFill>
                  <a:srgbClr val="545477"/>
                </a:solidFill>
                <a:latin typeface="Yu Gothic UI Light"/>
                <a:cs typeface="Yu Gothic UI Light"/>
              </a:rPr>
              <a:t>RetailMart</a:t>
            </a:r>
            <a:r>
              <a:rPr sz="1000" spc="-30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spc="-25" dirty="0">
                <a:solidFill>
                  <a:srgbClr val="545477"/>
                </a:solidFill>
                <a:latin typeface="Yu Gothic UI Light"/>
                <a:cs typeface="Yu Gothic UI Light"/>
              </a:rPr>
              <a:t>V3</a:t>
            </a:r>
            <a:endParaRPr sz="1000">
              <a:latin typeface="Yu Gothic UI Light"/>
              <a:cs typeface="Yu Gothic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61376" y="4482632"/>
            <a:ext cx="5480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0" dirty="0">
                <a:solidFill>
                  <a:srgbClr val="545477"/>
                </a:solidFill>
                <a:latin typeface="Yu Gothic UI Light"/>
                <a:cs typeface="Yu Gothic UI Light"/>
              </a:rPr>
              <a:t>—</a:t>
            </a:r>
            <a:r>
              <a:rPr sz="1000" spc="-40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spc="-10" dirty="0">
                <a:solidFill>
                  <a:srgbClr val="545477"/>
                </a:solidFill>
                <a:latin typeface="Yu Gothic UI Light"/>
                <a:cs typeface="Yu Gothic UI Light"/>
              </a:rPr>
              <a:t>Siraj</a:t>
            </a:r>
            <a:r>
              <a:rPr sz="1000" spc="-40" dirty="0">
                <a:solidFill>
                  <a:srgbClr val="545477"/>
                </a:solidFill>
                <a:latin typeface="Yu Gothic UI Light"/>
                <a:cs typeface="Yu Gothic UI Light"/>
              </a:rPr>
              <a:t> </a:t>
            </a:r>
            <a:r>
              <a:rPr sz="1000" spc="-25" dirty="0">
                <a:solidFill>
                  <a:srgbClr val="545477"/>
                </a:solidFill>
                <a:latin typeface="Yu Gothic UI Light"/>
                <a:cs typeface="Yu Gothic UI Light"/>
              </a:rPr>
              <a:t>Sir</a:t>
            </a:r>
            <a:endParaRPr sz="10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3646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3258" y="345505"/>
            <a:ext cx="367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RECAP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300" dirty="0">
                <a:latin typeface="Segoe UI Symbol"/>
                <a:cs typeface="Segoe UI Symbol"/>
              </a:rPr>
              <a:t>🔄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SQL</a:t>
            </a:r>
            <a:r>
              <a:rPr spc="-15" dirty="0"/>
              <a:t> </a:t>
            </a:r>
            <a:r>
              <a:rPr dirty="0"/>
              <a:t>JOURNEY</a:t>
            </a:r>
            <a:r>
              <a:rPr spc="-15" dirty="0"/>
              <a:t> </a:t>
            </a:r>
            <a:r>
              <a:rPr dirty="0"/>
              <a:t>SO</a:t>
            </a:r>
            <a:r>
              <a:rPr spc="-10" dirty="0"/>
              <a:t> </a:t>
            </a:r>
            <a:r>
              <a:rPr spc="-25" dirty="0"/>
              <a:t>FAR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23139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Introduction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to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SQL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&amp;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Installation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433999"/>
            <a:ext cx="80010" cy="11220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934" y="1458485"/>
            <a:ext cx="528701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27175">
              <a:lnSpc>
                <a:spcPct val="119900"/>
              </a:lnSpc>
              <a:spcBef>
                <a:spcPts val="100"/>
              </a:spcBef>
            </a:pP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SQL?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universal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language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relational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databases </a:t>
            </a:r>
            <a:r>
              <a:rPr sz="12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5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categories: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DDL,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DML,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DQL,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DCL,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TCL</a:t>
            </a:r>
            <a:endParaRPr sz="1200">
              <a:latin typeface="Yu Gothic UI Light"/>
              <a:cs typeface="Yu Gothic UI Light"/>
            </a:endParaRPr>
          </a:p>
          <a:p>
            <a:pPr marL="12700" marR="1617980">
              <a:lnSpc>
                <a:spcPct val="119900"/>
              </a:lnSpc>
            </a:pP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vs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Schema: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Building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vs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Departments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 Installed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65" dirty="0">
                <a:solidFill>
                  <a:srgbClr val="202020"/>
                </a:solidFill>
                <a:latin typeface="Yu Gothic UI Light"/>
                <a:cs typeface="Yu Gothic UI Light"/>
              </a:rPr>
              <a:t>18,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pgAdmin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4,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VS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Code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SQLTools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Client-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Server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architecture: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pgAdmin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(Client)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talks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(Server)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Port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5432</a:t>
            </a:r>
            <a:endParaRPr sz="1200">
              <a:latin typeface="Yu Gothic UI Light"/>
              <a:cs typeface="Yu Gothic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2625831"/>
            <a:ext cx="262763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85" dirty="0">
                <a:solidFill>
                  <a:srgbClr val="F86166"/>
                </a:solidFill>
                <a:latin typeface="Segoe UI Symbol"/>
                <a:cs typeface="Segoe UI Symbol"/>
              </a:rPr>
              <a:t>🎯</a:t>
            </a:r>
            <a:r>
              <a:rPr sz="1600" spc="-285" dirty="0">
                <a:solidFill>
                  <a:srgbClr val="F86166"/>
                </a:solidFill>
                <a:latin typeface="Segoe UI Symbol"/>
                <a:cs typeface="Segoe UI Symbol"/>
              </a:rPr>
              <a:t> </a:t>
            </a:r>
            <a:r>
              <a:rPr sz="1300" b="1" spc="-25" dirty="0">
                <a:solidFill>
                  <a:srgbClr val="F86166"/>
                </a:solidFill>
                <a:latin typeface="Calibri"/>
                <a:cs typeface="Calibri"/>
              </a:rPr>
              <a:t>Today</a:t>
            </a:r>
            <a:r>
              <a:rPr sz="1300" b="1" spc="-40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86166"/>
                </a:solidFill>
                <a:latin typeface="Calibri"/>
                <a:cs typeface="Calibri"/>
              </a:rPr>
              <a:t>(Onboarding</a:t>
            </a:r>
            <a:r>
              <a:rPr sz="1300" b="1" spc="-2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86166"/>
                </a:solidFill>
                <a:latin typeface="Calibri"/>
                <a:cs typeface="Calibri"/>
              </a:rPr>
              <a:t>&amp;</a:t>
            </a:r>
            <a:r>
              <a:rPr sz="1300" b="1" spc="-2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86166"/>
                </a:solidFill>
                <a:latin typeface="Calibri"/>
                <a:cs typeface="Calibri"/>
              </a:rPr>
              <a:t>First</a:t>
            </a:r>
            <a:r>
              <a:rPr sz="1300" b="1" spc="-25" dirty="0">
                <a:solidFill>
                  <a:srgbClr val="F8616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86166"/>
                </a:solidFill>
                <a:latin typeface="Calibri"/>
                <a:cs typeface="Calibri"/>
              </a:rPr>
              <a:t>Queries)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856" y="2840880"/>
            <a:ext cx="80010" cy="4641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2934" y="2865353"/>
            <a:ext cx="508063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We're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ready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load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real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RetailMart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write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our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real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queries!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Next</a:t>
            </a:r>
            <a:r>
              <a:rPr sz="12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session: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DDL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CREATE, </a:t>
            </a:r>
            <a:r>
              <a:rPr sz="12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DROP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ALTER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build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own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endParaRPr sz="12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144" y="368174"/>
            <a:ext cx="42081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1D3A5E"/>
                </a:solidFill>
              </a:rPr>
              <a:t>TODAY'S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dirty="0">
                <a:solidFill>
                  <a:srgbClr val="1D3A5E"/>
                </a:solidFill>
              </a:rPr>
              <a:t>AGENDA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dirty="0">
                <a:solidFill>
                  <a:srgbClr val="1D3A5E"/>
                </a:solidFill>
              </a:rPr>
              <a:t>(2</a:t>
            </a:r>
            <a:r>
              <a:rPr sz="2200" spc="-65" dirty="0">
                <a:solidFill>
                  <a:srgbClr val="1D3A5E"/>
                </a:solidFill>
              </a:rPr>
              <a:t> </a:t>
            </a:r>
            <a:r>
              <a:rPr sz="2200" spc="-10" dirty="0">
                <a:solidFill>
                  <a:srgbClr val="1D3A5E"/>
                </a:solidFill>
              </a:rPr>
              <a:t>Hours)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457200" y="777242"/>
            <a:ext cx="1371600" cy="635"/>
          </a:xfrm>
          <a:custGeom>
            <a:avLst/>
            <a:gdLst/>
            <a:ahLst/>
            <a:cxnLst/>
            <a:rect l="l" t="t" r="r" b="b"/>
            <a:pathLst>
              <a:path w="1371600" h="634">
                <a:moveTo>
                  <a:pt x="0" y="0"/>
                </a:moveTo>
                <a:lnTo>
                  <a:pt x="1371600" y="355"/>
                </a:lnTo>
              </a:path>
            </a:pathLst>
          </a:custGeom>
          <a:ln w="25559">
            <a:solidFill>
              <a:srgbClr val="F861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4341" y="911543"/>
          <a:ext cx="8229599" cy="2512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D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1: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Basics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SELECT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35</a:t>
                      </a:r>
                      <a:r>
                        <a:rPr sz="1000" spc="-4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mins</a:t>
                      </a:r>
                      <a:endParaRPr sz="10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Writing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basic </a:t>
                      </a:r>
                      <a:r>
                        <a:rPr sz="900" spc="-55" dirty="0">
                          <a:latin typeface="Yu Gothic UI Light"/>
                          <a:cs typeface="Yu Gothic UI Light"/>
                        </a:rPr>
                        <a:t>SQL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queries,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45" dirty="0">
                          <a:latin typeface="Yu Gothic UI Light"/>
                          <a:cs typeface="Yu Gothic UI Light"/>
                        </a:rPr>
                        <a:t>SELECT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as</a:t>
                      </a:r>
                      <a:r>
                        <a:rPr sz="900" spc="-1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a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calculator, System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info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queries</a:t>
                      </a:r>
                      <a:endParaRPr sz="9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2: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Exploring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Real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Database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35</a:t>
                      </a:r>
                      <a:r>
                        <a:rPr sz="1000" spc="-4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mins</a:t>
                      </a:r>
                      <a:endParaRPr sz="10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psql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catalog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commands: </a:t>
                      </a:r>
                      <a:r>
                        <a:rPr sz="900" spc="-55" dirty="0">
                          <a:latin typeface="Yu Gothic UI Light"/>
                          <a:cs typeface="Yu Gothic UI Light"/>
                        </a:rPr>
                        <a:t>\l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80" dirty="0">
                          <a:latin typeface="Yu Gothic UI Light"/>
                          <a:cs typeface="Yu Gothic UI Light"/>
                        </a:rPr>
                        <a:t>\c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60" dirty="0">
                          <a:latin typeface="Yu Gothic UI Light"/>
                          <a:cs typeface="Yu Gothic UI Light"/>
                        </a:rPr>
                        <a:t>\dn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50" dirty="0">
                          <a:latin typeface="Yu Gothic UI Light"/>
                          <a:cs typeface="Yu Gothic UI Light"/>
                        </a:rPr>
                        <a:t>\dt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45" dirty="0">
                          <a:latin typeface="Yu Gothic UI Light"/>
                          <a:cs typeface="Yu Gothic UI Light"/>
                        </a:rPr>
                        <a:t>\d,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Schema-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qualified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names,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45" dirty="0">
                          <a:latin typeface="Yu Gothic UI Light"/>
                          <a:cs typeface="Yu Gothic UI Light"/>
                        </a:rPr>
                        <a:t>SELECT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...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LIMIT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on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real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tables</a:t>
                      </a:r>
                      <a:endParaRPr sz="9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3: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Real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RetailMart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40</a:t>
                      </a:r>
                      <a:r>
                        <a:rPr sz="1000" spc="-5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mins</a:t>
                      </a:r>
                      <a:endParaRPr sz="10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Get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the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course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repo,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65" dirty="0">
                          <a:latin typeface="Yu Gothic UI Light"/>
                          <a:cs typeface="Yu Gothic UI Light"/>
                        </a:rPr>
                        <a:t>One-</a:t>
                      </a:r>
                      <a:r>
                        <a:rPr sz="900" spc="-35" dirty="0">
                          <a:latin typeface="Yu Gothic UI Light"/>
                          <a:cs typeface="Yu Gothic UI Light"/>
                        </a:rPr>
                        <a:t>command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import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of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60" dirty="0">
                          <a:latin typeface="Yu Gothic UI Light"/>
                          <a:cs typeface="Yu Gothic UI Light"/>
                        </a:rPr>
                        <a:t>16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schemas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/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55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tables,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Verify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the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load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worked</a:t>
                      </a:r>
                      <a:endParaRPr sz="9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Part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4: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Tour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Q&amp;A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30</a:t>
                      </a:r>
                      <a:r>
                        <a:rPr sz="1000" spc="-4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1000" spc="-20" dirty="0">
                          <a:latin typeface="Yu Gothic UI Light"/>
                          <a:cs typeface="Yu Gothic UI Light"/>
                        </a:rPr>
                        <a:t>mins</a:t>
                      </a:r>
                      <a:endParaRPr sz="10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Walk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the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60" dirty="0">
                          <a:latin typeface="Yu Gothic UI Light"/>
                          <a:cs typeface="Yu Gothic UI Light"/>
                        </a:rPr>
                        <a:t>16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schemas,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First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queries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on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real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10" dirty="0">
                          <a:latin typeface="Yu Gothic UI Light"/>
                          <a:cs typeface="Yu Gothic UI Light"/>
                        </a:rPr>
                        <a:t>data,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What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0" dirty="0">
                          <a:latin typeface="Yu Gothic UI Light"/>
                          <a:cs typeface="Yu Gothic UI Light"/>
                        </a:rPr>
                        <a:t>comes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dirty="0">
                          <a:latin typeface="Yu Gothic UI Light"/>
                          <a:cs typeface="Yu Gothic UI Light"/>
                        </a:rPr>
                        <a:t>next:</a:t>
                      </a:r>
                      <a:r>
                        <a:rPr sz="900" spc="-30" dirty="0">
                          <a:latin typeface="Yu Gothic UI Light"/>
                          <a:cs typeface="Yu Gothic UI Light"/>
                        </a:rPr>
                        <a:t> </a:t>
                      </a:r>
                      <a:r>
                        <a:rPr sz="900" spc="-25" dirty="0">
                          <a:latin typeface="Yu Gothic UI Light"/>
                          <a:cs typeface="Yu Gothic UI Light"/>
                        </a:rPr>
                        <a:t>DDL</a:t>
                      </a:r>
                      <a:endParaRPr sz="900">
                        <a:latin typeface="Yu Gothic UI Light"/>
                        <a:cs typeface="Yu Gothic UI Light"/>
                      </a:endParaRPr>
                    </a:p>
                  </a:txBody>
                  <a:tcPr marL="0" marR="0" marB="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532878"/>
            <a:ext cx="7223125" cy="699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80"/>
              </a:spcBef>
            </a:pPr>
            <a:r>
              <a:rPr sz="2500" b="0" spc="-300" dirty="0">
                <a:latin typeface="Segoe UI Symbol"/>
                <a:cs typeface="Segoe UI Symbol"/>
              </a:rPr>
              <a:t>🎬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MAIN</a:t>
            </a:r>
            <a:r>
              <a:rPr spc="-50" dirty="0"/>
              <a:t> </a:t>
            </a:r>
            <a:r>
              <a:rPr dirty="0"/>
              <a:t>STORY: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School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Built</a:t>
            </a:r>
            <a:r>
              <a:rPr spc="-30" dirty="0"/>
              <a:t> </a:t>
            </a:r>
            <a:r>
              <a:rPr dirty="0"/>
              <a:t>Its</a:t>
            </a:r>
            <a:r>
              <a:rPr spc="-35" dirty="0"/>
              <a:t> </a:t>
            </a:r>
            <a:r>
              <a:rPr dirty="0"/>
              <a:t>Own</a:t>
            </a:r>
            <a:r>
              <a:rPr spc="-25" dirty="0"/>
              <a:t> </a:t>
            </a:r>
            <a:r>
              <a:rPr spc="-10" dirty="0"/>
              <a:t>Library </a:t>
            </a:r>
            <a:r>
              <a:rPr dirty="0"/>
              <a:t>System</a:t>
            </a:r>
            <a:r>
              <a:rPr spc="-55" dirty="0"/>
              <a:t> </a:t>
            </a:r>
            <a:r>
              <a:rPr spc="-10" dirty="0"/>
              <a:t>(1/2)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147869"/>
            <a:ext cx="7915909" cy="198247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Duration: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80" dirty="0">
                <a:solidFill>
                  <a:srgbClr val="202020"/>
                </a:solidFill>
                <a:latin typeface="Yu Gothic UI Light"/>
                <a:cs typeface="Yu Gothic UI Light"/>
              </a:rPr>
              <a:t>10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minutes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295" dirty="0">
                <a:solidFill>
                  <a:srgbClr val="202020"/>
                </a:solidFill>
                <a:latin typeface="Yu Gothic UI Light"/>
                <a:cs typeface="Yu Gothic UI Light"/>
              </a:rPr>
              <a:t>|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technical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jargon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story!</a:t>
            </a:r>
            <a:endParaRPr sz="1300">
              <a:latin typeface="Yu Gothic UI Light"/>
              <a:cs typeface="Yu Gothic UI Light"/>
            </a:endParaRPr>
          </a:p>
          <a:p>
            <a:pPr marL="12700" marR="127000">
              <a:lnSpc>
                <a:spcPct val="120100"/>
              </a:lnSpc>
              <a:spcBef>
                <a:spcPts val="570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①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small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school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500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students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library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5,000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books.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librarian,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Mrs.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Sharma,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keeps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everything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a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thick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register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handwritten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entries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book,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student,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borrow/return.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20100"/>
              </a:lnSpc>
              <a:spcBef>
                <a:spcPts val="575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②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day,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principal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asks: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'How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many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Science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books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do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have?'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Mrs.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Sharma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spends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3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HOURS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flipping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through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200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pages, counting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manually.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answer: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347.</a:t>
            </a:r>
            <a:endParaRPr sz="1300">
              <a:latin typeface="Yu Gothic UI Light"/>
              <a:cs typeface="Yu Gothic UI Light"/>
            </a:endParaRPr>
          </a:p>
          <a:p>
            <a:pPr marL="12700" marR="254635">
              <a:lnSpc>
                <a:spcPct val="120100"/>
              </a:lnSpc>
              <a:spcBef>
                <a:spcPts val="575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③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principal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then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asks: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'Which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students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have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overdue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books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right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now?'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Another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2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hours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cross-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referencing.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Mrs.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Sharma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exhausted.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532878"/>
            <a:ext cx="7223125" cy="699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680"/>
              </a:spcBef>
            </a:pPr>
            <a:r>
              <a:rPr sz="2500" b="0" spc="-300" dirty="0">
                <a:latin typeface="Segoe UI Symbol"/>
                <a:cs typeface="Segoe UI Symbol"/>
              </a:rPr>
              <a:t>🎬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MAIN</a:t>
            </a:r>
            <a:r>
              <a:rPr spc="-50" dirty="0"/>
              <a:t> </a:t>
            </a:r>
            <a:r>
              <a:rPr dirty="0"/>
              <a:t>STORY: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School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Built</a:t>
            </a:r>
            <a:r>
              <a:rPr spc="-30" dirty="0"/>
              <a:t> </a:t>
            </a:r>
            <a:r>
              <a:rPr dirty="0"/>
              <a:t>Its</a:t>
            </a:r>
            <a:r>
              <a:rPr spc="-35" dirty="0"/>
              <a:t> </a:t>
            </a:r>
            <a:r>
              <a:rPr dirty="0"/>
              <a:t>Own</a:t>
            </a:r>
            <a:r>
              <a:rPr spc="-25" dirty="0"/>
              <a:t> </a:t>
            </a:r>
            <a:r>
              <a:rPr spc="-10" dirty="0"/>
              <a:t>Library </a:t>
            </a:r>
            <a:r>
              <a:rPr dirty="0"/>
              <a:t>System</a:t>
            </a:r>
            <a:r>
              <a:rPr spc="-55" dirty="0"/>
              <a:t> </a:t>
            </a:r>
            <a:r>
              <a:rPr spc="-10" dirty="0"/>
              <a:t>(2/2)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68615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9395">
              <a:lnSpc>
                <a:spcPct val="120100"/>
              </a:lnSpc>
              <a:spcBef>
                <a:spcPts val="100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④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computer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teacher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offers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help.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He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says: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'First,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need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PLACE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store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everything.'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He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creates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—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like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buying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new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empty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filing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cabinet.</a:t>
            </a:r>
            <a:endParaRPr sz="1300">
              <a:latin typeface="Yu Gothic UI Light"/>
              <a:cs typeface="Yu Gothic UI Light"/>
            </a:endParaRPr>
          </a:p>
          <a:p>
            <a:pPr marL="12700" marR="508000">
              <a:lnSpc>
                <a:spcPct val="120100"/>
              </a:lnSpc>
              <a:spcBef>
                <a:spcPts val="570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⑤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says: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'Inside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cabinet,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need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SECTIONS.'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creates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SCHEMAS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section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'books',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for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'students',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'borrowing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records'.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Like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labeled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drawers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cabinet.</a:t>
            </a:r>
            <a:endParaRPr sz="1300">
              <a:latin typeface="Yu Gothic UI Light"/>
              <a:cs typeface="Yu Gothic UI Light"/>
            </a:endParaRPr>
          </a:p>
          <a:p>
            <a:pPr marL="12700" marR="193040">
              <a:lnSpc>
                <a:spcPct val="120100"/>
              </a:lnSpc>
              <a:spcBef>
                <a:spcPts val="575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Ⓐ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each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section,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creates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like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designing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new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register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page.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books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has columns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book_id,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title,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subject,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author.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students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student_id,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name,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class.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20100"/>
              </a:lnSpc>
              <a:spcBef>
                <a:spcPts val="570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⑦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few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lines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suddenly,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answer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'How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many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Science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books?'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appears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0.01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seconds.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Mrs.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Sharma stares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disbelief.</a:t>
            </a:r>
            <a:endParaRPr sz="1300">
              <a:latin typeface="Yu Gothic UI Light"/>
              <a:cs typeface="Yu Gothic UI Light"/>
            </a:endParaRPr>
          </a:p>
          <a:p>
            <a:pPr marL="12700" marR="207645">
              <a:lnSpc>
                <a:spcPct val="120100"/>
              </a:lnSpc>
              <a:spcBef>
                <a:spcPts val="575"/>
              </a:spcBef>
            </a:pPr>
            <a:r>
              <a:rPr sz="1300" spc="415" dirty="0">
                <a:solidFill>
                  <a:srgbClr val="202020"/>
                </a:solidFill>
                <a:latin typeface="Yu Gothic UI Light"/>
                <a:cs typeface="Yu Gothic UI Light"/>
              </a:rPr>
              <a:t>Ⓑ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'That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SQL,'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teacher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says.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'And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those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few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lines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typed?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SCHEMA,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TABLE. That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exactly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learn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today.'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300" dirty="0">
                <a:latin typeface="Segoe UI Symbol"/>
                <a:cs typeface="Segoe UI Symbol"/>
              </a:rPr>
              <a:t>🔗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STORY</a:t>
            </a:r>
            <a:r>
              <a:rPr spc="-25" dirty="0"/>
              <a:t> 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SQL</a:t>
            </a:r>
            <a:r>
              <a:rPr spc="-20" dirty="0"/>
              <a:t> </a:t>
            </a:r>
            <a:r>
              <a:rPr spc="-10" dirty="0"/>
              <a:t>CONNECTION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60261"/>
            <a:ext cx="40411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part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library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story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maps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today's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concepts:</a:t>
            </a:r>
            <a:endParaRPr sz="1300">
              <a:latin typeface="Yu Gothic UI Light"/>
              <a:cs typeface="Yu Gothic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506719"/>
            <a:ext cx="80010" cy="17799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934" y="1531192"/>
            <a:ext cx="5370195" cy="17799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①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Handwritten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register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Unstructured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(no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database)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②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3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hours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count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books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engine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→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answers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milliseconds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③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Cross-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referencing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records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Manual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lookups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→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Databases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link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automatically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④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Filing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cabinet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top-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level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container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⑤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Labeled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drawers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SCHEMA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logical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sections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Ⓐ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Register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defining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types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⑦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Instant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answer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power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structured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380" dirty="0">
                <a:solidFill>
                  <a:srgbClr val="202020"/>
                </a:solidFill>
                <a:latin typeface="Yu Gothic UI Light"/>
                <a:cs typeface="Yu Gothic UI Light"/>
              </a:rPr>
              <a:t>Ⓑ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commands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85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DDL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Definition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Language)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building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</a:t>
            </a:r>
            <a:endParaRPr sz="12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56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35417" y="345505"/>
            <a:ext cx="3638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300" dirty="0">
                <a:latin typeface="Segoe UI Symbol"/>
                <a:cs typeface="Segoe UI Symbol"/>
              </a:rPr>
              <a:t>🗣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MINI</a:t>
            </a:r>
            <a:r>
              <a:rPr spc="-40" dirty="0"/>
              <a:t> </a:t>
            </a:r>
            <a:r>
              <a:rPr spc="-10" dirty="0"/>
              <a:t>STORY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pc="-30" dirty="0"/>
              <a:t>Imagine</a:t>
            </a:r>
            <a:r>
              <a:rPr spc="-40" dirty="0"/>
              <a:t> </a:t>
            </a:r>
            <a:r>
              <a:rPr spc="-30" dirty="0"/>
              <a:t>you</a:t>
            </a:r>
            <a:r>
              <a:rPr spc="-40" dirty="0"/>
              <a:t> </a:t>
            </a:r>
            <a:r>
              <a:rPr dirty="0"/>
              <a:t>just</a:t>
            </a:r>
            <a:r>
              <a:rPr spc="-35" dirty="0"/>
              <a:t> </a:t>
            </a:r>
            <a:r>
              <a:rPr spc="-45" dirty="0"/>
              <a:t>bought</a:t>
            </a:r>
            <a:r>
              <a:rPr spc="-3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55" dirty="0"/>
              <a:t>brand-</a:t>
            </a:r>
            <a:r>
              <a:rPr dirty="0"/>
              <a:t>new</a:t>
            </a:r>
            <a:r>
              <a:rPr spc="-45" dirty="0"/>
              <a:t> </a:t>
            </a:r>
            <a:r>
              <a:rPr spc="-20" dirty="0"/>
              <a:t>calculator.</a:t>
            </a:r>
            <a:r>
              <a:rPr spc="-35" dirty="0"/>
              <a:t> </a:t>
            </a:r>
            <a:r>
              <a:rPr spc="-20" dirty="0"/>
              <a:t>Before</a:t>
            </a:r>
            <a:r>
              <a:rPr spc="-35" dirty="0"/>
              <a:t> </a:t>
            </a:r>
            <a:r>
              <a:rPr spc="-25" dirty="0"/>
              <a:t>solving</a:t>
            </a:r>
            <a:r>
              <a:rPr spc="-35" dirty="0"/>
              <a:t> </a:t>
            </a:r>
            <a:r>
              <a:rPr spc="-30" dirty="0"/>
              <a:t>complex</a:t>
            </a:r>
            <a:r>
              <a:rPr spc="-35" dirty="0"/>
              <a:t> </a:t>
            </a:r>
            <a:r>
              <a:rPr spc="-10" dirty="0"/>
              <a:t>equations,</a:t>
            </a:r>
            <a:r>
              <a:rPr spc="-35" dirty="0"/>
              <a:t> </a:t>
            </a:r>
            <a:r>
              <a:rPr spc="-30" dirty="0"/>
              <a:t>you</a:t>
            </a:r>
            <a:r>
              <a:rPr spc="-45" dirty="0"/>
              <a:t> </a:t>
            </a: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it:</a:t>
            </a:r>
            <a:r>
              <a:rPr spc="-35" dirty="0"/>
              <a:t> </a:t>
            </a:r>
            <a:r>
              <a:rPr spc="190" dirty="0"/>
              <a:t>1</a:t>
            </a:r>
            <a:r>
              <a:rPr spc="-35" dirty="0"/>
              <a:t> </a:t>
            </a:r>
            <a:r>
              <a:rPr spc="-210" dirty="0"/>
              <a:t>+</a:t>
            </a:r>
            <a:r>
              <a:rPr spc="-35" dirty="0"/>
              <a:t> </a:t>
            </a:r>
            <a:r>
              <a:rPr spc="190" dirty="0"/>
              <a:t>1</a:t>
            </a:r>
            <a:r>
              <a:rPr spc="-35" dirty="0"/>
              <a:t> </a:t>
            </a:r>
            <a:r>
              <a:rPr spc="-210" dirty="0"/>
              <a:t>=</a:t>
            </a:r>
            <a:r>
              <a:rPr spc="-40" dirty="0"/>
              <a:t> </a:t>
            </a:r>
            <a:r>
              <a:rPr dirty="0"/>
              <a:t>?</a:t>
            </a:r>
            <a:r>
              <a:rPr spc="-40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spc="-20" dirty="0"/>
              <a:t>says</a:t>
            </a:r>
            <a:r>
              <a:rPr spc="-35" dirty="0"/>
              <a:t> </a:t>
            </a:r>
            <a:r>
              <a:rPr dirty="0"/>
              <a:t>2,</a:t>
            </a:r>
            <a:r>
              <a:rPr spc="-40" dirty="0"/>
              <a:t> </a:t>
            </a:r>
            <a:r>
              <a:rPr spc="-25" dirty="0"/>
              <a:t>you </a:t>
            </a:r>
            <a:r>
              <a:rPr dirty="0"/>
              <a:t>trust </a:t>
            </a:r>
            <a:r>
              <a:rPr spc="-25" dirty="0"/>
              <a:t>it.</a:t>
            </a:r>
          </a:p>
          <a:p>
            <a:pPr marL="12700" marR="190500">
              <a:lnSpc>
                <a:spcPct val="120100"/>
              </a:lnSpc>
              <a:spcBef>
                <a:spcPts val="570"/>
              </a:spcBef>
            </a:pPr>
            <a:r>
              <a:rPr spc="-85" dirty="0"/>
              <a:t>SQL</a:t>
            </a:r>
            <a:r>
              <a:rPr spc="-55" dirty="0"/>
              <a:t> </a:t>
            </a:r>
            <a:r>
              <a:rPr dirty="0"/>
              <a:t>works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5" dirty="0"/>
              <a:t>same</a:t>
            </a:r>
            <a:r>
              <a:rPr spc="-55" dirty="0"/>
              <a:t> </a:t>
            </a:r>
            <a:r>
              <a:rPr dirty="0"/>
              <a:t>way!</a:t>
            </a:r>
            <a:r>
              <a:rPr spc="-50" dirty="0"/>
              <a:t> </a:t>
            </a:r>
            <a:r>
              <a:rPr spc="-25" dirty="0"/>
              <a:t>Before</a:t>
            </a:r>
            <a:r>
              <a:rPr spc="-55" dirty="0"/>
              <a:t> </a:t>
            </a:r>
            <a:r>
              <a:rPr spc="-25" dirty="0"/>
              <a:t>building</a:t>
            </a:r>
            <a:r>
              <a:rPr spc="-50" dirty="0"/>
              <a:t> </a:t>
            </a:r>
            <a:r>
              <a:rPr spc="-10" dirty="0"/>
              <a:t>tables</a:t>
            </a:r>
            <a:r>
              <a:rPr spc="-50" dirty="0"/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spc="-25" dirty="0"/>
              <a:t>querying</a:t>
            </a:r>
            <a:r>
              <a:rPr spc="-55" dirty="0"/>
              <a:t> </a:t>
            </a:r>
            <a:r>
              <a:rPr dirty="0"/>
              <a:t>millions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rows,</a:t>
            </a:r>
            <a:r>
              <a:rPr spc="-50" dirty="0"/>
              <a:t> </a:t>
            </a:r>
            <a:r>
              <a:rPr spc="-30" dirty="0"/>
              <a:t>you</a:t>
            </a:r>
            <a:r>
              <a:rPr spc="-55" dirty="0"/>
              <a:t> </a:t>
            </a:r>
            <a:r>
              <a:rPr spc="-30" dirty="0"/>
              <a:t>can</a:t>
            </a:r>
            <a:r>
              <a:rPr spc="-55" dirty="0"/>
              <a:t> </a:t>
            </a:r>
            <a:r>
              <a:rPr spc="-20" dirty="0"/>
              <a:t>use</a:t>
            </a:r>
            <a:r>
              <a:rPr spc="-50" dirty="0"/>
              <a:t> </a:t>
            </a:r>
            <a:r>
              <a:rPr spc="-60" dirty="0"/>
              <a:t>SELECT</a:t>
            </a:r>
            <a:r>
              <a:rPr spc="-50" dirty="0"/>
              <a:t> </a:t>
            </a:r>
            <a:r>
              <a:rPr spc="-10" dirty="0"/>
              <a:t>as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0" dirty="0"/>
              <a:t>calculator,</a:t>
            </a:r>
            <a:r>
              <a:rPr spc="-50" dirty="0"/>
              <a:t> a </a:t>
            </a:r>
            <a:r>
              <a:rPr spc="-10" dirty="0"/>
              <a:t>clock,</a:t>
            </a:r>
            <a:r>
              <a:rPr spc="-50" dirty="0"/>
              <a:t> </a:t>
            </a:r>
            <a:r>
              <a:rPr spc="-35" dirty="0"/>
              <a:t>and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system</a:t>
            </a:r>
            <a:r>
              <a:rPr spc="-50" dirty="0"/>
              <a:t> </a:t>
            </a:r>
            <a:r>
              <a:rPr spc="-10" dirty="0"/>
              <a:t>inspector</a:t>
            </a:r>
            <a:r>
              <a:rPr spc="-50" dirty="0"/>
              <a:t> </a:t>
            </a:r>
            <a:r>
              <a:rPr spc="-130" dirty="0"/>
              <a:t>—</a:t>
            </a:r>
            <a:r>
              <a:rPr spc="-50" dirty="0"/>
              <a:t> </a:t>
            </a:r>
            <a:r>
              <a:rPr dirty="0"/>
              <a:t>all</a:t>
            </a:r>
            <a:r>
              <a:rPr spc="-50" dirty="0"/>
              <a:t> </a:t>
            </a:r>
            <a:r>
              <a:rPr dirty="0"/>
              <a:t>without</a:t>
            </a:r>
            <a:r>
              <a:rPr spc="-45" dirty="0"/>
              <a:t> </a:t>
            </a:r>
            <a:r>
              <a:rPr spc="-40" dirty="0"/>
              <a:t>needing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0" dirty="0"/>
              <a:t>single</a:t>
            </a:r>
            <a:r>
              <a:rPr spc="-45" dirty="0"/>
              <a:t> </a:t>
            </a:r>
            <a:r>
              <a:rPr spc="-10" dirty="0"/>
              <a:t>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300" dirty="0">
                <a:latin typeface="Segoe UI Symbol"/>
                <a:cs typeface="Segoe UI Symbol"/>
              </a:rPr>
              <a:t>📝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DEFINITION:</a:t>
            </a:r>
            <a:r>
              <a:rPr spc="-30" dirty="0"/>
              <a:t> </a:t>
            </a:r>
            <a:r>
              <a:rPr dirty="0"/>
              <a:t>SQL</a:t>
            </a:r>
            <a:r>
              <a:rPr spc="-25" dirty="0"/>
              <a:t> </a:t>
            </a:r>
            <a:r>
              <a:rPr spc="-10" dirty="0"/>
              <a:t>Query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179688"/>
            <a:ext cx="7933690" cy="18053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🎓</a:t>
            </a:r>
            <a:r>
              <a:rPr sz="1600" spc="-28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Technical: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ts val="1870"/>
              </a:lnSpc>
              <a:spcBef>
                <a:spcPts val="55"/>
              </a:spcBef>
            </a:pP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instruction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written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Language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communicates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relational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management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(RDBMS)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perform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operations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such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retrieving,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inserting,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updating,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deleting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data.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most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basic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form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expression;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🗣</a:t>
            </a:r>
            <a:r>
              <a:rPr sz="1600" spc="-28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Layman's:</a:t>
            </a:r>
            <a:endParaRPr sz="1300">
              <a:latin typeface="Calibri"/>
              <a:cs typeface="Calibri"/>
            </a:endParaRPr>
          </a:p>
          <a:p>
            <a:pPr marL="12700" marR="100965">
              <a:lnSpc>
                <a:spcPts val="1870"/>
              </a:lnSpc>
              <a:spcBef>
                <a:spcPts val="50"/>
              </a:spcBef>
            </a:pP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Think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like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ordering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food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restaurant.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tell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waiter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(database)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exactly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want: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'Give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me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today's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date'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'Calculate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0" dirty="0">
                <a:solidFill>
                  <a:srgbClr val="202020"/>
                </a:solidFill>
                <a:latin typeface="Yu Gothic UI Light"/>
                <a:cs typeface="Yu Gothic UI Light"/>
              </a:rPr>
              <a:t>100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times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0" dirty="0">
                <a:solidFill>
                  <a:srgbClr val="202020"/>
                </a:solidFill>
                <a:latin typeface="Yu Gothic UI Light"/>
                <a:cs typeface="Yu Gothic UI Light"/>
              </a:rPr>
              <a:t>18'.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waiter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brings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back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exactly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asked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for.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request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'query'.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1904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B200"/>
                </a:solidFill>
                <a:latin typeface="Calibri"/>
                <a:cs typeface="Calibri"/>
              </a:rPr>
              <a:t>SYNTAX:</a:t>
            </a:r>
            <a:r>
              <a:rPr sz="1600" spc="-5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Basic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Queries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964" y="685446"/>
            <a:ext cx="8595360" cy="4114800"/>
          </a:xfrm>
          <a:custGeom>
            <a:avLst/>
            <a:gdLst/>
            <a:ahLst/>
            <a:cxnLst/>
            <a:rect l="l" t="t" r="r" b="b"/>
            <a:pathLst>
              <a:path w="8595360" h="4114800">
                <a:moveTo>
                  <a:pt x="8594991" y="0"/>
                </a:moveTo>
                <a:lnTo>
                  <a:pt x="0" y="0"/>
                </a:lnTo>
                <a:lnTo>
                  <a:pt x="0" y="4114431"/>
                </a:lnTo>
                <a:lnTo>
                  <a:pt x="4297680" y="4114431"/>
                </a:lnTo>
                <a:lnTo>
                  <a:pt x="8594991" y="4114431"/>
                </a:lnTo>
                <a:lnTo>
                  <a:pt x="8594991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256" y="717592"/>
            <a:ext cx="139763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Basic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 structure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42;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256" y="1243550"/>
            <a:ext cx="147320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645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As</a:t>
            </a:r>
            <a:r>
              <a:rPr sz="1000" spc="-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a</a:t>
            </a:r>
            <a:r>
              <a:rPr sz="1000" spc="-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calculator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100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0.18;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2025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1986;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5459" y="1418873"/>
            <a:ext cx="1321435" cy="5518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Addition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Multiplication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Subtraction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1256" y="2120155"/>
            <a:ext cx="2388235" cy="125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System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info</a:t>
            </a:r>
            <a:r>
              <a:rPr sz="1000" spc="-20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(no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FROM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needed)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version();</a:t>
            </a:r>
            <a:endParaRPr sz="1000">
              <a:latin typeface="Courier New"/>
              <a:cs typeface="Courier New"/>
            </a:endParaRPr>
          </a:p>
          <a:p>
            <a:pPr marL="12700" marR="386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current_date;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current_time;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current_timestamp;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current_user;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current_database();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5459" y="2295491"/>
            <a:ext cx="1626235" cy="10775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PostgreSQL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version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Today's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date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time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Date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+</a:t>
            </a:r>
            <a:r>
              <a:rPr sz="1000" spc="-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Time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Who's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logged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in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Which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database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256" y="3522730"/>
            <a:ext cx="2616200" cy="72707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-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99954"/>
                </a:solidFill>
                <a:latin typeface="Courier New"/>
                <a:cs typeface="Courier New"/>
              </a:rPr>
              <a:t>String</a:t>
            </a:r>
            <a:r>
              <a:rPr sz="1000" spc="-15" dirty="0">
                <a:solidFill>
                  <a:srgbClr val="699954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99954"/>
                </a:solidFill>
                <a:latin typeface="Courier New"/>
                <a:cs typeface="Courier New"/>
              </a:rPr>
              <a:t>operations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114999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'Hello'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'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||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'World!';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4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UPPER('hello');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LENGTH('PostgreSQL');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4196" y="3698028"/>
            <a:ext cx="1245235" cy="5518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Concatenation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HELLO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ct val="100000"/>
              </a:lnSpc>
              <a:spcBef>
                <a:spcPts val="18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-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- 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10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4CAE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87576" y="269178"/>
            <a:ext cx="39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00475"/>
            <a:ext cx="8163559" cy="12128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PROBLEM:</a:t>
            </a:r>
            <a:r>
              <a:rPr sz="1300" b="1" spc="1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installed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9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want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verify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installation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working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before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doing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anything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else.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🤔</a:t>
            </a:r>
            <a:r>
              <a:rPr sz="1600" spc="-27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Think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about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What's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simplest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test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if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engine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responds?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13199"/>
              </a:lnSpc>
              <a:spcBef>
                <a:spcPts val="844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💡</a:t>
            </a:r>
            <a:r>
              <a:rPr sz="1600" spc="-27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happens: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returns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long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showing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exact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version,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compiler,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platform.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If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see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installation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healthy!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2704" y="180989"/>
            <a:ext cx="913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B200"/>
                </a:solidFill>
                <a:latin typeface="Georgia"/>
                <a:cs typeface="Georgia"/>
              </a:rPr>
              <a:t>Solution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256" y="641428"/>
            <a:ext cx="1321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version();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33499" y="269178"/>
            <a:ext cx="69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MEDIUM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00475"/>
            <a:ext cx="8091170" cy="12128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PROBLEM:</a:t>
            </a:r>
            <a:r>
              <a:rPr sz="1300" b="1" spc="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want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check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today's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date,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time,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which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you're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connected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query.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🤔</a:t>
            </a:r>
            <a:r>
              <a:rPr sz="1600" spc="-27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Think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about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combine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multiple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SELECTs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one?</a:t>
            </a:r>
            <a:endParaRPr sz="1300">
              <a:latin typeface="Yu Gothic UI Light"/>
              <a:cs typeface="Yu Gothic UI Light"/>
            </a:endParaRPr>
          </a:p>
          <a:p>
            <a:pPr marL="12700" marR="64769">
              <a:lnSpc>
                <a:spcPct val="113199"/>
              </a:lnSpc>
              <a:spcBef>
                <a:spcPts val="844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💡</a:t>
            </a:r>
            <a:r>
              <a:rPr sz="1600" spc="-27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happens: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row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4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columns.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AS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gives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each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friendly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name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(alias).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multi-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SELECT!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F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913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Solution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2845435" cy="8642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current_date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today,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current_time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right_now,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current_database()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connected_to,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current_user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logged_in_as;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54098" y="269178"/>
            <a:ext cx="45783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HARD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17668"/>
            <a:ext cx="8075930" cy="143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55">
              <a:lnSpc>
                <a:spcPct val="1201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PROBLEM:</a:t>
            </a:r>
            <a:r>
              <a:rPr sz="1300" b="1" spc="1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need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comprehensive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status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report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combining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version,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user,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timestamp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single query.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🤔</a:t>
            </a:r>
            <a:r>
              <a:rPr sz="1600" spc="-26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Think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about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it: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you combine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functions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calculations?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13199"/>
              </a:lnSpc>
              <a:spcBef>
                <a:spcPts val="844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💡</a:t>
            </a:r>
            <a:r>
              <a:rPr sz="1600" spc="-27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happens: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Returns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name,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user,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full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version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string,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exact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timestamp,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session's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process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ID.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DBAs use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identify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sessions.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F442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913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Solution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302000" cy="10325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 marR="5080">
              <a:lnSpc>
                <a:spcPct val="110100"/>
              </a:lnSpc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current_database()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database_name,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current_user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3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logged_in_user,</a:t>
            </a:r>
            <a:r>
              <a:rPr sz="1000" spc="50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version()</a:t>
            </a:r>
            <a:r>
              <a:rPr sz="1000" spc="-3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2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postgres_version,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current_timestamp</a:t>
            </a:r>
            <a:r>
              <a:rPr sz="1000" spc="-5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report_generated_at,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pg_backend_pid()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4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session_process_id;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3"/>
            <a:ext cx="8777605" cy="5143500"/>
          </a:xfrm>
          <a:custGeom>
            <a:avLst/>
            <a:gdLst/>
            <a:ahLst/>
            <a:cxnLst/>
            <a:rect l="l" t="t" r="r" b="b"/>
            <a:pathLst>
              <a:path w="8777605" h="5143500">
                <a:moveTo>
                  <a:pt x="109435" y="0"/>
                </a:moveTo>
                <a:lnTo>
                  <a:pt x="0" y="0"/>
                </a:lnTo>
                <a:lnTo>
                  <a:pt x="0" y="5143309"/>
                </a:lnTo>
                <a:lnTo>
                  <a:pt x="54724" y="5143309"/>
                </a:lnTo>
                <a:lnTo>
                  <a:pt x="109435" y="5143309"/>
                </a:lnTo>
                <a:lnTo>
                  <a:pt x="109435" y="0"/>
                </a:lnTo>
                <a:close/>
              </a:path>
              <a:path w="8777605" h="5143500">
                <a:moveTo>
                  <a:pt x="8777516" y="183235"/>
                </a:moveTo>
                <a:lnTo>
                  <a:pt x="7589164" y="183235"/>
                </a:lnTo>
                <a:lnTo>
                  <a:pt x="7589164" y="594360"/>
                </a:lnTo>
                <a:lnTo>
                  <a:pt x="8183524" y="594360"/>
                </a:lnTo>
                <a:lnTo>
                  <a:pt x="8777516" y="594360"/>
                </a:lnTo>
                <a:lnTo>
                  <a:pt x="8777516" y="183235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1060" y="269178"/>
            <a:ext cx="504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CRAZY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696" y="700475"/>
            <a:ext cx="8173084" cy="12128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b="1" spc="-10" dirty="0">
                <a:solidFill>
                  <a:srgbClr val="202020"/>
                </a:solidFill>
                <a:latin typeface="Calibri"/>
                <a:cs typeface="Calibri"/>
              </a:rPr>
              <a:t>PROBLEM:</a:t>
            </a:r>
            <a:r>
              <a:rPr sz="1300" b="1" spc="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calculator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compute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GST.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product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costs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₹999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before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tax.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GST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18%.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What's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total?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🤔</a:t>
            </a:r>
            <a:r>
              <a:rPr sz="1600" spc="-27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Think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about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it: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can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do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math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any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table!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13199"/>
              </a:lnSpc>
              <a:spcBef>
                <a:spcPts val="844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💡</a:t>
            </a:r>
            <a:r>
              <a:rPr sz="1600" spc="-26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happens: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Returns 999,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179.82,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45" dirty="0">
                <a:solidFill>
                  <a:srgbClr val="202020"/>
                </a:solidFill>
                <a:latin typeface="Yu Gothic UI Light"/>
                <a:cs typeface="Yu Gothic UI Light"/>
              </a:rPr>
              <a:t>1178.82,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1178.82.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ROUND()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controls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decimal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places.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billing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does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this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calculation!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355" y="-353"/>
            <a:ext cx="9144000" cy="54610"/>
          </a:xfrm>
          <a:custGeom>
            <a:avLst/>
            <a:gdLst/>
            <a:ahLst/>
            <a:cxnLst/>
            <a:rect l="l" t="t" r="r" b="b"/>
            <a:pathLst>
              <a:path w="9144000" h="54610">
                <a:moveTo>
                  <a:pt x="9143631" y="0"/>
                </a:moveTo>
                <a:lnTo>
                  <a:pt x="0" y="0"/>
                </a:lnTo>
                <a:lnTo>
                  <a:pt x="0" y="54355"/>
                </a:lnTo>
                <a:lnTo>
                  <a:pt x="4572000" y="54355"/>
                </a:lnTo>
                <a:lnTo>
                  <a:pt x="9143631" y="54355"/>
                </a:lnTo>
                <a:lnTo>
                  <a:pt x="914363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4844" y="136806"/>
            <a:ext cx="1463040" cy="365760"/>
          </a:xfrm>
          <a:custGeom>
            <a:avLst/>
            <a:gdLst/>
            <a:ahLst/>
            <a:cxnLst/>
            <a:rect l="l" t="t" r="r" b="b"/>
            <a:pathLst>
              <a:path w="1463040" h="365759">
                <a:moveTo>
                  <a:pt x="1462671" y="0"/>
                </a:moveTo>
                <a:lnTo>
                  <a:pt x="0" y="0"/>
                </a:lnTo>
                <a:lnTo>
                  <a:pt x="0" y="365391"/>
                </a:lnTo>
                <a:lnTo>
                  <a:pt x="731520" y="365391"/>
                </a:lnTo>
                <a:lnTo>
                  <a:pt x="1462671" y="365391"/>
                </a:lnTo>
                <a:lnTo>
                  <a:pt x="1462671" y="0"/>
                </a:lnTo>
                <a:close/>
              </a:path>
            </a:pathLst>
          </a:custGeom>
          <a:solidFill>
            <a:srgbClr val="9C27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89494" y="188184"/>
            <a:ext cx="713105" cy="234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55" dirty="0">
                <a:solidFill>
                  <a:srgbClr val="FFFFFF"/>
                </a:solidFill>
                <a:latin typeface="Segoe UI Symbol"/>
                <a:cs typeface="Segoe UI Symbol"/>
              </a:rPr>
              <a:t>✅</a:t>
            </a:r>
            <a:r>
              <a:rPr sz="1350" spc="-22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2704" y="180989"/>
            <a:ext cx="913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</a:rPr>
              <a:t>Solution</a:t>
            </a:r>
            <a:endParaRPr sz="1600"/>
          </a:p>
        </p:txBody>
      </p:sp>
      <p:sp>
        <p:nvSpPr>
          <p:cNvPr id="8" name="object 8"/>
          <p:cNvSpPr txBox="1"/>
          <p:nvPr/>
        </p:nvSpPr>
        <p:spPr>
          <a:xfrm>
            <a:off x="351256" y="626165"/>
            <a:ext cx="3074035" cy="8642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SELECT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999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base_price,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999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0.18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gst_amount,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999</a:t>
            </a:r>
            <a:r>
              <a:rPr sz="1000" spc="-15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1.18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total_with_gst,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ROUND(999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*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1.18,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2)</a:t>
            </a:r>
            <a:r>
              <a:rPr sz="1000" spc="-20" dirty="0">
                <a:solidFill>
                  <a:srgbClr val="D3D3D3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D3D3D3"/>
                </a:solidFill>
                <a:latin typeface="Courier New"/>
                <a:cs typeface="Courier New"/>
              </a:rPr>
              <a:t>AS</a:t>
            </a:r>
            <a:r>
              <a:rPr sz="1000" spc="-10" dirty="0">
                <a:solidFill>
                  <a:srgbClr val="D3D3D3"/>
                </a:solidFill>
                <a:latin typeface="Courier New"/>
                <a:cs typeface="Courier New"/>
              </a:rPr>
              <a:t> rounded_total;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1A5E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7303" y="345505"/>
            <a:ext cx="8807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TAKEAWAYS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10" dirty="0"/>
              <a:t>TAKEAWAYS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98512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most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versatile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command.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works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calculator,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clock,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inspector,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(starting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tomorrow)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retriever.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9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don't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always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need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expression;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works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own.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</a:t>
            </a:r>
            <a:r>
              <a:rPr spc="-35" dirty="0"/>
              <a:t> </a:t>
            </a:r>
            <a:r>
              <a:rPr spc="-25" dirty="0"/>
              <a:t>TIP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0542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Always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end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statement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semicolon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(;).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waits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patiently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semicolon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before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executing.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Forgetting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#1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beginner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mistake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appears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hang,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but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it's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waiting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finish!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BE36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7653" y="345505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MISTAKE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1235" dirty="0">
                <a:latin typeface="Segoe UI Symbol"/>
                <a:cs typeface="Segoe UI Symbol"/>
              </a:rPr>
              <a:t>⚠️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COMMON</a:t>
            </a:r>
            <a:r>
              <a:rPr spc="-65" dirty="0"/>
              <a:t> </a:t>
            </a:r>
            <a:r>
              <a:rPr dirty="0"/>
              <a:t>MISTAKE:</a:t>
            </a:r>
            <a:r>
              <a:rPr spc="-35" dirty="0"/>
              <a:t> </a:t>
            </a:r>
            <a:r>
              <a:rPr dirty="0"/>
              <a:t>Forgetting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Semicolon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179688"/>
            <a:ext cx="7794625" cy="13290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600" spc="-185" dirty="0">
                <a:solidFill>
                  <a:srgbClr val="C52828"/>
                </a:solidFill>
                <a:latin typeface="Segoe UI Symbol"/>
                <a:cs typeface="Segoe UI Symbol"/>
              </a:rPr>
              <a:t>❌</a:t>
            </a:r>
            <a:r>
              <a:rPr sz="1600" spc="-285" dirty="0">
                <a:solidFill>
                  <a:srgbClr val="C52828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C52828"/>
                </a:solidFill>
                <a:latin typeface="Calibri"/>
                <a:cs typeface="Calibri"/>
              </a:rPr>
              <a:t>The </a:t>
            </a:r>
            <a:r>
              <a:rPr sz="1300" b="1" spc="-10" dirty="0">
                <a:solidFill>
                  <a:srgbClr val="C52828"/>
                </a:solidFill>
                <a:latin typeface="Calibri"/>
                <a:cs typeface="Calibri"/>
              </a:rPr>
              <a:t>Mistake: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Typing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90" dirty="0">
                <a:solidFill>
                  <a:srgbClr val="202020"/>
                </a:solidFill>
                <a:latin typeface="Yu Gothic UI Light"/>
                <a:cs typeface="Yu Gothic UI Light"/>
              </a:rPr>
              <a:t>1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10" dirty="0">
                <a:solidFill>
                  <a:srgbClr val="202020"/>
                </a:solidFill>
                <a:latin typeface="Yu Gothic UI Light"/>
                <a:cs typeface="Yu Gothic UI Light"/>
              </a:rPr>
              <a:t>+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90" dirty="0">
                <a:solidFill>
                  <a:srgbClr val="202020"/>
                </a:solidFill>
                <a:latin typeface="Yu Gothic UI Light"/>
                <a:cs typeface="Yu Gothic UI Light"/>
              </a:rPr>
              <a:t>1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pressing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Execute.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Nothing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happens.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cursor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moves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next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line.</a:t>
            </a:r>
            <a:endParaRPr sz="1300">
              <a:latin typeface="Yu Gothic UI Light"/>
              <a:cs typeface="Yu Gothic UI Light"/>
            </a:endParaRPr>
          </a:p>
          <a:p>
            <a:pPr marL="49530">
              <a:lnSpc>
                <a:spcPct val="100000"/>
              </a:lnSpc>
              <a:spcBef>
                <a:spcPts val="885"/>
              </a:spcBef>
            </a:pPr>
            <a:r>
              <a:rPr sz="1300" b="1" dirty="0">
                <a:solidFill>
                  <a:srgbClr val="2E7C32"/>
                </a:solidFill>
                <a:latin typeface="Calibri"/>
                <a:cs typeface="Calibri"/>
              </a:rPr>
              <a:t>The</a:t>
            </a:r>
            <a:r>
              <a:rPr sz="1300" b="1" spc="-10" dirty="0">
                <a:solidFill>
                  <a:srgbClr val="2E7C32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E7C32"/>
                </a:solidFill>
                <a:latin typeface="Calibri"/>
                <a:cs typeface="Calibri"/>
              </a:rPr>
              <a:t>Fix: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</a:pP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statement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MUST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end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semicolon: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90" dirty="0">
                <a:solidFill>
                  <a:srgbClr val="202020"/>
                </a:solidFill>
                <a:latin typeface="Yu Gothic UI Light"/>
                <a:cs typeface="Yu Gothic UI Light"/>
              </a:rPr>
              <a:t>1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10" dirty="0">
                <a:solidFill>
                  <a:srgbClr val="202020"/>
                </a:solidFill>
                <a:latin typeface="Yu Gothic UI Light"/>
                <a:cs typeface="Yu Gothic UI Light"/>
              </a:rPr>
              <a:t>+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25" dirty="0">
                <a:solidFill>
                  <a:srgbClr val="202020"/>
                </a:solidFill>
                <a:latin typeface="Yu Gothic UI Light"/>
                <a:cs typeface="Yu Gothic UI Light"/>
              </a:rPr>
              <a:t>1;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semicolon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tells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'I'm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done,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execute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now!'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18022"/>
            <a:ext cx="314769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b="0" spc="-240" dirty="0">
                <a:solidFill>
                  <a:srgbClr val="1D3A5E"/>
                </a:solidFill>
                <a:latin typeface="Segoe UI Symbol"/>
                <a:cs typeface="Segoe UI Symbol"/>
              </a:rPr>
              <a:t>🎯</a:t>
            </a:r>
            <a:r>
              <a:rPr sz="2100" b="0" spc="-31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SPOTLIGHT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918450" cy="79883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Q: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'Can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run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statement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clause?'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'Yes!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be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used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calculator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(SELECT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1+1;),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call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functions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(SELECT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version();),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or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get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date/time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(SELECT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NOW();).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needed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these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expressions.'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767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CHALLENGE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088788"/>
            <a:ext cx="5742940" cy="944244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spc="-185" dirty="0">
                <a:solidFill>
                  <a:srgbClr val="202020"/>
                </a:solidFill>
                <a:latin typeface="Segoe UI Symbol"/>
                <a:cs typeface="Segoe UI Symbol"/>
              </a:rPr>
              <a:t>💻</a:t>
            </a:r>
            <a:r>
              <a:rPr sz="1600" spc="-285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202020"/>
                </a:solidFill>
                <a:latin typeface="Calibri"/>
                <a:cs typeface="Calibri"/>
              </a:rPr>
              <a:t>TRY</a:t>
            </a:r>
            <a:r>
              <a:rPr sz="1300" b="1" spc="-3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02020"/>
                </a:solidFill>
                <a:latin typeface="Calibri"/>
                <a:cs typeface="Calibri"/>
              </a:rPr>
              <a:t>THIS</a:t>
            </a:r>
            <a:endParaRPr sz="1300">
              <a:latin typeface="Calibri"/>
              <a:cs typeface="Calibri"/>
            </a:endParaRPr>
          </a:p>
          <a:p>
            <a:pPr marL="139065" indent="-132080">
              <a:lnSpc>
                <a:spcPct val="100000"/>
              </a:lnSpc>
              <a:spcBef>
                <a:spcPts val="82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Run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version();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note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which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PostgreSQL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version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have.</a:t>
            </a:r>
            <a:endParaRPr sz="130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Calculate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age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days: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25" dirty="0">
                <a:solidFill>
                  <a:srgbClr val="202020"/>
                </a:solidFill>
                <a:latin typeface="Yu Gothic UI Light"/>
                <a:cs typeface="Yu Gothic UI Light"/>
              </a:rPr>
              <a:t>-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'2000-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01-</a:t>
            </a:r>
            <a:r>
              <a:rPr sz="1300" spc="55" dirty="0">
                <a:solidFill>
                  <a:srgbClr val="202020"/>
                </a:solidFill>
                <a:latin typeface="Yu Gothic UI Light"/>
                <a:cs typeface="Yu Gothic UI Light"/>
              </a:rPr>
              <a:t>15';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(use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birthday)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685519"/>
            <a:ext cx="499681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900" dirty="0">
                <a:latin typeface="Segoe UI Symbol"/>
                <a:cs typeface="Segoe UI Symbol"/>
              </a:rPr>
              <a:t>🧠</a:t>
            </a:r>
            <a:r>
              <a:rPr sz="2500" b="0" spc="-380" dirty="0">
                <a:latin typeface="Segoe UI Symbol"/>
                <a:cs typeface="Segoe UI Symbol"/>
              </a:rPr>
              <a:t> </a:t>
            </a:r>
            <a:r>
              <a:rPr dirty="0"/>
              <a:t>THINK</a:t>
            </a:r>
            <a:r>
              <a:rPr spc="-20" dirty="0"/>
              <a:t> </a:t>
            </a:r>
            <a:r>
              <a:rPr dirty="0"/>
              <a:t>ABOUT</a:t>
            </a:r>
            <a:r>
              <a:rPr spc="-10" dirty="0"/>
              <a:t> </a:t>
            </a:r>
            <a:r>
              <a:rPr dirty="0"/>
              <a:t>IT: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AS</a:t>
            </a:r>
            <a:r>
              <a:rPr spc="-10" dirty="0"/>
              <a:t> </a:t>
            </a:r>
            <a:r>
              <a:rPr spc="-150" dirty="0"/>
              <a:t>Keyword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771130" cy="1598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>
              <a:lnSpc>
                <a:spcPct val="120100"/>
              </a:lnSpc>
              <a:spcBef>
                <a:spcPts val="100"/>
              </a:spcBef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saw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`AS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today`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examples.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That's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called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alias.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doesn't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change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stored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renames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OUTPUT.</a:t>
            </a:r>
            <a:endParaRPr sz="1300">
              <a:latin typeface="Yu Gothic UI Light"/>
              <a:cs typeface="Yu Gothic UI Light"/>
            </a:endParaRPr>
          </a:p>
          <a:p>
            <a:pPr marL="12700" marR="2250440">
              <a:lnSpc>
                <a:spcPct val="120100"/>
              </a:lnSpc>
              <a:spcBef>
                <a:spcPts val="570"/>
              </a:spcBef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alias: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`SELECT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current_date;`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→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header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appears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'current_date'.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alias: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`SELECT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today;`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→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header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appears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'today'.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20100"/>
              </a:lnSpc>
              <a:spcBef>
                <a:spcPts val="575"/>
              </a:spcBef>
            </a:pP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keyword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technically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OPTIONAL: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`SELECT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today;`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also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works.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But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0" dirty="0">
                <a:solidFill>
                  <a:srgbClr val="202020"/>
                </a:solidFill>
                <a:latin typeface="Yu Gothic UI Light"/>
                <a:cs typeface="Yu Gothic UI Light"/>
              </a:rPr>
              <a:t>ALWAYS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use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explicitly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it makes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10×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more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readable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it's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interview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expectation.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Never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skip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production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code.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4136" y="618022"/>
            <a:ext cx="314769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b="0" spc="-240" dirty="0">
                <a:solidFill>
                  <a:srgbClr val="1D3A5E"/>
                </a:solidFill>
                <a:latin typeface="Segoe UI Symbol"/>
                <a:cs typeface="Segoe UI Symbol"/>
              </a:rPr>
              <a:t>🎯</a:t>
            </a:r>
            <a:r>
              <a:rPr sz="2100" b="0" spc="-31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700" dirty="0">
                <a:solidFill>
                  <a:srgbClr val="1D3A5E"/>
                </a:solidFill>
              </a:rPr>
              <a:t>INTERVIEW</a:t>
            </a:r>
            <a:r>
              <a:rPr sz="1700" spc="-2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SPOTLIGHT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957184" cy="13144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Q: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'What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difference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between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current_timestamp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NOW()?'</a:t>
            </a:r>
            <a:endParaRPr sz="1300">
              <a:latin typeface="Yu Gothic UI Light"/>
              <a:cs typeface="Yu Gothic UI Light"/>
            </a:endParaRPr>
          </a:p>
          <a:p>
            <a:pPr marL="12700" marR="5080">
              <a:lnSpc>
                <a:spcPct val="130100"/>
              </a:lnSpc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A: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'Functionally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they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are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identical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both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return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time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timezone. current_timestamp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defined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ANSI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standard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(works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all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databases).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NOW()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PostgreSQL-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specific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a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little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shorter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type.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portable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code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run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on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MySQL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Oracle,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prefer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current_timestamp.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PostgreSQL-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only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code,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either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fine.'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144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</a:t>
            </a:r>
            <a:r>
              <a:rPr spc="-35" dirty="0"/>
              <a:t> </a:t>
            </a:r>
            <a:r>
              <a:rPr spc="-25" dirty="0"/>
              <a:t>TIP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088788"/>
            <a:ext cx="7980680" cy="149288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50"/>
              </a:spcBef>
            </a:pPr>
            <a:r>
              <a:rPr sz="1600" spc="605" dirty="0">
                <a:solidFill>
                  <a:srgbClr val="202020"/>
                </a:solidFill>
                <a:latin typeface="Segoe UI Symbol"/>
                <a:cs typeface="Segoe UI Symbol"/>
              </a:rPr>
              <a:t>🧠</a:t>
            </a:r>
            <a:r>
              <a:rPr sz="1600" spc="-280" dirty="0">
                <a:solidFill>
                  <a:srgbClr val="202020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Pro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Tip: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SELECT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Secret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Superpower</a:t>
            </a:r>
            <a:endParaRPr sz="1300">
              <a:latin typeface="Yu Gothic UI Light"/>
              <a:cs typeface="Yu Gothic UI Light"/>
            </a:endParaRPr>
          </a:p>
          <a:p>
            <a:pPr marL="12700" marR="5080" algn="just">
              <a:lnSpc>
                <a:spcPct val="120100"/>
              </a:lnSpc>
              <a:spcBef>
                <a:spcPts val="515"/>
              </a:spcBef>
            </a:pP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Most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" dirty="0">
                <a:solidFill>
                  <a:srgbClr val="202020"/>
                </a:solidFill>
                <a:latin typeface="Yu Gothic UI Light"/>
                <a:cs typeface="Yu Gothic UI Light"/>
              </a:rPr>
              <a:t>tutorials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teach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needs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clause.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That's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half-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true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PostgreSQL,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`SELECT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90" dirty="0">
                <a:solidFill>
                  <a:srgbClr val="202020"/>
                </a:solidFill>
                <a:latin typeface="Yu Gothic UI Light"/>
                <a:cs typeface="Yu Gothic UI Light"/>
              </a:rPr>
              <a:t>1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4" dirty="0">
                <a:solidFill>
                  <a:srgbClr val="202020"/>
                </a:solidFill>
                <a:latin typeface="Yu Gothic UI Light"/>
                <a:cs typeface="Yu Gothic UI Light"/>
              </a:rPr>
              <a:t>+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95" dirty="0">
                <a:solidFill>
                  <a:srgbClr val="202020"/>
                </a:solidFill>
                <a:latin typeface="Yu Gothic UI Light"/>
                <a:cs typeface="Yu Gothic UI Light"/>
              </a:rPr>
              <a:t>1;`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25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35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5" dirty="0">
                <a:solidFill>
                  <a:srgbClr val="202020"/>
                </a:solidFill>
                <a:latin typeface="Yu Gothic UI Light"/>
                <a:cs typeface="Yu Gothic UI Light"/>
              </a:rPr>
              <a:t>works.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Why?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Because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has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an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invisible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pseudo-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called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th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e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'dual'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concept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under</a:t>
            </a:r>
            <a:r>
              <a:rPr sz="1300" spc="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hood.</a:t>
            </a:r>
            <a:endParaRPr sz="1300">
              <a:latin typeface="Yu Gothic UI Light"/>
              <a:cs typeface="Yu Gothic UI Light"/>
            </a:endParaRPr>
          </a:p>
          <a:p>
            <a:pPr marL="12700" algn="just">
              <a:lnSpc>
                <a:spcPct val="100000"/>
              </a:lnSpc>
              <a:spcBef>
                <a:spcPts val="885"/>
              </a:spcBef>
            </a:pP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Why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useful?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Because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turns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into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calculator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use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for:</a:t>
            </a:r>
            <a:endParaRPr sz="1300">
              <a:latin typeface="Yu Gothic UI Light"/>
              <a:cs typeface="Yu Gothic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2531279"/>
            <a:ext cx="80010" cy="9029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934" y="2555765"/>
            <a:ext cx="5367655" cy="9029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Quick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arithmetic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when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you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don't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have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Python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interpreter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open</a:t>
            </a:r>
            <a:endParaRPr sz="1200">
              <a:latin typeface="Yu Gothic UI Light"/>
              <a:cs typeface="Yu Gothic UI Light"/>
            </a:endParaRPr>
          </a:p>
          <a:p>
            <a:pPr marL="12700" marR="610870">
              <a:lnSpc>
                <a:spcPct val="119900"/>
              </a:lnSpc>
            </a:pP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Testing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functions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BEFORE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running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them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real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(`SELECT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UPPER('test');`)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Checking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system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state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(`SELECT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version();`,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`SELECT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current_user;`)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Generating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dummy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rows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testing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(`SELECT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generate_series(1,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55" dirty="0">
                <a:solidFill>
                  <a:srgbClr val="202020"/>
                </a:solidFill>
                <a:latin typeface="Yu Gothic UI Light"/>
                <a:cs typeface="Yu Gothic UI Light"/>
              </a:rPr>
              <a:t>10);`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returns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85" dirty="0">
                <a:solidFill>
                  <a:srgbClr val="202020"/>
                </a:solidFill>
                <a:latin typeface="Yu Gothic UI Light"/>
                <a:cs typeface="Yu Gothic UI Light"/>
              </a:rPr>
              <a:t>10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rows!)</a:t>
            </a:r>
            <a:endParaRPr sz="1200">
              <a:latin typeface="Yu Gothic UI Light"/>
              <a:cs typeface="Yu Gothic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3545181"/>
            <a:ext cx="39700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senior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engineer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uses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daily.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Now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too.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Q1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What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are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the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5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categories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of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SQL</a:t>
            </a:r>
            <a:r>
              <a:rPr sz="1700" spc="-10" dirty="0">
                <a:solidFill>
                  <a:srgbClr val="1D3A5E"/>
                </a:solidFill>
              </a:rPr>
              <a:t> commands?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5135245" cy="157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DDL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Definition):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CREATE,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ALTER, </a:t>
            </a:r>
            <a:r>
              <a:rPr sz="1300" spc="-90" dirty="0">
                <a:solidFill>
                  <a:srgbClr val="202020"/>
                </a:solidFill>
                <a:latin typeface="Yu Gothic UI Light"/>
                <a:cs typeface="Yu Gothic UI Light"/>
              </a:rPr>
              <a:t>DROP,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TRUNCATE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defines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structure.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DML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Manipulation):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INSERT,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UPDATE,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DELETE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changes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rows.</a:t>
            </a:r>
            <a:endParaRPr sz="1300">
              <a:latin typeface="Yu Gothic UI Light"/>
              <a:cs typeface="Yu Gothic UI Light"/>
            </a:endParaRPr>
          </a:p>
          <a:p>
            <a:pPr marL="12700" marR="246379">
              <a:lnSpc>
                <a:spcPct val="130100"/>
              </a:lnSpc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DQL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Query):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reads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90%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analyst's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work. </a:t>
            </a:r>
            <a:r>
              <a:rPr sz="1300" spc="-90" dirty="0">
                <a:solidFill>
                  <a:srgbClr val="202020"/>
                </a:solidFill>
                <a:latin typeface="Yu Gothic UI Light"/>
                <a:cs typeface="Yu Gothic UI Light"/>
              </a:rPr>
              <a:t>DCL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Control):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GRANT,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REVOKE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permissions.</a:t>
            </a:r>
            <a:endParaRPr sz="1300">
              <a:latin typeface="Yu Gothic UI Light"/>
              <a:cs typeface="Yu Gothic UI Light"/>
            </a:endParaRPr>
          </a:p>
          <a:p>
            <a:pPr marL="12700" marR="1148080">
              <a:lnSpc>
                <a:spcPct val="130100"/>
              </a:lnSpc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TCL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(Transaction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Control):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COMMIT,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ROLLBACK,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SAVEPOINT.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Today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live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DQL.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Next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session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start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DDL.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Q2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What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is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the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difference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between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database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and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schema?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81304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whole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building;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department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holds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many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schemas,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each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holds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tables.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RetailMart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has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80" dirty="0">
                <a:solidFill>
                  <a:srgbClr val="202020"/>
                </a:solidFill>
                <a:latin typeface="Yu Gothic UI Light"/>
                <a:cs typeface="Yu Gothic UI Light"/>
              </a:rPr>
              <a:t>16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(sales,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customers,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hr,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finance...)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database.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connect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DATABASE,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then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live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inside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SCHEMAS.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Q3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What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is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</a:t>
            </a:r>
            <a:r>
              <a:rPr sz="1700" spc="-10" dirty="0">
                <a:solidFill>
                  <a:srgbClr val="1D3A5E"/>
                </a:solidFill>
              </a:rPr>
              <a:t> schema-</a:t>
            </a:r>
            <a:r>
              <a:rPr sz="1700" dirty="0">
                <a:solidFill>
                  <a:srgbClr val="1D3A5E"/>
                </a:solidFill>
              </a:rPr>
              <a:t>qualified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table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name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and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why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does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it</a:t>
            </a:r>
            <a:r>
              <a:rPr sz="1700" spc="-10" dirty="0">
                <a:solidFill>
                  <a:srgbClr val="1D3A5E"/>
                </a:solidFill>
              </a:rPr>
              <a:t> matter?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805053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schema.table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example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prefix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looks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only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search_path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(usually public),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so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unqualified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'orders'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will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fail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even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though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exists.</a:t>
            </a:r>
            <a:endParaRPr sz="13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16-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like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RetailMart,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always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qualify.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single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most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common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beginner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error.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Q4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How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do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you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explore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an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unfamiliar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database?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845425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psql: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\l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lists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databases,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110" dirty="0">
                <a:solidFill>
                  <a:srgbClr val="202020"/>
                </a:solidFill>
                <a:latin typeface="Yu Gothic UI Light"/>
                <a:cs typeface="Yu Gothic UI Light"/>
              </a:rPr>
              <a:t>\c</a:t>
            </a:r>
            <a:r>
              <a:rPr lang="en-IN"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connects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one,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95" dirty="0">
                <a:solidFill>
                  <a:srgbClr val="202020"/>
                </a:solidFill>
                <a:latin typeface="Yu Gothic UI Light"/>
                <a:cs typeface="Yu Gothic UI Light"/>
              </a:rPr>
              <a:t>\dn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lists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schemas,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\dt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lists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tables,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\d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tablename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shows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table's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columns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types.</a:t>
            </a:r>
            <a:endParaRPr sz="1300" dirty="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exact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sequence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new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joiner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runs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day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any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company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before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writing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single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query.</a:t>
            </a:r>
            <a:endParaRPr sz="1300" dirty="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</a:t>
            </a:r>
            <a:r>
              <a:rPr lang="en-IN" sz="1700" dirty="0">
                <a:solidFill>
                  <a:srgbClr val="1D3A5E"/>
                </a:solidFill>
              </a:rPr>
              <a:t>5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Why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always</a:t>
            </a:r>
            <a:r>
              <a:rPr sz="1700" spc="-2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use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LIMIT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when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exploring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new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spc="-10" dirty="0">
                <a:solidFill>
                  <a:srgbClr val="1D3A5E"/>
                </a:solidFill>
              </a:rPr>
              <a:t>table?</a:t>
            </a:r>
            <a:endParaRPr sz="1700" dirty="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8075295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Because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have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idea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how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big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20" dirty="0">
                <a:solidFill>
                  <a:srgbClr val="202020"/>
                </a:solidFill>
                <a:latin typeface="Yu Gothic UI Light"/>
                <a:cs typeface="Yu Gothic UI Light"/>
              </a:rPr>
              <a:t>*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FROM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web_events.page_views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production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return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tens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of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millions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rows,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freeze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client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load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server.</a:t>
            </a:r>
            <a:endParaRPr sz="1300">
              <a:latin typeface="Yu Gothic UI Light"/>
              <a:cs typeface="Yu Gothic UI Light"/>
            </a:endParaRPr>
          </a:p>
          <a:p>
            <a:pPr marL="12700" marR="658495">
              <a:lnSpc>
                <a:spcPct val="130100"/>
              </a:lnSpc>
            </a:pP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20" dirty="0">
                <a:solidFill>
                  <a:srgbClr val="202020"/>
                </a:solidFill>
                <a:latin typeface="Yu Gothic UI Light"/>
                <a:cs typeface="Yu Gothic UI Light"/>
              </a:rPr>
              <a:t>*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LIMIT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70" dirty="0">
                <a:solidFill>
                  <a:srgbClr val="202020"/>
                </a:solidFill>
                <a:latin typeface="Yu Gothic UI Light"/>
                <a:cs typeface="Yu Gothic UI Light"/>
              </a:rPr>
              <a:t>10;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shows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shape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instantly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safely.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Explore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LIMIT,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aggregate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later.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28602"/>
            <a:ext cx="1645920" cy="320040"/>
          </a:xfrm>
          <a:custGeom>
            <a:avLst/>
            <a:gdLst/>
            <a:ahLst/>
            <a:cxnLst/>
            <a:rect l="l" t="t" r="r" b="b"/>
            <a:pathLst>
              <a:path w="1645920" h="320040">
                <a:moveTo>
                  <a:pt x="1645551" y="0"/>
                </a:moveTo>
                <a:lnTo>
                  <a:pt x="0" y="0"/>
                </a:lnTo>
                <a:lnTo>
                  <a:pt x="0" y="319684"/>
                </a:lnTo>
                <a:lnTo>
                  <a:pt x="822960" y="319684"/>
                </a:lnTo>
                <a:lnTo>
                  <a:pt x="1645551" y="319684"/>
                </a:lnTo>
                <a:lnTo>
                  <a:pt x="1645551" y="0"/>
                </a:lnTo>
                <a:close/>
              </a:path>
            </a:pathLst>
          </a:custGeom>
          <a:solidFill>
            <a:srgbClr val="283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9378" y="299785"/>
            <a:ext cx="6223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INTERVIEW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D3A5E"/>
                </a:solidFill>
              </a:rPr>
              <a:t>Q</a:t>
            </a:r>
            <a:r>
              <a:rPr lang="en-IN" sz="1700" dirty="0">
                <a:solidFill>
                  <a:srgbClr val="1D3A5E"/>
                </a:solidFill>
              </a:rPr>
              <a:t>6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—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What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does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SELECT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without</a:t>
            </a:r>
            <a:r>
              <a:rPr sz="1700" spc="-15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a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FROM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dirty="0">
                <a:solidFill>
                  <a:srgbClr val="1D3A5E"/>
                </a:solidFill>
              </a:rPr>
              <a:t>clause</a:t>
            </a:r>
            <a:r>
              <a:rPr sz="1700" spc="-10" dirty="0">
                <a:solidFill>
                  <a:srgbClr val="1D3A5E"/>
                </a:solidFill>
              </a:rPr>
              <a:t> </a:t>
            </a:r>
            <a:r>
              <a:rPr sz="1700" spc="-25" dirty="0">
                <a:solidFill>
                  <a:srgbClr val="1D3A5E"/>
                </a:solidFill>
              </a:rPr>
              <a:t>do?</a:t>
            </a:r>
            <a:endParaRPr sz="1700" dirty="0"/>
          </a:p>
        </p:txBody>
      </p:sp>
      <p:sp>
        <p:nvSpPr>
          <p:cNvPr id="5" name="object 5"/>
          <p:cNvSpPr txBox="1"/>
          <p:nvPr/>
        </p:nvSpPr>
        <p:spPr>
          <a:xfrm>
            <a:off x="534136" y="1403468"/>
            <a:ext cx="7177405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0"/>
              </a:spcBef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evaluates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expressions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PostgreSQL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treats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calculator: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2+2;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now();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version();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Useful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testing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functions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checking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server: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current_database(),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current_user,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version();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</a:t>
            </a:r>
            <a:r>
              <a:rPr spc="-20" dirty="0"/>
              <a:t> </a:t>
            </a:r>
            <a:r>
              <a:rPr spc="-10" dirty="0"/>
              <a:t>Rapid-</a:t>
            </a:r>
            <a:r>
              <a:rPr dirty="0"/>
              <a:t>Fire</a:t>
            </a:r>
            <a:r>
              <a:rPr spc="-20" dirty="0"/>
              <a:t> </a:t>
            </a:r>
            <a:r>
              <a:rPr dirty="0"/>
              <a:t>Questions</a:t>
            </a:r>
            <a:r>
              <a:rPr spc="-2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90</a:t>
            </a:r>
            <a:r>
              <a:rPr spc="-15" dirty="0"/>
              <a:t> </a:t>
            </a:r>
            <a:r>
              <a:rPr dirty="0"/>
              <a:t>Seconds</a:t>
            </a:r>
            <a:r>
              <a:rPr spc="-20" dirty="0"/>
              <a:t> </a:t>
            </a:r>
            <a:r>
              <a:rPr spc="-10" dirty="0"/>
              <a:t>Total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7851775" cy="247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Close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notebook.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Take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blank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paper.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Answer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8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90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seconds.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Score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yourself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25" dirty="0">
                <a:solidFill>
                  <a:srgbClr val="202020"/>
                </a:solidFill>
                <a:latin typeface="Yu Gothic UI Light"/>
                <a:cs typeface="Yu Gothic UI Light"/>
              </a:rPr>
              <a:t>6+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10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confident,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4-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5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10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review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the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session,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under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4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10" dirty="0">
                <a:solidFill>
                  <a:srgbClr val="202020"/>
                </a:solidFill>
                <a:latin typeface="Yu Gothic UI Light"/>
                <a:cs typeface="Yu Gothic UI Light"/>
              </a:rPr>
              <a:t>=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redo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whole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day.</a:t>
            </a:r>
            <a:endParaRPr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885"/>
              </a:spcBef>
              <a:buSzPct val="92307"/>
              <a:buAutoNum type="arabicPeriod"/>
              <a:tabLst>
                <a:tab pos="139065" algn="l"/>
              </a:tabLst>
            </a:pPr>
            <a:r>
              <a:rPr lang="en-US"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lang="en-US" sz="1300" b="1" spc="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lang="en-US"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Which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20" dirty="0" err="1">
                <a:solidFill>
                  <a:srgbClr val="202020"/>
                </a:solidFill>
                <a:latin typeface="Yu Gothic UI Light"/>
                <a:cs typeface="Yu Gothic UI Light"/>
              </a:rPr>
              <a:t>psql</a:t>
            </a:r>
            <a:r>
              <a:rPr lang="en-US"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command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lists</a:t>
            </a:r>
            <a:r>
              <a:rPr lang="en-US"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all</a:t>
            </a:r>
            <a:r>
              <a:rPr lang="en-US"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schemas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</a:t>
            </a:r>
            <a:r>
              <a:rPr lang="en-US"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database?</a:t>
            </a:r>
            <a:endParaRPr lang="en-US"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Write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returns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5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rows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sales.orders.</a:t>
            </a:r>
            <a:endParaRPr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0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Why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does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20" dirty="0">
                <a:solidFill>
                  <a:srgbClr val="202020"/>
                </a:solidFill>
                <a:latin typeface="Yu Gothic UI Light"/>
                <a:cs typeface="Yu Gothic UI Light"/>
              </a:rPr>
              <a:t>*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orders;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fail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when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exists?</a:t>
            </a:r>
            <a:endParaRPr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Which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SQL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category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does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belong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to?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lang="en-IN"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lang="en-IN" sz="1300" b="1" spc="-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lang="en-IN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How</a:t>
            </a:r>
            <a:r>
              <a:rPr lang="en-IN"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do</a:t>
            </a:r>
            <a:r>
              <a:rPr lang="en-IN"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lang="en-IN"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see</a:t>
            </a:r>
            <a:r>
              <a:rPr lang="en-IN"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columns</a:t>
            </a:r>
            <a:r>
              <a:rPr lang="en-IN"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lang="en-IN"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types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10" dirty="0" err="1">
                <a:solidFill>
                  <a:srgbClr val="202020"/>
                </a:solidFill>
                <a:latin typeface="Yu Gothic UI Light"/>
                <a:cs typeface="Yu Gothic UI Light"/>
              </a:rPr>
              <a:t>customers.customers</a:t>
            </a:r>
            <a:r>
              <a:rPr lang="en-IN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?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does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current_database();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tell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you?</a:t>
            </a:r>
            <a:endParaRPr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0"/>
              </a:spcBef>
              <a:buSzPct val="92307"/>
              <a:buAutoNum type="arabicPeriod"/>
              <a:tabLst>
                <a:tab pos="139065" algn="l"/>
              </a:tabLst>
            </a:pPr>
            <a:r>
              <a:rPr lang="en-US"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lang="en-US" sz="1300"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lang="en-US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How</a:t>
            </a:r>
            <a:r>
              <a:rPr lang="en-US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many</a:t>
            </a:r>
            <a:r>
              <a:rPr lang="en-US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schemas</a:t>
            </a:r>
            <a:r>
              <a:rPr lang="en-US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lang="en-US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does</a:t>
            </a:r>
            <a:r>
              <a:rPr lang="en-US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dirty="0" err="1">
                <a:solidFill>
                  <a:srgbClr val="202020"/>
                </a:solidFill>
                <a:latin typeface="Yu Gothic UI Light"/>
                <a:cs typeface="Yu Gothic UI Light"/>
              </a:rPr>
              <a:t>RetailMart</a:t>
            </a:r>
            <a:r>
              <a:rPr lang="en-US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US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V3 </a:t>
            </a:r>
            <a:r>
              <a:rPr lang="en-US"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have?</a:t>
            </a:r>
            <a:endParaRPr lang="en-US" sz="1300" dirty="0">
              <a:latin typeface="Yu Gothic UI Light"/>
              <a:cs typeface="Yu Gothic UI Light"/>
            </a:endParaRPr>
          </a:p>
          <a:p>
            <a:pPr marL="139065" indent="-132080">
              <a:lnSpc>
                <a:spcPct val="100000"/>
              </a:lnSpc>
              <a:spcBef>
                <a:spcPts val="315"/>
              </a:spcBef>
              <a:buSzPct val="92307"/>
              <a:buAutoNum type="arabicPeriod"/>
              <a:tabLst>
                <a:tab pos="139065" algn="l"/>
              </a:tabLst>
            </a:pP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sz="1300"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Why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LIMIT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important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when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exploring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unknown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table?</a:t>
            </a:r>
            <a:endParaRPr sz="1300" dirty="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D33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5179" y="345505"/>
            <a:ext cx="423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REVEAL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-300" dirty="0">
                <a:latin typeface="Segoe UI Symbol"/>
                <a:cs typeface="Segoe UI Symbol"/>
              </a:rPr>
              <a:t>🎓</a:t>
            </a:r>
            <a:r>
              <a:rPr sz="2500" b="0" spc="-390" dirty="0">
                <a:latin typeface="Segoe UI Symbol"/>
                <a:cs typeface="Segoe UI Symbol"/>
              </a:rPr>
              <a:t> </a:t>
            </a:r>
            <a:r>
              <a:rPr dirty="0"/>
              <a:t>ANSWER</a:t>
            </a:r>
            <a:r>
              <a:rPr spc="-15" dirty="0"/>
              <a:t> </a:t>
            </a:r>
            <a:r>
              <a:rPr dirty="0"/>
              <a:t>KEY</a:t>
            </a:r>
            <a:r>
              <a:rPr spc="-10" dirty="0"/>
              <a:t> </a:t>
            </a:r>
            <a:r>
              <a:rPr dirty="0"/>
              <a:t>—</a:t>
            </a:r>
            <a:r>
              <a:rPr spc="-10" dirty="0"/>
              <a:t> </a:t>
            </a:r>
            <a:r>
              <a:rPr dirty="0"/>
              <a:t>Check</a:t>
            </a:r>
            <a:r>
              <a:rPr spc="-5" dirty="0"/>
              <a:t> </a:t>
            </a:r>
            <a:r>
              <a:rPr spc="-10" dirty="0"/>
              <a:t>Yourself</a:t>
            </a:r>
            <a:endParaRPr sz="25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856" y="1220589"/>
            <a:ext cx="5824855" cy="19291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73355" indent="-16065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73355" algn="l"/>
              </a:tabLst>
            </a:pPr>
            <a:r>
              <a:rPr lang="en-IN"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\dn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120" dirty="0">
                <a:solidFill>
                  <a:srgbClr val="202020"/>
                </a:solidFill>
                <a:latin typeface="Yu Gothic UI Light"/>
                <a:cs typeface="Yu Gothic UI Light"/>
              </a:rPr>
              <a:t>*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FROM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LIMIT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5;</a:t>
            </a:r>
            <a:endParaRPr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sales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schema,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search_path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qualify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sales.orders.</a:t>
            </a:r>
            <a:endParaRPr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DQL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(Data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Query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Language)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family.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173355" algn="l"/>
              </a:tabLst>
            </a:pPr>
            <a:r>
              <a:rPr lang="en-IN" sz="1300" spc="-114" dirty="0">
                <a:solidFill>
                  <a:srgbClr val="202020"/>
                </a:solidFill>
                <a:latin typeface="Yu Gothic UI Light"/>
                <a:cs typeface="Yu Gothic UI Light"/>
              </a:rPr>
              <a:t>\d</a:t>
            </a:r>
            <a:r>
              <a:rPr lang="en-IN" sz="1300" spc="-7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10" dirty="0" err="1">
                <a:solidFill>
                  <a:srgbClr val="202020"/>
                </a:solidFill>
                <a:latin typeface="Yu Gothic UI Light"/>
                <a:cs typeface="Yu Gothic UI Light"/>
              </a:rPr>
              <a:t>customers.customers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name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session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currently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connected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to.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lang="en-IN" sz="1300" spc="80" dirty="0">
                <a:solidFill>
                  <a:srgbClr val="202020"/>
                </a:solidFill>
                <a:latin typeface="Yu Gothic UI Light"/>
                <a:cs typeface="Yu Gothic UI Light"/>
              </a:rPr>
              <a:t>16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schemas,</a:t>
            </a:r>
            <a:r>
              <a:rPr lang="en-IN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55</a:t>
            </a:r>
            <a:r>
              <a:rPr lang="en-IN"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tables,</a:t>
            </a:r>
            <a:r>
              <a:rPr lang="en-IN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about</a:t>
            </a:r>
            <a:r>
              <a:rPr lang="en-IN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2.7</a:t>
            </a:r>
            <a:r>
              <a:rPr lang="en-IN"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million</a:t>
            </a:r>
            <a:r>
              <a:rPr lang="en-IN"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lang="en-IN"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rows.</a:t>
            </a:r>
            <a:endParaRPr lang="en-IN" sz="1300" dirty="0">
              <a:latin typeface="Yu Gothic UI Light"/>
              <a:cs typeface="Yu Gothic UI Light"/>
            </a:endParaRPr>
          </a:p>
          <a:p>
            <a:pPr marL="173355" indent="-16065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173355" algn="l"/>
              </a:tabLst>
            </a:pP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Without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it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single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SELECT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return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millions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of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rows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hang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client.</a:t>
            </a:r>
            <a:endParaRPr sz="1300" dirty="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F47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898" y="345505"/>
            <a:ext cx="441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TIP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</a:t>
            </a:r>
            <a:r>
              <a:rPr spc="-35" dirty="0"/>
              <a:t> </a:t>
            </a:r>
            <a:r>
              <a:rPr spc="-25" dirty="0"/>
              <a:t>TIP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Pass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1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Read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+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Code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Along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(45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1D3A5E"/>
                </a:solidFill>
                <a:latin typeface="Calibri"/>
                <a:cs typeface="Calibri"/>
              </a:rPr>
              <a:t>min)</a:t>
            </a:r>
          </a:p>
          <a:p>
            <a:pPr marL="12700" marR="5080">
              <a:lnSpc>
                <a:spcPct val="120100"/>
              </a:lnSpc>
            </a:pPr>
            <a:r>
              <a:rPr spc="-60" dirty="0"/>
              <a:t>Open</a:t>
            </a:r>
            <a:r>
              <a:rPr spc="-55" dirty="0"/>
              <a:t> </a:t>
            </a:r>
            <a:r>
              <a:rPr spc="-20" dirty="0"/>
              <a:t>your</a:t>
            </a:r>
            <a:r>
              <a:rPr spc="-45" dirty="0"/>
              <a:t> </a:t>
            </a:r>
            <a:r>
              <a:rPr spc="-50" dirty="0"/>
              <a:t>PostgreSQL </a:t>
            </a:r>
            <a:r>
              <a:rPr dirty="0"/>
              <a:t>terminal.</a:t>
            </a:r>
            <a:r>
              <a:rPr spc="-45" dirty="0"/>
              <a:t> </a:t>
            </a:r>
            <a:r>
              <a:rPr spc="-40" dirty="0"/>
              <a:t>Read</a:t>
            </a:r>
            <a:r>
              <a:rPr spc="-55" dirty="0"/>
              <a:t> </a:t>
            </a:r>
            <a:r>
              <a:rPr spc="-30" dirty="0"/>
              <a:t>each</a:t>
            </a:r>
            <a:r>
              <a:rPr spc="-50" dirty="0"/>
              <a:t> </a:t>
            </a:r>
            <a:r>
              <a:rPr spc="-10" dirty="0"/>
              <a:t>section,</a:t>
            </a:r>
            <a:r>
              <a:rPr spc="-45" dirty="0"/>
              <a:t> </a:t>
            </a:r>
            <a:r>
              <a:rPr spc="-10" dirty="0"/>
              <a:t>then</a:t>
            </a:r>
            <a:r>
              <a:rPr spc="-50" dirty="0"/>
              <a:t> </a:t>
            </a:r>
            <a:r>
              <a:rPr dirty="0"/>
              <a:t>actually</a:t>
            </a:r>
            <a:r>
              <a:rPr spc="-50" dirty="0"/>
              <a:t> </a:t>
            </a:r>
            <a:r>
              <a:rPr spc="-55" dirty="0"/>
              <a:t>TYPE</a:t>
            </a:r>
            <a:r>
              <a:rPr spc="-45" dirty="0"/>
              <a:t> </a:t>
            </a:r>
            <a:r>
              <a:rPr spc="-35" dirty="0"/>
              <a:t>and</a:t>
            </a:r>
            <a:r>
              <a:rPr spc="-50" dirty="0"/>
              <a:t> </a:t>
            </a:r>
            <a:r>
              <a:rPr spc="-10" dirty="0"/>
              <a:t>run</a:t>
            </a:r>
            <a:r>
              <a:rPr spc="-45" dirty="0"/>
              <a:t> </a:t>
            </a:r>
            <a:r>
              <a:rPr spc="-10" dirty="0"/>
              <a:t>every</a:t>
            </a:r>
            <a:r>
              <a:rPr spc="-45" dirty="0"/>
              <a:t> </a:t>
            </a:r>
            <a:r>
              <a:rPr spc="-20" dirty="0"/>
              <a:t>psql</a:t>
            </a:r>
            <a:r>
              <a:rPr spc="-50" dirty="0"/>
              <a:t> </a:t>
            </a:r>
            <a:r>
              <a:rPr spc="-40" dirty="0"/>
              <a:t>command</a:t>
            </a:r>
            <a:r>
              <a:rPr spc="-50" dirty="0"/>
              <a:t> </a:t>
            </a:r>
            <a:r>
              <a:rPr spc="-35" dirty="0"/>
              <a:t>and</a:t>
            </a:r>
            <a:r>
              <a:rPr spc="-50" dirty="0"/>
              <a:t> </a:t>
            </a:r>
            <a:r>
              <a:rPr spc="-20" dirty="0"/>
              <a:t>query</a:t>
            </a:r>
            <a:r>
              <a:rPr spc="-50" dirty="0"/>
              <a:t> </a:t>
            </a:r>
            <a:r>
              <a:rPr spc="-10" dirty="0"/>
              <a:t>shown. </a:t>
            </a:r>
            <a:r>
              <a:rPr spc="-25" dirty="0"/>
              <a:t>Don't</a:t>
            </a:r>
            <a:r>
              <a:rPr spc="-40" dirty="0"/>
              <a:t> </a:t>
            </a:r>
            <a:r>
              <a:rPr spc="-65" dirty="0"/>
              <a:t>copy-</a:t>
            </a:r>
            <a:r>
              <a:rPr spc="-20" dirty="0"/>
              <a:t>paste</a:t>
            </a:r>
            <a:r>
              <a:rPr spc="-35" dirty="0"/>
              <a:t> </a:t>
            </a:r>
            <a:r>
              <a:rPr spc="-130" dirty="0"/>
              <a:t>—</a:t>
            </a:r>
            <a:r>
              <a:rPr spc="-45" dirty="0"/>
              <a:t> </a:t>
            </a:r>
            <a:r>
              <a:rPr spc="-20" dirty="0"/>
              <a:t>muscle</a:t>
            </a:r>
            <a:r>
              <a:rPr spc="-40" dirty="0"/>
              <a:t> </a:t>
            </a:r>
            <a:r>
              <a:rPr spc="-25" dirty="0"/>
              <a:t>memory</a:t>
            </a:r>
            <a:r>
              <a:rPr spc="-40" dirty="0"/>
              <a:t> </a:t>
            </a:r>
            <a:r>
              <a:rPr spc="-10" dirty="0"/>
              <a:t>matters.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Pass</a:t>
            </a:r>
            <a:r>
              <a:rPr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2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Recall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without</a:t>
            </a:r>
            <a:r>
              <a:rPr b="1" spc="-3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Notes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(20</a:t>
            </a:r>
            <a:r>
              <a:rPr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1D3A5E"/>
                </a:solidFill>
                <a:latin typeface="Calibri"/>
                <a:cs typeface="Calibri"/>
              </a:rPr>
              <a:t>min)</a:t>
            </a:r>
          </a:p>
          <a:p>
            <a:pPr marL="12700" marR="54610">
              <a:lnSpc>
                <a:spcPct val="120100"/>
              </a:lnSpc>
            </a:pPr>
            <a:r>
              <a:rPr spc="-35" dirty="0"/>
              <a:t>Close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5" dirty="0"/>
              <a:t>notebook.</a:t>
            </a:r>
            <a:r>
              <a:rPr spc="-40" dirty="0"/>
              <a:t> Try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write</a:t>
            </a:r>
            <a:r>
              <a:rPr spc="-40" dirty="0"/>
              <a:t> </a:t>
            </a:r>
            <a:r>
              <a:rPr spc="-10" dirty="0"/>
              <a:t>these</a:t>
            </a:r>
            <a:r>
              <a:rPr spc="-50" dirty="0"/>
              <a:t> </a:t>
            </a:r>
            <a:r>
              <a:rPr spc="-10" dirty="0"/>
              <a:t>from</a:t>
            </a:r>
            <a:r>
              <a:rPr spc="-45" dirty="0"/>
              <a:t> </a:t>
            </a:r>
            <a:r>
              <a:rPr spc="-10" dirty="0"/>
              <a:t>memory:</a:t>
            </a:r>
            <a:r>
              <a:rPr spc="-45" dirty="0"/>
              <a:t> </a:t>
            </a:r>
            <a:r>
              <a:rPr dirty="0"/>
              <a:t>(a)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20" dirty="0"/>
              <a:t>psql</a:t>
            </a:r>
            <a:r>
              <a:rPr spc="-45" dirty="0"/>
              <a:t> </a:t>
            </a:r>
            <a:r>
              <a:rPr spc="-40" dirty="0"/>
              <a:t>command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lists</a:t>
            </a:r>
            <a:r>
              <a:rPr spc="-40" dirty="0"/>
              <a:t> </a:t>
            </a:r>
            <a:r>
              <a:rPr spc="-20" dirty="0"/>
              <a:t>schemas,</a:t>
            </a:r>
            <a:r>
              <a:rPr spc="-45" dirty="0"/>
              <a:t> </a:t>
            </a:r>
            <a:r>
              <a:rPr dirty="0"/>
              <a:t>(b)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40" dirty="0"/>
              <a:t>one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10" dirty="0"/>
              <a:t>shows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table's</a:t>
            </a:r>
            <a:r>
              <a:rPr spc="-45" dirty="0"/>
              <a:t> </a:t>
            </a:r>
            <a:r>
              <a:rPr spc="-20" dirty="0"/>
              <a:t>columns,</a:t>
            </a:r>
            <a:r>
              <a:rPr spc="-50" dirty="0"/>
              <a:t> </a:t>
            </a:r>
            <a:r>
              <a:rPr dirty="0"/>
              <a:t>(c)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LIMIT</a:t>
            </a:r>
            <a:r>
              <a:rPr spc="-50" dirty="0"/>
              <a:t> </a:t>
            </a:r>
            <a:r>
              <a:rPr spc="-20" dirty="0"/>
              <a:t>query</a:t>
            </a:r>
            <a:r>
              <a:rPr spc="-50" dirty="0"/>
              <a:t> </a:t>
            </a:r>
            <a:r>
              <a:rPr spc="-40" dirty="0"/>
              <a:t>on</a:t>
            </a:r>
            <a:r>
              <a:rPr spc="-50" dirty="0"/>
              <a:t> </a:t>
            </a:r>
            <a:r>
              <a:rPr spc="-10" dirty="0"/>
              <a:t>sales.orders,</a:t>
            </a:r>
            <a:r>
              <a:rPr spc="-45" dirty="0"/>
              <a:t> </a:t>
            </a:r>
            <a:r>
              <a:rPr dirty="0"/>
              <a:t>(d)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three</a:t>
            </a:r>
            <a:r>
              <a:rPr spc="-50" dirty="0"/>
              <a:t> </a:t>
            </a:r>
            <a:r>
              <a:rPr spc="-35" dirty="0"/>
              <a:t>system-</a:t>
            </a:r>
            <a:r>
              <a:rPr spc="-10" dirty="0"/>
              <a:t>info</a:t>
            </a:r>
            <a:r>
              <a:rPr spc="-55" dirty="0"/>
              <a:t> </a:t>
            </a:r>
            <a:r>
              <a:rPr spc="-10" dirty="0"/>
              <a:t>functions.</a:t>
            </a:r>
            <a:r>
              <a:rPr spc="-45" dirty="0"/>
              <a:t> </a:t>
            </a:r>
            <a:r>
              <a:rPr spc="-60" dirty="0"/>
              <a:t>Open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20" dirty="0"/>
              <a:t>notes</a:t>
            </a:r>
            <a:r>
              <a:rPr spc="-45" dirty="0"/>
              <a:t> </a:t>
            </a:r>
            <a:r>
              <a:rPr spc="-10" dirty="0"/>
              <a:t>only</a:t>
            </a:r>
            <a:r>
              <a:rPr spc="-55" dirty="0"/>
              <a:t> </a:t>
            </a:r>
            <a:r>
              <a:rPr spc="-20" dirty="0"/>
              <a:t>when you're</a:t>
            </a:r>
            <a:r>
              <a:rPr spc="-50" dirty="0"/>
              <a:t> </a:t>
            </a:r>
            <a:r>
              <a:rPr dirty="0"/>
              <a:t>stuck</a:t>
            </a:r>
            <a:r>
              <a:rPr spc="-40" dirty="0"/>
              <a:t> </a:t>
            </a:r>
            <a:r>
              <a:rPr spc="-130" dirty="0"/>
              <a:t>—</a:t>
            </a:r>
            <a:r>
              <a:rPr spc="-4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spc="-30" dirty="0"/>
              <a:t>struggle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where</a:t>
            </a:r>
            <a:r>
              <a:rPr spc="-45" dirty="0"/>
              <a:t> </a:t>
            </a:r>
            <a:r>
              <a:rPr spc="-20" dirty="0"/>
              <a:t>learning</a:t>
            </a:r>
            <a:r>
              <a:rPr spc="-50" dirty="0"/>
              <a:t> </a:t>
            </a:r>
            <a:r>
              <a:rPr spc="-10" dirty="0"/>
              <a:t>happens.</a:t>
            </a: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Pass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3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1D3A5E"/>
                </a:solidFill>
                <a:latin typeface="Calibri"/>
                <a:cs typeface="Calibri"/>
              </a:rPr>
              <a:t>Teach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It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(15</a:t>
            </a:r>
            <a:r>
              <a:rPr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1D3A5E"/>
                </a:solidFill>
                <a:latin typeface="Calibri"/>
                <a:cs typeface="Calibri"/>
              </a:rPr>
              <a:t>min)</a:t>
            </a:r>
          </a:p>
          <a:p>
            <a:pPr marL="12700" marR="69215">
              <a:lnSpc>
                <a:spcPct val="120100"/>
              </a:lnSpc>
            </a:pPr>
            <a:r>
              <a:rPr spc="-10" dirty="0"/>
              <a:t>Explain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30" dirty="0"/>
              <a:t>an</a:t>
            </a:r>
            <a:r>
              <a:rPr spc="-60" dirty="0"/>
              <a:t> </a:t>
            </a:r>
            <a:r>
              <a:rPr spc="-20" dirty="0"/>
              <a:t>imaginary</a:t>
            </a:r>
            <a:r>
              <a:rPr spc="-50" dirty="0"/>
              <a:t> </a:t>
            </a:r>
            <a:r>
              <a:rPr dirty="0"/>
              <a:t>junior</a:t>
            </a:r>
            <a:r>
              <a:rPr spc="-55" dirty="0"/>
              <a:t> </a:t>
            </a:r>
            <a:r>
              <a:rPr dirty="0"/>
              <a:t>(or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friend):</a:t>
            </a:r>
            <a:r>
              <a:rPr spc="-55" dirty="0"/>
              <a:t> </a:t>
            </a:r>
            <a:r>
              <a:rPr spc="-10" dirty="0"/>
              <a:t>'What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difference</a:t>
            </a:r>
            <a:r>
              <a:rPr spc="-60" dirty="0"/>
              <a:t> </a:t>
            </a:r>
            <a:r>
              <a:rPr spc="-10" dirty="0"/>
              <a:t>between</a:t>
            </a:r>
            <a:r>
              <a:rPr spc="-6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database,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5" dirty="0"/>
              <a:t>schema</a:t>
            </a:r>
            <a:r>
              <a:rPr spc="-55" dirty="0"/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table</a:t>
            </a:r>
            <a:r>
              <a:rPr spc="-60" dirty="0"/>
              <a:t> </a:t>
            </a:r>
            <a:r>
              <a:rPr spc="-130" dirty="0"/>
              <a:t>—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dirty="0"/>
              <a:t>why</a:t>
            </a:r>
            <a:r>
              <a:rPr spc="-45" dirty="0"/>
              <a:t> </a:t>
            </a:r>
            <a:r>
              <a:rPr spc="-10" dirty="0"/>
              <a:t>must</a:t>
            </a:r>
            <a:r>
              <a:rPr spc="-40" dirty="0"/>
              <a:t> </a:t>
            </a:r>
            <a:r>
              <a:rPr dirty="0"/>
              <a:t>I</a:t>
            </a:r>
            <a:r>
              <a:rPr spc="-40" dirty="0"/>
              <a:t> </a:t>
            </a:r>
            <a:r>
              <a:rPr dirty="0"/>
              <a:t>write</a:t>
            </a:r>
            <a:r>
              <a:rPr spc="-45" dirty="0"/>
              <a:t> </a:t>
            </a:r>
            <a:r>
              <a:rPr spc="-10" dirty="0"/>
              <a:t>sales.orders</a:t>
            </a:r>
            <a:r>
              <a:rPr spc="-35" dirty="0"/>
              <a:t> </a:t>
            </a:r>
            <a:r>
              <a:rPr spc="-10" dirty="0"/>
              <a:t>instead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orders?'</a:t>
            </a:r>
            <a:r>
              <a:rPr spc="-35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spc="-30" dirty="0"/>
              <a:t>you</a:t>
            </a:r>
            <a:r>
              <a:rPr spc="-45" dirty="0"/>
              <a:t> </a:t>
            </a:r>
            <a:r>
              <a:rPr spc="-30" dirty="0"/>
              <a:t>can</a:t>
            </a:r>
            <a:r>
              <a:rPr spc="-40" dirty="0"/>
              <a:t> </a:t>
            </a:r>
            <a:r>
              <a:rPr spc="-20" dirty="0"/>
              <a:t>teach</a:t>
            </a:r>
            <a:r>
              <a:rPr spc="-40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20" dirty="0"/>
              <a:t>cleanly,</a:t>
            </a:r>
            <a:r>
              <a:rPr spc="-40" dirty="0"/>
              <a:t> </a:t>
            </a:r>
            <a:r>
              <a:rPr spc="-30" dirty="0"/>
              <a:t>you</a:t>
            </a:r>
            <a:r>
              <a:rPr spc="-40" dirty="0"/>
              <a:t> </a:t>
            </a:r>
            <a:r>
              <a:rPr spc="-10" dirty="0"/>
              <a:t>own</a:t>
            </a:r>
            <a:r>
              <a:rPr spc="-40" dirty="0"/>
              <a:t> </a:t>
            </a:r>
            <a:r>
              <a:rPr dirty="0"/>
              <a:t>it.</a:t>
            </a:r>
            <a:r>
              <a:rPr spc="-45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spc="-30" dirty="0"/>
              <a:t>you</a:t>
            </a:r>
            <a:r>
              <a:rPr spc="-45" dirty="0"/>
              <a:t> </a:t>
            </a:r>
            <a:r>
              <a:rPr spc="-10" dirty="0"/>
              <a:t>stumble</a:t>
            </a:r>
            <a:r>
              <a:rPr spc="-35" dirty="0"/>
              <a:t> </a:t>
            </a:r>
            <a:r>
              <a:rPr spc="-130" dirty="0"/>
              <a:t>—</a:t>
            </a:r>
            <a:r>
              <a:rPr spc="-45" dirty="0"/>
              <a:t> </a:t>
            </a:r>
            <a:r>
              <a:rPr spc="-25" dirty="0"/>
              <a:t>you've</a:t>
            </a:r>
            <a:r>
              <a:rPr spc="-40" dirty="0"/>
              <a:t> </a:t>
            </a:r>
            <a:r>
              <a:rPr spc="-10" dirty="0"/>
              <a:t>found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weak</a:t>
            </a:r>
            <a:r>
              <a:rPr spc="-55" dirty="0"/>
              <a:t> </a:t>
            </a:r>
            <a:r>
              <a:rPr dirty="0"/>
              <a:t>spot.</a:t>
            </a:r>
            <a:r>
              <a:rPr spc="-50" dirty="0"/>
              <a:t> </a:t>
            </a:r>
            <a:r>
              <a:rPr spc="-75" dirty="0"/>
              <a:t>Re-</a:t>
            </a:r>
            <a:r>
              <a:rPr spc="-25" dirty="0"/>
              <a:t>read</a:t>
            </a:r>
            <a:r>
              <a:rPr spc="-6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spc="-10" dirty="0"/>
              <a:t>section.</a:t>
            </a: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600" spc="-185" dirty="0">
                <a:latin typeface="Segoe UI Symbol"/>
                <a:cs typeface="Segoe UI Symbol"/>
              </a:rPr>
              <a:t>🎯</a:t>
            </a:r>
            <a:r>
              <a:rPr sz="1600" spc="-270" dirty="0">
                <a:latin typeface="Segoe UI Symbol"/>
                <a:cs typeface="Segoe UI Symbol"/>
              </a:rPr>
              <a:t> </a:t>
            </a:r>
            <a:r>
              <a:rPr spc="-35" dirty="0"/>
              <a:t>Total </a:t>
            </a:r>
            <a:r>
              <a:rPr dirty="0"/>
              <a:t>time:</a:t>
            </a:r>
            <a:r>
              <a:rPr spc="-45" dirty="0"/>
              <a:t> </a:t>
            </a:r>
            <a:r>
              <a:rPr spc="-30" dirty="0"/>
              <a:t>80</a:t>
            </a:r>
            <a:r>
              <a:rPr spc="-35" dirty="0"/>
              <a:t> </a:t>
            </a:r>
            <a:r>
              <a:rPr dirty="0"/>
              <a:t>minutes.</a:t>
            </a:r>
            <a:r>
              <a:rPr spc="-35" dirty="0"/>
              <a:t> </a:t>
            </a:r>
            <a:r>
              <a:rPr spc="-70" dirty="0"/>
              <a:t>Do</a:t>
            </a:r>
            <a:r>
              <a:rPr spc="-4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spc="-40" dirty="0"/>
              <a:t>and</a:t>
            </a:r>
            <a:r>
              <a:rPr spc="-35" dirty="0"/>
              <a:t> </a:t>
            </a:r>
            <a:r>
              <a:rPr spc="-30" dirty="0"/>
              <a:t>you</a:t>
            </a:r>
            <a:r>
              <a:rPr spc="-45" dirty="0"/>
              <a:t> </a:t>
            </a:r>
            <a:r>
              <a:rPr dirty="0"/>
              <a:t>will</a:t>
            </a:r>
            <a:r>
              <a:rPr spc="-35" dirty="0"/>
              <a:t> </a:t>
            </a:r>
            <a:r>
              <a:rPr spc="-45" dirty="0"/>
              <a:t>SAIL</a:t>
            </a:r>
            <a:r>
              <a:rPr spc="-40" dirty="0"/>
              <a:t> </a:t>
            </a:r>
            <a:r>
              <a:rPr spc="-30" dirty="0"/>
              <a:t>through</a:t>
            </a:r>
            <a:r>
              <a:rPr spc="-40" dirty="0"/>
              <a:t> </a:t>
            </a:r>
            <a:r>
              <a:rPr dirty="0"/>
              <a:t>earlier</a:t>
            </a:r>
            <a:r>
              <a:rPr spc="-35" dirty="0"/>
              <a:t> </a:t>
            </a:r>
            <a:r>
              <a:rPr spc="-10" dirty="0"/>
              <a:t>sessions.</a:t>
            </a:r>
            <a:endParaRPr sz="16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2462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</a:t>
            </a:r>
            <a:r>
              <a:rPr spc="-45" dirty="0"/>
              <a:t> </a:t>
            </a:r>
            <a:r>
              <a:rPr spc="-20" dirty="0"/>
              <a:t>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088788"/>
            <a:ext cx="7949565" cy="944244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🔥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</a:t>
            </a:r>
            <a:r>
              <a:rPr sz="1300" b="1" spc="-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A5E"/>
                </a:solidFill>
                <a:latin typeface="Calibri"/>
                <a:cs typeface="Calibri"/>
              </a:rPr>
              <a:t>6-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 CHALLENGE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100"/>
              </a:lnSpc>
              <a:spcBef>
                <a:spcPts val="515"/>
              </a:spcBef>
            </a:pPr>
            <a:r>
              <a:rPr sz="1300" spc="-8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have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30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minutes.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Googling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syntax.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Only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today's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notes.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Everything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below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READ-</a:t>
            </a:r>
            <a:r>
              <a:rPr sz="13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ONLY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3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are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exploring,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not </a:t>
            </a: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changing</a:t>
            </a:r>
            <a:r>
              <a:rPr sz="1300" spc="-1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anything.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4913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5375" y="345505"/>
            <a:ext cx="6438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CHALLENGE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</a:t>
            </a:r>
            <a:r>
              <a:rPr spc="-45" dirty="0"/>
              <a:t> </a:t>
            </a:r>
            <a:r>
              <a:rPr spc="-20" dirty="0"/>
              <a:t>(2/2)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1</a:t>
            </a:r>
            <a:r>
              <a:rPr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pc="-40" dirty="0"/>
              <a:t>Connect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20" dirty="0"/>
              <a:t>your</a:t>
            </a:r>
            <a:r>
              <a:rPr spc="-50" dirty="0"/>
              <a:t> </a:t>
            </a:r>
            <a:r>
              <a:rPr dirty="0"/>
              <a:t>RetailMart</a:t>
            </a:r>
            <a:r>
              <a:rPr spc="-45" dirty="0"/>
              <a:t> </a:t>
            </a:r>
            <a:r>
              <a:rPr spc="-30" dirty="0"/>
              <a:t>database</a:t>
            </a:r>
            <a:r>
              <a:rPr spc="-50" dirty="0"/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dirty="0"/>
              <a:t>list</a:t>
            </a:r>
            <a:r>
              <a:rPr spc="-45" dirty="0"/>
              <a:t> </a:t>
            </a:r>
            <a:r>
              <a:rPr spc="-10" dirty="0"/>
              <a:t>every</a:t>
            </a:r>
            <a:r>
              <a:rPr spc="-55" dirty="0"/>
              <a:t> </a:t>
            </a:r>
            <a:r>
              <a:rPr spc="-20" dirty="0"/>
              <a:t>schema.</a:t>
            </a:r>
            <a:r>
              <a:rPr spc="-45" dirty="0"/>
              <a:t> </a:t>
            </a:r>
            <a:r>
              <a:rPr spc="-35" dirty="0"/>
              <a:t>How</a:t>
            </a:r>
            <a:r>
              <a:rPr spc="-55" dirty="0"/>
              <a:t> </a:t>
            </a:r>
            <a:r>
              <a:rPr spc="-30" dirty="0"/>
              <a:t>many</a:t>
            </a:r>
            <a:r>
              <a:rPr spc="-45" dirty="0"/>
              <a:t> </a:t>
            </a:r>
            <a:r>
              <a:rPr spc="-10" dirty="0"/>
              <a:t>are</a:t>
            </a:r>
            <a:r>
              <a:rPr spc="-45" dirty="0"/>
              <a:t> </a:t>
            </a:r>
            <a:r>
              <a:rPr spc="-10" dirty="0"/>
              <a:t>there?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-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2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dirty="0"/>
              <a:t>List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tables</a:t>
            </a:r>
            <a:r>
              <a:rPr spc="-60" dirty="0"/>
              <a:t> </a:t>
            </a:r>
            <a:r>
              <a:rPr spc="-10" dirty="0"/>
              <a:t>inside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sales</a:t>
            </a:r>
            <a:r>
              <a:rPr spc="-60" dirty="0"/>
              <a:t> </a:t>
            </a:r>
            <a:r>
              <a:rPr spc="-20" dirty="0"/>
              <a:t>schema.</a:t>
            </a:r>
            <a:r>
              <a:rPr spc="-65" dirty="0"/>
              <a:t> </a:t>
            </a:r>
            <a:r>
              <a:rPr dirty="0"/>
              <a:t>Write</a:t>
            </a:r>
            <a:r>
              <a:rPr spc="-65" dirty="0"/>
              <a:t> </a:t>
            </a:r>
            <a:r>
              <a:rPr spc="-20" dirty="0"/>
              <a:t>down</a:t>
            </a:r>
            <a:r>
              <a:rPr spc="-70" dirty="0"/>
              <a:t> </a:t>
            </a:r>
            <a:r>
              <a:rPr spc="-10" dirty="0"/>
              <a:t>how</a:t>
            </a:r>
            <a:r>
              <a:rPr spc="-65" dirty="0"/>
              <a:t> </a:t>
            </a:r>
            <a:r>
              <a:rPr spc="-30" dirty="0"/>
              <a:t>many</a:t>
            </a:r>
            <a:r>
              <a:rPr spc="-70" dirty="0"/>
              <a:t> </a:t>
            </a:r>
            <a:r>
              <a:rPr spc="-30" dirty="0"/>
              <a:t>you</a:t>
            </a:r>
            <a:r>
              <a:rPr spc="-65" dirty="0"/>
              <a:t> </a:t>
            </a:r>
            <a:r>
              <a:rPr spc="-10" dirty="0"/>
              <a:t>find.</a:t>
            </a:r>
          </a:p>
          <a:p>
            <a:pPr marL="12700" marR="5080">
              <a:lnSpc>
                <a:spcPct val="120100"/>
              </a:lnSpc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3</a:t>
            </a:r>
            <a:r>
              <a:rPr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pc="-25" dirty="0"/>
              <a:t>Show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structure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sales.orders.</a:t>
            </a:r>
            <a:r>
              <a:rPr spc="-55" dirty="0"/>
              <a:t> </a:t>
            </a:r>
            <a:r>
              <a:rPr spc="-40" dirty="0"/>
              <a:t>Note</a:t>
            </a:r>
            <a:r>
              <a:rPr spc="-50" dirty="0"/>
              <a:t> </a:t>
            </a:r>
            <a:r>
              <a:rPr spc="-10" dirty="0"/>
              <a:t>every</a:t>
            </a:r>
            <a:r>
              <a:rPr spc="-55" dirty="0"/>
              <a:t> </a:t>
            </a:r>
            <a:r>
              <a:rPr spc="-25" dirty="0"/>
              <a:t>column</a:t>
            </a:r>
            <a:r>
              <a:rPr spc="-45" dirty="0"/>
              <a:t> </a:t>
            </a:r>
            <a:r>
              <a:rPr spc="-30" dirty="0"/>
              <a:t>name</a:t>
            </a:r>
            <a:r>
              <a:rPr spc="-45" dirty="0"/>
              <a:t> </a:t>
            </a:r>
            <a:r>
              <a:rPr spc="-40" dirty="0"/>
              <a:t>and</a:t>
            </a:r>
            <a:r>
              <a:rPr spc="-45" dirty="0"/>
              <a:t> </a:t>
            </a:r>
            <a:r>
              <a:rPr dirty="0"/>
              <a:t>its</a:t>
            </a:r>
            <a:r>
              <a:rPr spc="-50" dirty="0"/>
              <a:t> </a:t>
            </a:r>
            <a:r>
              <a:rPr spc="-10" dirty="0"/>
              <a:t>type</a:t>
            </a:r>
            <a:r>
              <a:rPr spc="-50" dirty="0"/>
              <a:t> </a:t>
            </a:r>
            <a:r>
              <a:rPr spc="-130" dirty="0"/>
              <a:t>—</a:t>
            </a:r>
            <a:r>
              <a:rPr spc="-45" dirty="0"/>
              <a:t> </a:t>
            </a:r>
            <a:r>
              <a:rPr spc="-30" dirty="0"/>
              <a:t>you</a:t>
            </a:r>
            <a:r>
              <a:rPr spc="-50" dirty="0"/>
              <a:t> </a:t>
            </a:r>
            <a:r>
              <a:rPr dirty="0"/>
              <a:t>will</a:t>
            </a:r>
            <a:r>
              <a:rPr spc="-50" dirty="0"/>
              <a:t> </a:t>
            </a:r>
            <a:r>
              <a:rPr spc="-35" dirty="0"/>
              <a:t>need</a:t>
            </a:r>
            <a:r>
              <a:rPr spc="-50" dirty="0"/>
              <a:t> </a:t>
            </a:r>
            <a:r>
              <a:rPr spc="-10" dirty="0"/>
              <a:t>these</a:t>
            </a:r>
            <a:r>
              <a:rPr spc="-50" dirty="0"/>
              <a:t> </a:t>
            </a:r>
            <a:r>
              <a:rPr dirty="0"/>
              <a:t>all</a:t>
            </a:r>
            <a:r>
              <a:rPr spc="-45" dirty="0"/>
              <a:t> </a:t>
            </a:r>
            <a:r>
              <a:rPr spc="-10" dirty="0"/>
              <a:t>course long.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-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4</a:t>
            </a:r>
            <a:r>
              <a:rPr b="1" spc="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 </a:t>
            </a:r>
            <a:r>
              <a:rPr spc="-10" dirty="0"/>
              <a:t>Return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first</a:t>
            </a:r>
            <a:r>
              <a:rPr spc="-55" dirty="0"/>
              <a:t> </a:t>
            </a:r>
            <a:r>
              <a:rPr spc="80" dirty="0"/>
              <a:t>10</a:t>
            </a:r>
            <a:r>
              <a:rPr spc="-60" dirty="0"/>
              <a:t> </a:t>
            </a:r>
            <a:r>
              <a:rPr dirty="0"/>
              <a:t>rows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sales.orders.</a:t>
            </a:r>
            <a:r>
              <a:rPr spc="-55" dirty="0"/>
              <a:t> </a:t>
            </a:r>
            <a:r>
              <a:rPr spc="-30" dirty="0"/>
              <a:t>Then</a:t>
            </a:r>
            <a:r>
              <a:rPr spc="-6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first</a:t>
            </a:r>
            <a:r>
              <a:rPr spc="-55" dirty="0"/>
              <a:t> </a:t>
            </a:r>
            <a:r>
              <a:rPr spc="80" dirty="0"/>
              <a:t>10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customers.customers.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5</a:t>
            </a:r>
            <a:r>
              <a:rPr b="1" spc="2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b="1" spc="1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pc="-25" dirty="0"/>
              <a:t>Run</a:t>
            </a:r>
            <a:r>
              <a:rPr spc="-45" dirty="0"/>
              <a:t> </a:t>
            </a:r>
            <a:r>
              <a:rPr spc="-60" dirty="0"/>
              <a:t>SELECT</a:t>
            </a:r>
            <a:r>
              <a:rPr spc="-45" dirty="0"/>
              <a:t> </a:t>
            </a:r>
            <a:r>
              <a:rPr spc="-10" dirty="0"/>
              <a:t>current_database(),</a:t>
            </a:r>
            <a:r>
              <a:rPr spc="-40" dirty="0"/>
              <a:t> </a:t>
            </a:r>
            <a:r>
              <a:rPr spc="-10" dirty="0"/>
              <a:t>current_user,</a:t>
            </a:r>
            <a:r>
              <a:rPr spc="-45" dirty="0"/>
              <a:t> </a:t>
            </a:r>
            <a:r>
              <a:rPr dirty="0"/>
              <a:t>version();</a:t>
            </a:r>
            <a:r>
              <a:rPr spc="-45" dirty="0"/>
              <a:t> </a:t>
            </a:r>
            <a:r>
              <a:rPr spc="-40" dirty="0"/>
              <a:t>and </a:t>
            </a:r>
            <a:r>
              <a:rPr spc="-25" dirty="0"/>
              <a:t>save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output.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Step</a:t>
            </a:r>
            <a:r>
              <a:rPr b="1" spc="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6</a:t>
            </a:r>
            <a:r>
              <a:rPr b="1" spc="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1D3A5E"/>
                </a:solidFill>
                <a:latin typeface="Calibri"/>
                <a:cs typeface="Calibri"/>
              </a:rPr>
              <a:t>—</a:t>
            </a:r>
            <a:r>
              <a:rPr b="1" dirty="0">
                <a:solidFill>
                  <a:srgbClr val="1D3A5E"/>
                </a:solidFill>
                <a:latin typeface="Calibri"/>
                <a:cs typeface="Calibri"/>
              </a:rPr>
              <a:t>:</a:t>
            </a:r>
            <a:r>
              <a:rPr b="1" spc="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pc="-20" dirty="0"/>
              <a:t>Find</a:t>
            </a:r>
            <a:r>
              <a:rPr spc="-55" dirty="0"/>
              <a:t> </a:t>
            </a:r>
            <a:r>
              <a:rPr dirty="0"/>
              <a:t>3</a:t>
            </a:r>
            <a:r>
              <a:rPr spc="-50" dirty="0"/>
              <a:t> </a:t>
            </a:r>
            <a:r>
              <a:rPr spc="-25" dirty="0"/>
              <a:t>columns</a:t>
            </a:r>
            <a:r>
              <a:rPr spc="-60" dirty="0"/>
              <a:t> </a:t>
            </a:r>
            <a:r>
              <a:rPr spc="-10" dirty="0"/>
              <a:t>whose</a:t>
            </a:r>
            <a:r>
              <a:rPr spc="-55" dirty="0"/>
              <a:t> </a:t>
            </a:r>
            <a:r>
              <a:rPr spc="-25" dirty="0"/>
              <a:t>names</a:t>
            </a:r>
            <a:r>
              <a:rPr spc="-50" dirty="0"/>
              <a:t> </a:t>
            </a:r>
            <a:r>
              <a:rPr spc="-10" dirty="0"/>
              <a:t>surprised</a:t>
            </a:r>
            <a:r>
              <a:rPr spc="-55" dirty="0"/>
              <a:t> </a:t>
            </a:r>
            <a:r>
              <a:rPr spc="-30" dirty="0"/>
              <a:t>you</a:t>
            </a:r>
            <a:r>
              <a:rPr spc="-55" dirty="0"/>
              <a:t> </a:t>
            </a:r>
            <a:r>
              <a:rPr dirty="0"/>
              <a:t>(not</a:t>
            </a:r>
            <a:r>
              <a:rPr spc="-55" dirty="0"/>
              <a:t> </a:t>
            </a:r>
            <a:r>
              <a:rPr dirty="0"/>
              <a:t>what</a:t>
            </a:r>
            <a:r>
              <a:rPr spc="-50" dirty="0"/>
              <a:t> </a:t>
            </a:r>
            <a:r>
              <a:rPr spc="-30" dirty="0"/>
              <a:t>you</a:t>
            </a:r>
            <a:r>
              <a:rPr spc="-55" dirty="0"/>
              <a:t> </a:t>
            </a:r>
            <a:r>
              <a:rPr spc="-20" dirty="0"/>
              <a:t>would</a:t>
            </a:r>
            <a:r>
              <a:rPr spc="-55" dirty="0"/>
              <a:t> </a:t>
            </a:r>
            <a:r>
              <a:rPr spc="-30" dirty="0"/>
              <a:t>have</a:t>
            </a:r>
            <a:r>
              <a:rPr spc="-60" dirty="0"/>
              <a:t> </a:t>
            </a:r>
            <a:r>
              <a:rPr spc="-30" dirty="0"/>
              <a:t>guessed)</a:t>
            </a:r>
            <a:r>
              <a:rPr spc="-50" dirty="0"/>
              <a:t> </a:t>
            </a:r>
            <a:r>
              <a:rPr spc="-35" dirty="0"/>
              <a:t>and</a:t>
            </a:r>
            <a:r>
              <a:rPr spc="-55" dirty="0"/>
              <a:t> </a:t>
            </a:r>
            <a:r>
              <a:rPr dirty="0"/>
              <a:t>write</a:t>
            </a:r>
            <a:r>
              <a:rPr spc="-55" dirty="0"/>
              <a:t> </a:t>
            </a:r>
            <a:r>
              <a:rPr spc="-10" dirty="0"/>
              <a:t>them</a:t>
            </a:r>
            <a:r>
              <a:rPr spc="-60" dirty="0"/>
              <a:t> </a:t>
            </a:r>
            <a:r>
              <a:rPr spc="-10" dirty="0"/>
              <a:t>down.</a:t>
            </a:r>
          </a:p>
          <a:p>
            <a:pPr marL="12700" marR="193675">
              <a:lnSpc>
                <a:spcPct val="113199"/>
              </a:lnSpc>
              <a:spcBef>
                <a:spcPts val="335"/>
              </a:spcBef>
            </a:pPr>
            <a:r>
              <a:rPr sz="1600" spc="-185" dirty="0">
                <a:solidFill>
                  <a:srgbClr val="2E7C32"/>
                </a:solidFill>
                <a:latin typeface="Segoe UI Symbol"/>
                <a:cs typeface="Segoe UI Symbol"/>
              </a:rPr>
              <a:t>✅</a:t>
            </a:r>
            <a:r>
              <a:rPr sz="1600" spc="-285" dirty="0">
                <a:solidFill>
                  <a:srgbClr val="2E7C32"/>
                </a:solidFill>
                <a:latin typeface="Segoe UI Symbol"/>
                <a:cs typeface="Segoe UI Symbol"/>
              </a:rPr>
              <a:t> </a:t>
            </a:r>
            <a:r>
              <a:rPr b="1" dirty="0">
                <a:solidFill>
                  <a:srgbClr val="2E7C32"/>
                </a:solidFill>
                <a:latin typeface="Calibri"/>
                <a:cs typeface="Calibri"/>
              </a:rPr>
              <a:t>Bonus:</a:t>
            </a:r>
            <a:r>
              <a:rPr b="1" spc="5" dirty="0">
                <a:solidFill>
                  <a:srgbClr val="2E7C32"/>
                </a:solidFill>
                <a:latin typeface="Calibri"/>
                <a:cs typeface="Calibri"/>
              </a:rPr>
              <a:t> </a:t>
            </a:r>
            <a:r>
              <a:rPr spc="-40" dirty="0"/>
              <a:t>Keep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0" dirty="0"/>
              <a:t>notes</a:t>
            </a:r>
            <a:r>
              <a:rPr spc="-60" dirty="0"/>
              <a:t> </a:t>
            </a:r>
            <a:r>
              <a:rPr dirty="0"/>
              <a:t>file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tables</a:t>
            </a:r>
            <a:r>
              <a:rPr spc="-60" dirty="0"/>
              <a:t> </a:t>
            </a:r>
            <a:r>
              <a:rPr spc="-40" dirty="0"/>
              <a:t>and</a:t>
            </a:r>
            <a:r>
              <a:rPr spc="-55" dirty="0"/>
              <a:t> </a:t>
            </a:r>
            <a:r>
              <a:rPr spc="-25" dirty="0"/>
              <a:t>columns</a:t>
            </a:r>
            <a:r>
              <a:rPr spc="-55" dirty="0"/>
              <a:t> </a:t>
            </a:r>
            <a:r>
              <a:rPr spc="-30" dirty="0"/>
              <a:t>you</a:t>
            </a:r>
            <a:r>
              <a:rPr spc="-60" dirty="0"/>
              <a:t> </a:t>
            </a:r>
            <a:r>
              <a:rPr dirty="0"/>
              <a:t>meet.</a:t>
            </a:r>
            <a:r>
              <a:rPr spc="-60" dirty="0"/>
              <a:t> </a:t>
            </a:r>
            <a:r>
              <a:rPr spc="-30" dirty="0"/>
              <a:t>The</a:t>
            </a:r>
            <a:r>
              <a:rPr spc="-55" dirty="0"/>
              <a:t> </a:t>
            </a:r>
            <a:r>
              <a:rPr spc="-10" dirty="0"/>
              <a:t>analysts</a:t>
            </a:r>
            <a:r>
              <a:rPr spc="-55" dirty="0"/>
              <a:t> </a:t>
            </a:r>
            <a:r>
              <a:rPr spc="-10" dirty="0"/>
              <a:t>who</a:t>
            </a:r>
            <a:r>
              <a:rPr spc="-65" dirty="0"/>
              <a:t> </a:t>
            </a:r>
            <a:r>
              <a:rPr spc="-35" dirty="0"/>
              <a:t>move</a:t>
            </a:r>
            <a:r>
              <a:rPr spc="-60" dirty="0"/>
              <a:t> </a:t>
            </a:r>
            <a:r>
              <a:rPr dirty="0"/>
              <a:t>fastest</a:t>
            </a:r>
            <a:r>
              <a:rPr spc="-55" dirty="0"/>
              <a:t> </a:t>
            </a:r>
            <a:r>
              <a:rPr spc="-10" dirty="0"/>
              <a:t>are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5" dirty="0"/>
              <a:t>ones</a:t>
            </a:r>
            <a:r>
              <a:rPr spc="-55" dirty="0"/>
              <a:t> </a:t>
            </a:r>
            <a:r>
              <a:rPr spc="-25" dirty="0"/>
              <a:t>who </a:t>
            </a:r>
            <a:r>
              <a:rPr spc="-20" dirty="0"/>
              <a:t>learned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5" dirty="0"/>
              <a:t>schema</a:t>
            </a:r>
            <a:r>
              <a:rPr spc="-55" dirty="0"/>
              <a:t> </a:t>
            </a:r>
            <a:r>
              <a:rPr dirty="0"/>
              <a:t>early</a:t>
            </a:r>
            <a:r>
              <a:rPr spc="-60" dirty="0"/>
              <a:t> </a:t>
            </a:r>
            <a:r>
              <a:rPr spc="-130" dirty="0"/>
              <a:t>—</a:t>
            </a:r>
            <a:r>
              <a:rPr spc="-55" dirty="0"/>
              <a:t> </a:t>
            </a:r>
            <a:r>
              <a:rPr spc="-10" dirty="0"/>
              <a:t>not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5" dirty="0"/>
              <a:t>ones</a:t>
            </a:r>
            <a:r>
              <a:rPr spc="-55" dirty="0"/>
              <a:t> </a:t>
            </a:r>
            <a:r>
              <a:rPr dirty="0"/>
              <a:t>who</a:t>
            </a:r>
            <a:r>
              <a:rPr spc="-60" dirty="0"/>
              <a:t> </a:t>
            </a:r>
            <a:r>
              <a:rPr spc="-25" dirty="0"/>
              <a:t>memorised</a:t>
            </a:r>
            <a:r>
              <a:rPr spc="-60" dirty="0"/>
              <a:t> </a:t>
            </a:r>
            <a:r>
              <a:rPr spc="-10" dirty="0"/>
              <a:t>syntax.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4C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7935" y="345505"/>
            <a:ext cx="7194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749060"/>
            <a:ext cx="1927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REAL</a:t>
            </a:r>
            <a:r>
              <a:rPr spc="-25" dirty="0"/>
              <a:t> </a:t>
            </a:r>
            <a:r>
              <a:rPr spc="-20" dirty="0"/>
              <a:t>WORLD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088788"/>
            <a:ext cx="7772400" cy="70612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spc="-185" dirty="0">
                <a:solidFill>
                  <a:srgbClr val="1D3A5E"/>
                </a:solidFill>
                <a:latin typeface="Segoe UI Symbol"/>
                <a:cs typeface="Segoe UI Symbol"/>
              </a:rPr>
              <a:t>🏢</a:t>
            </a:r>
            <a:r>
              <a:rPr sz="1600" spc="-285" dirty="0">
                <a:solidFill>
                  <a:srgbClr val="1D3A5E"/>
                </a:solidFill>
                <a:latin typeface="Segoe UI Symbol"/>
                <a:cs typeface="Segoe UI Symbol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THE</a:t>
            </a:r>
            <a:r>
              <a:rPr sz="1300" b="1" spc="-6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FIRST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WEEK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35" dirty="0">
                <a:solidFill>
                  <a:srgbClr val="1D3A5E"/>
                </a:solidFill>
                <a:latin typeface="Calibri"/>
                <a:cs typeface="Calibri"/>
              </a:rPr>
              <a:t>AT</a:t>
            </a:r>
            <a:r>
              <a:rPr sz="1300" b="1" spc="-3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A5E"/>
                </a:solidFill>
                <a:latin typeface="Calibri"/>
                <a:cs typeface="Calibri"/>
              </a:rPr>
              <a:t>ANY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65" dirty="0">
                <a:solidFill>
                  <a:srgbClr val="1D3A5E"/>
                </a:solidFill>
                <a:latin typeface="Calibri"/>
                <a:cs typeface="Calibri"/>
              </a:rPr>
              <a:t>DATA</a:t>
            </a:r>
            <a:r>
              <a:rPr sz="1300" b="1" spc="-10" dirty="0">
                <a:solidFill>
                  <a:srgbClr val="1D3A5E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1D3A5E"/>
                </a:solidFill>
                <a:latin typeface="Calibri"/>
                <a:cs typeface="Calibri"/>
              </a:rPr>
              <a:t>JOB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3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Nobody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hands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diagram.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get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connection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string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question.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did</a:t>
            </a:r>
            <a:r>
              <a:rPr sz="13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today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IS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300" spc="-6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job's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week:</a:t>
            </a:r>
            <a:endParaRPr sz="1300">
              <a:latin typeface="Yu Gothic UI Light"/>
              <a:cs typeface="Yu Gothic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856" y="1817399"/>
            <a:ext cx="80010" cy="112204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934" y="1841872"/>
            <a:ext cx="372491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9430">
              <a:lnSpc>
                <a:spcPct val="119900"/>
              </a:lnSpc>
              <a:spcBef>
                <a:spcPts val="100"/>
              </a:spcBef>
            </a:pP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Connect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have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never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seen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before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List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schemas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and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learn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landscape Inspect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a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few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tables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learn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real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names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Run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small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LIMIT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queries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before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anything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expensive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Ask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what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MEANS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part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no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tool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can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do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for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endParaRPr sz="1200">
              <a:latin typeface="Yu Gothic UI Light"/>
              <a:cs typeface="Yu Gothic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856" y="3050542"/>
            <a:ext cx="71678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Analysts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who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skip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this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step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write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confident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queries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against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columns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55" dirty="0">
                <a:solidFill>
                  <a:srgbClr val="202020"/>
                </a:solidFill>
                <a:latin typeface="Yu Gothic UI Light"/>
                <a:cs typeface="Yu Gothic UI Light"/>
              </a:rPr>
              <a:t>do</a:t>
            </a:r>
            <a:r>
              <a:rPr sz="13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not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exist.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80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dirty="0">
                <a:solidFill>
                  <a:srgbClr val="202020"/>
                </a:solidFill>
                <a:latin typeface="Yu Gothic UI Light"/>
                <a:cs typeface="Yu Gothic UI Light"/>
              </a:rPr>
              <a:t>just</a:t>
            </a:r>
            <a:r>
              <a:rPr sz="13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3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avoided </a:t>
            </a:r>
            <a:r>
              <a:rPr sz="13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that.</a:t>
            </a:r>
            <a:endParaRPr sz="13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273966"/>
            <a:ext cx="2056764" cy="4572000"/>
          </a:xfrm>
          <a:custGeom>
            <a:avLst/>
            <a:gdLst/>
            <a:ahLst/>
            <a:cxnLst/>
            <a:rect l="l" t="t" r="r" b="b"/>
            <a:pathLst>
              <a:path w="2056764" h="4572000">
                <a:moveTo>
                  <a:pt x="72720" y="0"/>
                </a:moveTo>
                <a:lnTo>
                  <a:pt x="0" y="0"/>
                </a:lnTo>
                <a:lnTo>
                  <a:pt x="0" y="4571631"/>
                </a:lnTo>
                <a:lnTo>
                  <a:pt x="36360" y="4571631"/>
                </a:lnTo>
                <a:lnTo>
                  <a:pt x="72720" y="4571631"/>
                </a:lnTo>
                <a:lnTo>
                  <a:pt x="72720" y="0"/>
                </a:lnTo>
                <a:close/>
              </a:path>
              <a:path w="2056764" h="4572000">
                <a:moveTo>
                  <a:pt x="2056676" y="355"/>
                </a:moveTo>
                <a:lnTo>
                  <a:pt x="228244" y="355"/>
                </a:lnTo>
                <a:lnTo>
                  <a:pt x="228244" y="320040"/>
                </a:lnTo>
                <a:lnTo>
                  <a:pt x="1142644" y="320040"/>
                </a:lnTo>
                <a:lnTo>
                  <a:pt x="2056676" y="320040"/>
                </a:lnTo>
                <a:lnTo>
                  <a:pt x="2056676" y="355"/>
                </a:lnTo>
                <a:close/>
              </a:path>
            </a:pathLst>
          </a:custGeom>
          <a:solidFill>
            <a:srgbClr val="006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6454" y="345505"/>
            <a:ext cx="6419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DEFINITION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9864" y="596419"/>
            <a:ext cx="7988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You</a:t>
            </a:r>
            <a:r>
              <a:rPr spc="-10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now</a:t>
            </a:r>
            <a:r>
              <a:rPr spc="-10" dirty="0"/>
              <a:t> </a:t>
            </a:r>
            <a:r>
              <a:rPr dirty="0"/>
              <a:t>explore</a:t>
            </a:r>
            <a:r>
              <a:rPr spc="-10" dirty="0"/>
              <a:t> </a:t>
            </a:r>
            <a:r>
              <a:rPr dirty="0"/>
              <a:t>any</a:t>
            </a:r>
            <a:r>
              <a:rPr spc="-10" dirty="0"/>
              <a:t> </a:t>
            </a:r>
            <a:r>
              <a:rPr dirty="0"/>
              <a:t>database.</a:t>
            </a:r>
            <a:r>
              <a:rPr spc="-10" dirty="0"/>
              <a:t> </a:t>
            </a:r>
            <a:r>
              <a:rPr dirty="0"/>
              <a:t>Next</a:t>
            </a:r>
            <a:r>
              <a:rPr spc="-10" dirty="0"/>
              <a:t> </a:t>
            </a:r>
            <a:r>
              <a:rPr dirty="0"/>
              <a:t>you</a:t>
            </a:r>
            <a:r>
              <a:rPr spc="-10" dirty="0"/>
              <a:t> </a:t>
            </a:r>
            <a:r>
              <a:rPr dirty="0"/>
              <a:t>start</a:t>
            </a:r>
            <a:r>
              <a:rPr spc="-15" dirty="0"/>
              <a:t> </a:t>
            </a:r>
            <a:r>
              <a:rPr spc="-10" dirty="0"/>
              <a:t>BUILDING </a:t>
            </a:r>
            <a:r>
              <a:rPr spc="-20" dirty="0"/>
              <a:t>one.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9856" y="1196039"/>
            <a:ext cx="80010" cy="9029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50" dirty="0">
                <a:solidFill>
                  <a:srgbClr val="202020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934" y="1220537"/>
            <a:ext cx="4930140" cy="9023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Today: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connected,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explored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85" dirty="0">
                <a:solidFill>
                  <a:srgbClr val="202020"/>
                </a:solidFill>
                <a:latin typeface="Yu Gothic UI Light"/>
                <a:cs typeface="Yu Gothic UI Light"/>
              </a:rPr>
              <a:t>16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schemas,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ran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your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real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queries</a:t>
            </a:r>
            <a:endParaRPr sz="1200">
              <a:latin typeface="Yu Gothic UI Light"/>
              <a:cs typeface="Yu Gothic UI Ligh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Next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session: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DDL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DATABASE,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5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SCHEMA, </a:t>
            </a:r>
            <a:r>
              <a:rPr sz="1200" spc="-65" dirty="0">
                <a:solidFill>
                  <a:srgbClr val="202020"/>
                </a:solidFill>
                <a:latin typeface="Yu Gothic UI Light"/>
                <a:cs typeface="Yu Gothic UI Light"/>
              </a:rPr>
              <a:t>CREATE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TABLE,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DROP</a:t>
            </a:r>
            <a:endParaRPr sz="1200">
              <a:latin typeface="Yu Gothic UI Light"/>
              <a:cs typeface="Yu Gothic UI Light"/>
            </a:endParaRPr>
          </a:p>
          <a:p>
            <a:pPr marL="12700" marR="1386205">
              <a:lnSpc>
                <a:spcPct val="119900"/>
              </a:lnSpc>
            </a:pPr>
            <a:r>
              <a:rPr sz="1200" spc="-75" dirty="0">
                <a:solidFill>
                  <a:srgbClr val="202020"/>
                </a:solidFill>
                <a:latin typeface="Yu Gothic UI Light"/>
                <a:cs typeface="Yu Gothic UI Light"/>
              </a:rPr>
              <a:t>You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will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build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every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column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as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TEXT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first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20" dirty="0">
                <a:solidFill>
                  <a:srgbClr val="202020"/>
                </a:solidFill>
                <a:latin typeface="Yu Gothic UI Light"/>
                <a:cs typeface="Yu Gothic UI Light"/>
              </a:rPr>
              <a:t>—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on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purpose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Then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5" dirty="0">
                <a:solidFill>
                  <a:srgbClr val="202020"/>
                </a:solidFill>
                <a:latin typeface="Yu Gothic UI Light"/>
                <a:cs typeface="Yu Gothic UI Light"/>
              </a:rPr>
              <a:t>data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types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arrive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to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fix</a:t>
            </a:r>
            <a:r>
              <a:rPr sz="1200" spc="-45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the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20" dirty="0">
                <a:solidFill>
                  <a:srgbClr val="202020"/>
                </a:solidFill>
                <a:latin typeface="Yu Gothic UI Light"/>
                <a:cs typeface="Yu Gothic UI Light"/>
              </a:rPr>
              <a:t>pain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dirty="0">
                <a:solidFill>
                  <a:srgbClr val="202020"/>
                </a:solidFill>
                <a:latin typeface="Yu Gothic UI Light"/>
                <a:cs typeface="Yu Gothic UI Light"/>
              </a:rPr>
              <a:t>that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30" dirty="0">
                <a:solidFill>
                  <a:srgbClr val="202020"/>
                </a:solidFill>
                <a:latin typeface="Yu Gothic UI Light"/>
                <a:cs typeface="Yu Gothic UI Light"/>
              </a:rPr>
              <a:t>all-</a:t>
            </a:r>
            <a:r>
              <a:rPr sz="1200" spc="-35" dirty="0">
                <a:solidFill>
                  <a:srgbClr val="202020"/>
                </a:solidFill>
                <a:latin typeface="Yu Gothic UI Light"/>
                <a:cs typeface="Yu Gothic UI Light"/>
              </a:rPr>
              <a:t>TEXT</a:t>
            </a:r>
            <a:r>
              <a:rPr sz="1200" spc="-40" dirty="0">
                <a:solidFill>
                  <a:srgbClr val="202020"/>
                </a:solidFill>
                <a:latin typeface="Yu Gothic UI Light"/>
                <a:cs typeface="Yu Gothic UI Light"/>
              </a:rPr>
              <a:t> </a:t>
            </a:r>
            <a:r>
              <a:rPr sz="1200" spc="-10" dirty="0">
                <a:solidFill>
                  <a:srgbClr val="202020"/>
                </a:solidFill>
                <a:latin typeface="Yu Gothic UI Light"/>
                <a:cs typeface="Yu Gothic UI Light"/>
              </a:rPr>
              <a:t>causes</a:t>
            </a:r>
            <a:endParaRPr sz="1200">
              <a:latin typeface="Yu Gothic UI Light"/>
              <a:cs typeface="Yu Gothic UI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4845966"/>
            <a:ext cx="9144000" cy="297180"/>
          </a:xfrm>
          <a:custGeom>
            <a:avLst/>
            <a:gdLst/>
            <a:ahLst/>
            <a:cxnLst/>
            <a:rect l="l" t="t" r="r" b="b"/>
            <a:pathLst>
              <a:path w="9144000" h="297179">
                <a:moveTo>
                  <a:pt x="9143631" y="0"/>
                </a:moveTo>
                <a:lnTo>
                  <a:pt x="0" y="0"/>
                </a:lnTo>
                <a:lnTo>
                  <a:pt x="0" y="296989"/>
                </a:lnTo>
                <a:lnTo>
                  <a:pt x="4572000" y="296989"/>
                </a:lnTo>
                <a:lnTo>
                  <a:pt x="9143631" y="296989"/>
                </a:lnTo>
                <a:lnTo>
                  <a:pt x="914363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144" y="276747"/>
            <a:ext cx="3955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Onboarding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&amp;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First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Queries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—</a:t>
            </a:r>
            <a:r>
              <a:rPr sz="1600" spc="-45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B200"/>
                </a:solidFill>
                <a:latin typeface="Calibri"/>
                <a:cs typeface="Calibri"/>
              </a:rPr>
              <a:t>Quick</a:t>
            </a:r>
            <a:r>
              <a:rPr sz="1600" spc="-50" dirty="0">
                <a:solidFill>
                  <a:srgbClr val="FFB2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B200"/>
                </a:solidFill>
                <a:latin typeface="Calibri"/>
                <a:cs typeface="Calibri"/>
              </a:rPr>
              <a:t>Reference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144" y="771743"/>
            <a:ext cx="2597785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Explore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(psql)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  <a:tabLst>
                <a:tab pos="1412240" algn="l"/>
              </a:tabLst>
            </a:pP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\l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	-- list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databases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  <a:tabLst>
                <a:tab pos="1825625" algn="l"/>
              </a:tabLst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\c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accio_retailmart_NN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	--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connect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136" y="1340408"/>
            <a:ext cx="1129030" cy="4794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\dn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\dt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sales.*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\d 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3991" y="1340408"/>
            <a:ext cx="1818639" cy="4794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list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list tables in a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schema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-- columns +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types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144" y="2051902"/>
            <a:ext cx="2735580" cy="202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First</a:t>
            </a:r>
            <a:r>
              <a:rPr sz="1100" b="1" spc="-1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FFB200"/>
                </a:solidFill>
                <a:latin typeface="Courier New"/>
                <a:cs typeface="Courier New"/>
              </a:rPr>
              <a:t>Queries</a:t>
            </a:r>
            <a:endParaRPr sz="1100">
              <a:latin typeface="Courier New"/>
              <a:cs typeface="Courier New"/>
            </a:endParaRPr>
          </a:p>
          <a:p>
            <a:pPr marL="102235" marR="5080">
              <a:lnSpc>
                <a:spcPct val="110200"/>
              </a:lnSpc>
              <a:spcBef>
                <a:spcPts val="77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* FROM sales.orders LIMIT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10;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order_id, order_date,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net_total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FROM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sales.orders</a:t>
            </a:r>
            <a:endParaRPr sz="9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LIMIT </a:t>
            </a:r>
            <a:r>
              <a:rPr sz="900" spc="-25" dirty="0">
                <a:solidFill>
                  <a:srgbClr val="D3D3D3"/>
                </a:solidFill>
                <a:latin typeface="Courier New"/>
                <a:cs typeface="Courier New"/>
              </a:rPr>
              <a:t>5;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-</a:t>
            </a:r>
            <a:r>
              <a:rPr sz="1100" b="1" spc="-25" dirty="0">
                <a:solidFill>
                  <a:srgbClr val="FFB2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FFB200"/>
                </a:solidFill>
                <a:latin typeface="Courier New"/>
                <a:cs typeface="Courier New"/>
              </a:rPr>
              <a:t>System</a:t>
            </a:r>
            <a:r>
              <a:rPr sz="1100" b="1" spc="-20" dirty="0">
                <a:solidFill>
                  <a:srgbClr val="FFB200"/>
                </a:solidFill>
                <a:latin typeface="Courier New"/>
                <a:cs typeface="Courier New"/>
              </a:rPr>
              <a:t> Info</a:t>
            </a:r>
            <a:endParaRPr sz="11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version();</a:t>
            </a:r>
            <a:endParaRPr sz="900">
              <a:latin typeface="Courier New"/>
              <a:cs typeface="Courier New"/>
            </a:endParaRPr>
          </a:p>
          <a:p>
            <a:pPr marL="102235" marR="832485">
              <a:lnSpc>
                <a:spcPct val="110200"/>
              </a:lnSpc>
            </a:pP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current_database();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current_user; </a:t>
            </a:r>
            <a:r>
              <a:rPr sz="900" dirty="0">
                <a:solidFill>
                  <a:srgbClr val="D3D3D3"/>
                </a:solidFill>
                <a:latin typeface="Courier New"/>
                <a:cs typeface="Courier New"/>
              </a:rPr>
              <a:t>SELECT </a:t>
            </a:r>
            <a:r>
              <a:rPr sz="900" spc="-10" dirty="0">
                <a:solidFill>
                  <a:srgbClr val="D3D3D3"/>
                </a:solidFill>
                <a:latin typeface="Courier New"/>
                <a:cs typeface="Courier New"/>
              </a:rPr>
              <a:t>now();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3416</Words>
  <Application>Microsoft Office PowerPoint</Application>
  <PresentationFormat>Custom</PresentationFormat>
  <Paragraphs>281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Yu Gothic UI Light</vt:lpstr>
      <vt:lpstr>Arial MT</vt:lpstr>
      <vt:lpstr>Calibri</vt:lpstr>
      <vt:lpstr>Courier New</vt:lpstr>
      <vt:lpstr>Georgia</vt:lpstr>
      <vt:lpstr>Segoe UI Symbol</vt:lpstr>
      <vt:lpstr>Times New Roman</vt:lpstr>
      <vt:lpstr>Office Theme</vt:lpstr>
      <vt:lpstr>PowerPoint Presentation</vt:lpstr>
      <vt:lpstr>🔄 YOUR SQL JOURNEY SO FAR</vt:lpstr>
      <vt:lpstr>TODAY'S AGENDA (2 Hours)</vt:lpstr>
      <vt:lpstr>🎬 MAIN STORY: The School That Built Its Own Library System (1/2)</vt:lpstr>
      <vt:lpstr>🎬 MAIN STORY: The School That Built Its Own Library System (2/2)</vt:lpstr>
      <vt:lpstr>🔗 STORY → SQL CONNECTION</vt:lpstr>
      <vt:lpstr>🗣 MINI STORY</vt:lpstr>
      <vt:lpstr>📝 DEFINITION: SQL Query</vt:lpstr>
      <vt:lpstr>SYNTAX: Basic Queries</vt:lpstr>
      <vt:lpstr>EASY</vt:lpstr>
      <vt:lpstr>PowerPoint Presentation</vt:lpstr>
      <vt:lpstr>MEDIUM</vt:lpstr>
      <vt:lpstr>Solution</vt:lpstr>
      <vt:lpstr>HARD</vt:lpstr>
      <vt:lpstr>Solution</vt:lpstr>
      <vt:lpstr>CRAZY</vt:lpstr>
      <vt:lpstr>Solution</vt:lpstr>
      <vt:lpstr>KEY TAKEAWAYS</vt:lpstr>
      <vt:lpstr>PRO TIP</vt:lpstr>
      <vt:lpstr>⚠️ COMMON MISTAKE: Forgetting the Semicolon</vt:lpstr>
      <vt:lpstr>🎯 INTERVIEW SPOTLIGHT</vt:lpstr>
      <vt:lpstr>CHALLENGE</vt:lpstr>
      <vt:lpstr>🧠 THINK ABOUT IT: The AS Keyword</vt:lpstr>
      <vt:lpstr>🎯 INTERVIEW SPOTLIGHT</vt:lpstr>
      <vt:lpstr>PRO TIP</vt:lpstr>
      <vt:lpstr>Q1 — What are the 5 categories of SQL commands?</vt:lpstr>
      <vt:lpstr>Q2 — What is the difference between a database and a schema?</vt:lpstr>
      <vt:lpstr>Q3 — What is a schema-qualified table name and why does it matter?</vt:lpstr>
      <vt:lpstr>Q4 — How do you explore an unfamiliar database?</vt:lpstr>
      <vt:lpstr>Q5 — Why always use LIMIT when exploring a new table?</vt:lpstr>
      <vt:lpstr>Q6 — What does SELECT without a FROM clause do?</vt:lpstr>
      <vt:lpstr>8 Rapid-Fire Questions — 90 Seconds Total</vt:lpstr>
      <vt:lpstr>🎓 ANSWER KEY — Check Yourself</vt:lpstr>
      <vt:lpstr>PRO TIP</vt:lpstr>
      <vt:lpstr>CHALLENGE (1/2)</vt:lpstr>
      <vt:lpstr>CHALLENGE (2/2)</vt:lpstr>
      <vt:lpstr>REAL WORLD</vt:lpstr>
      <vt:lpstr>You can now explore any database. Next you start BUILDING one.</vt:lpstr>
      <vt:lpstr>Onboarding &amp; First Queries — Quick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&amp; First Queries — RetailMart V3 SQL</dc:title>
  <dc:subject>SQL Masterclass — RetailMart V3</dc:subject>
  <dc:creator>AccioJob — Siraj Sir</dc:creator>
  <cp:lastModifiedBy>Ankit Kumar</cp:lastModifiedBy>
  <cp:revision>2</cp:revision>
  <dcterms:created xsi:type="dcterms:W3CDTF">2026-09-13T09:22:53Z</dcterms:created>
  <dcterms:modified xsi:type="dcterms:W3CDTF">2026-09-15T06:08:18Z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2026-08-08T00:00:00Z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26.2.3.2 (AARCH64)</vt:lpwstr>
  </property>
  <property fmtid="{D5CDD505-2E9C-101B-9397-08002B2CF9AE}" pid="6" name="LastSaved">
    <vt:filetime>2026-08-08T00:00:00Z</vt:filetime>
  </property>
</Properties>
</file>