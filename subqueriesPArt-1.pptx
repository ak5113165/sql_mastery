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90" r:id="rId22"/>
    <p:sldId id="291" r:id="rId23"/>
    <p:sldId id="292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30" r:id="rId59"/>
    <p:sldId id="331" r:id="rId60"/>
    <p:sldId id="332" r:id="rId61"/>
    <p:sldId id="333" r:id="rId62"/>
    <p:sldId id="334" r:id="rId63"/>
    <p:sldId id="335" r:id="rId64"/>
    <p:sldId id="336" r:id="rId65"/>
    <p:sldId id="337" r:id="rId66"/>
    <p:sldId id="338" r:id="rId67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704" y="215546"/>
            <a:ext cx="672719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B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9856" y="1220589"/>
            <a:ext cx="7925434" cy="1837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arlordali4444/postgresql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885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Above-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Student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Question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teacher</a:t>
            </a:r>
            <a:r>
              <a:rPr spc="-30" dirty="0"/>
              <a:t> </a:t>
            </a:r>
            <a:r>
              <a:rPr dirty="0"/>
              <a:t>asks:</a:t>
            </a:r>
            <a:r>
              <a:rPr spc="-35" dirty="0"/>
              <a:t> </a:t>
            </a:r>
            <a:r>
              <a:rPr dirty="0"/>
              <a:t>'Which</a:t>
            </a:r>
            <a:r>
              <a:rPr spc="-30" dirty="0"/>
              <a:t> </a:t>
            </a:r>
            <a:r>
              <a:rPr spc="-10" dirty="0"/>
              <a:t>students</a:t>
            </a:r>
            <a:r>
              <a:rPr spc="-35" dirty="0"/>
              <a:t> </a:t>
            </a:r>
            <a:r>
              <a:rPr spc="-10" dirty="0"/>
              <a:t>scored</a:t>
            </a:r>
            <a:r>
              <a:rPr spc="-30" dirty="0"/>
              <a:t> </a:t>
            </a:r>
            <a:r>
              <a:rPr dirty="0"/>
              <a:t>above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class</a:t>
            </a:r>
            <a:r>
              <a:rPr spc="-30" dirty="0"/>
              <a:t> </a:t>
            </a:r>
            <a:r>
              <a:rPr spc="-10" dirty="0"/>
              <a:t>average?'</a:t>
            </a:r>
            <a:r>
              <a:rPr spc="-35" dirty="0"/>
              <a:t> </a:t>
            </a:r>
            <a:r>
              <a:rPr spc="-65" dirty="0"/>
              <a:t>To</a:t>
            </a:r>
            <a:r>
              <a:rPr spc="-10" dirty="0"/>
              <a:t> </a:t>
            </a:r>
            <a:r>
              <a:rPr spc="-25" dirty="0"/>
              <a:t>answer,</a:t>
            </a:r>
            <a:r>
              <a:rPr spc="-30" dirty="0"/>
              <a:t> </a:t>
            </a:r>
            <a:r>
              <a:rPr dirty="0"/>
              <a:t>she</a:t>
            </a:r>
            <a:r>
              <a:rPr spc="-35" dirty="0"/>
              <a:t> </a:t>
            </a:r>
            <a:r>
              <a:rPr dirty="0"/>
              <a:t>FIRST</a:t>
            </a:r>
            <a:r>
              <a:rPr spc="-30" dirty="0"/>
              <a:t> </a:t>
            </a:r>
            <a:r>
              <a:rPr spc="-10" dirty="0"/>
              <a:t>calculates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average</a:t>
            </a:r>
            <a:r>
              <a:rPr spc="-30" dirty="0"/>
              <a:t> </a:t>
            </a:r>
            <a:r>
              <a:rPr spc="-20" dirty="0"/>
              <a:t>(one </a:t>
            </a:r>
            <a:r>
              <a:rPr dirty="0"/>
              <a:t>number),</a:t>
            </a:r>
            <a:r>
              <a:rPr spc="-35" dirty="0"/>
              <a:t> </a:t>
            </a:r>
            <a:r>
              <a:rPr dirty="0"/>
              <a:t>then</a:t>
            </a:r>
            <a:r>
              <a:rPr spc="-30" dirty="0"/>
              <a:t> </a:t>
            </a:r>
            <a:r>
              <a:rPr spc="-10" dirty="0"/>
              <a:t>compares</a:t>
            </a:r>
            <a:r>
              <a:rPr spc="-30" dirty="0"/>
              <a:t> </a:t>
            </a:r>
            <a:r>
              <a:rPr dirty="0"/>
              <a:t>each</a:t>
            </a:r>
            <a:r>
              <a:rPr spc="-35" dirty="0"/>
              <a:t> </a:t>
            </a:r>
            <a:r>
              <a:rPr spc="-10" dirty="0"/>
              <a:t>student's</a:t>
            </a:r>
            <a:r>
              <a:rPr spc="-30" dirty="0"/>
              <a:t> </a:t>
            </a:r>
            <a:r>
              <a:rPr dirty="0"/>
              <a:t>score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it.</a:t>
            </a:r>
            <a:r>
              <a:rPr spc="-3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single</a:t>
            </a:r>
            <a:r>
              <a:rPr spc="-35" dirty="0"/>
              <a:t> </a:t>
            </a:r>
            <a:r>
              <a:rPr dirty="0"/>
              <a:t>number</a:t>
            </a:r>
            <a:r>
              <a:rPr spc="-30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average</a:t>
            </a:r>
            <a:r>
              <a:rPr spc="-30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SUBQUERY. </a:t>
            </a:r>
            <a:r>
              <a:rPr dirty="0"/>
              <a:t>One</a:t>
            </a:r>
            <a:r>
              <a:rPr spc="-35" dirty="0"/>
              <a:t> </a:t>
            </a:r>
            <a:r>
              <a:rPr spc="-10" dirty="0"/>
              <a:t>small </a:t>
            </a:r>
            <a:r>
              <a:rPr dirty="0"/>
              <a:t>query</a:t>
            </a:r>
            <a:r>
              <a:rPr spc="-50" dirty="0"/>
              <a:t> </a:t>
            </a:r>
            <a:r>
              <a:rPr spc="-10" dirty="0"/>
              <a:t>feeds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value</a:t>
            </a:r>
            <a:r>
              <a:rPr spc="-50" dirty="0"/>
              <a:t> </a:t>
            </a:r>
            <a:r>
              <a:rPr dirty="0"/>
              <a:t>into</a:t>
            </a:r>
            <a:r>
              <a:rPr spc="-45" dirty="0"/>
              <a:t> </a:t>
            </a:r>
            <a:r>
              <a:rPr dirty="0"/>
              <a:t>another</a:t>
            </a:r>
            <a:r>
              <a:rPr spc="-50" dirty="0"/>
              <a:t> </a:t>
            </a:r>
            <a:r>
              <a:rPr spc="-10" dirty="0"/>
              <a:t>query.</a:t>
            </a:r>
          </a:p>
          <a:p>
            <a:pPr marL="12700" marR="335280">
              <a:lnSpc>
                <a:spcPct val="120100"/>
              </a:lnSpc>
              <a:spcBef>
                <a:spcPts val="570"/>
              </a:spcBef>
            </a:pPr>
            <a:r>
              <a:rPr dirty="0"/>
              <a:t>Real</a:t>
            </a:r>
            <a:r>
              <a:rPr spc="-35" dirty="0"/>
              <a:t> </a:t>
            </a:r>
            <a:r>
              <a:rPr spc="-10" dirty="0"/>
              <a:t>analyst</a:t>
            </a:r>
            <a:r>
              <a:rPr spc="-35" dirty="0"/>
              <a:t> </a:t>
            </a:r>
            <a:r>
              <a:rPr spc="-10" dirty="0"/>
              <a:t>questions</a:t>
            </a:r>
            <a:r>
              <a:rPr spc="-35" dirty="0"/>
              <a:t> </a:t>
            </a:r>
            <a:r>
              <a:rPr dirty="0"/>
              <a:t>almost</a:t>
            </a:r>
            <a:r>
              <a:rPr spc="-35" dirty="0"/>
              <a:t> </a:t>
            </a:r>
            <a:r>
              <a:rPr spc="-10" dirty="0"/>
              <a:t>always</a:t>
            </a:r>
            <a:r>
              <a:rPr spc="-35" dirty="0"/>
              <a:t> </a:t>
            </a:r>
            <a:r>
              <a:rPr dirty="0"/>
              <a:t>look</a:t>
            </a:r>
            <a:r>
              <a:rPr spc="-35" dirty="0"/>
              <a:t> </a:t>
            </a:r>
            <a:r>
              <a:rPr dirty="0"/>
              <a:t>like</a:t>
            </a:r>
            <a:r>
              <a:rPr spc="-35" dirty="0"/>
              <a:t> </a:t>
            </a:r>
            <a:r>
              <a:rPr dirty="0"/>
              <a:t>this:</a:t>
            </a:r>
            <a:r>
              <a:rPr spc="-35" dirty="0"/>
              <a:t> </a:t>
            </a:r>
            <a:r>
              <a:rPr dirty="0"/>
              <a:t>'Find</a:t>
            </a:r>
            <a:r>
              <a:rPr spc="-35" dirty="0"/>
              <a:t> </a:t>
            </a:r>
            <a:r>
              <a:rPr dirty="0"/>
              <a:t>X</a:t>
            </a:r>
            <a:r>
              <a:rPr spc="-35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some</a:t>
            </a:r>
            <a:r>
              <a:rPr spc="-35" dirty="0"/>
              <a:t> </a:t>
            </a:r>
            <a:r>
              <a:rPr spc="-10" dirty="0"/>
              <a:t>computed</a:t>
            </a:r>
            <a:r>
              <a:rPr spc="-35" dirty="0"/>
              <a:t> </a:t>
            </a:r>
            <a:r>
              <a:rPr spc="-10" dirty="0"/>
              <a:t>property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X</a:t>
            </a:r>
            <a:r>
              <a:rPr spc="-35" dirty="0"/>
              <a:t> </a:t>
            </a:r>
            <a:r>
              <a:rPr spc="-10" dirty="0"/>
              <a:t>matches</a:t>
            </a:r>
            <a:r>
              <a:rPr spc="-35" dirty="0"/>
              <a:t> </a:t>
            </a:r>
            <a:r>
              <a:rPr spc="-20" dirty="0"/>
              <a:t>some </a:t>
            </a:r>
            <a:r>
              <a:rPr spc="-10" dirty="0"/>
              <a:t>computed</a:t>
            </a:r>
            <a:r>
              <a:rPr spc="-30" dirty="0"/>
              <a:t> </a:t>
            </a:r>
            <a:r>
              <a:rPr spc="-10" dirty="0"/>
              <a:t>benchmark.'</a:t>
            </a:r>
            <a:r>
              <a:rPr spc="-20" dirty="0"/>
              <a:t> </a:t>
            </a:r>
            <a:r>
              <a:rPr dirty="0"/>
              <a:t>Both</a:t>
            </a:r>
            <a:r>
              <a:rPr spc="-15" dirty="0"/>
              <a:t> </a:t>
            </a:r>
            <a:r>
              <a:rPr dirty="0"/>
              <a:t>'X'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'benchmark'</a:t>
            </a:r>
            <a:r>
              <a:rPr spc="-2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spc="-10" dirty="0"/>
              <a:t>themselves</a:t>
            </a:r>
            <a:r>
              <a:rPr spc="-2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spc="-10" dirty="0"/>
              <a:t>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D33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5179" y="345505"/>
            <a:ext cx="423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REVEAL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5514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From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Story</a:t>
            </a:r>
            <a:r>
              <a:rPr sz="20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to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SQL!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43364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0370">
              <a:lnSpc>
                <a:spcPct val="1201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'Above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AVG(...)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...)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...)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'Pre-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GROUP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...)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'Show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alongside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three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idea,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positions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84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Subquery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Family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(Part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1)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4274185" cy="190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4175" indent="161925">
              <a:lnSpc>
                <a:spcPct val="120100"/>
              </a:lnSpc>
              <a:spcBef>
                <a:spcPts val="100"/>
              </a:spcBef>
              <a:buAutoNum type="arabicPeriod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row,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column)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comparison</a:t>
            </a:r>
            <a:endParaRPr sz="1300">
              <a:latin typeface="Calibri"/>
              <a:cs typeface="Calibri"/>
            </a:endParaRPr>
          </a:p>
          <a:p>
            <a:pPr marL="12700" marR="467359" indent="161925">
              <a:lnSpc>
                <a:spcPct val="120100"/>
              </a:lnSpc>
              <a:spcBef>
                <a:spcPts val="570"/>
              </a:spcBef>
              <a:buAutoNum type="arabicPeriod"/>
              <a:tabLst>
                <a:tab pos="174625" algn="l"/>
              </a:tabLst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column)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endParaRPr sz="1300">
              <a:latin typeface="Calibri"/>
              <a:cs typeface="Calibri"/>
            </a:endParaRPr>
          </a:p>
          <a:p>
            <a:pPr marL="12700" marR="5080" indent="161925">
              <a:lnSpc>
                <a:spcPct val="120100"/>
              </a:lnSpc>
              <a:spcBef>
                <a:spcPts val="575"/>
              </a:spcBef>
              <a:buAutoNum type="arabicPeriod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(many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rows,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columns)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Tomorrow's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correlated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Anatomy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Subquery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4140200" cy="177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92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Inner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runs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FIRST,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uses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result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endParaRPr sz="1000">
              <a:latin typeface="Courier New"/>
              <a:cs typeface="Courier New"/>
            </a:endParaRPr>
          </a:p>
          <a:p>
            <a:pPr marL="12700" marR="25190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AVG(salary)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←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This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the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SUBQUERY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Inner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returns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number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(avg)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2: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uses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comparison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DB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optimizes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execution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but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logically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inside-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out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0601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Class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Comparison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3369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</a:t>
            </a:r>
            <a:r>
              <a:rPr sz="13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class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calculate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number),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query,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another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171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Scalar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Subquery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Technical:</a:t>
            </a:r>
          </a:p>
          <a:p>
            <a:pPr marL="12700" marR="142240">
              <a:lnSpc>
                <a:spcPct val="120100"/>
              </a:lnSpc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scalar</a:t>
            </a:r>
            <a:r>
              <a:rPr spc="-35" dirty="0"/>
              <a:t> </a:t>
            </a:r>
            <a:r>
              <a:rPr dirty="0"/>
              <a:t>subquery</a:t>
            </a:r>
            <a:r>
              <a:rPr spc="-30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spc="-20" dirty="0"/>
              <a:t>EXACTLY</a:t>
            </a:r>
            <a:r>
              <a:rPr spc="-30" dirty="0"/>
              <a:t> </a:t>
            </a:r>
            <a:r>
              <a:rPr dirty="0"/>
              <a:t>ONE</a:t>
            </a:r>
            <a:r>
              <a:rPr spc="-35" dirty="0"/>
              <a:t> </a:t>
            </a:r>
            <a:r>
              <a:rPr dirty="0"/>
              <a:t>value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spc="-40" dirty="0"/>
              <a:t>row,</a:t>
            </a:r>
            <a:r>
              <a:rPr spc="-35" dirty="0"/>
              <a:t> </a:t>
            </a:r>
            <a:r>
              <a:rPr dirty="0"/>
              <a:t>one</a:t>
            </a:r>
            <a:r>
              <a:rPr spc="-35" dirty="0"/>
              <a:t> </a:t>
            </a:r>
            <a:r>
              <a:rPr spc="-10" dirty="0"/>
              <a:t>column.</a:t>
            </a:r>
            <a:r>
              <a:rPr spc="-30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appear</a:t>
            </a:r>
            <a:r>
              <a:rPr spc="-35" dirty="0"/>
              <a:t> </a:t>
            </a:r>
            <a:r>
              <a:rPr spc="-10" dirty="0"/>
              <a:t>anywhere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literal</a:t>
            </a:r>
            <a:r>
              <a:rPr spc="-30" dirty="0"/>
              <a:t> 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can:</a:t>
            </a:r>
            <a:r>
              <a:rPr spc="-35" dirty="0"/>
              <a:t> </a:t>
            </a:r>
            <a:r>
              <a:rPr spc="-25" dirty="0"/>
              <a:t>in </a:t>
            </a:r>
            <a:r>
              <a:rPr dirty="0"/>
              <a:t>SELECT</a:t>
            </a:r>
            <a:r>
              <a:rPr spc="-35" dirty="0"/>
              <a:t> </a:t>
            </a:r>
            <a:r>
              <a:rPr dirty="0"/>
              <a:t>(as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column),</a:t>
            </a:r>
            <a:r>
              <a:rPr spc="-35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(for</a:t>
            </a:r>
            <a:r>
              <a:rPr spc="-35" dirty="0"/>
              <a:t> </a:t>
            </a:r>
            <a:r>
              <a:rPr spc="-10" dirty="0"/>
              <a:t>comparison),</a:t>
            </a:r>
            <a:r>
              <a:rPr spc="-35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HAVING.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subquery</a:t>
            </a:r>
            <a:r>
              <a:rPr spc="-35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spc="-10" dirty="0"/>
              <a:t>multiple</a:t>
            </a:r>
            <a:r>
              <a:rPr spc="-35" dirty="0"/>
              <a:t> </a:t>
            </a:r>
            <a:r>
              <a:rPr dirty="0"/>
              <a:t>rows,</a:t>
            </a:r>
            <a:r>
              <a:rPr spc="-35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get</a:t>
            </a:r>
            <a:r>
              <a:rPr spc="-3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spc="-10" dirty="0"/>
              <a:t>error.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Layman's:</a:t>
            </a:r>
          </a:p>
          <a:p>
            <a:pPr marL="12700" marR="5080">
              <a:lnSpc>
                <a:spcPct val="120100"/>
              </a:lnSpc>
            </a:pPr>
            <a:r>
              <a:rPr dirty="0"/>
              <a:t>Scalar</a:t>
            </a:r>
            <a:r>
              <a:rPr spc="-35" dirty="0"/>
              <a:t> </a:t>
            </a:r>
            <a:r>
              <a:rPr dirty="0"/>
              <a:t>subquery</a:t>
            </a:r>
            <a:r>
              <a:rPr spc="-30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spc="-10" dirty="0"/>
              <a:t>'Compute</a:t>
            </a:r>
            <a:r>
              <a:rPr spc="-30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spc="-10" dirty="0"/>
              <a:t>number/value</a:t>
            </a:r>
            <a:r>
              <a:rPr spc="-35" dirty="0"/>
              <a:t> </a:t>
            </a:r>
            <a:r>
              <a:rPr dirty="0"/>
              <a:t>here,</a:t>
            </a:r>
            <a:r>
              <a:rPr spc="-30" dirty="0"/>
              <a:t> </a:t>
            </a:r>
            <a:r>
              <a:rPr dirty="0"/>
              <a:t>then</a:t>
            </a:r>
            <a:r>
              <a:rPr spc="-3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were</a:t>
            </a:r>
            <a:r>
              <a:rPr spc="-30" dirty="0"/>
              <a:t> </a:t>
            </a:r>
            <a:r>
              <a:rPr dirty="0"/>
              <a:t>typed</a:t>
            </a:r>
            <a:r>
              <a:rPr spc="-30" dirty="0"/>
              <a:t> </a:t>
            </a:r>
            <a:r>
              <a:rPr dirty="0"/>
              <a:t>in.'</a:t>
            </a:r>
            <a:r>
              <a:rPr spc="-30" dirty="0"/>
              <a:t> </a:t>
            </a:r>
            <a:r>
              <a:rPr spc="-10" dirty="0"/>
              <a:t>Replace</a:t>
            </a:r>
            <a:r>
              <a:rPr spc="-35" dirty="0"/>
              <a:t> </a:t>
            </a:r>
            <a:r>
              <a:rPr spc="-10" dirty="0"/>
              <a:t>hardcoded</a:t>
            </a:r>
            <a:r>
              <a:rPr spc="-30" dirty="0"/>
              <a:t> </a:t>
            </a:r>
            <a:r>
              <a:rPr spc="-10" dirty="0"/>
              <a:t>values</a:t>
            </a:r>
            <a:r>
              <a:rPr spc="-30" dirty="0"/>
              <a:t> </a:t>
            </a:r>
            <a:r>
              <a:rPr spc="-20" dirty="0"/>
              <a:t>with </a:t>
            </a:r>
            <a:r>
              <a:rPr dirty="0"/>
              <a:t>dynamic</a:t>
            </a:r>
            <a:r>
              <a:rPr spc="-40" dirty="0"/>
              <a:t> </a:t>
            </a:r>
            <a:r>
              <a:rPr dirty="0"/>
              <a:t>ones.</a:t>
            </a:r>
            <a:r>
              <a:rPr spc="-35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salary</a:t>
            </a:r>
            <a:r>
              <a:rPr spc="-35" dirty="0"/>
              <a:t> </a:t>
            </a:r>
            <a:r>
              <a:rPr dirty="0"/>
              <a:t>&gt;</a:t>
            </a:r>
            <a:r>
              <a:rPr spc="-35" dirty="0"/>
              <a:t> </a:t>
            </a:r>
            <a:r>
              <a:rPr dirty="0"/>
              <a:t>50000</a:t>
            </a:r>
            <a:r>
              <a:rPr spc="-35" dirty="0"/>
              <a:t> </a:t>
            </a:r>
            <a:r>
              <a:rPr spc="-10" dirty="0"/>
              <a:t>becomes</a:t>
            </a:r>
            <a:r>
              <a:rPr spc="-35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salary</a:t>
            </a:r>
            <a:r>
              <a:rPr spc="-35" dirty="0"/>
              <a:t> </a:t>
            </a:r>
            <a:r>
              <a:rPr dirty="0"/>
              <a:t>&gt;</a:t>
            </a:r>
            <a:r>
              <a:rPr spc="-35" dirty="0"/>
              <a:t> </a:t>
            </a:r>
            <a:r>
              <a:rPr spc="-10" dirty="0"/>
              <a:t>(compute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average</a:t>
            </a:r>
            <a:r>
              <a:rPr spc="-35" dirty="0"/>
              <a:t> </a:t>
            </a:r>
            <a:r>
              <a:rPr spc="-10" dirty="0"/>
              <a:t>dynamically).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40" dirty="0"/>
              <a:t> </a:t>
            </a:r>
            <a:r>
              <a:rPr dirty="0"/>
              <a:t>Scalar</a:t>
            </a:r>
            <a:r>
              <a:rPr spc="-40" dirty="0"/>
              <a:t> </a:t>
            </a:r>
            <a:r>
              <a:rPr spc="-10" dirty="0"/>
              <a:t>Subqueries</a:t>
            </a:r>
            <a:r>
              <a:rPr spc="-40" dirty="0"/>
              <a:t> </a:t>
            </a:r>
            <a:r>
              <a:rPr spc="-20" dirty="0"/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759200" cy="35318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(for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comparison)</a:t>
            </a:r>
            <a:endParaRPr sz="1000">
              <a:latin typeface="Courier New"/>
              <a:cs typeface="Courier New"/>
            </a:endParaRPr>
          </a:p>
          <a:p>
            <a:pPr marL="12700" marR="1568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AVG(salary)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1071245">
              <a:lnSpc>
                <a:spcPct val="114999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SELECT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(as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computed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column)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salary,</a:t>
            </a:r>
            <a:endParaRPr sz="1000">
              <a:latin typeface="Courier New"/>
              <a:cs typeface="Courier New"/>
            </a:endParaRPr>
          </a:p>
          <a:p>
            <a:pPr marL="316865" marR="385445" indent="-15240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AVG(salary)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company_avg,</a:t>
            </a:r>
            <a:endParaRPr sz="1000">
              <a:latin typeface="Courier New"/>
              <a:cs typeface="Courier New"/>
            </a:endParaRPr>
          </a:p>
          <a:p>
            <a:pPr marL="316865" marR="1452245" indent="-15240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AVG(salary)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stores.employees)</a:t>
            </a:r>
            <a:endParaRPr sz="1000">
              <a:latin typeface="Courier New"/>
              <a:cs typeface="Courier New"/>
            </a:endParaRPr>
          </a:p>
          <a:p>
            <a:pPr marL="12700" marR="2061845" indent="30416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diff_from_avg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766445">
              <a:lnSpc>
                <a:spcPct val="114999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HAVING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(filter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aggregated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groups)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dept_id,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endParaRPr sz="1000">
              <a:latin typeface="Courier New"/>
              <a:cs typeface="Courier New"/>
            </a:endParaRPr>
          </a:p>
          <a:p>
            <a:pPr marL="12700" marR="842644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dept_id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HAVING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1.0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/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COUNT(DISTINCT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dept_id)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276747"/>
            <a:ext cx="2723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B200"/>
                </a:solidFill>
                <a:latin typeface="Calibri"/>
                <a:cs typeface="Calibri"/>
              </a:rPr>
              <a:t>SYNTAX:</a:t>
            </a:r>
            <a:r>
              <a:rPr sz="1600" b="1" spc="-4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B200"/>
                </a:solidFill>
                <a:latin typeface="Calibri"/>
                <a:cs typeface="Calibri"/>
              </a:rPr>
              <a:t>Scalar</a:t>
            </a:r>
            <a:r>
              <a:rPr sz="1600" b="1" spc="-4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B200"/>
                </a:solidFill>
                <a:latin typeface="Calibri"/>
                <a:cs typeface="Calibri"/>
              </a:rPr>
              <a:t>Subqueries</a:t>
            </a:r>
            <a:r>
              <a:rPr sz="1600" b="1" spc="-4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B200"/>
                </a:solidFill>
                <a:latin typeface="Calibri"/>
                <a:cs typeface="Calibri"/>
              </a:rPr>
              <a:t>(2/2)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256" y="717592"/>
            <a:ext cx="1778000" cy="3765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Step-</a:t>
            </a:r>
            <a:r>
              <a:rPr spc="-30" dirty="0"/>
              <a:t>by-</a:t>
            </a:r>
            <a:r>
              <a:rPr dirty="0"/>
              <a:t>Step:</a:t>
            </a:r>
            <a:r>
              <a:rPr spc="-25" dirty="0"/>
              <a:t> </a:t>
            </a:r>
            <a:r>
              <a:rPr dirty="0"/>
              <a:t>Scalar</a:t>
            </a:r>
            <a:r>
              <a:rPr spc="-25" dirty="0"/>
              <a:t> </a:t>
            </a:r>
            <a:r>
              <a:rPr spc="-10" dirty="0"/>
              <a:t>Subquery</a:t>
            </a:r>
            <a:r>
              <a:rPr spc="-25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683635" cy="24803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Query: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name,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salary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employees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salary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(SELECT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AVG(salary)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14598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FROM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employees);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Run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inner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query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SELECT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AVG(salary)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employees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→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65000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2: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Substitute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value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name,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salary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employees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salary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&gt;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65000;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Step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3: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Execute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outer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Returns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all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employees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earning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more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than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65000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Easy:</a:t>
            </a:r>
            <a:r>
              <a:rPr sz="1800" spc="-5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Customers</a:t>
            </a:r>
            <a:r>
              <a:rPr sz="1800" spc="-5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Who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Spent</a:t>
            </a:r>
            <a:r>
              <a:rPr sz="1800" spc="-5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Above</a:t>
            </a:r>
            <a:r>
              <a:rPr sz="1800" spc="-5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Global</a:t>
            </a:r>
            <a:r>
              <a:rPr sz="1800" spc="-5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033384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CMO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high-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those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largest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exceeded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COMPANY-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WIDE average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VIP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outreach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candidates.</a:t>
            </a:r>
            <a:endParaRPr sz="1300">
              <a:latin typeface="Calibri"/>
              <a:cs typeface="Calibri"/>
            </a:endParaRPr>
          </a:p>
          <a:p>
            <a:pPr marL="12700" marR="7874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net_total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across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(one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net_total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exceeds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that.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order_id,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net_total.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6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'average'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over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MUST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exactly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row;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net_total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(without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aggregate)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fail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'more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returned'.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743200" cy="237426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0416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c.last_name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customer,</a:t>
            </a:r>
            <a:endParaRPr sz="1000">
              <a:latin typeface="Courier New"/>
              <a:cs typeface="Courier New"/>
            </a:endParaRPr>
          </a:p>
          <a:p>
            <a:pPr marL="151765" marR="1744345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o.order_id, o.net_total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>
              <a:latin typeface="Courier New"/>
              <a:cs typeface="Courier New"/>
            </a:endParaRPr>
          </a:p>
          <a:p>
            <a:pPr marR="4489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o.net_total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 marR="982344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AVG(net_total)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R="83121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o.net_total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DESC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15;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Medium: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Products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Cheaper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Than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Their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Category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03234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3189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team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global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entry-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global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gap.</a:t>
            </a:r>
            <a:endParaRPr sz="1300">
              <a:latin typeface="Calibri"/>
              <a:cs typeface="Calibri"/>
            </a:endParaRPr>
          </a:p>
          <a:p>
            <a:pPr marL="12700" marR="104139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SELECT,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include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filter products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product_name,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avg_price,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gap.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6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RIGHT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benchmark.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another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expression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won't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recognize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repeat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full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subquery,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wrap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one.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2362835" cy="254190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51765" marR="12115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product_name, price,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ROUND(AVG(price),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304165" marR="373380" indent="-7683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products.products)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avg_price,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ROUND((SELECT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AVG(price)</a:t>
            </a:r>
            <a:endParaRPr sz="100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products.products),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R="525780" indent="3041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price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price_gap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products.products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price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&lt;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 marR="5257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AVG(price)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products.products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price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ASC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20;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393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Scalar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Subqueries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75970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comparison,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HAVING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group-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filtering.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appear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SELECT.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ERROR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 returns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(MAX/MIN/AVG)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5530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Scalar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Subquery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Returning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Multiple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Rows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54315" cy="15259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Mistake: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the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throws: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'more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expression'.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Fix:</a:t>
            </a:r>
            <a:endParaRPr sz="1300">
              <a:latin typeface="Calibri"/>
              <a:cs typeface="Calibri"/>
            </a:endParaRPr>
          </a:p>
          <a:p>
            <a:pPr marL="12700" marR="31369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Either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MAX(salary)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AVG(salary).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subqueries: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...).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intent.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446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VIP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Guest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List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96859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wedding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planner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VIP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guest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(many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names).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venue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know: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guest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VIP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list?'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operator.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Check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membership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against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reverse: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guest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NOT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VIP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list?'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963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and</a:t>
            </a:r>
            <a:r>
              <a:rPr sz="2000" spc="-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NOT</a:t>
            </a:r>
            <a:r>
              <a:rPr sz="2000" spc="-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Technical:</a:t>
            </a:r>
          </a:p>
          <a:p>
            <a:pPr marL="12700" marR="62865">
              <a:lnSpc>
                <a:spcPct val="120100"/>
              </a:lnSpc>
            </a:pP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(subquery)</a:t>
            </a:r>
            <a:r>
              <a:rPr spc="-30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TRUE</a:t>
            </a:r>
            <a:r>
              <a:rPr spc="-30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value</a:t>
            </a:r>
            <a:r>
              <a:rPr spc="-25" dirty="0"/>
              <a:t> </a:t>
            </a:r>
            <a:r>
              <a:rPr spc="-10" dirty="0"/>
              <a:t>matches</a:t>
            </a:r>
            <a:r>
              <a:rPr spc="-30" dirty="0"/>
              <a:t> </a:t>
            </a:r>
            <a:r>
              <a:rPr dirty="0"/>
              <a:t>ANY</a:t>
            </a:r>
            <a:r>
              <a:rPr spc="-30" dirty="0"/>
              <a:t> </a:t>
            </a:r>
            <a:r>
              <a:rPr dirty="0"/>
              <a:t>row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subquery</a:t>
            </a:r>
            <a:r>
              <a:rPr spc="-30" dirty="0"/>
              <a:t> </a:t>
            </a:r>
            <a:r>
              <a:rPr dirty="0"/>
              <a:t>result.</a:t>
            </a:r>
            <a:r>
              <a:rPr spc="-2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TRUE</a:t>
            </a:r>
            <a:r>
              <a:rPr spc="-30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10" dirty="0"/>
              <a:t>matches</a:t>
            </a:r>
            <a:r>
              <a:rPr spc="-25" dirty="0"/>
              <a:t> </a:t>
            </a:r>
            <a:r>
              <a:rPr dirty="0"/>
              <a:t>NONE.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subquery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spc="-10" dirty="0"/>
              <a:t>return</a:t>
            </a:r>
            <a:r>
              <a:rPr spc="-35" dirty="0"/>
              <a:t> </a:t>
            </a:r>
            <a:r>
              <a:rPr spc="-20" dirty="0"/>
              <a:t>MULTIPLE</a:t>
            </a:r>
            <a:r>
              <a:rPr spc="-35" dirty="0"/>
              <a:t> </a:t>
            </a:r>
            <a:r>
              <a:rPr dirty="0"/>
              <a:t>rows</a:t>
            </a:r>
            <a:r>
              <a:rPr spc="-35" dirty="0"/>
              <a:t> </a:t>
            </a:r>
            <a:r>
              <a:rPr spc="-10" dirty="0"/>
              <a:t>(unlike</a:t>
            </a:r>
            <a:r>
              <a:rPr spc="-35" dirty="0"/>
              <a:t> </a:t>
            </a:r>
            <a:r>
              <a:rPr dirty="0"/>
              <a:t>scalar</a:t>
            </a:r>
            <a:r>
              <a:rPr spc="-35" dirty="0"/>
              <a:t> </a:t>
            </a:r>
            <a:r>
              <a:rPr spc="-10" dirty="0"/>
              <a:t>subqueries).</a:t>
            </a:r>
            <a:r>
              <a:rPr spc="-35" dirty="0"/>
              <a:t> </a:t>
            </a:r>
            <a:r>
              <a:rPr spc="-10" dirty="0"/>
              <a:t>Equivalent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chaining</a:t>
            </a:r>
            <a:r>
              <a:rPr spc="-35" dirty="0"/>
              <a:t> </a:t>
            </a:r>
            <a:r>
              <a:rPr dirty="0"/>
              <a:t>many</a:t>
            </a:r>
            <a:r>
              <a:rPr spc="-35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conditions,</a:t>
            </a:r>
            <a:r>
              <a:rPr spc="-35" dirty="0"/>
              <a:t> </a:t>
            </a:r>
            <a:r>
              <a:rPr spc="-25" dirty="0"/>
              <a:t>but </a:t>
            </a:r>
            <a:r>
              <a:rPr spc="-10" dirty="0"/>
              <a:t>dynamic.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Layman's:</a:t>
            </a:r>
          </a:p>
          <a:p>
            <a:pPr marL="12700" marR="5080">
              <a:lnSpc>
                <a:spcPct val="120100"/>
              </a:lnSpc>
            </a:pPr>
            <a:r>
              <a:rPr dirty="0"/>
              <a:t>IN</a:t>
            </a:r>
            <a:r>
              <a:rPr spc="-40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'is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list?'</a:t>
            </a:r>
            <a:r>
              <a:rPr spc="-3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dirty="0"/>
              <a:t>'is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list?'</a:t>
            </a:r>
            <a:r>
              <a:rPr spc="-35" dirty="0"/>
              <a:t> </a:t>
            </a:r>
            <a:r>
              <a:rPr spc="-10" dirty="0"/>
              <a:t>(watch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NULL</a:t>
            </a:r>
            <a:r>
              <a:rPr spc="-40" dirty="0"/>
              <a:t> </a:t>
            </a:r>
            <a:r>
              <a:rPr spc="-10" dirty="0"/>
              <a:t>trap!).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list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computed</a:t>
            </a:r>
            <a:r>
              <a:rPr spc="-35" dirty="0"/>
              <a:t> </a:t>
            </a:r>
            <a:r>
              <a:rPr spc="-25" dirty="0"/>
              <a:t>by </a:t>
            </a:r>
            <a:r>
              <a:rPr dirty="0"/>
              <a:t>another</a:t>
            </a:r>
            <a:r>
              <a:rPr spc="-35" dirty="0"/>
              <a:t> </a:t>
            </a:r>
            <a:r>
              <a:rPr spc="-20" dirty="0"/>
              <a:t>query,</a:t>
            </a:r>
            <a:r>
              <a:rPr spc="-35" dirty="0"/>
              <a:t> </a:t>
            </a:r>
            <a:r>
              <a:rPr dirty="0"/>
              <a:t>so</a:t>
            </a:r>
            <a:r>
              <a:rPr spc="-35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any</a:t>
            </a:r>
            <a:r>
              <a:rPr spc="-35" dirty="0"/>
              <a:t> </a:t>
            </a:r>
            <a:r>
              <a:rPr spc="-20" dirty="0"/>
              <a:t>size.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45" dirty="0"/>
              <a:t> </a:t>
            </a:r>
            <a:r>
              <a:rPr dirty="0"/>
              <a:t>IN,</a:t>
            </a:r>
            <a:r>
              <a:rPr spc="-4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spc="-25" dirty="0"/>
              <a:t>IN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4064635" cy="35318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with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subquery</a:t>
            </a:r>
            <a:endParaRPr sz="1000">
              <a:latin typeface="Courier New"/>
              <a:cs typeface="Courier New"/>
            </a:endParaRPr>
          </a:p>
          <a:p>
            <a:pPr marL="12700" marR="15290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products.products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p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p.product_id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21386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DISTINCT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prod_id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sales.order_items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1529080">
              <a:lnSpc>
                <a:spcPct val="114999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NOT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(warning: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NULLs!)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customers.customers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10718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NULL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safety!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1147445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with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static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list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(no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subquery)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order_status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('Delivered',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'Shipped');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IN-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subquery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vs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—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same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result,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different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shape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(we'll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rewrite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this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pattern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practice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problem)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Easy: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Products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That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Have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Been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Ordered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057515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417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7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merchandiser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order.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easy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way: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product_id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prod_ids.</a:t>
            </a:r>
            <a:endParaRPr sz="1300">
              <a:latin typeface="Calibri"/>
              <a:cs typeface="Calibri"/>
            </a:endParaRPr>
          </a:p>
          <a:p>
            <a:pPr marL="12700" marR="6667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distinct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prod_ids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order_items.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filters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those appearing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product_id,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price.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16700"/>
              </a:lnSpc>
              <a:spcBef>
                <a:spcPts val="265"/>
              </a:spcBef>
            </a:pPr>
            <a:r>
              <a:rPr sz="1600" spc="-180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spc="-15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'Has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been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ordered'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product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appears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order_items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operator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tests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membership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against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list?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duplicates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(one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product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rows)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harmless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IN,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were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IN,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you'd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DISTINCT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filter.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56" y="626165"/>
            <a:ext cx="1905000" cy="18713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51765" marR="601345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p.product_id, p.product_name, p.price</a:t>
            </a:r>
            <a:endParaRPr sz="1000">
              <a:latin typeface="Courier New"/>
              <a:cs typeface="Courier New"/>
            </a:endParaRPr>
          </a:p>
          <a:p>
            <a:pPr marR="679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products.products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p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p.product_id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DISTINCT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prod_id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sales.order_items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R="2965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p.price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DESC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20;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Hard: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Find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Bug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—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Multiple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Rows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Scalar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Position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68005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colleague's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throwing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'more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expression'.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They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expected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many.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fix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ways.</a:t>
            </a:r>
            <a:endParaRPr sz="1300">
              <a:latin typeface="Calibri"/>
              <a:cs typeface="Calibri"/>
            </a:endParaRPr>
          </a:p>
          <a:p>
            <a:pPr marL="12700" marR="12255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buggy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(WHERE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dept_id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5))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identify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why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fails.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fixes: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MAX,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instead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&gt;.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accepts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choice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between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MAX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BUSINESS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MEANING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(MAX)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salaries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higher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finds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salaries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that 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dept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salary.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questions!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531235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Buggy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original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(throws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error):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salary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(SELECT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salary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3065" algn="l"/>
              </a:tabLst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	FROM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stores.employees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dept_id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5);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Fix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1: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Aggregate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to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endParaRPr sz="1000">
              <a:latin typeface="Courier New"/>
              <a:cs typeface="Courier New"/>
            </a:endParaRPr>
          </a:p>
          <a:p>
            <a:pPr marL="12700" marR="690880">
              <a:lnSpc>
                <a:spcPct val="1101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(greater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than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every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dept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5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salary)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endParaRPr sz="1000">
              <a:latin typeface="Courier New"/>
              <a:cs typeface="Courier New"/>
            </a:endParaRPr>
          </a:p>
          <a:p>
            <a:pPr marL="12700" marR="1910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17576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MAX(salary)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dept_id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Fix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2: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Use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endParaRPr sz="1000">
              <a:latin typeface="Courier New"/>
              <a:cs typeface="Courier New"/>
            </a:endParaRPr>
          </a:p>
          <a:p>
            <a:pPr marL="12700" marR="767080">
              <a:lnSpc>
                <a:spcPct val="1101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(match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any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dept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5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salary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exactly)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endParaRPr sz="1000">
              <a:latin typeface="Courier New"/>
              <a:cs typeface="Courier New"/>
            </a:endParaRPr>
          </a:p>
          <a:p>
            <a:pPr marL="12700" marR="1910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2704" y="180989"/>
            <a:ext cx="140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B200"/>
                </a:solidFill>
                <a:latin typeface="Georgia"/>
                <a:cs typeface="Georgia"/>
              </a:rPr>
              <a:t>Answer</a:t>
            </a:r>
            <a:r>
              <a:rPr sz="1600" b="1" spc="-95" dirty="0">
                <a:solidFill>
                  <a:srgbClr val="FFB200"/>
                </a:solidFill>
                <a:latin typeface="Georgia"/>
                <a:cs typeface="Georgia"/>
              </a:rPr>
              <a:t> </a:t>
            </a:r>
            <a:r>
              <a:rPr sz="1600" b="1" spc="-20" dirty="0">
                <a:solidFill>
                  <a:srgbClr val="FFB200"/>
                </a:solidFill>
                <a:latin typeface="Georgia"/>
                <a:cs typeface="Georgia"/>
              </a:rPr>
              <a:t>(2/2)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956" y="626165"/>
            <a:ext cx="2286000" cy="5289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dept_id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587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/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NOT 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0575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(subquery)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(watch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NULLs!).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JOIN+DISTINCT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based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readability.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Tomorrow's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safer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alternative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0968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NOT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NULL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Trap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2700" marR="570865">
              <a:lnSpc>
                <a:spcPct val="120100"/>
              </a:lnSpc>
            </a:pP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id</a:t>
            </a:r>
            <a:r>
              <a:rPr spc="-30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(SELECT</a:t>
            </a:r>
            <a:r>
              <a:rPr spc="-30" dirty="0"/>
              <a:t> </a:t>
            </a:r>
            <a:r>
              <a:rPr dirty="0"/>
              <a:t>col</a:t>
            </a:r>
            <a:r>
              <a:rPr spc="-3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spc="-10" dirty="0"/>
              <a:t>table)</a:t>
            </a:r>
            <a:r>
              <a:rPr spc="-30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inner</a:t>
            </a:r>
            <a:r>
              <a:rPr spc="-30" dirty="0"/>
              <a:t> </a:t>
            </a:r>
            <a:r>
              <a:rPr dirty="0"/>
              <a:t>query</a:t>
            </a:r>
            <a:r>
              <a:rPr spc="-30" dirty="0"/>
              <a:t> </a:t>
            </a:r>
            <a:r>
              <a:rPr spc="-10" dirty="0"/>
              <a:t>returns</a:t>
            </a:r>
            <a:r>
              <a:rPr spc="-30" dirty="0"/>
              <a:t> </a:t>
            </a:r>
            <a:r>
              <a:rPr dirty="0"/>
              <a:t>ANY</a:t>
            </a:r>
            <a:r>
              <a:rPr spc="-30" dirty="0"/>
              <a:t> </a:t>
            </a:r>
            <a:r>
              <a:rPr dirty="0"/>
              <a:t>NULL,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entire</a:t>
            </a:r>
            <a:r>
              <a:rPr spc="-30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returns </a:t>
            </a:r>
            <a:r>
              <a:rPr dirty="0"/>
              <a:t>UNKNOWN</a:t>
            </a:r>
            <a:r>
              <a:rPr spc="-40" dirty="0"/>
              <a:t> </a:t>
            </a:r>
            <a:r>
              <a:rPr spc="-10" dirty="0"/>
              <a:t>(treated</a:t>
            </a:r>
            <a:r>
              <a:rPr spc="-4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20" dirty="0"/>
              <a:t>FALSE).</a:t>
            </a:r>
            <a:r>
              <a:rPr spc="-40" dirty="0"/>
              <a:t> </a:t>
            </a:r>
            <a:r>
              <a:rPr spc="-25" dirty="0"/>
              <a:t>Your</a:t>
            </a:r>
            <a:r>
              <a:rPr spc="-40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spc="-10" dirty="0"/>
              <a:t>returns</a:t>
            </a:r>
            <a:r>
              <a:rPr spc="-40" dirty="0"/>
              <a:t> </a:t>
            </a:r>
            <a:r>
              <a:rPr dirty="0"/>
              <a:t>ZERO</a:t>
            </a:r>
            <a:r>
              <a:rPr spc="-35" dirty="0"/>
              <a:t> </a:t>
            </a:r>
            <a:r>
              <a:rPr dirty="0"/>
              <a:t>rows</a:t>
            </a:r>
            <a:r>
              <a:rPr spc="-40" dirty="0"/>
              <a:t> </a:t>
            </a:r>
            <a:r>
              <a:rPr dirty="0"/>
              <a:t>even</a:t>
            </a:r>
            <a:r>
              <a:rPr spc="-40" dirty="0"/>
              <a:t> </a:t>
            </a:r>
            <a:r>
              <a:rPr dirty="0"/>
              <a:t>when</a:t>
            </a:r>
            <a:r>
              <a:rPr spc="-35" dirty="0"/>
              <a:t> </a:t>
            </a:r>
            <a:r>
              <a:rPr spc="-10" dirty="0"/>
              <a:t>matches</a:t>
            </a:r>
            <a:r>
              <a:rPr spc="-40" dirty="0"/>
              <a:t> </a:t>
            </a:r>
            <a:r>
              <a:rPr spc="-10" dirty="0"/>
              <a:t>exist.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2700" marR="5080">
              <a:lnSpc>
                <a:spcPct val="120100"/>
              </a:lnSpc>
            </a:pPr>
            <a:r>
              <a:rPr spc="-45" dirty="0"/>
              <a:t>ALWAYS</a:t>
            </a:r>
            <a:r>
              <a:rPr spc="-30" dirty="0"/>
              <a:t> </a:t>
            </a:r>
            <a:r>
              <a:rPr dirty="0"/>
              <a:t>add</a:t>
            </a:r>
            <a:r>
              <a:rPr spc="-50" dirty="0"/>
              <a:t> </a:t>
            </a:r>
            <a:r>
              <a:rPr dirty="0"/>
              <a:t>WHERE</a:t>
            </a:r>
            <a:r>
              <a:rPr spc="-40" dirty="0"/>
              <a:t> </a:t>
            </a:r>
            <a:r>
              <a:rPr dirty="0"/>
              <a:t>col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NULL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spc="-10" dirty="0"/>
              <a:t>query.</a:t>
            </a:r>
            <a:r>
              <a:rPr spc="-40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spc="-10" dirty="0"/>
              <a:t>(tomorrow)</a:t>
            </a:r>
            <a:r>
              <a:rPr spc="-3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dirty="0"/>
              <a:t>handles</a:t>
            </a:r>
            <a:r>
              <a:rPr spc="-40" dirty="0"/>
              <a:t> </a:t>
            </a:r>
            <a:r>
              <a:rPr dirty="0"/>
              <a:t>NULLs</a:t>
            </a:r>
            <a:r>
              <a:rPr spc="-35" dirty="0"/>
              <a:t> </a:t>
            </a:r>
            <a:r>
              <a:rPr spc="-10" dirty="0"/>
              <a:t>correctly.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safer</a:t>
            </a:r>
            <a:r>
              <a:rPr spc="-40" dirty="0"/>
              <a:t> </a:t>
            </a:r>
            <a:r>
              <a:rPr spc="-20" dirty="0"/>
              <a:t>pattern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exclusion</a:t>
            </a:r>
            <a:r>
              <a:rPr spc="-40" dirty="0"/>
              <a:t> </a:t>
            </a:r>
            <a:r>
              <a:rPr spc="-10" dirty="0"/>
              <a:t>queries.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4334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Pre-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Made</a:t>
            </a:r>
            <a:r>
              <a:rPr sz="2000" spc="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Sub-Report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75843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school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principal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know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classes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attendance.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calculate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attendance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CLASS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sub-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report).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classes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attendance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sub-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report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8503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Derived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Table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Technical:</a:t>
            </a:r>
          </a:p>
          <a:p>
            <a:pPr marL="12700" marR="5080">
              <a:lnSpc>
                <a:spcPct val="120100"/>
              </a:lnSpc>
            </a:pP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derived</a:t>
            </a:r>
            <a:r>
              <a:rPr spc="-35" dirty="0"/>
              <a:t> </a:t>
            </a:r>
            <a:r>
              <a:rPr dirty="0"/>
              <a:t>table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subquery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clause,</a:t>
            </a:r>
            <a:r>
              <a:rPr spc="-35" dirty="0"/>
              <a:t> </a:t>
            </a:r>
            <a:r>
              <a:rPr dirty="0"/>
              <a:t>used</a:t>
            </a:r>
            <a:r>
              <a:rPr spc="-3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were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real</a:t>
            </a:r>
            <a:r>
              <a:rPr spc="-35" dirty="0"/>
              <a:t> </a:t>
            </a:r>
            <a:r>
              <a:rPr dirty="0"/>
              <a:t>table.</a:t>
            </a:r>
            <a:r>
              <a:rPr spc="-30" dirty="0"/>
              <a:t> </a:t>
            </a:r>
            <a:r>
              <a:rPr spc="-10" dirty="0"/>
              <a:t>Syntax:</a:t>
            </a:r>
            <a:r>
              <a:rPr spc="-35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spc="-10" dirty="0"/>
              <a:t>(SELECT</a:t>
            </a:r>
            <a:r>
              <a:rPr spc="-35" dirty="0"/>
              <a:t> </a:t>
            </a:r>
            <a:r>
              <a:rPr dirty="0"/>
              <a:t>...)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alias.</a:t>
            </a:r>
            <a:r>
              <a:rPr spc="-35" dirty="0"/>
              <a:t> </a:t>
            </a:r>
            <a:r>
              <a:rPr spc="-25" dirty="0"/>
              <a:t>The </a:t>
            </a:r>
            <a:r>
              <a:rPr dirty="0"/>
              <a:t>inner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dirty="0"/>
              <a:t>runs</a:t>
            </a:r>
            <a:r>
              <a:rPr spc="-35" dirty="0"/>
              <a:t> </a:t>
            </a:r>
            <a:r>
              <a:rPr spc="-10" dirty="0"/>
              <a:t>first,</a:t>
            </a:r>
            <a:r>
              <a:rPr spc="-35" dirty="0"/>
              <a:t> </a:t>
            </a:r>
            <a:r>
              <a:rPr spc="-10" dirty="0"/>
              <a:t>producing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virtual</a:t>
            </a:r>
            <a:r>
              <a:rPr spc="-35" dirty="0"/>
              <a:t> </a:t>
            </a:r>
            <a:r>
              <a:rPr spc="-10" dirty="0"/>
              <a:t>table.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spc="-25" dirty="0"/>
              <a:t>SELECTs</a:t>
            </a:r>
            <a:r>
              <a:rPr spc="-3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it.</a:t>
            </a:r>
            <a:r>
              <a:rPr spc="-35" dirty="0"/>
              <a:t> </a:t>
            </a:r>
            <a:r>
              <a:rPr dirty="0"/>
              <a:t>Aliasing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REQUIRED.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Layman's:</a:t>
            </a:r>
          </a:p>
          <a:p>
            <a:pPr marL="12700" marR="358775">
              <a:lnSpc>
                <a:spcPct val="120100"/>
              </a:lnSpc>
            </a:pPr>
            <a:r>
              <a:rPr dirty="0"/>
              <a:t>Derived</a:t>
            </a:r>
            <a:r>
              <a:rPr spc="-40" dirty="0"/>
              <a:t> </a:t>
            </a:r>
            <a:r>
              <a:rPr dirty="0"/>
              <a:t>table</a:t>
            </a:r>
            <a:r>
              <a:rPr spc="-3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'Run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spc="-20" dirty="0"/>
              <a:t>query,</a:t>
            </a:r>
            <a:r>
              <a:rPr spc="-35" dirty="0"/>
              <a:t> </a:t>
            </a:r>
            <a:r>
              <a:rPr dirty="0"/>
              <a:t>treat</a:t>
            </a:r>
            <a:r>
              <a:rPr spc="-35" dirty="0"/>
              <a:t> </a:t>
            </a:r>
            <a:r>
              <a:rPr dirty="0"/>
              <a:t>its</a:t>
            </a:r>
            <a:r>
              <a:rPr spc="-35" dirty="0"/>
              <a:t> </a:t>
            </a:r>
            <a:r>
              <a:rPr dirty="0"/>
              <a:t>output</a:t>
            </a:r>
            <a:r>
              <a:rPr spc="-4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table,</a:t>
            </a:r>
            <a:r>
              <a:rPr spc="-35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result.'</a:t>
            </a:r>
            <a:r>
              <a:rPr spc="-35" dirty="0"/>
              <a:t> </a:t>
            </a:r>
            <a:r>
              <a:rPr dirty="0"/>
              <a:t>Used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20" dirty="0"/>
              <a:t>pre-</a:t>
            </a:r>
            <a:r>
              <a:rPr spc="-10" dirty="0"/>
              <a:t>aggregation (compute</a:t>
            </a:r>
            <a:r>
              <a:rPr spc="-40" dirty="0"/>
              <a:t> </a:t>
            </a:r>
            <a:r>
              <a:rPr spc="-10" dirty="0"/>
              <a:t>totals</a:t>
            </a:r>
            <a:r>
              <a:rPr spc="-35" dirty="0"/>
              <a:t> </a:t>
            </a:r>
            <a:r>
              <a:rPr dirty="0"/>
              <a:t>per</a:t>
            </a:r>
            <a:r>
              <a:rPr spc="-35" dirty="0"/>
              <a:t> </a:t>
            </a:r>
            <a:r>
              <a:rPr dirty="0"/>
              <a:t>group,</a:t>
            </a:r>
            <a:r>
              <a:rPr spc="-35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filter</a:t>
            </a:r>
            <a:r>
              <a:rPr spc="-4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join).</a:t>
            </a:r>
            <a:r>
              <a:rPr spc="-35" dirty="0"/>
              <a:t> </a:t>
            </a:r>
            <a:r>
              <a:rPr spc="-25" dirty="0"/>
              <a:t>Tomorrow</a:t>
            </a:r>
            <a:r>
              <a:rPr spc="-35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meet</a:t>
            </a:r>
            <a:r>
              <a:rPr spc="-35" dirty="0"/>
              <a:t> </a:t>
            </a:r>
            <a:r>
              <a:rPr dirty="0"/>
              <a:t>CTEs</a:t>
            </a:r>
            <a:r>
              <a:rPr spc="-4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same</a:t>
            </a:r>
            <a:r>
              <a:rPr spc="-35" dirty="0"/>
              <a:t> </a:t>
            </a:r>
            <a:r>
              <a:rPr dirty="0"/>
              <a:t>idea</a:t>
            </a:r>
            <a:r>
              <a:rPr spc="-35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cleaner</a:t>
            </a:r>
            <a:r>
              <a:rPr spc="-35" dirty="0"/>
              <a:t> </a:t>
            </a:r>
            <a:r>
              <a:rPr spc="-10" dirty="0"/>
              <a:t>syntax.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SYNTAX:</a:t>
            </a:r>
            <a:r>
              <a:rPr spc="-55" dirty="0"/>
              <a:t> </a:t>
            </a:r>
            <a:r>
              <a:rPr dirty="0"/>
              <a:t>Derived</a:t>
            </a:r>
            <a:r>
              <a:rPr spc="-55" dirty="0"/>
              <a:t> </a:t>
            </a:r>
            <a:r>
              <a:rPr spc="-20" dirty="0"/>
              <a:t>Tables</a:t>
            </a:r>
            <a:r>
              <a:rPr spc="-55" dirty="0"/>
              <a:t> </a:t>
            </a:r>
            <a:r>
              <a:rPr spc="-20" dirty="0"/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378835" cy="3531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808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Basic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derived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table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store_id,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revenue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store_rev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revenue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100000;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309245">
              <a:lnSpc>
                <a:spcPct val="114999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Joining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derived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table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to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real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table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rev.revenue</a:t>
            </a:r>
            <a:endParaRPr sz="1000">
              <a:latin typeface="Courier New"/>
              <a:cs typeface="Courier New"/>
            </a:endParaRPr>
          </a:p>
          <a:p>
            <a:pPr marL="12700" marR="18332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stores.stores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store_id,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revenue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>
              <a:latin typeface="Courier New"/>
              <a:cs typeface="Courier New"/>
            </a:endParaRPr>
          </a:p>
          <a:p>
            <a:pPr marL="12700" marR="5384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rev.store_id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rev.revenue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DESC;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Multiple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derived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tables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one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query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276747"/>
            <a:ext cx="2466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B200"/>
                </a:solidFill>
                <a:latin typeface="Calibri"/>
                <a:cs typeface="Calibri"/>
              </a:rPr>
              <a:t>SYNTAX:</a:t>
            </a:r>
            <a:r>
              <a:rPr sz="1600" b="1" spc="-5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B200"/>
                </a:solidFill>
                <a:latin typeface="Calibri"/>
                <a:cs typeface="Calibri"/>
              </a:rPr>
              <a:t>Derived</a:t>
            </a:r>
            <a:r>
              <a:rPr sz="1600" b="1" spc="-5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B200"/>
                </a:solidFill>
                <a:latin typeface="Calibri"/>
                <a:cs typeface="Calibri"/>
              </a:rPr>
              <a:t>Tables</a:t>
            </a:r>
            <a:r>
              <a:rPr sz="1600" b="1" spc="-5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B200"/>
                </a:solidFill>
                <a:latin typeface="Calibri"/>
                <a:cs typeface="Calibri"/>
              </a:rPr>
              <a:t>(2/2)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256" y="740424"/>
            <a:ext cx="31496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(...)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t1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(...)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t2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...;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Easy: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Top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Stores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by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Revenue</a:t>
            </a:r>
            <a:r>
              <a:rPr sz="18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(Pre-Aggregate)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059420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CFO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JOIN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details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sort.</a:t>
            </a:r>
            <a:endParaRPr sz="1300">
              <a:latin typeface="Calibri"/>
              <a:cs typeface="Calibri"/>
            </a:endParaRPr>
          </a:p>
          <a:p>
            <a:pPr marL="12700" marR="1206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SUM(net_total)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GROUP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store_id.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city.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BY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DESC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LIMIT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10.</a:t>
            </a:r>
            <a:endParaRPr sz="1300">
              <a:latin typeface="Calibri"/>
              <a:cs typeface="Calibri"/>
            </a:endParaRPr>
          </a:p>
          <a:p>
            <a:pPr marL="12700" marR="30607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6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flips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GROUP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(inside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table),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Trap: PostgreSQL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REQUIRES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forgetting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immediate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error;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pick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short meaningful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name.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Georgia"/>
                <a:cs typeface="Georgia"/>
              </a:rPr>
              <a:t>Answer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149600" cy="27101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 marR="1985645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s.store_name, s.city,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ROUND(rev.revenue,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total_revenue, rev.order_count</a:t>
            </a:r>
            <a:endParaRPr sz="1000">
              <a:latin typeface="Courier New"/>
              <a:cs typeface="Courier New"/>
            </a:endParaRPr>
          </a:p>
          <a:p>
            <a:pPr marL="12700" marR="16046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stores.stores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store_id,</a:t>
            </a:r>
            <a:endParaRPr sz="1000">
              <a:latin typeface="Courier New"/>
              <a:cs typeface="Courier New"/>
            </a:endParaRPr>
          </a:p>
          <a:p>
            <a:pPr marL="316865" marR="84391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revenue,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order_count</a:t>
            </a:r>
            <a:endParaRPr sz="1000">
              <a:latin typeface="Courier New"/>
              <a:cs typeface="Courier New"/>
            </a:endParaRPr>
          </a:p>
          <a:p>
            <a:pPr marL="164465" marR="16808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>
              <a:latin typeface="Courier New"/>
              <a:cs typeface="Courier New"/>
            </a:endParaRPr>
          </a:p>
          <a:p>
            <a:pPr marL="12700" marR="3092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rev.store_id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total_revenue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Medium: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Customers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Above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Their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City</a:t>
            </a:r>
            <a:r>
              <a:rPr sz="18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63559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6695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Marketing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EXCEEDS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city.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 tables: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per-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totals,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city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averages.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compare.</a:t>
            </a:r>
            <a:endParaRPr sz="1300">
              <a:latin typeface="Calibri"/>
              <a:cs typeface="Calibri"/>
            </a:endParaRPr>
          </a:p>
          <a:p>
            <a:pPr marL="12700" marR="35052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customer_id,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city,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customer_total.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city,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city_average.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city.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Filter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customer_total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city_average.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grain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(per-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city)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own</a:t>
            </a:r>
            <a:r>
              <a:rPr sz="1300" spc="5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shared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dimension.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trying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forces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GROUP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breaks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city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calculation;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separation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keeps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computation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clean.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2921635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 marR="843915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cust.customer_id, cust.customer_name, cust.city,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ROUND(cust.cust_total,</a:t>
            </a:r>
            <a:r>
              <a:rPr sz="1000" spc="-1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164465" marR="6146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customer_total,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ROUND(city_avg.avg_spend,</a:t>
            </a:r>
            <a:r>
              <a:rPr sz="1000" spc="-1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12700" marR="1452880" indent="3041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city_average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c.customer_id,</a:t>
            </a:r>
            <a:endParaRPr sz="1000">
              <a:latin typeface="Courier New"/>
              <a:cs typeface="Courier New"/>
            </a:endParaRPr>
          </a:p>
          <a:p>
            <a:pPr marL="469265" marR="50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c.last_name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customer_name,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a.city,</a:t>
            </a:r>
            <a:endParaRPr sz="1000">
              <a:latin typeface="Courier New"/>
              <a:cs typeface="Courier New"/>
            </a:endParaRPr>
          </a:p>
          <a:p>
            <a:pPr marL="164465" marR="3098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SUM(o.net_total)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cust_total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customers.customers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c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customers.addresses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a</a:t>
            </a:r>
            <a:endParaRPr sz="1000">
              <a:latin typeface="Courier New"/>
              <a:cs typeface="Courier New"/>
            </a:endParaRPr>
          </a:p>
          <a:p>
            <a:pPr marL="164465" marR="1574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64465" marR="4622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c.customer_id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o.cust_id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c.customer_id,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c.first_name,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c.last_name,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a.city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(2/2)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226435" cy="187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4828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cust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 marR="690880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a.city,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AVG(o.net_total)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avg_spend</a:t>
            </a:r>
            <a:endParaRPr sz="1000">
              <a:latin typeface="Courier New"/>
              <a:cs typeface="Courier New"/>
            </a:endParaRPr>
          </a:p>
          <a:p>
            <a:pPr marL="164465" marR="10718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customers.addresses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a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64465" marR="767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a.customer_id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o.cust_id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a.city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city_avg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cust.city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city_avg.city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cust.cust_total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city_avg.avg_spend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customer_total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15;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2704" y="78386"/>
            <a:ext cx="6857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Hard:</a:t>
            </a:r>
            <a:r>
              <a:rPr sz="18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Multi-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Source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Dashboard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(Pre-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Aggregation</a:t>
            </a:r>
            <a:r>
              <a:rPr sz="18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Prevents </a:t>
            </a:r>
            <a:r>
              <a:rPr sz="1800" spc="-20" dirty="0">
                <a:solidFill>
                  <a:srgbClr val="202020"/>
                </a:solidFill>
                <a:latin typeface="Georgia"/>
                <a:cs typeface="Georgia"/>
              </a:rPr>
              <a:t>Fan-Out)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60384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4795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Head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Operations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regional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dashboard: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region,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employees,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salary budget,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source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must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avoid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fan-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out.</a:t>
            </a:r>
            <a:endParaRPr sz="1300">
              <a:latin typeface="Calibri"/>
              <a:cs typeface="Calibri"/>
            </a:endParaRPr>
          </a:p>
          <a:p>
            <a:pPr marL="12700" marR="53340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count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salary.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→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dim_region.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GROUP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region.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source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dashboards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suffer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fan-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raw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directly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side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multiplies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other.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COUNT(DISTINCT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...)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doesn't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rescue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SUMs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fan-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source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keeps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5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math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accurate.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149600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r.region_name,</a:t>
            </a:r>
            <a:endParaRPr sz="1000">
              <a:latin typeface="Courier New"/>
              <a:cs typeface="Courier New"/>
            </a:endParaRPr>
          </a:p>
          <a:p>
            <a:pPr marL="164465" marR="1568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COUNT(DISTINCT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s.store_id)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COALESCE(SUM(emp.emp_count),</a:t>
            </a:r>
            <a:r>
              <a:rPr sz="1000" spc="-1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164465" marR="3092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employees, COALESCE(SUM(emp.salary_budget),</a:t>
            </a:r>
            <a:r>
              <a:rPr sz="1000" spc="1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164465" marR="46164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salary_budget,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COALESCE(SUM(ord.order_count),</a:t>
            </a:r>
            <a:r>
              <a:rPr sz="1000" spc="-1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164465" marR="5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orders, ROUND(COALESCE(SUM(ord.revenue),</a:t>
            </a:r>
            <a:r>
              <a:rPr sz="1000" spc="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0),</a:t>
            </a:r>
            <a:r>
              <a:rPr sz="1000" spc="7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revenue</a:t>
            </a:r>
            <a:endParaRPr sz="1000">
              <a:latin typeface="Courier New"/>
              <a:cs typeface="Courier New"/>
            </a:endParaRPr>
          </a:p>
          <a:p>
            <a:pPr marL="12700" marR="14522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core.dim_region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stores.stores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</a:t>
            </a:r>
            <a:endParaRPr sz="1000">
              <a:latin typeface="Courier New"/>
              <a:cs typeface="Courier New"/>
            </a:endParaRPr>
          </a:p>
          <a:p>
            <a:pPr marL="12700" marR="843915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r.region_id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s.region_id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LEFT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 marR="1147445" indent="-1524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emp_count,</a:t>
            </a:r>
            <a:endParaRPr sz="1000">
              <a:latin typeface="Courier New"/>
              <a:cs typeface="Courier New"/>
            </a:endParaRPr>
          </a:p>
          <a:p>
            <a:pPr marL="164465" marR="6908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SUM(salary)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salary_budget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>
              <a:latin typeface="Courier New"/>
              <a:cs typeface="Courier New"/>
            </a:endParaRPr>
          </a:p>
          <a:p>
            <a:pPr marL="12700" marR="5384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emp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emp.store_id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LEFT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(2/2)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2616200" cy="136779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store_id,</a:t>
            </a:r>
            <a:endParaRPr sz="1000">
              <a:latin typeface="Courier New"/>
              <a:cs typeface="Courier New"/>
            </a:endParaRPr>
          </a:p>
          <a:p>
            <a:pPr marL="316865" marR="3854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order_count,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revenue</a:t>
            </a:r>
            <a:endParaRPr sz="1000">
              <a:latin typeface="Courier New"/>
              <a:cs typeface="Courier New"/>
            </a:endParaRPr>
          </a:p>
          <a:p>
            <a:pPr marL="164465" marR="11474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ord.store_id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r.region_name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revenue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DESC;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Crazy:</a:t>
            </a:r>
            <a:r>
              <a:rPr sz="18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Manufacturing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Defect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Rate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vs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02020"/>
                </a:solidFill>
                <a:latin typeface="Georgia"/>
                <a:cs typeface="Georgia"/>
              </a:rPr>
              <a:t>Line</a:t>
            </a:r>
            <a:r>
              <a:rPr sz="18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696" y="717668"/>
            <a:ext cx="8152765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4145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Production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Director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production-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health: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work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order,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rejected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%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that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line's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rejection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rate.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per-work-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rates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averages.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gap.</a:t>
            </a:r>
            <a:endParaRPr sz="1300">
              <a:latin typeface="Calibri"/>
              <a:cs typeface="Calibri"/>
            </a:endParaRPr>
          </a:p>
          <a:p>
            <a:pPr marL="12700" marR="286385">
              <a:lnSpc>
                <a:spcPct val="120100"/>
              </a:lnSpc>
              <a:spcBef>
                <a:spcPts val="57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work_order,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calculate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rejection_pct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(rejected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×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per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rejection_pct.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work_order,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rate,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line_avg,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gap.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265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🤔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grain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order,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line_id.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Trap: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division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rejection_pct;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wrap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silently</a:t>
            </a:r>
            <a:r>
              <a:rPr sz="1300" spc="5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drops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those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(1/2)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074035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 marR="9194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pl.line_name, wo_rates.work_order_id, wo_rates.rejection_pct,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ROUND(line_avg.avg_pct,</a:t>
            </a:r>
            <a:r>
              <a:rPr sz="1000" spc="-1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2)</a:t>
            </a:r>
            <a:endParaRPr sz="1000">
              <a:latin typeface="Courier New"/>
              <a:cs typeface="Courier New"/>
            </a:endParaRPr>
          </a:p>
          <a:p>
            <a:pPr marL="164465" marR="767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line_avg_pct, ROUND(wo_rates.rejection_pct</a:t>
            </a:r>
            <a:endParaRPr sz="1000">
              <a:latin typeface="Courier New"/>
              <a:cs typeface="Courier New"/>
            </a:endParaRPr>
          </a:p>
          <a:p>
            <a:pPr marL="316865" marR="10718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line_avg.avg_pct,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2)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gap_from_line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16865" marR="386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work_order_id,</a:t>
            </a:r>
            <a:r>
              <a:rPr sz="1000" spc="-7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line_id,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ROUND(100.0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rejected_quantity</a:t>
            </a:r>
            <a:endParaRPr sz="1000">
              <a:latin typeface="Courier New"/>
              <a:cs typeface="Courier New"/>
            </a:endParaRPr>
          </a:p>
          <a:p>
            <a:pPr marL="4692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/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NULLIF(quantity_produced,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0),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2)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rejection_pct</a:t>
            </a:r>
            <a:endParaRPr sz="1000">
              <a:latin typeface="Courier New"/>
              <a:cs typeface="Courier New"/>
            </a:endParaRPr>
          </a:p>
          <a:p>
            <a:pPr marL="164465" marR="767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manufacture.work_orders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quantity_produced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12700" marR="2291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wo_rates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line_id,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AVG(100.0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rejected_quantity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Answer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>
                <a:latin typeface="Georgia"/>
                <a:cs typeface="Georgia"/>
              </a:rPr>
              <a:t>(2/2)</a:t>
            </a:r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074035" cy="187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33679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/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NULLIF(quantity_produced,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avg_pct</a:t>
            </a:r>
            <a:endParaRPr sz="1000">
              <a:latin typeface="Courier New"/>
              <a:cs typeface="Courier New"/>
            </a:endParaRPr>
          </a:p>
          <a:p>
            <a:pPr marL="164465" marR="767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manufacture.work_orders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quantity_produced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0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line_id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line_avg</a:t>
            </a:r>
            <a:endParaRPr sz="1000">
              <a:latin typeface="Courier New"/>
              <a:cs typeface="Courier New"/>
            </a:endParaRPr>
          </a:p>
          <a:p>
            <a:pPr marL="12700" marR="5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wo_rates.line_id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line_avg.line_id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8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manufacture.production_lines</a:t>
            </a:r>
            <a:r>
              <a:rPr sz="1000" spc="-8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pl</a:t>
            </a:r>
            <a:endParaRPr sz="1000">
              <a:latin typeface="Courier New"/>
              <a:cs typeface="Courier New"/>
            </a:endParaRPr>
          </a:p>
          <a:p>
            <a:pPr marL="12700" marR="3098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wo_rates.line_id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pl.line_id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wo_rates.rejection_pct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DESC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15;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9805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Derived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Tables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78827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treated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REQUIRED.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(compute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group totals,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filter/join).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prevent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fan-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aggregations.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Tomorrow's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alternative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idea,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syntax.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144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PRO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TIP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01609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preview: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clause,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topic)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NAMED 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reference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times.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one-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inline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win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complex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reused.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595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Forgetting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the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Alias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2700" marR="5080">
              <a:lnSpc>
                <a:spcPct val="120100"/>
              </a:lnSpc>
            </a:pPr>
            <a:r>
              <a:rPr dirty="0"/>
              <a:t>FROM</a:t>
            </a:r>
            <a:r>
              <a:rPr spc="-40" dirty="0"/>
              <a:t> </a:t>
            </a:r>
            <a:r>
              <a:rPr spc="-10" dirty="0"/>
              <a:t>(SELECT</a:t>
            </a:r>
            <a:r>
              <a:rPr spc="-30" dirty="0"/>
              <a:t> </a:t>
            </a:r>
            <a:r>
              <a:rPr dirty="0"/>
              <a:t>...</a:t>
            </a:r>
            <a:r>
              <a:rPr spc="-35" dirty="0"/>
              <a:t> 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no</a:t>
            </a:r>
            <a:r>
              <a:rPr spc="-30" dirty="0"/>
              <a:t> </a:t>
            </a:r>
            <a:r>
              <a:rPr dirty="0"/>
              <a:t>alias.</a:t>
            </a:r>
            <a:r>
              <a:rPr spc="-35" dirty="0"/>
              <a:t> </a:t>
            </a:r>
            <a:r>
              <a:rPr spc="-10" dirty="0"/>
              <a:t>PostgreSQL</a:t>
            </a:r>
            <a:r>
              <a:rPr spc="-30" dirty="0"/>
              <a:t> </a:t>
            </a:r>
            <a:r>
              <a:rPr spc="-10" dirty="0"/>
              <a:t>errors:</a:t>
            </a:r>
            <a:r>
              <a:rPr spc="-35" dirty="0"/>
              <a:t> </a:t>
            </a:r>
            <a:r>
              <a:rPr spc="-10" dirty="0"/>
              <a:t>'subquery</a:t>
            </a:r>
            <a:r>
              <a:rPr spc="-3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must</a:t>
            </a:r>
            <a:r>
              <a:rPr spc="-3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dirty="0"/>
              <a:t>alias'.</a:t>
            </a:r>
            <a:r>
              <a:rPr spc="-35" dirty="0"/>
              <a:t> </a:t>
            </a:r>
            <a:r>
              <a:rPr spc="-10" dirty="0"/>
              <a:t>Every</a:t>
            </a:r>
            <a:r>
              <a:rPr spc="-30" dirty="0"/>
              <a:t> </a:t>
            </a:r>
            <a:r>
              <a:rPr spc="-10" dirty="0"/>
              <a:t>derived</a:t>
            </a:r>
            <a:r>
              <a:rPr spc="-35" dirty="0"/>
              <a:t> </a:t>
            </a:r>
            <a:r>
              <a:rPr dirty="0"/>
              <a:t>table</a:t>
            </a:r>
            <a:r>
              <a:rPr spc="-30" dirty="0"/>
              <a:t> </a:t>
            </a:r>
            <a:r>
              <a:rPr dirty="0"/>
              <a:t>needs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10" dirty="0"/>
              <a:t>name.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2700" marR="120014">
              <a:lnSpc>
                <a:spcPct val="120100"/>
              </a:lnSpc>
            </a:pPr>
            <a:r>
              <a:rPr spc="-10" dirty="0"/>
              <a:t>Always</a:t>
            </a:r>
            <a:r>
              <a:rPr spc="-30" dirty="0"/>
              <a:t> </a:t>
            </a:r>
            <a:r>
              <a:rPr dirty="0"/>
              <a:t>add</a:t>
            </a:r>
            <a:r>
              <a:rPr spc="-2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alias: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spc="-10" dirty="0"/>
              <a:t>(SELECT</a:t>
            </a:r>
            <a:r>
              <a:rPr spc="-25" dirty="0"/>
              <a:t> </a:t>
            </a:r>
            <a:r>
              <a:rPr dirty="0"/>
              <a:t>...)</a:t>
            </a:r>
            <a:r>
              <a:rPr spc="-25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t.</a:t>
            </a:r>
            <a:r>
              <a:rPr spc="-25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spc="-10" dirty="0"/>
              <a:t>meaningful</a:t>
            </a:r>
            <a:r>
              <a:rPr spc="-30" dirty="0"/>
              <a:t> </a:t>
            </a:r>
            <a:r>
              <a:rPr dirty="0"/>
              <a:t>names:</a:t>
            </a:r>
            <a:r>
              <a:rPr spc="-25" dirty="0"/>
              <a:t> rev, </a:t>
            </a:r>
            <a:r>
              <a:rPr dirty="0"/>
              <a:t>agg,</a:t>
            </a:r>
            <a:r>
              <a:rPr spc="-25" dirty="0"/>
              <a:t> </a:t>
            </a:r>
            <a:r>
              <a:rPr dirty="0"/>
              <a:t>summary</a:t>
            </a:r>
            <a:r>
              <a:rPr spc="-30" dirty="0"/>
              <a:t> </a:t>
            </a:r>
            <a:r>
              <a:rPr dirty="0"/>
              <a:t>—</a:t>
            </a:r>
            <a:r>
              <a:rPr spc="-25" dirty="0"/>
              <a:t> </a:t>
            </a:r>
            <a:r>
              <a:rPr dirty="0"/>
              <a:t>not</a:t>
            </a:r>
            <a:r>
              <a:rPr spc="-25" dirty="0"/>
              <a:t> </a:t>
            </a:r>
            <a:r>
              <a:rPr dirty="0"/>
              <a:t>just</a:t>
            </a:r>
            <a:r>
              <a:rPr spc="-30" dirty="0"/>
              <a:t> </a:t>
            </a:r>
            <a:r>
              <a:rPr dirty="0"/>
              <a:t>t</a:t>
            </a:r>
            <a:r>
              <a:rPr spc="-2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x.</a:t>
            </a:r>
            <a:r>
              <a:rPr spc="-25" dirty="0"/>
              <a:t> </a:t>
            </a:r>
            <a:r>
              <a:rPr spc="-10" dirty="0"/>
              <a:t>Future</a:t>
            </a:r>
            <a:r>
              <a:rPr spc="-30" dirty="0"/>
              <a:t> </a:t>
            </a:r>
            <a:r>
              <a:rPr spc="-25" dirty="0"/>
              <a:t>you </a:t>
            </a:r>
            <a:r>
              <a:rPr spc="-10" dirty="0"/>
              <a:t>(debugging</a:t>
            </a:r>
            <a:r>
              <a:rPr spc="-25" dirty="0"/>
              <a:t> </a:t>
            </a:r>
            <a:r>
              <a:rPr dirty="0"/>
              <a:t>at</a:t>
            </a:r>
            <a:r>
              <a:rPr spc="-25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AM)</a:t>
            </a:r>
            <a:r>
              <a:rPr spc="-2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thank</a:t>
            </a:r>
            <a:r>
              <a:rPr spc="-25" dirty="0"/>
              <a:t> </a:t>
            </a:r>
            <a:r>
              <a:rPr spc="-20" dirty="0"/>
              <a:t>you.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466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Try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It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Live!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13041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replacing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(50000)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subquery.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Modify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grouping. Understanding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comes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experimentation.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40" dirty="0"/>
              <a:t> </a:t>
            </a:r>
            <a:r>
              <a:rPr dirty="0"/>
              <a:t>1:</a:t>
            </a:r>
            <a:r>
              <a:rPr spc="-30" dirty="0"/>
              <a:t> Above-</a:t>
            </a:r>
            <a:r>
              <a:rPr spc="-20" dirty="0"/>
              <a:t>Average</a:t>
            </a:r>
            <a:r>
              <a:rPr spc="-30" dirty="0"/>
              <a:t> </a:t>
            </a:r>
            <a:r>
              <a:rPr spc="-10" dirty="0"/>
              <a:t>Orders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2616200" cy="195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6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Orders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larger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than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average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order_id,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net_total</a:t>
            </a:r>
            <a:endParaRPr sz="1000">
              <a:latin typeface="Courier New"/>
              <a:cs typeface="Courier New"/>
            </a:endParaRPr>
          </a:p>
          <a:p>
            <a:pPr marL="12700" marR="11474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net_total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164465" marR="84391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AVG(net_total)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net_total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15;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YOUR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TURN: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Show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average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too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column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alongside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net_total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50" dirty="0"/>
              <a:t> </a:t>
            </a:r>
            <a:r>
              <a:rPr dirty="0"/>
              <a:t>2:</a:t>
            </a:r>
            <a:r>
              <a:rPr spc="-45" dirty="0"/>
              <a:t> </a:t>
            </a:r>
            <a:r>
              <a:rPr spc="-10" dirty="0"/>
              <a:t>Products</a:t>
            </a:r>
            <a:r>
              <a:rPr spc="-45" dirty="0"/>
              <a:t> </a:t>
            </a:r>
            <a:r>
              <a:rPr dirty="0"/>
              <a:t>Bought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10" dirty="0"/>
              <a:t>Mumbai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2985135" cy="265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Products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ordered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Mumbai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customers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DISTINCT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p.product_name,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p.price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products.products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p</a:t>
            </a:r>
            <a:endParaRPr sz="1000">
              <a:latin typeface="Courier New"/>
              <a:cs typeface="Courier New"/>
            </a:endParaRPr>
          </a:p>
          <a:p>
            <a:pPr marL="164465" marR="1211580" indent="-15240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p.product_id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oi.prod_id</a:t>
            </a:r>
            <a:endParaRPr sz="1000">
              <a:latin typeface="Courier New"/>
              <a:cs typeface="Courier New"/>
            </a:endParaRPr>
          </a:p>
          <a:p>
            <a:pPr marL="164465" marR="906144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sales.order_items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oi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64465" marR="601345" indent="15176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oi.order_id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o.order_id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customers.addresses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a</a:t>
            </a:r>
            <a:endParaRPr sz="1000">
              <a:latin typeface="Courier New"/>
              <a:cs typeface="Courier New"/>
            </a:endParaRPr>
          </a:p>
          <a:p>
            <a:pPr marL="164465" marR="525780" indent="15176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o.cust_id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a.customer_id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a.city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'Mumbai'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15;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YOUR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TURN: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Rewrite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JOIN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45" dirty="0"/>
              <a:t> </a:t>
            </a:r>
            <a:r>
              <a:rPr dirty="0"/>
              <a:t>3:</a:t>
            </a:r>
            <a:r>
              <a:rPr spc="-40" dirty="0"/>
              <a:t> </a:t>
            </a:r>
            <a:r>
              <a:rPr spc="-30" dirty="0"/>
              <a:t>Pre-</a:t>
            </a:r>
            <a:r>
              <a:rPr spc="-10" dirty="0"/>
              <a:t>Aggregation</a:t>
            </a:r>
            <a:r>
              <a:rPr spc="-4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2921635" cy="212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Stores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with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revenue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and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count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rev.revenue,</a:t>
            </a:r>
            <a:endParaRPr sz="1000">
              <a:latin typeface="Courier New"/>
              <a:cs typeface="Courier New"/>
            </a:endParaRPr>
          </a:p>
          <a:p>
            <a:pPr marL="12700" marR="1376680" indent="151765">
              <a:lnSpc>
                <a:spcPct val="114999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rev.order_count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stores.stores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JOIN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16865" marR="614680" indent="-15240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SUM(net_total)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revenue,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order_count</a:t>
            </a:r>
            <a:endParaRPr sz="1000">
              <a:latin typeface="Courier New"/>
              <a:cs typeface="Courier New"/>
            </a:endParaRPr>
          </a:p>
          <a:p>
            <a:pPr marL="164465" marR="14528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GROUP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store_id</a:t>
            </a:r>
            <a:endParaRPr sz="1000">
              <a:latin typeface="Courier New"/>
              <a:cs typeface="Courier New"/>
            </a:endParaRPr>
          </a:p>
          <a:p>
            <a:pPr marL="12700" marR="233679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s.store_id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rev.store_id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rev.revenue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</a:t>
            </a:r>
            <a:r>
              <a:rPr spc="-50" dirty="0"/>
              <a:t> </a:t>
            </a:r>
            <a:r>
              <a:rPr dirty="0"/>
              <a:t>4:</a:t>
            </a:r>
            <a:r>
              <a:rPr spc="-40" dirty="0"/>
              <a:t> </a:t>
            </a:r>
            <a:r>
              <a:rPr dirty="0"/>
              <a:t>Scalar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SELECT</a:t>
            </a: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3149600" cy="160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Every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employee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with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company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avg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salary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salary,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ROUND(AVG(salary),</a:t>
            </a:r>
            <a:r>
              <a:rPr sz="1000" spc="-6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164465" marR="5080" indent="7556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stores.employees)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company_avg,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salary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AVG(salary)</a:t>
            </a:r>
            <a:endParaRPr sz="1000">
              <a:latin typeface="Courier New"/>
              <a:cs typeface="Courier New"/>
            </a:endParaRPr>
          </a:p>
          <a:p>
            <a:pPr marL="316865" marR="1147445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diff_from_avg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stores.employees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diff_from_avg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DESC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15;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601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Scalar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Position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with</a:t>
            </a:r>
            <a:r>
              <a:rPr sz="2000" spc="-4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Multiple</a:t>
            </a:r>
            <a:r>
              <a:rPr sz="2000" spc="-5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Rows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574280" cy="15259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Mistake:</a:t>
            </a:r>
            <a:endParaRPr sz="1300">
              <a:latin typeface="Calibri"/>
              <a:cs typeface="Calibri"/>
            </a:endParaRPr>
          </a:p>
          <a:p>
            <a:pPr marL="12700" marR="8255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expects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'more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expression'.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Fix: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Either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(MAX,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MIN,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AVG,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SUM)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change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operator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choice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depends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on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MAX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'greater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value',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'matches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set'.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640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NOT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IN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with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NULL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—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Silent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Failure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/>
              <a:t>NOT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returns</a:t>
            </a:r>
            <a:r>
              <a:rPr spc="-35" dirty="0"/>
              <a:t> </a:t>
            </a:r>
            <a:r>
              <a:rPr spc="-10" dirty="0"/>
              <a:t>zero</a:t>
            </a:r>
            <a:r>
              <a:rPr spc="-40" dirty="0"/>
              <a:t> </a:t>
            </a:r>
            <a:r>
              <a:rPr dirty="0"/>
              <a:t>rows</a:t>
            </a:r>
            <a:r>
              <a:rPr spc="-35" dirty="0"/>
              <a:t> </a:t>
            </a: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40" dirty="0"/>
              <a:t> </a:t>
            </a:r>
            <a:r>
              <a:rPr dirty="0"/>
              <a:t>list</a:t>
            </a:r>
            <a:r>
              <a:rPr spc="-35" dirty="0"/>
              <a:t> </a:t>
            </a:r>
            <a:r>
              <a:rPr spc="-10" dirty="0"/>
              <a:t>contains</a:t>
            </a:r>
            <a:r>
              <a:rPr spc="-40" dirty="0"/>
              <a:t> </a:t>
            </a:r>
            <a:r>
              <a:rPr dirty="0"/>
              <a:t>NULL.</a:t>
            </a:r>
            <a:r>
              <a:rPr spc="-40" dirty="0"/>
              <a:t> </a:t>
            </a:r>
            <a:r>
              <a:rPr dirty="0"/>
              <a:t>No</a:t>
            </a:r>
            <a:r>
              <a:rPr spc="-35" dirty="0"/>
              <a:t> </a:t>
            </a:r>
            <a:r>
              <a:rPr spc="-25" dirty="0"/>
              <a:t>error,</a:t>
            </a:r>
            <a:r>
              <a:rPr spc="-40" dirty="0"/>
              <a:t> </a:t>
            </a:r>
            <a:r>
              <a:rPr dirty="0"/>
              <a:t>just</a:t>
            </a:r>
            <a:r>
              <a:rPr spc="-35" dirty="0"/>
              <a:t> </a:t>
            </a:r>
            <a:r>
              <a:rPr dirty="0"/>
              <a:t>wrong</a:t>
            </a:r>
            <a:r>
              <a:rPr spc="-40" dirty="0"/>
              <a:t> </a:t>
            </a:r>
            <a:r>
              <a:rPr spc="-10" dirty="0"/>
              <a:t>results.</a:t>
            </a:r>
            <a:r>
              <a:rPr spc="-35" dirty="0"/>
              <a:t> </a:t>
            </a:r>
            <a:r>
              <a:rPr spc="-10" dirty="0"/>
              <a:t>Easy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miss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code</a:t>
            </a:r>
            <a:r>
              <a:rPr spc="-35" dirty="0"/>
              <a:t> </a:t>
            </a:r>
            <a:r>
              <a:rPr spc="-10" dirty="0"/>
              <a:t>review.</a:t>
            </a: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2700" marR="5080">
              <a:lnSpc>
                <a:spcPct val="120100"/>
              </a:lnSpc>
            </a:pPr>
            <a:r>
              <a:rPr spc="-10" dirty="0"/>
              <a:t>Default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40" dirty="0"/>
              <a:t> </a:t>
            </a:r>
            <a:r>
              <a:rPr spc="-10" dirty="0"/>
              <a:t>(tomorrow)</a:t>
            </a:r>
            <a:r>
              <a:rPr spc="-3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spc="-10" dirty="0"/>
              <a:t>exclusion</a:t>
            </a:r>
            <a:r>
              <a:rPr spc="-35" dirty="0"/>
              <a:t> </a:t>
            </a:r>
            <a:r>
              <a:rPr spc="-10" dirty="0"/>
              <a:t>queries.</a:t>
            </a:r>
            <a:r>
              <a:rPr spc="-40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safer</a:t>
            </a:r>
            <a:r>
              <a:rPr spc="-3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NULLs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often</a:t>
            </a:r>
            <a:r>
              <a:rPr spc="-40" dirty="0"/>
              <a:t> </a:t>
            </a:r>
            <a:r>
              <a:rPr spc="-30" dirty="0"/>
              <a:t>faster.</a:t>
            </a:r>
            <a:r>
              <a:rPr spc="-35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dirty="0"/>
              <a:t>you</a:t>
            </a:r>
            <a:r>
              <a:rPr spc="-35" dirty="0"/>
              <a:t> </a:t>
            </a:r>
            <a:r>
              <a:rPr dirty="0"/>
              <a:t>must</a:t>
            </a:r>
            <a:r>
              <a:rPr spc="-40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spc="-25" dirty="0"/>
              <a:t>IN, </a:t>
            </a:r>
            <a:r>
              <a:rPr spc="-45" dirty="0"/>
              <a:t>ALWAYS</a:t>
            </a:r>
            <a:r>
              <a:rPr spc="-30" dirty="0"/>
              <a:t> </a:t>
            </a:r>
            <a:r>
              <a:rPr dirty="0"/>
              <a:t>add</a:t>
            </a:r>
            <a:r>
              <a:rPr spc="-45" dirty="0"/>
              <a:t> </a:t>
            </a:r>
            <a:r>
              <a:rPr dirty="0"/>
              <a:t>WHERE</a:t>
            </a:r>
            <a:r>
              <a:rPr spc="-35" dirty="0"/>
              <a:t> </a:t>
            </a:r>
            <a:r>
              <a:rPr dirty="0"/>
              <a:t>col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NULL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spc="-10" dirty="0"/>
              <a:t>query.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4542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Forgetting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to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Alias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Derived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Table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/>
              <a:t>FROM</a:t>
            </a:r>
            <a:r>
              <a:rPr spc="-35" dirty="0"/>
              <a:t> </a:t>
            </a:r>
            <a:r>
              <a:rPr spc="-10" dirty="0"/>
              <a:t>(SELECT</a:t>
            </a:r>
            <a:r>
              <a:rPr spc="-30" dirty="0"/>
              <a:t> </a:t>
            </a:r>
            <a:r>
              <a:rPr dirty="0"/>
              <a:t>...</a:t>
            </a:r>
            <a:r>
              <a:rPr spc="-30" dirty="0"/>
              <a:t> 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no</a:t>
            </a:r>
            <a:r>
              <a:rPr spc="-25" dirty="0"/>
              <a:t> </a:t>
            </a:r>
            <a:r>
              <a:rPr dirty="0"/>
              <a:t>alias.</a:t>
            </a:r>
            <a:r>
              <a:rPr spc="-30" dirty="0"/>
              <a:t> </a:t>
            </a:r>
            <a:r>
              <a:rPr spc="-10" dirty="0"/>
              <a:t>PostgreSQL</a:t>
            </a:r>
            <a:r>
              <a:rPr spc="-30" dirty="0"/>
              <a:t> </a:t>
            </a:r>
            <a:r>
              <a:rPr spc="-10" dirty="0"/>
              <a:t>errors:</a:t>
            </a:r>
            <a:r>
              <a:rPr spc="-30" dirty="0"/>
              <a:t> </a:t>
            </a:r>
            <a:r>
              <a:rPr spc="-10" dirty="0"/>
              <a:t>'subquery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must</a:t>
            </a:r>
            <a:r>
              <a:rPr spc="-30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spc="-10" dirty="0"/>
              <a:t>alias'.</a:t>
            </a: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2700" marR="5080">
              <a:lnSpc>
                <a:spcPct val="120100"/>
              </a:lnSpc>
            </a:pPr>
            <a:r>
              <a:rPr spc="-10" dirty="0"/>
              <a:t>Always</a:t>
            </a:r>
            <a:r>
              <a:rPr spc="-35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alias.</a:t>
            </a:r>
            <a:r>
              <a:rPr spc="-30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spc="-10" dirty="0"/>
              <a:t>meaningful</a:t>
            </a:r>
            <a:r>
              <a:rPr spc="-30" dirty="0"/>
              <a:t> </a:t>
            </a:r>
            <a:r>
              <a:rPr dirty="0"/>
              <a:t>names:</a:t>
            </a:r>
            <a:r>
              <a:rPr spc="-30" dirty="0"/>
              <a:t> </a:t>
            </a:r>
            <a:r>
              <a:rPr spc="-25" dirty="0"/>
              <a:t>rev,</a:t>
            </a:r>
            <a:r>
              <a:rPr spc="-35" dirty="0"/>
              <a:t> </a:t>
            </a:r>
            <a:r>
              <a:rPr dirty="0"/>
              <a:t>agg,</a:t>
            </a:r>
            <a:r>
              <a:rPr spc="-30" dirty="0"/>
              <a:t> </a:t>
            </a:r>
            <a:r>
              <a:rPr dirty="0"/>
              <a:t>t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just</a:t>
            </a:r>
            <a:r>
              <a:rPr spc="-30" dirty="0"/>
              <a:t> </a:t>
            </a:r>
            <a:r>
              <a:rPr dirty="0"/>
              <a:t>x.</a:t>
            </a:r>
            <a:r>
              <a:rPr spc="-35" dirty="0"/>
              <a:t> </a:t>
            </a:r>
            <a:r>
              <a:rPr dirty="0"/>
              <a:t>Inside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0" dirty="0"/>
              <a:t>subquery,</a:t>
            </a:r>
            <a:r>
              <a:rPr spc="-35" dirty="0"/>
              <a:t> </a:t>
            </a:r>
            <a:r>
              <a:rPr dirty="0"/>
              <a:t>also</a:t>
            </a:r>
            <a:r>
              <a:rPr spc="-30" dirty="0"/>
              <a:t> </a:t>
            </a:r>
            <a:r>
              <a:rPr dirty="0"/>
              <a:t>alias</a:t>
            </a:r>
            <a:r>
              <a:rPr spc="-30" dirty="0"/>
              <a:t> </a:t>
            </a:r>
            <a:r>
              <a:rPr dirty="0"/>
              <a:t>every</a:t>
            </a:r>
            <a:r>
              <a:rPr spc="-30" dirty="0"/>
              <a:t> </a:t>
            </a:r>
            <a:r>
              <a:rPr spc="-10" dirty="0"/>
              <a:t>aggregate</a:t>
            </a:r>
            <a:r>
              <a:rPr spc="-35" dirty="0"/>
              <a:t> </a:t>
            </a:r>
            <a:r>
              <a:rPr spc="-10" dirty="0"/>
              <a:t>column (SUM(x)</a:t>
            </a:r>
            <a:r>
              <a:rPr spc="-3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10" dirty="0"/>
              <a:t>total)</a:t>
            </a:r>
            <a:r>
              <a:rPr spc="-35" dirty="0"/>
              <a:t> </a:t>
            </a:r>
            <a:r>
              <a:rPr dirty="0"/>
              <a:t>so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spc="-10" dirty="0"/>
              <a:t>reference</a:t>
            </a:r>
            <a:r>
              <a:rPr spc="-35" dirty="0"/>
              <a:t> </a:t>
            </a:r>
            <a:r>
              <a:rPr spc="-10" dirty="0"/>
              <a:t>them.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54406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Repeating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Scalar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Subqueries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Many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Times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Mistake: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10" dirty="0"/>
              <a:t>Pasting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same</a:t>
            </a:r>
            <a:r>
              <a:rPr spc="-35" dirty="0"/>
              <a:t> </a:t>
            </a:r>
            <a:r>
              <a:rPr spc="-10" dirty="0"/>
              <a:t>(SELECT</a:t>
            </a:r>
            <a:r>
              <a:rPr spc="-35" dirty="0"/>
              <a:t> </a:t>
            </a:r>
            <a:r>
              <a:rPr spc="-10" dirty="0"/>
              <a:t>AVG(...)</a:t>
            </a:r>
            <a:r>
              <a:rPr spc="-35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...)</a:t>
            </a:r>
            <a:r>
              <a:rPr spc="-35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SELECT</a:t>
            </a:r>
            <a:r>
              <a:rPr spc="-35" dirty="0"/>
              <a:t> </a:t>
            </a:r>
            <a:r>
              <a:rPr dirty="0"/>
              <a:t>5</a:t>
            </a:r>
            <a:r>
              <a:rPr spc="-35" dirty="0"/>
              <a:t> </a:t>
            </a:r>
            <a:r>
              <a:rPr dirty="0"/>
              <a:t>times</a:t>
            </a:r>
            <a:r>
              <a:rPr spc="-3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database</a:t>
            </a:r>
            <a:r>
              <a:rPr spc="-35" dirty="0"/>
              <a:t> </a:t>
            </a:r>
            <a:r>
              <a:rPr dirty="0"/>
              <a:t>may</a:t>
            </a:r>
            <a:r>
              <a:rPr spc="-35" dirty="0"/>
              <a:t> </a:t>
            </a:r>
            <a:r>
              <a:rPr spc="-10" dirty="0"/>
              <a:t>evaluate</a:t>
            </a:r>
            <a:r>
              <a:rPr spc="-35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5</a:t>
            </a:r>
            <a:r>
              <a:rPr spc="-35" dirty="0"/>
              <a:t> </a:t>
            </a:r>
            <a:r>
              <a:rPr dirty="0"/>
              <a:t>times</a:t>
            </a:r>
            <a:r>
              <a:rPr spc="-35" dirty="0"/>
              <a:t> </a:t>
            </a:r>
            <a:r>
              <a:rPr spc="-10" dirty="0"/>
              <a:t>unnecessarily.</a:t>
            </a: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Fix:</a:t>
            </a:r>
          </a:p>
          <a:p>
            <a:pPr marL="12700" marR="459740">
              <a:lnSpc>
                <a:spcPct val="120100"/>
              </a:lnSpc>
            </a:pPr>
            <a:r>
              <a:rPr spc="-10" dirty="0"/>
              <a:t>Compute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ONCE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derived</a:t>
            </a:r>
            <a:r>
              <a:rPr spc="-40" dirty="0"/>
              <a:t> </a:t>
            </a:r>
            <a:r>
              <a:rPr dirty="0"/>
              <a:t>table</a:t>
            </a:r>
            <a:r>
              <a:rPr spc="-4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CTE,</a:t>
            </a:r>
            <a:r>
              <a:rPr spc="-4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spc="-10" dirty="0"/>
              <a:t>reference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result</a:t>
            </a:r>
            <a:r>
              <a:rPr spc="-35" dirty="0"/>
              <a:t> </a:t>
            </a:r>
            <a:r>
              <a:rPr spc="-10" dirty="0"/>
              <a:t>column.</a:t>
            </a:r>
            <a:r>
              <a:rPr spc="-40" dirty="0"/>
              <a:t> </a:t>
            </a:r>
            <a:r>
              <a:rPr dirty="0"/>
              <a:t>Cleaner</a:t>
            </a:r>
            <a:r>
              <a:rPr spc="-40" dirty="0"/>
              <a:t> </a:t>
            </a:r>
            <a:r>
              <a:rPr dirty="0"/>
              <a:t>code,</a:t>
            </a:r>
            <a:r>
              <a:rPr spc="-35" dirty="0"/>
              <a:t> </a:t>
            </a:r>
            <a:r>
              <a:rPr spc="-10" dirty="0"/>
              <a:t>often</a:t>
            </a:r>
            <a:r>
              <a:rPr spc="-40" dirty="0"/>
              <a:t> </a:t>
            </a:r>
            <a:r>
              <a:rPr spc="-10" dirty="0"/>
              <a:t>faster execution.</a:t>
            </a:r>
            <a:r>
              <a:rPr spc="-55" dirty="0"/>
              <a:t> </a:t>
            </a:r>
            <a:r>
              <a:rPr dirty="0"/>
              <a:t>(CTEs</a:t>
            </a:r>
            <a:r>
              <a:rPr spc="-50" dirty="0"/>
              <a:t> </a:t>
            </a:r>
            <a:r>
              <a:rPr dirty="0"/>
              <a:t>arrive</a:t>
            </a:r>
            <a:r>
              <a:rPr spc="-50" dirty="0"/>
              <a:t> </a:t>
            </a:r>
            <a:r>
              <a:rPr spc="-10" dirty="0"/>
              <a:t>tomorrow.)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3750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Scalar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vs</a:t>
            </a:r>
            <a:r>
              <a:rPr sz="1700" spc="-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Multi-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Row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Subquery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8056880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'What's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difference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between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subqueries?'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row,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&lt;,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row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position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'more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row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returned'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error.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317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IN-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Subquery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vs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JOIN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Rewrite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762240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also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outer table.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BOTH.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Performance-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wise,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optimizer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plan;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based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readability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need.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27813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The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NOT</a:t>
            </a:r>
            <a:r>
              <a:rPr sz="1700" spc="-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IN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NULL</a:t>
            </a:r>
            <a:r>
              <a:rPr sz="1700" spc="-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Pitfall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959090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'Why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sometimes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matches?'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handling.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contains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evaluates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UNKNOWN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(treated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FALSE)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outer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Three-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strikes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again.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Solutions: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query,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switch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 (tomorrow)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correctly.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1896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Derived</a:t>
            </a:r>
            <a:r>
              <a:rPr sz="1700" spc="-3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Table</a:t>
            </a:r>
            <a:r>
              <a:rPr sz="1700" spc="-4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Best</a:t>
            </a:r>
            <a:r>
              <a:rPr sz="1700" spc="-3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Practices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804481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FROM?'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(1)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before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prevents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fan-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(2)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transform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before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logic.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(3)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Make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single computation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reusable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places.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Tomorrow's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alternative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complex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logic.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4258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Subquery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in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SELECT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—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When?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807910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'When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put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clause?'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alongside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row,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different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scope.</a:t>
            </a:r>
            <a:r>
              <a:rPr sz="1300" spc="500" dirty="0">
                <a:solidFill>
                  <a:srgbClr val="202020"/>
                </a:solidFill>
                <a:latin typeface="Calibri"/>
                <a:cs typeface="Calibri"/>
              </a:rPr>
              <a:t> 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Examples: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employee's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salary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company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median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Modern alternative: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window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functions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(Database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Concepts)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faster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clearer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pattern.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4202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Scalar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Subquery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in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WHERE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—</a:t>
            </a:r>
            <a:r>
              <a:rPr sz="1700" spc="-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When?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98068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'Give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example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WHERE.'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'Find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global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AVG(price)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benchmark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(average)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DYNAMIC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computed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current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hardcoded.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Re-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today's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numbers.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72022"/>
            <a:ext cx="3460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Multi-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Row</a:t>
            </a:r>
            <a:r>
              <a:rPr sz="1700" spc="15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20" dirty="0">
                <a:solidFill>
                  <a:srgbClr val="1D3A5E"/>
                </a:solidFill>
                <a:latin typeface="Georgia"/>
                <a:cs typeface="Georgia"/>
              </a:rPr>
              <a:t>IN-</a:t>
            </a:r>
            <a:r>
              <a:rPr sz="1700" dirty="0">
                <a:solidFill>
                  <a:srgbClr val="1D3A5E"/>
                </a:solidFill>
                <a:latin typeface="Georgia"/>
                <a:cs typeface="Georgia"/>
              </a:rPr>
              <a:t>Subquery</a:t>
            </a:r>
            <a:r>
              <a:rPr sz="1700" spc="20" dirty="0">
                <a:solidFill>
                  <a:srgbClr val="1D3A5E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1D3A5E"/>
                </a:solidFill>
                <a:latin typeface="Georgia"/>
                <a:cs typeface="Georgia"/>
              </a:rPr>
              <a:t>Result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62940"/>
            <a:ext cx="781494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'How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clause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return?'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30100"/>
              </a:lnSpc>
              <a:spcBef>
                <a:spcPts val="62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point.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Unlike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happily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handles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0,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100,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10,000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inner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passes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those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means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the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FALSE.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449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KEY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TAKEAWAYS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4999355" cy="32645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Subqueries: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4625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SELECT,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HAVING.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4625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scalar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possible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SELECT.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Error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Subqueries: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4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set.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0"/>
              </a:spcBef>
              <a:buAutoNum type="arabicPeriod" startAt="4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trap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inner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query.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4"/>
              <a:tabLst>
                <a:tab pos="174625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JOIN+DISTINCT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often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result.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Tables: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7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treated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Alias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REQUIRED.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7"/>
              <a:tabLst>
                <a:tab pos="174625" algn="l"/>
              </a:tabLst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—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prevents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fan-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source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dashboards.</a:t>
            </a:r>
            <a:endParaRPr sz="1300">
              <a:latin typeface="Calibri"/>
              <a:cs typeface="Calibri"/>
            </a:endParaRPr>
          </a:p>
          <a:p>
            <a:pPr marL="174625" indent="-161925">
              <a:lnSpc>
                <a:spcPct val="100000"/>
              </a:lnSpc>
              <a:spcBef>
                <a:spcPts val="315"/>
              </a:spcBef>
              <a:buAutoNum type="arabicPeriod" startAt="7"/>
              <a:tabLst>
                <a:tab pos="174625" algn="l"/>
              </a:tabLst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handle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grain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aggregates.</a:t>
            </a:r>
            <a:endParaRPr sz="13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310"/>
              </a:spcBef>
              <a:buAutoNum type="arabicPeriod" startAt="7"/>
              <a:tabLst>
                <a:tab pos="257810" algn="l"/>
              </a:tabLst>
            </a:pP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Tomorrow's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readable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alternative.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4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7935" y="345505"/>
            <a:ext cx="7194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34429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What</a:t>
            </a:r>
            <a:r>
              <a:rPr sz="2000" spc="-3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You</a:t>
            </a:r>
            <a:r>
              <a:rPr sz="2000" spc="-3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Achieved</a:t>
            </a:r>
            <a:r>
              <a:rPr sz="2000" spc="-2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Today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pc="-40" dirty="0"/>
              <a:t>You</a:t>
            </a:r>
            <a:r>
              <a:rPr spc="-35" dirty="0"/>
              <a:t> </a:t>
            </a:r>
            <a:r>
              <a:rPr spc="-10" dirty="0"/>
              <a:t>learned</a:t>
            </a:r>
            <a:r>
              <a:rPr spc="-55" dirty="0"/>
              <a:t> </a:t>
            </a:r>
            <a:r>
              <a:rPr dirty="0"/>
              <a:t>three</a:t>
            </a:r>
            <a:r>
              <a:rPr spc="-40" dirty="0"/>
              <a:t> </a:t>
            </a:r>
            <a:r>
              <a:rPr dirty="0"/>
              <a:t>subquery</a:t>
            </a:r>
            <a:r>
              <a:rPr spc="-45" dirty="0"/>
              <a:t> </a:t>
            </a:r>
            <a:r>
              <a:rPr spc="-10" dirty="0"/>
              <a:t>patterns</a:t>
            </a:r>
            <a:r>
              <a:rPr spc="-4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cover</a:t>
            </a:r>
            <a:r>
              <a:rPr spc="-45" dirty="0"/>
              <a:t> </a:t>
            </a:r>
            <a:r>
              <a:rPr dirty="0"/>
              <a:t>80%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analyst</a:t>
            </a:r>
            <a:r>
              <a:rPr spc="-45" dirty="0"/>
              <a:t> </a:t>
            </a:r>
            <a:r>
              <a:rPr dirty="0"/>
              <a:t>needs.</a:t>
            </a:r>
            <a:r>
              <a:rPr spc="-45" dirty="0"/>
              <a:t> </a:t>
            </a:r>
            <a:r>
              <a:rPr dirty="0"/>
              <a:t>Scalar</a:t>
            </a:r>
            <a:r>
              <a:rPr spc="-40" dirty="0"/>
              <a:t> </a:t>
            </a:r>
            <a:r>
              <a:rPr spc="-10" dirty="0"/>
              <a:t>subqueries</a:t>
            </a:r>
            <a:r>
              <a:rPr spc="-45" dirty="0"/>
              <a:t> </a:t>
            </a:r>
            <a:r>
              <a:rPr dirty="0"/>
              <a:t>make</a:t>
            </a:r>
            <a:r>
              <a:rPr spc="-40" dirty="0"/>
              <a:t> </a:t>
            </a:r>
            <a:r>
              <a:rPr dirty="0"/>
              <a:t>WHERE</a:t>
            </a:r>
            <a:r>
              <a:rPr spc="-45" dirty="0"/>
              <a:t> </a:t>
            </a:r>
            <a:r>
              <a:rPr spc="-10" dirty="0"/>
              <a:t>conditions </a:t>
            </a:r>
            <a:r>
              <a:rPr dirty="0"/>
              <a:t>dynamic.</a:t>
            </a:r>
            <a:r>
              <a:rPr spc="-40" dirty="0"/>
              <a:t> </a:t>
            </a:r>
            <a:r>
              <a:rPr spc="-10" dirty="0"/>
              <a:t>IN-subqueries</a:t>
            </a:r>
            <a:r>
              <a:rPr spc="-35" dirty="0"/>
              <a:t> </a:t>
            </a:r>
            <a:r>
              <a:rPr dirty="0"/>
              <a:t>filter</a:t>
            </a:r>
            <a:r>
              <a:rPr spc="-35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spc="-10" dirty="0"/>
              <a:t>membership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computed</a:t>
            </a:r>
            <a:r>
              <a:rPr spc="-35" dirty="0"/>
              <a:t> </a:t>
            </a:r>
            <a:r>
              <a:rPr dirty="0"/>
              <a:t>set.</a:t>
            </a:r>
            <a:r>
              <a:rPr spc="-35" dirty="0"/>
              <a:t> </a:t>
            </a:r>
            <a:r>
              <a:rPr dirty="0"/>
              <a:t>Derived</a:t>
            </a:r>
            <a:r>
              <a:rPr spc="-40" dirty="0"/>
              <a:t> </a:t>
            </a:r>
            <a:r>
              <a:rPr spc="-10" dirty="0"/>
              <a:t>tables</a:t>
            </a:r>
            <a:r>
              <a:rPr spc="-35" dirty="0"/>
              <a:t> </a:t>
            </a:r>
            <a:r>
              <a:rPr dirty="0"/>
              <a:t>let</a:t>
            </a:r>
            <a:r>
              <a:rPr spc="-35" dirty="0"/>
              <a:t> </a:t>
            </a:r>
            <a:r>
              <a:rPr dirty="0"/>
              <a:t>you</a:t>
            </a:r>
            <a:r>
              <a:rPr spc="-35" dirty="0"/>
              <a:t> </a:t>
            </a:r>
            <a:r>
              <a:rPr spc="-20" dirty="0"/>
              <a:t>pre-</a:t>
            </a:r>
            <a:r>
              <a:rPr spc="-10" dirty="0"/>
              <a:t>aggregate</a:t>
            </a:r>
            <a:r>
              <a:rPr spc="-35" dirty="0"/>
              <a:t> </a:t>
            </a:r>
            <a:r>
              <a:rPr spc="-10" dirty="0"/>
              <a:t>before</a:t>
            </a:r>
            <a:r>
              <a:rPr spc="-40" dirty="0"/>
              <a:t> </a:t>
            </a:r>
            <a:r>
              <a:rPr dirty="0"/>
              <a:t>joining</a:t>
            </a:r>
            <a:r>
              <a:rPr spc="-35" dirty="0"/>
              <a:t> </a:t>
            </a:r>
            <a:r>
              <a:rPr spc="-50" dirty="0"/>
              <a:t>—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key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20" dirty="0"/>
              <a:t>multi-</a:t>
            </a:r>
            <a:r>
              <a:rPr dirty="0"/>
              <a:t>source</a:t>
            </a:r>
            <a:r>
              <a:rPr spc="-40" dirty="0"/>
              <a:t> </a:t>
            </a:r>
            <a:r>
              <a:rPr spc="-10" dirty="0"/>
              <a:t>dashboards.</a:t>
            </a:r>
          </a:p>
          <a:p>
            <a:pPr marL="12700" marR="75565">
              <a:lnSpc>
                <a:spcPct val="120100"/>
              </a:lnSpc>
              <a:spcBef>
                <a:spcPts val="570"/>
              </a:spcBef>
            </a:pPr>
            <a:r>
              <a:rPr spc="-10" dirty="0"/>
              <a:t>Combined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JOINs</a:t>
            </a:r>
            <a:r>
              <a:rPr spc="-30" dirty="0"/>
              <a:t> </a:t>
            </a:r>
            <a:r>
              <a:rPr dirty="0"/>
              <a:t>(earlier</a:t>
            </a:r>
            <a:r>
              <a:rPr spc="-35" dirty="0"/>
              <a:t> </a:t>
            </a:r>
            <a:r>
              <a:rPr spc="-10" dirty="0"/>
              <a:t>sessions),</a:t>
            </a:r>
            <a:r>
              <a:rPr spc="-30" dirty="0"/>
              <a:t> </a:t>
            </a:r>
            <a:r>
              <a:rPr dirty="0"/>
              <a:t>set</a:t>
            </a:r>
            <a:r>
              <a:rPr spc="-35" dirty="0"/>
              <a:t> </a:t>
            </a:r>
            <a:r>
              <a:rPr dirty="0"/>
              <a:t>ops</a:t>
            </a:r>
            <a:r>
              <a:rPr spc="-35" dirty="0"/>
              <a:t> </a:t>
            </a:r>
            <a:r>
              <a:rPr spc="-10" dirty="0"/>
              <a:t>(Subqueries</a:t>
            </a:r>
            <a:r>
              <a:rPr spc="-30" dirty="0"/>
              <a:t> </a:t>
            </a:r>
            <a:r>
              <a:rPr dirty="0"/>
              <a:t>Part</a:t>
            </a:r>
            <a:r>
              <a:rPr spc="-35" dirty="0"/>
              <a:t> </a:t>
            </a:r>
            <a:r>
              <a:rPr dirty="0"/>
              <a:t>1),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aggregates</a:t>
            </a:r>
            <a:r>
              <a:rPr spc="-35" dirty="0"/>
              <a:t> </a:t>
            </a:r>
            <a:r>
              <a:rPr spc="-10" dirty="0"/>
              <a:t>(Aggregates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Grouping),</a:t>
            </a:r>
            <a:r>
              <a:rPr spc="-30" dirty="0"/>
              <a:t> </a:t>
            </a:r>
            <a:r>
              <a:rPr dirty="0"/>
              <a:t>you</a:t>
            </a:r>
            <a:r>
              <a:rPr spc="-35" dirty="0"/>
              <a:t> </a:t>
            </a:r>
            <a:r>
              <a:rPr spc="-25" dirty="0"/>
              <a:t>can </a:t>
            </a:r>
            <a:r>
              <a:rPr dirty="0"/>
              <a:t>now</a:t>
            </a:r>
            <a:r>
              <a:rPr spc="-45" dirty="0"/>
              <a:t> </a:t>
            </a:r>
            <a:r>
              <a:rPr spc="-10" dirty="0"/>
              <a:t>express</a:t>
            </a:r>
            <a:r>
              <a:rPr spc="-40" dirty="0"/>
              <a:t> </a:t>
            </a:r>
            <a:r>
              <a:rPr dirty="0"/>
              <a:t>almost</a:t>
            </a:r>
            <a:r>
              <a:rPr spc="-40" dirty="0"/>
              <a:t> </a:t>
            </a:r>
            <a:r>
              <a:rPr dirty="0"/>
              <a:t>any</a:t>
            </a:r>
            <a:r>
              <a:rPr spc="-40" dirty="0"/>
              <a:t> </a:t>
            </a:r>
            <a:r>
              <a:rPr spc="-10" dirty="0"/>
              <a:t>analyst</a:t>
            </a:r>
            <a:r>
              <a:rPr spc="-40" dirty="0"/>
              <a:t> </a:t>
            </a:r>
            <a:r>
              <a:rPr spc="-10" dirty="0"/>
              <a:t>question.</a:t>
            </a:r>
          </a:p>
          <a:p>
            <a:pPr marL="12700" marR="38100">
              <a:lnSpc>
                <a:spcPct val="120100"/>
              </a:lnSpc>
              <a:spcBef>
                <a:spcPts val="575"/>
              </a:spcBef>
            </a:pPr>
            <a:r>
              <a:rPr spc="-25" dirty="0"/>
              <a:t>Tomorrow:</a:t>
            </a:r>
            <a:r>
              <a:rPr spc="-35" dirty="0"/>
              <a:t> </a:t>
            </a:r>
            <a:r>
              <a:rPr spc="-10" dirty="0"/>
              <a:t>Subqueries</a:t>
            </a:r>
            <a:r>
              <a:rPr spc="-30" dirty="0"/>
              <a:t> </a:t>
            </a:r>
            <a:r>
              <a:rPr dirty="0"/>
              <a:t>Part</a:t>
            </a:r>
            <a:r>
              <a:rPr spc="-35" dirty="0"/>
              <a:t> 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10" dirty="0"/>
              <a:t>correlated</a:t>
            </a:r>
            <a:r>
              <a:rPr spc="-30" dirty="0"/>
              <a:t> </a:t>
            </a:r>
            <a:r>
              <a:rPr spc="-10" dirty="0"/>
              <a:t>subqueries</a:t>
            </a:r>
            <a:r>
              <a:rPr spc="-30" dirty="0"/>
              <a:t> </a:t>
            </a:r>
            <a:r>
              <a:rPr dirty="0"/>
              <a:t>(inner</a:t>
            </a:r>
            <a:r>
              <a:rPr spc="-35" dirty="0"/>
              <a:t> </a:t>
            </a:r>
            <a:r>
              <a:rPr spc="-10" dirty="0"/>
              <a:t>references</a:t>
            </a:r>
            <a:r>
              <a:rPr spc="-30" dirty="0"/>
              <a:t> </a:t>
            </a:r>
            <a:r>
              <a:rPr spc="-10" dirty="0"/>
              <a:t>outer),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30" dirty="0"/>
              <a:t> </a:t>
            </a:r>
            <a:r>
              <a:rPr spc="-10" dirty="0"/>
              <a:t>(efficient</a:t>
            </a:r>
            <a:r>
              <a:rPr spc="-35" dirty="0"/>
              <a:t> </a:t>
            </a:r>
            <a:r>
              <a:rPr spc="-10" dirty="0"/>
              <a:t>existence</a:t>
            </a:r>
            <a:r>
              <a:rPr spc="-30" dirty="0"/>
              <a:t> </a:t>
            </a:r>
            <a:r>
              <a:rPr dirty="0"/>
              <a:t>check),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CTEs</a:t>
            </a:r>
            <a:r>
              <a:rPr spc="-30" dirty="0"/>
              <a:t> </a:t>
            </a:r>
            <a:r>
              <a:rPr dirty="0"/>
              <a:t>(named</a:t>
            </a:r>
            <a:r>
              <a:rPr spc="-30" dirty="0"/>
              <a:t> </a:t>
            </a:r>
            <a:r>
              <a:rPr spc="-10" dirty="0"/>
              <a:t>subqueries</a:t>
            </a:r>
            <a:r>
              <a:rPr spc="-2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read</a:t>
            </a:r>
            <a:r>
              <a:rPr spc="-25" dirty="0"/>
              <a:t> </a:t>
            </a:r>
            <a:r>
              <a:rPr spc="-20" dirty="0"/>
              <a:t>top-to-</a:t>
            </a:r>
            <a:r>
              <a:rPr spc="-10" dirty="0"/>
              <a:t>bottom).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20" dirty="0"/>
              <a:t>senior-</a:t>
            </a:r>
            <a:r>
              <a:rPr spc="-10" dirty="0"/>
              <a:t>analyst</a:t>
            </a:r>
            <a:r>
              <a:rPr spc="-30" dirty="0"/>
              <a:t> </a:t>
            </a:r>
            <a:r>
              <a:rPr spc="-10" dirty="0"/>
              <a:t>level.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Subqueries</a:t>
            </a:r>
            <a:r>
              <a:rPr spc="-35" dirty="0"/>
              <a:t> </a:t>
            </a:r>
            <a:r>
              <a:rPr dirty="0"/>
              <a:t>Part</a:t>
            </a:r>
            <a:r>
              <a:rPr spc="-35" dirty="0"/>
              <a:t> </a:t>
            </a:r>
            <a:r>
              <a:rPr spc="-5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2667000" cy="283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Scalar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(WHERE)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col &gt; (SELECT AVG(x) FROM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t)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Inner returns ONE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value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Used in WHERE, SELECT,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HAVING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Scalar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(SELECT)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a, (SELECT MAX(x) FROM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t)</a:t>
            </a:r>
            <a:endParaRPr sz="900">
              <a:latin typeface="Courier New"/>
              <a:cs typeface="Courier New"/>
            </a:endParaRPr>
          </a:p>
          <a:p>
            <a:pPr marL="102235" marR="1728470" indent="137795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AS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max_x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FROM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table_a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Benchmark column for each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row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IN</a:t>
            </a:r>
            <a:r>
              <a:rPr sz="1100" b="1" spc="-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(membership)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id IN (SELECT id FROM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t)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Inner can return many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rows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Matches if value appears in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result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66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Subqueries</a:t>
            </a:r>
            <a:r>
              <a:rPr spc="-35" dirty="0"/>
              <a:t> </a:t>
            </a:r>
            <a:r>
              <a:rPr dirty="0"/>
              <a:t>Part</a:t>
            </a:r>
            <a:r>
              <a:rPr spc="-35" dirty="0"/>
              <a:t> </a:t>
            </a:r>
            <a:r>
              <a:rPr spc="-5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2529205" cy="299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NOT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IN</a:t>
            </a:r>
            <a:r>
              <a:rPr sz="1100" b="1" spc="-1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(with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NULL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safety)</a:t>
            </a:r>
            <a:endParaRPr sz="1100">
              <a:latin typeface="Courier New"/>
              <a:cs typeface="Courier New"/>
            </a:endParaRPr>
          </a:p>
          <a:p>
            <a:pPr marL="240029" marR="1177290" indent="-138430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id NOT IN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id FROM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240029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id IS NOT NULL  --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safety!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3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Derived</a:t>
            </a:r>
            <a:r>
              <a:rPr sz="1100" b="1" spc="-3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Table</a:t>
            </a:r>
            <a:r>
              <a:rPr sz="1100" b="1" spc="-3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(FROM)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FROM (SELECT ... GROUP BY ...) AS </a:t>
            </a:r>
            <a:r>
              <a:rPr sz="900" spc="-50" dirty="0">
                <a:solidFill>
                  <a:srgbClr val="D3D3D3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JOIN main ON main.id =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t.id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Alias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REQUIRED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4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Pre-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Aggregation</a:t>
            </a:r>
            <a:r>
              <a:rPr sz="1100" b="1" spc="-4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Pattern</a:t>
            </a:r>
            <a:endParaRPr sz="1100">
              <a:latin typeface="Courier New"/>
              <a:cs typeface="Courier New"/>
            </a:endParaRPr>
          </a:p>
          <a:p>
            <a:pPr marL="240029" marR="5080" indent="-138430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LEFT JOIN (SELECT key, SUM(x)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total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FROM detail GROUP BY key)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sub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ON main.key =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sub.key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Prevents fan-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out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6002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Subqueries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Part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2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Home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Challenge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(1/2)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147869"/>
            <a:ext cx="6017895" cy="112268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queries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V3: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Easy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(Scalar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Subqueries):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larger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order_id,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net_total,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average.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global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avg.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60369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Subqueries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Part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2</a:t>
            </a:r>
            <a:r>
              <a:rPr sz="2000" spc="-2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Take-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Home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Challenge</a:t>
            </a:r>
            <a:r>
              <a:rPr sz="2000" spc="-15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(2/2)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643495" cy="28613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Medium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SELECT):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3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Electronics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through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dim_brand/dim_category.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3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lifetime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count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this-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month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count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(subquery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SELECT).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Hard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(Derived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Tables):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5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Top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stores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revenue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pre-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aggregation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(derived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table).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 startAt="5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above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city's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average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(two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derived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JOIN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city).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Crazy:</a:t>
            </a:r>
            <a:endParaRPr sz="1300">
              <a:latin typeface="Calibri"/>
              <a:cs typeface="Calibri"/>
            </a:endParaRPr>
          </a:p>
          <a:p>
            <a:pPr marL="12700" marR="5080" indent="-5715">
              <a:lnSpc>
                <a:spcPct val="120100"/>
              </a:lnSpc>
              <a:buSzPct val="92307"/>
              <a:buAutoNum type="arabicPeriod" startAt="7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	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Rewrite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subquery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(a)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JOIN+DISTINCT,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(b)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(preview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tomorrow).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and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reasoning.</a:t>
            </a:r>
            <a:endParaRPr sz="1300">
              <a:latin typeface="Calibri"/>
              <a:cs typeface="Calibri"/>
            </a:endParaRPr>
          </a:p>
          <a:p>
            <a:pPr marL="12700" marR="4530090">
              <a:lnSpc>
                <a:spcPct val="120100"/>
              </a:lnSpc>
              <a:spcBef>
                <a:spcPts val="57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Push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GitHub!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  <a:hlinkClick r:id="rId2"/>
              </a:rPr>
              <a:t>https://github.com/starlordali4444/postgresql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505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Georgia"/>
                <a:cs typeface="Georgia"/>
              </a:rPr>
              <a:t>Coming</a:t>
            </a:r>
            <a:r>
              <a:rPr sz="2000" spc="-40" dirty="0">
                <a:solidFill>
                  <a:srgbClr val="202020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Georgia"/>
                <a:cs typeface="Georgia"/>
              </a:rPr>
              <a:t>Tomorrow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pc="-10" dirty="0"/>
              <a:t>Correlated</a:t>
            </a:r>
            <a:r>
              <a:rPr spc="-35" dirty="0"/>
              <a:t> </a:t>
            </a:r>
            <a:r>
              <a:rPr spc="-10" dirty="0"/>
              <a:t>subqueries</a:t>
            </a:r>
            <a:r>
              <a:rPr spc="-35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inner</a:t>
            </a:r>
            <a:r>
              <a:rPr spc="-35" dirty="0"/>
              <a:t> </a:t>
            </a:r>
            <a:r>
              <a:rPr dirty="0"/>
              <a:t>query</a:t>
            </a:r>
            <a:r>
              <a:rPr spc="-30" dirty="0"/>
              <a:t> </a:t>
            </a:r>
            <a:r>
              <a:rPr spc="-10" dirty="0"/>
              <a:t>references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OUTER</a:t>
            </a:r>
            <a:r>
              <a:rPr spc="-35" dirty="0"/>
              <a:t> </a:t>
            </a:r>
            <a:r>
              <a:rPr spc="-40" dirty="0"/>
              <a:t>row,</a:t>
            </a:r>
            <a:r>
              <a:rPr spc="-30" dirty="0"/>
              <a:t> </a:t>
            </a:r>
            <a:r>
              <a:rPr dirty="0"/>
              <a:t>runs</a:t>
            </a:r>
            <a:r>
              <a:rPr spc="-35" dirty="0"/>
              <a:t> </a:t>
            </a:r>
            <a:r>
              <a:rPr spc="-25" dirty="0"/>
              <a:t>per-</a:t>
            </a:r>
            <a:r>
              <a:rPr spc="-20" dirty="0"/>
              <a:t>row.</a:t>
            </a:r>
            <a:r>
              <a:rPr spc="-30" dirty="0"/>
              <a:t> </a:t>
            </a:r>
            <a:r>
              <a:rPr dirty="0"/>
              <a:t>EXISTS</a:t>
            </a:r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EXISTS</a:t>
            </a:r>
            <a:r>
              <a:rPr spc="-35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spc="-10" dirty="0"/>
              <a:t>fast</a:t>
            </a:r>
            <a:r>
              <a:rPr spc="-35" dirty="0"/>
              <a:t> </a:t>
            </a:r>
            <a:r>
              <a:rPr spc="-10" dirty="0"/>
              <a:t>existence checks,</a:t>
            </a:r>
            <a:r>
              <a:rPr spc="-35" dirty="0"/>
              <a:t> </a:t>
            </a:r>
            <a:r>
              <a:rPr spc="-10" dirty="0"/>
              <a:t>NULL-safe</a:t>
            </a:r>
            <a:r>
              <a:rPr spc="-35" dirty="0"/>
              <a:t> </a:t>
            </a:r>
            <a:r>
              <a:rPr spc="-10" dirty="0"/>
              <a:t>alternatives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IN.</a:t>
            </a:r>
            <a:r>
              <a:rPr spc="-35" dirty="0"/>
              <a:t> </a:t>
            </a:r>
            <a:r>
              <a:rPr dirty="0"/>
              <a:t>CTEs</a:t>
            </a:r>
            <a:r>
              <a:rPr spc="-35" dirty="0"/>
              <a:t> </a:t>
            </a:r>
            <a:r>
              <a:rPr dirty="0"/>
              <a:t>(WITH</a:t>
            </a:r>
            <a:r>
              <a:rPr spc="-35" dirty="0"/>
              <a:t> </a:t>
            </a:r>
            <a:r>
              <a:rPr dirty="0"/>
              <a:t>clause)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named</a:t>
            </a:r>
            <a:r>
              <a:rPr spc="-35" dirty="0"/>
              <a:t> </a:t>
            </a:r>
            <a:r>
              <a:rPr spc="-10" dirty="0"/>
              <a:t>subqueries</a:t>
            </a:r>
            <a:r>
              <a:rPr spc="-3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read</a:t>
            </a:r>
            <a:r>
              <a:rPr spc="-35" dirty="0"/>
              <a:t> </a:t>
            </a:r>
            <a:r>
              <a:rPr spc="-20" dirty="0"/>
              <a:t>top-</a:t>
            </a:r>
            <a:r>
              <a:rPr spc="-25" dirty="0"/>
              <a:t>to-</a:t>
            </a:r>
            <a:r>
              <a:rPr spc="-10" dirty="0"/>
              <a:t>bottom.</a:t>
            </a:r>
            <a:r>
              <a:rPr spc="-35" dirty="0"/>
              <a:t> </a:t>
            </a:r>
            <a:r>
              <a:rPr spc="-10" dirty="0"/>
              <a:t>Recursive</a:t>
            </a:r>
            <a:r>
              <a:rPr spc="-30" dirty="0"/>
              <a:t> </a:t>
            </a:r>
            <a:r>
              <a:rPr spc="-20" dirty="0"/>
              <a:t>CTEs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org</a:t>
            </a:r>
            <a:r>
              <a:rPr spc="-40" dirty="0"/>
              <a:t> </a:t>
            </a:r>
            <a:r>
              <a:rPr dirty="0"/>
              <a:t>charts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category</a:t>
            </a:r>
            <a:r>
              <a:rPr spc="-40" dirty="0"/>
              <a:t> </a:t>
            </a:r>
            <a:r>
              <a:rPr spc="-10" dirty="0"/>
              <a:t>trees.</a:t>
            </a:r>
          </a:p>
          <a:p>
            <a:pPr marL="12700" marR="149860">
              <a:lnSpc>
                <a:spcPct val="120100"/>
              </a:lnSpc>
              <a:spcBef>
                <a:spcPts val="570"/>
              </a:spcBef>
            </a:pPr>
            <a:r>
              <a:rPr dirty="0"/>
              <a:t>CTEs</a:t>
            </a:r>
            <a:r>
              <a:rPr spc="-4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where</a:t>
            </a:r>
            <a:r>
              <a:rPr spc="-40" dirty="0"/>
              <a:t> </a:t>
            </a:r>
            <a:r>
              <a:rPr dirty="0"/>
              <a:t>SQL</a:t>
            </a:r>
            <a:r>
              <a:rPr spc="-40" dirty="0"/>
              <a:t> </a:t>
            </a:r>
            <a:r>
              <a:rPr spc="-10" dirty="0"/>
              <a:t>composition</a:t>
            </a:r>
            <a:r>
              <a:rPr spc="-45" dirty="0"/>
              <a:t> </a:t>
            </a:r>
            <a:r>
              <a:rPr dirty="0"/>
              <a:t>really</a:t>
            </a:r>
            <a:r>
              <a:rPr spc="-40" dirty="0"/>
              <a:t> </a:t>
            </a:r>
            <a:r>
              <a:rPr dirty="0"/>
              <a:t>kicks</a:t>
            </a:r>
            <a:r>
              <a:rPr spc="-40" dirty="0"/>
              <a:t> </a:t>
            </a:r>
            <a:r>
              <a:rPr dirty="0"/>
              <a:t>in.</a:t>
            </a:r>
            <a:r>
              <a:rPr spc="-40" dirty="0"/>
              <a:t> </a:t>
            </a:r>
            <a:r>
              <a:rPr spc="-10" dirty="0"/>
              <a:t>After</a:t>
            </a:r>
            <a:r>
              <a:rPr spc="-45" dirty="0"/>
              <a:t> </a:t>
            </a:r>
            <a:r>
              <a:rPr spc="-25" dirty="0"/>
              <a:t>tomorrow,</a:t>
            </a:r>
            <a:r>
              <a:rPr spc="-40" dirty="0"/>
              <a:t> </a:t>
            </a:r>
            <a:r>
              <a:rPr dirty="0"/>
              <a:t>you'll</a:t>
            </a:r>
            <a:r>
              <a:rPr spc="-40" dirty="0"/>
              <a:t> </a:t>
            </a:r>
            <a:r>
              <a:rPr dirty="0"/>
              <a:t>write</a:t>
            </a:r>
            <a:r>
              <a:rPr spc="-40" dirty="0"/>
              <a:t> </a:t>
            </a:r>
            <a:r>
              <a:rPr dirty="0"/>
              <a:t>queries</a:t>
            </a:r>
            <a:r>
              <a:rPr spc="-40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look</a:t>
            </a:r>
            <a:r>
              <a:rPr spc="-40" dirty="0"/>
              <a:t> </a:t>
            </a:r>
            <a:r>
              <a:rPr dirty="0"/>
              <a:t>more</a:t>
            </a:r>
            <a:r>
              <a:rPr spc="-40" dirty="0"/>
              <a:t> </a:t>
            </a:r>
            <a:r>
              <a:rPr dirty="0"/>
              <a:t>like</a:t>
            </a:r>
            <a:r>
              <a:rPr spc="-40" dirty="0"/>
              <a:t> </a:t>
            </a:r>
            <a:r>
              <a:rPr spc="-10" dirty="0"/>
              <a:t>programs</a:t>
            </a:r>
            <a:r>
              <a:rPr spc="-45" dirty="0"/>
              <a:t> </a:t>
            </a:r>
            <a:r>
              <a:rPr spc="-20" dirty="0"/>
              <a:t>than </a:t>
            </a:r>
            <a:r>
              <a:rPr spc="-10" dirty="0"/>
              <a:t>database</a:t>
            </a:r>
            <a:r>
              <a:rPr spc="-40" dirty="0"/>
              <a:t> </a:t>
            </a:r>
            <a:r>
              <a:rPr spc="-10" dirty="0"/>
              <a:t>commands.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20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5948</Words>
  <Application>Microsoft Office PowerPoint</Application>
  <PresentationFormat>Custom</PresentationFormat>
  <Paragraphs>475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Calibri</vt:lpstr>
      <vt:lpstr>Courier New</vt:lpstr>
      <vt:lpstr>Georgia</vt:lpstr>
      <vt:lpstr>Segoe UI Symbol</vt:lpstr>
      <vt:lpstr>Office Theme</vt:lpstr>
      <vt:lpstr>The Above-Average Student Question</vt:lpstr>
      <vt:lpstr>From Story to SQL!</vt:lpstr>
      <vt:lpstr>The Subquery Family (Part 1)</vt:lpstr>
      <vt:lpstr>Anatomy of a Subquery</vt:lpstr>
      <vt:lpstr>The Class Average Comparison</vt:lpstr>
      <vt:lpstr>Scalar Subquery</vt:lpstr>
      <vt:lpstr>SYNTAX: Scalar Subqueries (1/2)</vt:lpstr>
      <vt:lpstr>PowerPoint Presentation</vt:lpstr>
      <vt:lpstr>Step-by-Step: Scalar Subquery Execution</vt:lpstr>
      <vt:lpstr>Easy: Customers Who Spent Above the Global Average</vt:lpstr>
      <vt:lpstr>Answer</vt:lpstr>
      <vt:lpstr>Medium: Products Cheaper Than Their Category Average</vt:lpstr>
      <vt:lpstr>Answer</vt:lpstr>
      <vt:lpstr>Scalar Subqueries</vt:lpstr>
      <vt:lpstr>Scalar Subquery Returning Multiple Rows</vt:lpstr>
      <vt:lpstr>The VIP Guest List</vt:lpstr>
      <vt:lpstr>IN and NOT IN</vt:lpstr>
      <vt:lpstr>SYNTAX: IN, NOT IN</vt:lpstr>
      <vt:lpstr>Easy: Products That Have Been Ordered</vt:lpstr>
      <vt:lpstr>Answer</vt:lpstr>
      <vt:lpstr>Hard: Find the Bug — Multiple Rows in Scalar Position</vt:lpstr>
      <vt:lpstr>Answer (1/2)</vt:lpstr>
      <vt:lpstr>PowerPoint Presentation</vt:lpstr>
      <vt:lpstr>IN / NOT IN</vt:lpstr>
      <vt:lpstr>The NOT IN NULL Trap</vt:lpstr>
      <vt:lpstr>The Pre-Made Sub-Report</vt:lpstr>
      <vt:lpstr>Derived Table</vt:lpstr>
      <vt:lpstr>SYNTAX: Derived Tables (1/2)</vt:lpstr>
      <vt:lpstr>PowerPoint Presentation</vt:lpstr>
      <vt:lpstr>Easy: Top Stores by Revenue (Pre-Aggregate)</vt:lpstr>
      <vt:lpstr>Answer</vt:lpstr>
      <vt:lpstr>Medium: Customers Above Their City Average</vt:lpstr>
      <vt:lpstr>Answer (1/2)</vt:lpstr>
      <vt:lpstr>Answer (2/2)</vt:lpstr>
      <vt:lpstr>Hard: Multi-Source Dashboard (Pre-Aggregation Prevents Fan-Out)</vt:lpstr>
      <vt:lpstr>Answer (1/2)</vt:lpstr>
      <vt:lpstr>Answer (2/2)</vt:lpstr>
      <vt:lpstr>Crazy: Manufacturing Defect Rate vs Line Average</vt:lpstr>
      <vt:lpstr>Answer (1/2)</vt:lpstr>
      <vt:lpstr>Answer (2/2)</vt:lpstr>
      <vt:lpstr>Derived Tables</vt:lpstr>
      <vt:lpstr>PRO TIP</vt:lpstr>
      <vt:lpstr>Forgetting the Alias</vt:lpstr>
      <vt:lpstr>Try It Live!</vt:lpstr>
      <vt:lpstr>Challenge 1: Above-Average Orders</vt:lpstr>
      <vt:lpstr>Challenge 2: Products Bought in Mumbai</vt:lpstr>
      <vt:lpstr>Challenge 3: Pre-Aggregation Pattern</vt:lpstr>
      <vt:lpstr>Challenge 4: Scalar in SELECT</vt:lpstr>
      <vt:lpstr>Scalar Position with Multiple Rows</vt:lpstr>
      <vt:lpstr>NOT IN with NULL — Silent Failure</vt:lpstr>
      <vt:lpstr>Forgetting to Alias a Derived Table</vt:lpstr>
      <vt:lpstr>Repeating Scalar Subqueries Many Times</vt:lpstr>
      <vt:lpstr>Scalar vs Multi-Row Subquery</vt:lpstr>
      <vt:lpstr>IN-Subquery vs JOIN Rewrite</vt:lpstr>
      <vt:lpstr>The NOT IN NULL Pitfall</vt:lpstr>
      <vt:lpstr>Derived Table Best Practices</vt:lpstr>
      <vt:lpstr>Subquery in SELECT — When?</vt:lpstr>
      <vt:lpstr>Scalar Subquery in WHERE — When?</vt:lpstr>
      <vt:lpstr>Multi-Row IN-Subquery Result</vt:lpstr>
      <vt:lpstr>KEY TAKEAWAYS</vt:lpstr>
      <vt:lpstr>What You Achieved Today</vt:lpstr>
      <vt:lpstr>Subqueries Part 1</vt:lpstr>
      <vt:lpstr>Subqueries Part 1</vt:lpstr>
      <vt:lpstr>Subqueries Part 2 Take-Home Challenge (1/2)</vt:lpstr>
      <vt:lpstr>Subqueries Part 2 Take-Home Challenge (2/2)</vt:lpstr>
      <vt:lpstr>Coming Tomorrow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Subqueries Part 1 — Scalar, IN, Derived Tables — RetailMart V3 SQL</dc:title>
  <dc:subject>SQL Masterclass — RetailMart V3</dc:subject>
  <dc:creator>AccioJob — Siraj Sir</dc:creator>
  <cp:lastModifiedBy>Ankit Kumar</cp:lastModifiedBy>
  <cp:revision>1</cp:revision>
  <dcterms:created xsi:type="dcterms:W3CDTF">2026-10-02T12:18:46Z</dcterms:created>
  <dcterms:modified xsi:type="dcterms:W3CDTF">2026-10-02T12:22:58Z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2026-07-06T00:00:00Z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26.2.3.2 (AARCH64)</vt:lpwstr>
  </property>
  <property fmtid="{D5CDD505-2E9C-101B-9397-08002B2CF9AE}" pid="6" name="LastSaved">
    <vt:filetime>2026-07-06T00:00:00Z</vt:filetime>
  </property>
</Properties>
</file>