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78" r:id="rId10"/>
    <p:sldId id="279" r:id="rId11"/>
    <p:sldId id="280" r:id="rId12"/>
    <p:sldId id="281" r:id="rId13"/>
    <p:sldId id="282" r:id="rId14"/>
    <p:sldId id="283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7" r:id="rId31"/>
    <p:sldId id="308" r:id="rId32"/>
    <p:sldId id="309" r:id="rId33"/>
    <p:sldId id="310" r:id="rId34"/>
    <p:sldId id="311" r:id="rId35"/>
    <p:sldId id="312" r:id="rId36"/>
    <p:sldId id="313" r:id="rId37"/>
    <p:sldId id="314" r:id="rId38"/>
    <p:sldId id="315" r:id="rId39"/>
    <p:sldId id="316" r:id="rId40"/>
    <p:sldId id="317" r:id="rId41"/>
    <p:sldId id="318" r:id="rId42"/>
    <p:sldId id="319" r:id="rId43"/>
    <p:sldId id="320" r:id="rId44"/>
    <p:sldId id="321" r:id="rId45"/>
    <p:sldId id="322" r:id="rId46"/>
    <p:sldId id="323" r:id="rId47"/>
    <p:sldId id="324" r:id="rId48"/>
    <p:sldId id="325" r:id="rId49"/>
    <p:sldId id="326" r:id="rId50"/>
    <p:sldId id="327" r:id="rId51"/>
    <p:sldId id="328" r:id="rId52"/>
    <p:sldId id="329" r:id="rId53"/>
    <p:sldId id="330" r:id="rId54"/>
    <p:sldId id="331" r:id="rId55"/>
    <p:sldId id="332" r:id="rId56"/>
    <p:sldId id="333" r:id="rId57"/>
    <p:sldId id="334" r:id="rId58"/>
    <p:sldId id="335" r:id="rId59"/>
    <p:sldId id="336" r:id="rId60"/>
    <p:sldId id="337" r:id="rId61"/>
    <p:sldId id="338" r:id="rId62"/>
    <p:sldId id="339" r:id="rId63"/>
    <p:sldId id="340" r:id="rId64"/>
    <p:sldId id="341" r:id="rId65"/>
    <p:sldId id="342" r:id="rId66"/>
    <p:sldId id="343" r:id="rId67"/>
    <p:sldId id="344" r:id="rId68"/>
    <p:sldId id="345" r:id="rId69"/>
    <p:sldId id="346" r:id="rId70"/>
    <p:sldId id="347" r:id="rId71"/>
    <p:sldId id="348" r:id="rId72"/>
    <p:sldId id="349" r:id="rId73"/>
    <p:sldId id="350" r:id="rId74"/>
    <p:sldId id="351" r:id="rId75"/>
    <p:sldId id="352" r:id="rId76"/>
    <p:sldId id="353" r:id="rId77"/>
  </p:sldIdLst>
  <p:sldSz cx="9144000" cy="5149850"/>
  <p:notesSz cx="9144000" cy="5149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75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kit Kumar" userId="bd5a2443a7bf1f61" providerId="LiveId" clId="{163F0912-838B-4386-91D9-BB9840CF8635}"/>
    <pc:docChg chg="undo custSel modSld">
      <pc:chgData name="Ankit Kumar" userId="bd5a2443a7bf1f61" providerId="LiveId" clId="{163F0912-838B-4386-91D9-BB9840CF8635}" dt="2026-10-03T17:19:54.942" v="2" actId="20577"/>
      <pc:docMkLst>
        <pc:docMk/>
      </pc:docMkLst>
      <pc:sldChg chg="modSp mod">
        <pc:chgData name="Ankit Kumar" userId="bd5a2443a7bf1f61" providerId="LiveId" clId="{163F0912-838B-4386-91D9-BB9840CF8635}" dt="2026-10-03T17:11:38.118" v="0" actId="1036"/>
        <pc:sldMkLst>
          <pc:docMk/>
          <pc:sldMk cId="0" sldId="317"/>
        </pc:sldMkLst>
        <pc:spChg chg="mod">
          <ac:chgData name="Ankit Kumar" userId="bd5a2443a7bf1f61" providerId="LiveId" clId="{163F0912-838B-4386-91D9-BB9840CF8635}" dt="2026-10-03T17:11:38.118" v="0" actId="1036"/>
          <ac:spMkLst>
            <pc:docMk/>
            <pc:sldMk cId="0" sldId="317"/>
            <ac:spMk id="5" creationId="{00000000-0000-0000-0000-000000000000}"/>
          </ac:spMkLst>
        </pc:spChg>
      </pc:sldChg>
      <pc:sldChg chg="modSp mod">
        <pc:chgData name="Ankit Kumar" userId="bd5a2443a7bf1f61" providerId="LiveId" clId="{163F0912-838B-4386-91D9-BB9840CF8635}" dt="2026-10-03T17:19:54.942" v="2" actId="20577"/>
        <pc:sldMkLst>
          <pc:docMk/>
          <pc:sldMk cId="0" sldId="321"/>
        </pc:sldMkLst>
        <pc:spChg chg="mod">
          <ac:chgData name="Ankit Kumar" userId="bd5a2443a7bf1f61" providerId="LiveId" clId="{163F0912-838B-4386-91D9-BB9840CF8635}" dt="2026-10-03T17:19:54.942" v="2" actId="20577"/>
          <ac:spMkLst>
            <pc:docMk/>
            <pc:sldMk cId="0" sldId="321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4002"/>
            <a:ext cx="9144000" cy="5090160"/>
          </a:xfrm>
          <a:custGeom>
            <a:avLst/>
            <a:gdLst/>
            <a:ahLst/>
            <a:cxnLst/>
            <a:rect l="l" t="t" r="r" b="b"/>
            <a:pathLst>
              <a:path w="9144000" h="5090160">
                <a:moveTo>
                  <a:pt x="0" y="5089677"/>
                </a:moveTo>
                <a:lnTo>
                  <a:pt x="9144000" y="5089677"/>
                </a:lnTo>
                <a:lnTo>
                  <a:pt x="9144000" y="0"/>
                </a:lnTo>
                <a:lnTo>
                  <a:pt x="0" y="0"/>
                </a:lnTo>
                <a:lnTo>
                  <a:pt x="0" y="5089677"/>
                </a:lnTo>
                <a:close/>
              </a:path>
            </a:pathLst>
          </a:custGeom>
          <a:solidFill>
            <a:srgbClr val="191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F861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4136" y="1206260"/>
            <a:ext cx="2986404" cy="2393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FFB2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20202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FFB2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0202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FFB2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FFB2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F7F8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1D3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2704" y="215546"/>
            <a:ext cx="6727190" cy="29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FFB2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7748" y="1220589"/>
            <a:ext cx="7988503" cy="1837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20202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tarlordali4444/postgresql" TargetMode="Externa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156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35417" y="345505"/>
            <a:ext cx="3638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STORY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330707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The</a:t>
            </a:r>
            <a:r>
              <a:rPr sz="2000" spc="-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Per-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Row</a:t>
            </a:r>
            <a:r>
              <a:rPr sz="2000" spc="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Benchmark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 marR="229870">
              <a:lnSpc>
                <a:spcPct val="120100"/>
              </a:lnSpc>
              <a:spcBef>
                <a:spcPts val="100"/>
              </a:spcBef>
            </a:pPr>
            <a:r>
              <a:rPr spc="-25" dirty="0"/>
              <a:t>Your</a:t>
            </a:r>
            <a:r>
              <a:rPr spc="-50" dirty="0"/>
              <a:t> </a:t>
            </a:r>
            <a:r>
              <a:rPr dirty="0"/>
              <a:t>tax</a:t>
            </a:r>
            <a:r>
              <a:rPr spc="-70" dirty="0"/>
              <a:t> </a:t>
            </a:r>
            <a:r>
              <a:rPr dirty="0"/>
              <a:t>form</a:t>
            </a:r>
            <a:r>
              <a:rPr spc="-45" dirty="0"/>
              <a:t> </a:t>
            </a:r>
            <a:r>
              <a:rPr dirty="0"/>
              <a:t>asks:</a:t>
            </a:r>
            <a:r>
              <a:rPr spc="-40" dirty="0"/>
              <a:t> </a:t>
            </a:r>
            <a:r>
              <a:rPr dirty="0"/>
              <a:t>'Are</a:t>
            </a:r>
            <a:r>
              <a:rPr spc="-45" dirty="0"/>
              <a:t> </a:t>
            </a:r>
            <a:r>
              <a:rPr dirty="0"/>
              <a:t>you</a:t>
            </a:r>
            <a:r>
              <a:rPr spc="-45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same</a:t>
            </a:r>
            <a:r>
              <a:rPr spc="-40" dirty="0"/>
              <a:t> </a:t>
            </a:r>
            <a:r>
              <a:rPr dirty="0"/>
              <a:t>income</a:t>
            </a:r>
            <a:r>
              <a:rPr spc="-45" dirty="0"/>
              <a:t> </a:t>
            </a:r>
            <a:r>
              <a:rPr spc="-10" dirty="0"/>
              <a:t>bracket</a:t>
            </a:r>
            <a:r>
              <a:rPr spc="-40" dirty="0"/>
              <a:t> </a:t>
            </a:r>
            <a:r>
              <a:rPr dirty="0"/>
              <a:t>as</a:t>
            </a:r>
            <a:r>
              <a:rPr spc="-45" dirty="0"/>
              <a:t> </a:t>
            </a:r>
            <a:r>
              <a:rPr dirty="0"/>
              <a:t>last</a:t>
            </a:r>
            <a:r>
              <a:rPr spc="-45" dirty="0"/>
              <a:t> </a:t>
            </a:r>
            <a:r>
              <a:rPr dirty="0"/>
              <a:t>year?'</a:t>
            </a:r>
            <a:r>
              <a:rPr spc="-40" dirty="0"/>
              <a:t> </a:t>
            </a:r>
            <a:r>
              <a:rPr spc="-65" dirty="0"/>
              <a:t>To</a:t>
            </a:r>
            <a:r>
              <a:rPr spc="-10" dirty="0"/>
              <a:t> </a:t>
            </a:r>
            <a:r>
              <a:rPr dirty="0"/>
              <a:t>answer</a:t>
            </a:r>
            <a:r>
              <a:rPr spc="-45" dirty="0"/>
              <a:t> </a:t>
            </a:r>
            <a:r>
              <a:rPr dirty="0"/>
              <a:t>this,</a:t>
            </a:r>
            <a:r>
              <a:rPr spc="-4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tax</a:t>
            </a:r>
            <a:r>
              <a:rPr spc="-40" dirty="0"/>
              <a:t> </a:t>
            </a:r>
            <a:r>
              <a:rPr spc="-10" dirty="0"/>
              <a:t>calculator</a:t>
            </a:r>
            <a:r>
              <a:rPr spc="-45" dirty="0"/>
              <a:t> </a:t>
            </a:r>
            <a:r>
              <a:rPr dirty="0"/>
              <a:t>must</a:t>
            </a:r>
            <a:r>
              <a:rPr spc="-45" dirty="0"/>
              <a:t> </a:t>
            </a:r>
            <a:r>
              <a:rPr dirty="0"/>
              <a:t>look</a:t>
            </a:r>
            <a:r>
              <a:rPr spc="-40" dirty="0"/>
              <a:t> </a:t>
            </a:r>
            <a:r>
              <a:rPr spc="-25" dirty="0"/>
              <a:t>at </a:t>
            </a:r>
            <a:r>
              <a:rPr dirty="0"/>
              <a:t>YOUR</a:t>
            </a:r>
            <a:r>
              <a:rPr spc="-35" dirty="0"/>
              <a:t> </a:t>
            </a:r>
            <a:r>
              <a:rPr spc="-20" dirty="0"/>
              <a:t>salary,</a:t>
            </a:r>
            <a:r>
              <a:rPr spc="-35" dirty="0"/>
              <a:t> </a:t>
            </a:r>
            <a:r>
              <a:rPr dirty="0"/>
              <a:t>then</a:t>
            </a:r>
            <a:r>
              <a:rPr spc="-30" dirty="0"/>
              <a:t> </a:t>
            </a:r>
            <a:r>
              <a:rPr dirty="0"/>
              <a:t>check</a:t>
            </a:r>
            <a:r>
              <a:rPr spc="-35" dirty="0"/>
              <a:t> </a:t>
            </a:r>
            <a:r>
              <a:rPr spc="-10" dirty="0"/>
              <a:t>YOUR</a:t>
            </a:r>
            <a:r>
              <a:rPr spc="-35" dirty="0"/>
              <a:t> </a:t>
            </a:r>
            <a:r>
              <a:rPr spc="-10" dirty="0"/>
              <a:t>previous</a:t>
            </a:r>
            <a:r>
              <a:rPr spc="-30" dirty="0"/>
              <a:t> </a:t>
            </a:r>
            <a:r>
              <a:rPr dirty="0"/>
              <a:t>filings</a:t>
            </a:r>
            <a:r>
              <a:rPr spc="-35" dirty="0"/>
              <a:t> </a:t>
            </a:r>
            <a:r>
              <a:rPr dirty="0"/>
              <a:t>—</a:t>
            </a:r>
            <a:r>
              <a:rPr spc="-30" dirty="0"/>
              <a:t> </a:t>
            </a:r>
            <a:r>
              <a:rPr spc="-20" dirty="0"/>
              <a:t>different</a:t>
            </a:r>
            <a:r>
              <a:rPr spc="-35" dirty="0"/>
              <a:t> </a:t>
            </a:r>
            <a:r>
              <a:rPr spc="-10" dirty="0"/>
              <a:t>numbers</a:t>
            </a:r>
            <a:r>
              <a:rPr spc="-3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each</a:t>
            </a:r>
            <a:r>
              <a:rPr spc="-35" dirty="0"/>
              <a:t> </a:t>
            </a:r>
            <a:r>
              <a:rPr spc="-30" dirty="0"/>
              <a:t>taxpayer. </a:t>
            </a:r>
            <a:r>
              <a:rPr spc="-10" dirty="0"/>
              <a:t>Every</a:t>
            </a:r>
            <a:r>
              <a:rPr spc="-35" dirty="0"/>
              <a:t> </a:t>
            </a:r>
            <a:r>
              <a:rPr dirty="0"/>
              <a:t>row</a:t>
            </a:r>
            <a:r>
              <a:rPr spc="-35" dirty="0"/>
              <a:t> </a:t>
            </a:r>
            <a:r>
              <a:rPr dirty="0"/>
              <a:t>gets</a:t>
            </a:r>
            <a:r>
              <a:rPr spc="-30" dirty="0"/>
              <a:t> </a:t>
            </a:r>
            <a:r>
              <a:rPr dirty="0"/>
              <a:t>its</a:t>
            </a:r>
            <a:r>
              <a:rPr spc="-35" dirty="0"/>
              <a:t> </a:t>
            </a:r>
            <a:r>
              <a:rPr spc="-25" dirty="0"/>
              <a:t>own </a:t>
            </a:r>
            <a:r>
              <a:rPr spc="-10" dirty="0"/>
              <a:t>comparison.</a:t>
            </a:r>
            <a:r>
              <a:rPr spc="-20" dirty="0"/>
              <a:t> </a:t>
            </a:r>
            <a:r>
              <a:rPr dirty="0"/>
              <a:t>That's</a:t>
            </a:r>
            <a:r>
              <a:rPr spc="-20" dirty="0"/>
              <a:t> </a:t>
            </a:r>
            <a:r>
              <a:rPr spc="-10" dirty="0"/>
              <a:t>exactly</a:t>
            </a:r>
            <a:r>
              <a:rPr spc="-15" dirty="0"/>
              <a:t> </a:t>
            </a:r>
            <a:r>
              <a:rPr dirty="0"/>
              <a:t>a</a:t>
            </a:r>
            <a:r>
              <a:rPr spc="-20" dirty="0"/>
              <a:t> CORRELATED </a:t>
            </a:r>
            <a:r>
              <a:rPr spc="-10" dirty="0"/>
              <a:t>SUBQUERY.</a:t>
            </a:r>
          </a:p>
          <a:p>
            <a:pPr marL="14604" marR="5080">
              <a:lnSpc>
                <a:spcPct val="120100"/>
              </a:lnSpc>
              <a:spcBef>
                <a:spcPts val="570"/>
              </a:spcBef>
            </a:pPr>
            <a:r>
              <a:rPr dirty="0"/>
              <a:t>Or</a:t>
            </a:r>
            <a:r>
              <a:rPr spc="-35" dirty="0"/>
              <a:t> </a:t>
            </a:r>
            <a:r>
              <a:rPr dirty="0"/>
              <a:t>imagine</a:t>
            </a:r>
            <a:r>
              <a:rPr spc="-3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20" dirty="0"/>
              <a:t>multi-</a:t>
            </a:r>
            <a:r>
              <a:rPr dirty="0"/>
              <a:t>step</a:t>
            </a:r>
            <a:r>
              <a:rPr spc="-30" dirty="0"/>
              <a:t> </a:t>
            </a:r>
            <a:r>
              <a:rPr dirty="0"/>
              <a:t>report</a:t>
            </a:r>
            <a:r>
              <a:rPr spc="-35" dirty="0"/>
              <a:t> </a:t>
            </a:r>
            <a:r>
              <a:rPr dirty="0"/>
              <a:t>—</a:t>
            </a:r>
            <a:r>
              <a:rPr spc="-35" dirty="0"/>
              <a:t> </a:t>
            </a:r>
            <a:r>
              <a:rPr spc="-10" dirty="0"/>
              <a:t>'first</a:t>
            </a:r>
            <a:r>
              <a:rPr spc="-30" dirty="0"/>
              <a:t> </a:t>
            </a:r>
            <a:r>
              <a:rPr spc="-10" dirty="0"/>
              <a:t>compute</a:t>
            </a:r>
            <a:r>
              <a:rPr spc="-35" dirty="0"/>
              <a:t> </a:t>
            </a:r>
            <a:r>
              <a:rPr spc="-10" dirty="0"/>
              <a:t>monthly</a:t>
            </a:r>
            <a:r>
              <a:rPr spc="-35" dirty="0"/>
              <a:t> </a:t>
            </a:r>
            <a:r>
              <a:rPr spc="-10" dirty="0"/>
              <a:t>revenue,</a:t>
            </a:r>
            <a:r>
              <a:rPr spc="-30" dirty="0"/>
              <a:t> </a:t>
            </a:r>
            <a:r>
              <a:rPr dirty="0"/>
              <a:t>then</a:t>
            </a:r>
            <a:r>
              <a:rPr spc="-35" dirty="0"/>
              <a:t> </a:t>
            </a:r>
            <a:r>
              <a:rPr dirty="0"/>
              <a:t>rank</a:t>
            </a:r>
            <a:r>
              <a:rPr spc="-35" dirty="0"/>
              <a:t> </a:t>
            </a:r>
            <a:r>
              <a:rPr spc="-10" dirty="0"/>
              <a:t>stores</a:t>
            </a:r>
            <a:r>
              <a:rPr spc="-30" dirty="0"/>
              <a:t> </a:t>
            </a:r>
            <a:r>
              <a:rPr dirty="0"/>
              <a:t>within</a:t>
            </a:r>
            <a:r>
              <a:rPr spc="-35" dirty="0"/>
              <a:t> </a:t>
            </a:r>
            <a:r>
              <a:rPr dirty="0"/>
              <a:t>each</a:t>
            </a:r>
            <a:r>
              <a:rPr spc="-35" dirty="0"/>
              <a:t> </a:t>
            </a:r>
            <a:r>
              <a:rPr spc="-10" dirty="0"/>
              <a:t>region,</a:t>
            </a:r>
            <a:r>
              <a:rPr spc="-30" dirty="0"/>
              <a:t> </a:t>
            </a:r>
            <a:r>
              <a:rPr dirty="0"/>
              <a:t>then</a:t>
            </a:r>
            <a:r>
              <a:rPr spc="-35" dirty="0"/>
              <a:t> </a:t>
            </a:r>
            <a:r>
              <a:rPr spc="-10" dirty="0"/>
              <a:t>keep</a:t>
            </a:r>
            <a:r>
              <a:rPr spc="-35" dirty="0"/>
              <a:t> </a:t>
            </a:r>
            <a:r>
              <a:rPr spc="-20" dirty="0"/>
              <a:t>only </a:t>
            </a:r>
            <a:r>
              <a:rPr dirty="0"/>
              <a:t>top</a:t>
            </a:r>
            <a:r>
              <a:rPr spc="-35" dirty="0"/>
              <a:t> </a:t>
            </a:r>
            <a:r>
              <a:rPr dirty="0"/>
              <a:t>3,</a:t>
            </a:r>
            <a:r>
              <a:rPr spc="-30" dirty="0"/>
              <a:t> </a:t>
            </a:r>
            <a:r>
              <a:rPr dirty="0"/>
              <a:t>then</a:t>
            </a:r>
            <a:r>
              <a:rPr spc="-35" dirty="0"/>
              <a:t> </a:t>
            </a:r>
            <a:r>
              <a:rPr dirty="0"/>
              <a:t>add</a:t>
            </a:r>
            <a:r>
              <a:rPr spc="-30" dirty="0"/>
              <a:t> </a:t>
            </a:r>
            <a:r>
              <a:rPr dirty="0"/>
              <a:t>region</a:t>
            </a:r>
            <a:r>
              <a:rPr spc="-35" dirty="0"/>
              <a:t> </a:t>
            </a:r>
            <a:r>
              <a:rPr spc="-10" dirty="0"/>
              <a:t>totals.'</a:t>
            </a:r>
            <a:r>
              <a:rPr spc="-30" dirty="0"/>
              <a:t> </a:t>
            </a:r>
            <a:r>
              <a:rPr dirty="0"/>
              <a:t>Four</a:t>
            </a:r>
            <a:r>
              <a:rPr spc="-35" dirty="0"/>
              <a:t> </a:t>
            </a:r>
            <a:r>
              <a:rPr spc="-10" dirty="0"/>
              <a:t>logical</a:t>
            </a:r>
            <a:r>
              <a:rPr spc="-30" dirty="0"/>
              <a:t> </a:t>
            </a:r>
            <a:r>
              <a:rPr spc="-10" dirty="0"/>
              <a:t>steps.</a:t>
            </a:r>
            <a:r>
              <a:rPr spc="-35" dirty="0"/>
              <a:t> </a:t>
            </a:r>
            <a:r>
              <a:rPr spc="-20" dirty="0"/>
              <a:t>Trying</a:t>
            </a:r>
            <a:r>
              <a:rPr spc="-3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nest</a:t>
            </a:r>
            <a:r>
              <a:rPr spc="-30" dirty="0"/>
              <a:t> </a:t>
            </a:r>
            <a:r>
              <a:rPr dirty="0"/>
              <a:t>them</a:t>
            </a:r>
            <a:r>
              <a:rPr spc="-35" dirty="0"/>
              <a:t> </a:t>
            </a:r>
            <a:r>
              <a:rPr dirty="0"/>
              <a:t>all</a:t>
            </a:r>
            <a:r>
              <a:rPr spc="-3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one</a:t>
            </a:r>
            <a:r>
              <a:rPr spc="-30" dirty="0"/>
              <a:t> </a:t>
            </a:r>
            <a:r>
              <a:rPr dirty="0"/>
              <a:t>query</a:t>
            </a:r>
            <a:r>
              <a:rPr spc="-35" dirty="0"/>
              <a:t> </a:t>
            </a:r>
            <a:r>
              <a:rPr spc="-10" dirty="0"/>
              <a:t>becomes</a:t>
            </a:r>
            <a:r>
              <a:rPr spc="-30" dirty="0"/>
              <a:t> </a:t>
            </a:r>
            <a:r>
              <a:rPr spc="-10" dirty="0"/>
              <a:t>unreadable.</a:t>
            </a:r>
            <a:r>
              <a:rPr spc="-30" dirty="0"/>
              <a:t> </a:t>
            </a:r>
            <a:r>
              <a:rPr dirty="0"/>
              <a:t>CTEs</a:t>
            </a:r>
            <a:r>
              <a:rPr spc="-35" dirty="0"/>
              <a:t> </a:t>
            </a:r>
            <a:r>
              <a:rPr dirty="0"/>
              <a:t>let</a:t>
            </a:r>
            <a:r>
              <a:rPr spc="-30" dirty="0"/>
              <a:t> </a:t>
            </a:r>
            <a:r>
              <a:rPr spc="-25" dirty="0"/>
              <a:t>you </a:t>
            </a:r>
            <a:r>
              <a:rPr dirty="0"/>
              <a:t>write</a:t>
            </a:r>
            <a:r>
              <a:rPr spc="-40" dirty="0"/>
              <a:t> </a:t>
            </a:r>
            <a:r>
              <a:rPr dirty="0"/>
              <a:t>them</a:t>
            </a:r>
            <a:r>
              <a:rPr spc="-40" dirty="0"/>
              <a:t> </a:t>
            </a:r>
            <a:r>
              <a:rPr dirty="0"/>
              <a:t>as</a:t>
            </a:r>
            <a:r>
              <a:rPr spc="-35" dirty="0"/>
              <a:t> </a:t>
            </a:r>
            <a:r>
              <a:rPr dirty="0"/>
              <a:t>named</a:t>
            </a:r>
            <a:r>
              <a:rPr spc="-40" dirty="0"/>
              <a:t> </a:t>
            </a:r>
            <a:r>
              <a:rPr spc="-10" dirty="0"/>
              <a:t>steps</a:t>
            </a:r>
            <a:r>
              <a:rPr spc="-40" dirty="0"/>
              <a:t> </a:t>
            </a:r>
            <a:r>
              <a:rPr dirty="0"/>
              <a:t>that</a:t>
            </a:r>
            <a:r>
              <a:rPr spc="-35" dirty="0"/>
              <a:t> </a:t>
            </a:r>
            <a:r>
              <a:rPr dirty="0"/>
              <a:t>read</a:t>
            </a:r>
            <a:r>
              <a:rPr spc="-40" dirty="0"/>
              <a:t> </a:t>
            </a:r>
            <a:r>
              <a:rPr spc="-20" dirty="0"/>
              <a:t>top-to-</a:t>
            </a:r>
            <a:r>
              <a:rPr spc="-10" dirty="0"/>
              <a:t>bottom</a:t>
            </a:r>
            <a:r>
              <a:rPr spc="-35" dirty="0"/>
              <a:t> </a:t>
            </a:r>
            <a:r>
              <a:rPr dirty="0"/>
              <a:t>like</a:t>
            </a:r>
            <a:r>
              <a:rPr spc="-4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spc="-10" dirty="0"/>
              <a:t>recipe.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4D33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05179" y="345505"/>
            <a:ext cx="4235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REVEAL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25514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From</a:t>
            </a:r>
            <a:r>
              <a:rPr sz="2000" spc="-4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Story</a:t>
            </a:r>
            <a:r>
              <a:rPr sz="2000" spc="-4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to</a:t>
            </a:r>
            <a:r>
              <a:rPr sz="2000" spc="-4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SQL!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4662170" cy="1215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Per-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benchmark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→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correlated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(inner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outer.column)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'Does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least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match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exist?'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→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(stops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first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match)</a:t>
            </a:r>
            <a:endParaRPr sz="1300" dirty="0">
              <a:latin typeface="Calibri"/>
              <a:cs typeface="Calibri"/>
            </a:endParaRPr>
          </a:p>
          <a:p>
            <a:pPr marL="12700" marR="342265">
              <a:lnSpc>
                <a:spcPct val="120100"/>
              </a:lnSpc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'Find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matches'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→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(NULL-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safe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anti-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join)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Multi-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step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logic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→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cte_name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(...)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chains</a:t>
            </a:r>
            <a:endParaRPr sz="13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Hierarchies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/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trees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→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RECURSIVE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(anchor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+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recursive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case)</a:t>
            </a:r>
            <a:endParaRPr sz="1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156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35417" y="345505"/>
            <a:ext cx="3638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STORY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34048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The</a:t>
            </a:r>
            <a:r>
              <a:rPr sz="20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Personalized</a:t>
            </a:r>
            <a:r>
              <a:rPr sz="2000" spc="-2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Average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987030" cy="739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Yesterday's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scalar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compared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everyone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COMPANY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average.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Today's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question: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'Find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employees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above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THEIR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OWN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DEPARTMENT'S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average.'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average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DIFFERENT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employee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depends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their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department.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inner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references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row.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That's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CORRELATED.</a:t>
            </a:r>
            <a:endParaRPr sz="1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6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6454" y="345505"/>
            <a:ext cx="6419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DEFINITION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27565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Correlated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 Subquery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890509" cy="152590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Technical:</a:t>
            </a:r>
            <a:endParaRPr sz="1300" dirty="0">
              <a:latin typeface="Calibri"/>
              <a:cs typeface="Calibri"/>
            </a:endParaRPr>
          </a:p>
          <a:p>
            <a:pPr marL="12700" marR="29845">
              <a:lnSpc>
                <a:spcPct val="120100"/>
              </a:lnSpc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correlated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references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columns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query.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runs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ONCE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(logically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modern optimizers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often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rewrite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this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JOINs).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inner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clause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outer-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filter.</a:t>
            </a:r>
            <a:endParaRPr sz="13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Layman's:</a:t>
            </a:r>
            <a:endParaRPr sz="1300" dirty="0">
              <a:latin typeface="Calibri"/>
              <a:cs typeface="Calibri"/>
            </a:endParaRPr>
          </a:p>
          <a:p>
            <a:pPr marL="12700" marR="5080">
              <a:lnSpc>
                <a:spcPct val="120100"/>
              </a:lnSpc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Correlated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=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'for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row,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ask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CUSTOM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question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about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it.'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gets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own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dynamic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comparison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instead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single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global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benchmark.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Powerful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expensive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runs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times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principle.</a:t>
            </a:r>
            <a:endParaRPr sz="1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66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SYNTAX:</a:t>
            </a:r>
            <a:r>
              <a:rPr spc="-50" dirty="0"/>
              <a:t> </a:t>
            </a:r>
            <a:r>
              <a:rPr spc="-10" dirty="0"/>
              <a:t>Correlated</a:t>
            </a:r>
            <a:r>
              <a:rPr spc="-45" dirty="0"/>
              <a:t> </a:t>
            </a:r>
            <a:r>
              <a:rPr spc="-10" dirty="0"/>
              <a:t>Subqueries</a:t>
            </a:r>
          </a:p>
        </p:txBody>
      </p:sp>
      <p:sp>
        <p:nvSpPr>
          <p:cNvPr id="5" name="object 5"/>
          <p:cNvSpPr/>
          <p:nvPr/>
        </p:nvSpPr>
        <p:spPr>
          <a:xfrm>
            <a:off x="273964" y="685446"/>
            <a:ext cx="8595360" cy="4114800"/>
          </a:xfrm>
          <a:custGeom>
            <a:avLst/>
            <a:gdLst/>
            <a:ahLst/>
            <a:cxnLst/>
            <a:rect l="l" t="t" r="r" b="b"/>
            <a:pathLst>
              <a:path w="8595360" h="4114800">
                <a:moveTo>
                  <a:pt x="8594991" y="0"/>
                </a:moveTo>
                <a:lnTo>
                  <a:pt x="0" y="0"/>
                </a:lnTo>
                <a:lnTo>
                  <a:pt x="0" y="4114431"/>
                </a:lnTo>
                <a:lnTo>
                  <a:pt x="4297680" y="4114431"/>
                </a:lnTo>
                <a:lnTo>
                  <a:pt x="8594991" y="4114431"/>
                </a:lnTo>
                <a:lnTo>
                  <a:pt x="8594991" y="0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1256" y="717592"/>
            <a:ext cx="3759200" cy="335661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Correlated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subquery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in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WHERE</a:t>
            </a:r>
            <a:endParaRPr sz="1000" dirty="0">
              <a:latin typeface="Courier New"/>
              <a:cs typeface="Courier New"/>
            </a:endParaRPr>
          </a:p>
          <a:p>
            <a:pPr marL="12700" marR="690245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e.first_name,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e.salary,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e.dept_id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stores.employees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e</a:t>
            </a:r>
            <a:endParaRPr sz="1000" dirty="0">
              <a:latin typeface="Courier New"/>
              <a:cs typeface="Courier New"/>
            </a:endParaRPr>
          </a:p>
          <a:p>
            <a:pPr marL="164465" marR="2214245" indent="-152400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e.salary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&gt;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AVG(salary)</a:t>
            </a:r>
            <a:endParaRPr sz="1000" dirty="0">
              <a:latin typeface="Courier New"/>
              <a:cs typeface="Courier New"/>
            </a:endParaRPr>
          </a:p>
          <a:p>
            <a:pPr marL="164465" marR="1071245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stores.employees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inner_e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inner_e.dept_id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e.dept_id</a:t>
            </a:r>
            <a:endParaRPr sz="1000" dirty="0">
              <a:latin typeface="Courier New"/>
              <a:cs typeface="Courier New"/>
            </a:endParaRPr>
          </a:p>
          <a:p>
            <a:pPr marL="316865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↑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references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OUTER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table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'e'</a:t>
            </a: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);</a:t>
            </a:r>
            <a:endParaRPr sz="1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000" dirty="0">
              <a:latin typeface="Courier New"/>
              <a:cs typeface="Courier New"/>
            </a:endParaRPr>
          </a:p>
          <a:p>
            <a:pPr marL="12700" marR="1299845">
              <a:lnSpc>
                <a:spcPct val="114999"/>
              </a:lnSpc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Correlated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subquery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in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SELECT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c.first_name,</a:t>
            </a:r>
            <a:endParaRPr sz="1000" dirty="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(SELECT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COUNT(*)</a:t>
            </a:r>
            <a:endParaRPr sz="1000" dirty="0">
              <a:latin typeface="Courier New"/>
              <a:cs typeface="Courier New"/>
            </a:endParaRPr>
          </a:p>
          <a:p>
            <a:pPr marL="240665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sales.orders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o</a:t>
            </a:r>
            <a:endParaRPr sz="1000" dirty="0">
              <a:latin typeface="Courier New"/>
              <a:cs typeface="Courier New"/>
            </a:endParaRPr>
          </a:p>
          <a:p>
            <a:pPr marL="316865" marR="1071245" indent="-76835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o.cust_id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c.customer_id)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order_count</a:t>
            </a: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6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customers.customers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c;</a:t>
            </a:r>
            <a:endParaRPr sz="1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The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inner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WHERE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referencing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outer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=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key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signal</a:t>
            </a:r>
            <a:endParaRPr sz="1000" dirty="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66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Step-</a:t>
            </a:r>
            <a:r>
              <a:rPr spc="-30" dirty="0"/>
              <a:t>by-</a:t>
            </a:r>
            <a:r>
              <a:rPr dirty="0"/>
              <a:t>Step:</a:t>
            </a:r>
            <a:r>
              <a:rPr spc="-20" dirty="0"/>
              <a:t> </a:t>
            </a:r>
            <a:r>
              <a:rPr spc="-10" dirty="0"/>
              <a:t>Correlated</a:t>
            </a:r>
            <a:r>
              <a:rPr spc="-20" dirty="0"/>
              <a:t> </a:t>
            </a:r>
            <a:r>
              <a:rPr spc="-10" dirty="0"/>
              <a:t>Execution</a:t>
            </a:r>
          </a:p>
        </p:txBody>
      </p:sp>
      <p:sp>
        <p:nvSpPr>
          <p:cNvPr id="5" name="object 5"/>
          <p:cNvSpPr/>
          <p:nvPr/>
        </p:nvSpPr>
        <p:spPr>
          <a:xfrm>
            <a:off x="273964" y="685446"/>
            <a:ext cx="8595360" cy="4114800"/>
          </a:xfrm>
          <a:custGeom>
            <a:avLst/>
            <a:gdLst/>
            <a:ahLst/>
            <a:cxnLst/>
            <a:rect l="l" t="t" r="r" b="b"/>
            <a:pathLst>
              <a:path w="8595360" h="4114800">
                <a:moveTo>
                  <a:pt x="8594991" y="0"/>
                </a:moveTo>
                <a:lnTo>
                  <a:pt x="0" y="0"/>
                </a:lnTo>
                <a:lnTo>
                  <a:pt x="0" y="4114431"/>
                </a:lnTo>
                <a:lnTo>
                  <a:pt x="4297680" y="4114431"/>
                </a:lnTo>
                <a:lnTo>
                  <a:pt x="8594991" y="4114431"/>
                </a:lnTo>
                <a:lnTo>
                  <a:pt x="8594991" y="0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1256" y="717592"/>
            <a:ext cx="3454400" cy="230505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Outer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query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iterates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over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employees: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Row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1: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Priya,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dept_id=10,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salary=70000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  <a:tabLst>
                <a:tab pos="393065" algn="l"/>
              </a:tabLst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	Inner</a:t>
            </a:r>
            <a:r>
              <a:rPr sz="1000" spc="-4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runs:</a:t>
            </a:r>
            <a:r>
              <a:rPr sz="1000" spc="-3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AVG(salary)</a:t>
            </a:r>
            <a:r>
              <a:rPr sz="1000" spc="-3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WHERE</a:t>
            </a:r>
            <a:r>
              <a:rPr sz="1000" spc="-3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dept_id=10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  <a:tabLst>
                <a:tab pos="393065" algn="l"/>
              </a:tabLst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	→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65000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→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Priya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included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(70k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&gt;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65k)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Row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2: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Rahul,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dept_id=10,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salary=60000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  <a:tabLst>
                <a:tab pos="393065" algn="l"/>
              </a:tabLst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	Inner</a:t>
            </a:r>
            <a:r>
              <a:rPr sz="1000" spc="-4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runs:</a:t>
            </a:r>
            <a:r>
              <a:rPr sz="1000" spc="-3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AVG(salary)</a:t>
            </a:r>
            <a:r>
              <a:rPr sz="1000" spc="-3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WHERE</a:t>
            </a:r>
            <a:r>
              <a:rPr sz="1000" spc="-3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dept_id=10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  <a:tabLst>
                <a:tab pos="393065" algn="l"/>
              </a:tabLst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	→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65000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→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Rahul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excluded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(60k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&lt;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65k)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Row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3: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Amit,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dept_id=20,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salary=80000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393065" algn="l"/>
              </a:tabLst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	Inner</a:t>
            </a:r>
            <a:r>
              <a:rPr sz="1000" spc="-4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runs:</a:t>
            </a:r>
            <a:r>
              <a:rPr sz="1000" spc="-3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AVG(salary)</a:t>
            </a:r>
            <a:r>
              <a:rPr sz="1000" spc="-3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WHERE</a:t>
            </a:r>
            <a:r>
              <a:rPr sz="1000" spc="-3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dept_id=20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  <a:tabLst>
                <a:tab pos="393065" algn="l"/>
              </a:tabLst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	→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75000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→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Amit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included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Inner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runs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per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outer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row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(logically)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Modern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PostgreSQL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often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rewrites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as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JOIN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4C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Easy:</a:t>
            </a:r>
            <a:r>
              <a:rPr sz="1800" spc="-7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Employees</a:t>
            </a:r>
            <a:r>
              <a:rPr sz="1800" spc="-7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Above</a:t>
            </a:r>
            <a:r>
              <a:rPr sz="1800" spc="-7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Their</a:t>
            </a:r>
            <a:r>
              <a:rPr sz="1800" spc="-6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Department's</a:t>
            </a:r>
            <a:r>
              <a:rPr sz="1800" spc="-7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Georgia"/>
                <a:cs typeface="Georgia"/>
              </a:rPr>
              <a:t>Average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87576" y="269178"/>
            <a:ext cx="3917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EASY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696" y="717668"/>
            <a:ext cx="7865109" cy="2074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1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SCENARIO: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CHRO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wants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high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performers: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employees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earning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above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THEIR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OWN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DEPARTMENT'S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average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(not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the company-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wide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average).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employee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compared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DIFFERENT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benchmark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classic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correlated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use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case.</a:t>
            </a:r>
            <a:endParaRPr sz="1300">
              <a:latin typeface="Calibri"/>
              <a:cs typeface="Calibri"/>
            </a:endParaRPr>
          </a:p>
          <a:p>
            <a:pPr marL="12700" marR="157480">
              <a:lnSpc>
                <a:spcPct val="120100"/>
              </a:lnSpc>
              <a:spcBef>
                <a:spcPts val="57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YOUR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1D3A5E"/>
                </a:solidFill>
                <a:latin typeface="Calibri"/>
                <a:cs typeface="Calibri"/>
              </a:rPr>
              <a:t>TASK: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selects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employees.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Inner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correlated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subquery: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AVG(salary)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dept_id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matches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outer employee's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dept_id.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salary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&gt;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dynamic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average.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Show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name,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role,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dept_id,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salary,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dept_avg.</a:t>
            </a:r>
            <a:endParaRPr sz="1300">
              <a:latin typeface="Calibri"/>
              <a:cs typeface="Calibri"/>
            </a:endParaRPr>
          </a:p>
          <a:p>
            <a:pPr marL="12700" marR="178435">
              <a:lnSpc>
                <a:spcPct val="116700"/>
              </a:lnSpc>
              <a:spcBef>
                <a:spcPts val="265"/>
              </a:spcBef>
            </a:pPr>
            <a:r>
              <a:rPr sz="1600" spc="-185" dirty="0">
                <a:solidFill>
                  <a:srgbClr val="1D3A5E"/>
                </a:solidFill>
                <a:latin typeface="Segoe UI Symbol"/>
                <a:cs typeface="Segoe UI Symbol"/>
              </a:rPr>
              <a:t>🤔</a:t>
            </a:r>
            <a:r>
              <a:rPr sz="1600" spc="-285" dirty="0">
                <a:solidFill>
                  <a:srgbClr val="1D3A5E"/>
                </a:solidFill>
                <a:latin typeface="Segoe UI Symbol"/>
                <a:cs typeface="Segoe UI Symbol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Hint:</a:t>
            </a:r>
            <a:r>
              <a:rPr sz="1300" b="1" spc="-5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employee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gets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DIFFERENT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benchmark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(their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own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department's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average)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that's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signature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a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correlated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subquery.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Trap: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if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inner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doesn't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reference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row's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dept_id,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you'll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compute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same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company-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wide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average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everyone,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defeating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whole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purpose.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4C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Georgia"/>
                <a:cs typeface="Georgia"/>
              </a:rPr>
              <a:t>Answer</a:t>
            </a:r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4C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3956" y="626165"/>
            <a:ext cx="2820035" cy="287782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endParaRPr sz="1000">
              <a:latin typeface="Courier New"/>
              <a:cs typeface="Courier New"/>
            </a:endParaRPr>
          </a:p>
          <a:p>
            <a:pPr marL="304165" marR="68580" indent="-15240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e.first_name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||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||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e.last_name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employee,</a:t>
            </a:r>
            <a:endParaRPr sz="1000">
              <a:latin typeface="Courier New"/>
              <a:cs typeface="Courier New"/>
            </a:endParaRPr>
          </a:p>
          <a:p>
            <a:pPr marL="151765" marR="1897380">
              <a:lnSpc>
                <a:spcPct val="110100"/>
              </a:lnSpc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e.role, e.dept_id, e.salary,</a:t>
            </a:r>
            <a:endParaRPr sz="1000">
              <a:latin typeface="Courier New"/>
              <a:cs typeface="Courier New"/>
            </a:endParaRPr>
          </a:p>
          <a:p>
            <a:pPr marL="1517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(SELECT</a:t>
            </a:r>
            <a:r>
              <a:rPr sz="1000" spc="-6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ROUND(AVG(salary),</a:t>
            </a:r>
            <a:r>
              <a:rPr sz="1000" spc="-6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0)</a:t>
            </a:r>
            <a:endParaRPr sz="1000">
              <a:latin typeface="Courier New"/>
              <a:cs typeface="Courier New"/>
            </a:endParaRPr>
          </a:p>
          <a:p>
            <a:pPr marL="2279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stores.employees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inner_e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inner_e.dept_id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e.dept_id)</a:t>
            </a:r>
            <a:endParaRPr sz="1000">
              <a:latin typeface="Courier New"/>
              <a:cs typeface="Courier New"/>
            </a:endParaRPr>
          </a:p>
          <a:p>
            <a:pPr marL="3041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dept_avg</a:t>
            </a:r>
            <a:endParaRPr sz="1000">
              <a:latin typeface="Courier New"/>
              <a:cs typeface="Courier New"/>
            </a:endParaRPr>
          </a:p>
          <a:p>
            <a:pPr marR="10591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stores.employees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e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e.salary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&gt;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1517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AVG(salary)</a:t>
            </a:r>
            <a:endParaRPr sz="1000">
              <a:latin typeface="Courier New"/>
              <a:cs typeface="Courier New"/>
            </a:endParaRPr>
          </a:p>
          <a:p>
            <a:pPr marL="151765" marR="14414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stores.employees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inner_e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inner_e.dept_id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e.dept_id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e.salary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DESC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LIMIT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20;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1A5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77303" y="345505"/>
            <a:ext cx="880744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30" dirty="0">
                <a:solidFill>
                  <a:srgbClr val="FFFFFF"/>
                </a:solidFill>
                <a:latin typeface="Calibri"/>
                <a:cs typeface="Calibri"/>
              </a:rPr>
              <a:t>TAKEAWAYS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29787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Correlated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 Subqueries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616825" cy="739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Correlated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references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query.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Runs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once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(logically).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per-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dynamic comparisons.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Inner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referencing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key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signal.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Can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slow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large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modern optimizers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often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rewrite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JOINs.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are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readable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alternative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same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correlated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logic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reused.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BE36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7653" y="345505"/>
            <a:ext cx="10598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COMMON</a:t>
            </a:r>
            <a:r>
              <a:rPr sz="10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MISTAKE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59486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Correlated</a:t>
            </a:r>
            <a:r>
              <a:rPr sz="2000" spc="-1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vs</a:t>
            </a:r>
            <a:r>
              <a:rPr sz="2000" spc="-1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Independent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—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Easy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to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Confuse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409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Mistake:</a:t>
            </a:r>
          </a:p>
          <a:p>
            <a:pPr marL="14604" marR="5080">
              <a:lnSpc>
                <a:spcPct val="120100"/>
              </a:lnSpc>
            </a:pPr>
            <a:r>
              <a:rPr spc="-10" dirty="0"/>
              <a:t>Writing</a:t>
            </a:r>
            <a:r>
              <a:rPr spc="-40" dirty="0"/>
              <a:t> </a:t>
            </a:r>
            <a:r>
              <a:rPr dirty="0"/>
              <a:t>what</a:t>
            </a:r>
            <a:r>
              <a:rPr spc="-35" dirty="0"/>
              <a:t> </a:t>
            </a:r>
            <a:r>
              <a:rPr dirty="0"/>
              <a:t>you</a:t>
            </a:r>
            <a:r>
              <a:rPr spc="-40" dirty="0"/>
              <a:t> </a:t>
            </a:r>
            <a:r>
              <a:rPr dirty="0"/>
              <a:t>think</a:t>
            </a:r>
            <a:r>
              <a:rPr spc="-3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spc="-10" dirty="0"/>
              <a:t>correlated,</a:t>
            </a:r>
            <a:r>
              <a:rPr spc="-40" dirty="0"/>
              <a:t> </a:t>
            </a:r>
            <a:r>
              <a:rPr dirty="0"/>
              <a:t>but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inner</a:t>
            </a:r>
            <a:r>
              <a:rPr spc="-40" dirty="0"/>
              <a:t> </a:t>
            </a:r>
            <a:r>
              <a:rPr dirty="0"/>
              <a:t>query</a:t>
            </a:r>
            <a:r>
              <a:rPr spc="-35" dirty="0"/>
              <a:t> </a:t>
            </a:r>
            <a:r>
              <a:rPr dirty="0"/>
              <a:t>has</a:t>
            </a:r>
            <a:r>
              <a:rPr spc="-40" dirty="0"/>
              <a:t> </a:t>
            </a:r>
            <a:r>
              <a:rPr dirty="0"/>
              <a:t>no</a:t>
            </a:r>
            <a:r>
              <a:rPr spc="-35" dirty="0"/>
              <a:t> </a:t>
            </a:r>
            <a:r>
              <a:rPr spc="-10" dirty="0"/>
              <a:t>reference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outer</a:t>
            </a:r>
            <a:r>
              <a:rPr spc="-35" dirty="0"/>
              <a:t> </a:t>
            </a:r>
            <a:r>
              <a:rPr spc="-10" dirty="0"/>
              <a:t>table.</a:t>
            </a:r>
            <a:r>
              <a:rPr spc="-40" dirty="0"/>
              <a:t> </a:t>
            </a:r>
            <a:r>
              <a:rPr spc="-10" dirty="0"/>
              <a:t>Result:</a:t>
            </a:r>
            <a:r>
              <a:rPr spc="-35" dirty="0"/>
              <a:t> </a:t>
            </a:r>
            <a:r>
              <a:rPr dirty="0"/>
              <a:t>same</a:t>
            </a:r>
            <a:r>
              <a:rPr spc="-35" dirty="0"/>
              <a:t> </a:t>
            </a:r>
            <a:r>
              <a:rPr dirty="0"/>
              <a:t>global</a:t>
            </a:r>
            <a:r>
              <a:rPr spc="-40" dirty="0"/>
              <a:t> </a:t>
            </a:r>
            <a:r>
              <a:rPr spc="-10" dirty="0"/>
              <a:t>value substituted</a:t>
            </a:r>
            <a:r>
              <a:rPr spc="-45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dirty="0"/>
              <a:t>every</a:t>
            </a:r>
            <a:r>
              <a:rPr spc="-40" dirty="0"/>
              <a:t> </a:t>
            </a:r>
            <a:r>
              <a:rPr dirty="0"/>
              <a:t>row</a:t>
            </a:r>
            <a:r>
              <a:rPr spc="-40" dirty="0"/>
              <a:t> </a:t>
            </a:r>
            <a:r>
              <a:rPr dirty="0"/>
              <a:t>—</a:t>
            </a:r>
            <a:r>
              <a:rPr spc="-45" dirty="0"/>
              <a:t>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what</a:t>
            </a:r>
            <a:r>
              <a:rPr spc="-40" dirty="0"/>
              <a:t> </a:t>
            </a:r>
            <a:r>
              <a:rPr dirty="0"/>
              <a:t>you</a:t>
            </a:r>
            <a:r>
              <a:rPr spc="-40" dirty="0"/>
              <a:t> </a:t>
            </a:r>
            <a:r>
              <a:rPr spc="-10" dirty="0"/>
              <a:t>intended.</a:t>
            </a:r>
          </a:p>
          <a:p>
            <a:pPr marL="14604">
              <a:lnSpc>
                <a:spcPct val="100000"/>
              </a:lnSpc>
              <a:spcBef>
                <a:spcPts val="890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spc="-20" dirty="0"/>
              <a:t>Fix:</a:t>
            </a:r>
          </a:p>
          <a:p>
            <a:pPr marL="14604" marR="332740">
              <a:lnSpc>
                <a:spcPct val="120100"/>
              </a:lnSpc>
            </a:pPr>
            <a:r>
              <a:rPr spc="-65" dirty="0"/>
              <a:t>To</a:t>
            </a:r>
            <a:r>
              <a:rPr spc="-10" dirty="0"/>
              <a:t> </a:t>
            </a:r>
            <a:r>
              <a:rPr dirty="0"/>
              <a:t>be</a:t>
            </a:r>
            <a:r>
              <a:rPr spc="-60" dirty="0"/>
              <a:t> </a:t>
            </a:r>
            <a:r>
              <a:rPr spc="-10" dirty="0"/>
              <a:t>correlated,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inner</a:t>
            </a:r>
            <a:r>
              <a:rPr spc="-35" dirty="0"/>
              <a:t> </a:t>
            </a:r>
            <a:r>
              <a:rPr dirty="0"/>
              <a:t>query</a:t>
            </a:r>
            <a:r>
              <a:rPr spc="-35" dirty="0"/>
              <a:t> </a:t>
            </a:r>
            <a:r>
              <a:rPr dirty="0"/>
              <a:t>MUST</a:t>
            </a:r>
            <a:r>
              <a:rPr spc="-35" dirty="0"/>
              <a:t> </a:t>
            </a:r>
            <a:r>
              <a:rPr spc="-10" dirty="0"/>
              <a:t>reference</a:t>
            </a:r>
            <a:r>
              <a:rPr spc="-35" dirty="0"/>
              <a:t> </a:t>
            </a:r>
            <a:r>
              <a:rPr dirty="0"/>
              <a:t>an</a:t>
            </a:r>
            <a:r>
              <a:rPr spc="-35" dirty="0"/>
              <a:t> </a:t>
            </a:r>
            <a:r>
              <a:rPr dirty="0"/>
              <a:t>outer</a:t>
            </a:r>
            <a:r>
              <a:rPr spc="-35" dirty="0"/>
              <a:t> </a:t>
            </a:r>
            <a:r>
              <a:rPr dirty="0"/>
              <a:t>column.</a:t>
            </a:r>
            <a:r>
              <a:rPr spc="-35" dirty="0"/>
              <a:t> </a:t>
            </a:r>
            <a:r>
              <a:rPr spc="-10" dirty="0"/>
              <a:t>Example:</a:t>
            </a:r>
            <a:r>
              <a:rPr spc="-35" dirty="0"/>
              <a:t> </a:t>
            </a:r>
            <a:r>
              <a:rPr dirty="0"/>
              <a:t>WHERE</a:t>
            </a:r>
            <a:r>
              <a:rPr spc="-30" dirty="0"/>
              <a:t> </a:t>
            </a:r>
            <a:r>
              <a:rPr spc="-10" dirty="0"/>
              <a:t>inner_e.dept_id</a:t>
            </a:r>
            <a:r>
              <a:rPr spc="-35" dirty="0"/>
              <a:t> </a:t>
            </a:r>
            <a:r>
              <a:rPr dirty="0"/>
              <a:t>=</a:t>
            </a:r>
            <a:r>
              <a:rPr spc="-35" dirty="0"/>
              <a:t> </a:t>
            </a:r>
            <a:r>
              <a:rPr spc="-10" dirty="0"/>
              <a:t>e.dept_id </a:t>
            </a:r>
            <a:r>
              <a:rPr dirty="0"/>
              <a:t>where</a:t>
            </a:r>
            <a:r>
              <a:rPr spc="-35" dirty="0"/>
              <a:t> </a:t>
            </a:r>
            <a:r>
              <a:rPr dirty="0"/>
              <a:t>'e'</a:t>
            </a:r>
            <a:r>
              <a:rPr spc="-3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outer</a:t>
            </a:r>
            <a:r>
              <a:rPr spc="-35" dirty="0"/>
              <a:t> </a:t>
            </a:r>
            <a:r>
              <a:rPr dirty="0"/>
              <a:t>alias.</a:t>
            </a:r>
            <a:r>
              <a:rPr spc="-35" dirty="0"/>
              <a:t> </a:t>
            </a:r>
            <a:r>
              <a:rPr spc="-10" dirty="0"/>
              <a:t>Without</a:t>
            </a:r>
            <a:r>
              <a:rPr spc="-30" dirty="0"/>
              <a:t> </a:t>
            </a:r>
            <a:r>
              <a:rPr dirty="0"/>
              <a:t>this</a:t>
            </a:r>
            <a:r>
              <a:rPr spc="-35" dirty="0"/>
              <a:t> </a:t>
            </a:r>
            <a:r>
              <a:rPr spc="-20" dirty="0"/>
              <a:t>reference,</a:t>
            </a:r>
            <a:r>
              <a:rPr spc="-35" dirty="0"/>
              <a:t> </a:t>
            </a:r>
            <a:r>
              <a:rPr dirty="0"/>
              <a:t>you</a:t>
            </a:r>
            <a:r>
              <a:rPr spc="-30" dirty="0"/>
              <a:t> </a:t>
            </a:r>
            <a:r>
              <a:rPr dirty="0"/>
              <a:t>have</a:t>
            </a:r>
            <a:r>
              <a:rPr spc="-35" dirty="0"/>
              <a:t> </a:t>
            </a:r>
            <a:r>
              <a:rPr dirty="0"/>
              <a:t>an</a:t>
            </a:r>
            <a:r>
              <a:rPr spc="-35" dirty="0"/>
              <a:t> </a:t>
            </a:r>
            <a:r>
              <a:rPr spc="-10" dirty="0"/>
              <a:t>independent</a:t>
            </a:r>
            <a:r>
              <a:rPr spc="-30" dirty="0"/>
              <a:t> </a:t>
            </a:r>
            <a:r>
              <a:rPr spc="-10" dirty="0"/>
              <a:t>(constant)</a:t>
            </a:r>
            <a:r>
              <a:rPr spc="-35" dirty="0"/>
              <a:t> </a:t>
            </a:r>
            <a:r>
              <a:rPr spc="-10" dirty="0"/>
              <a:t>subquery.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156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35417" y="345505"/>
            <a:ext cx="3638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STORY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30708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The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Border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Checkpoint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678420" cy="1288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1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international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border,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officer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doesn't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care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WHAT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documents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have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only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whether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LEAST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valid passport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exists.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That's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checks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matching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row,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stops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first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match.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doesn't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return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values,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just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TRUE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FALSE.</a:t>
            </a:r>
            <a:endParaRPr sz="1300" dirty="0">
              <a:latin typeface="Calibri"/>
              <a:cs typeface="Calibri"/>
            </a:endParaRPr>
          </a:p>
          <a:p>
            <a:pPr marL="12700" marR="193040">
              <a:lnSpc>
                <a:spcPct val="120100"/>
              </a:lnSpc>
              <a:spcBef>
                <a:spcPts val="57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visa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office's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job?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people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DON'T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have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valid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passport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anti-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existence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check. Critically: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handles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NULLs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cleanly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(unlike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which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silently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breaks).</a:t>
            </a:r>
            <a:endParaRPr sz="1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6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6454" y="345505"/>
            <a:ext cx="6419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DEFINITION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2947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EXISTS</a:t>
            </a:r>
            <a:r>
              <a:rPr sz="2000" spc="-1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/</a:t>
            </a:r>
            <a:r>
              <a:rPr sz="2000" spc="-1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NOT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 EXISTS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409"/>
              </a:spcBef>
            </a:pPr>
            <a:r>
              <a:rPr spc="-10" dirty="0"/>
              <a:t>Technical:</a:t>
            </a:r>
          </a:p>
          <a:p>
            <a:pPr marL="14604" marR="220345">
              <a:lnSpc>
                <a:spcPct val="120100"/>
              </a:lnSpc>
            </a:pPr>
            <a:r>
              <a:rPr dirty="0"/>
              <a:t>EXISTS</a:t>
            </a:r>
            <a:r>
              <a:rPr spc="-45" dirty="0"/>
              <a:t> </a:t>
            </a:r>
            <a:r>
              <a:rPr spc="-10" dirty="0"/>
              <a:t>(subquery)</a:t>
            </a:r>
            <a:r>
              <a:rPr spc="-35" dirty="0"/>
              <a:t> </a:t>
            </a:r>
            <a:r>
              <a:rPr spc="-10" dirty="0"/>
              <a:t>returns</a:t>
            </a:r>
            <a:r>
              <a:rPr spc="-35" dirty="0"/>
              <a:t> </a:t>
            </a:r>
            <a:r>
              <a:rPr dirty="0"/>
              <a:t>TRUE</a:t>
            </a:r>
            <a:r>
              <a:rPr spc="-35" dirty="0"/>
              <a:t> </a:t>
            </a:r>
            <a:r>
              <a:rPr dirty="0"/>
              <a:t>if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inner</a:t>
            </a:r>
            <a:r>
              <a:rPr spc="-35" dirty="0"/>
              <a:t> </a:t>
            </a:r>
            <a:r>
              <a:rPr dirty="0"/>
              <a:t>query</a:t>
            </a:r>
            <a:r>
              <a:rPr spc="-35" dirty="0"/>
              <a:t> </a:t>
            </a:r>
            <a:r>
              <a:rPr spc="-10" dirty="0"/>
              <a:t>returns</a:t>
            </a:r>
            <a:r>
              <a:rPr spc="-35" dirty="0"/>
              <a:t> </a:t>
            </a:r>
            <a:r>
              <a:rPr spc="-50" dirty="0"/>
              <a:t>AT</a:t>
            </a:r>
            <a:r>
              <a:rPr spc="-25" dirty="0"/>
              <a:t> </a:t>
            </a:r>
            <a:r>
              <a:rPr dirty="0"/>
              <a:t>LEAST</a:t>
            </a:r>
            <a:r>
              <a:rPr spc="-35" dirty="0"/>
              <a:t> </a:t>
            </a:r>
            <a:r>
              <a:rPr dirty="0"/>
              <a:t>ONE</a:t>
            </a:r>
            <a:r>
              <a:rPr spc="-35" dirty="0"/>
              <a:t> </a:t>
            </a:r>
            <a:r>
              <a:rPr spc="-20" dirty="0"/>
              <a:t>row.</a:t>
            </a:r>
            <a:r>
              <a:rPr spc="-35" dirty="0"/>
              <a:t> </a:t>
            </a:r>
            <a:r>
              <a:rPr dirty="0"/>
              <a:t>Stops</a:t>
            </a:r>
            <a:r>
              <a:rPr spc="-35" dirty="0"/>
              <a:t> </a:t>
            </a:r>
            <a:r>
              <a:rPr dirty="0"/>
              <a:t>at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first</a:t>
            </a:r>
            <a:r>
              <a:rPr spc="-35" dirty="0"/>
              <a:t> </a:t>
            </a:r>
            <a:r>
              <a:rPr dirty="0"/>
              <a:t>match</a:t>
            </a:r>
            <a:r>
              <a:rPr spc="-35" dirty="0"/>
              <a:t> </a:t>
            </a:r>
            <a:r>
              <a:rPr dirty="0"/>
              <a:t>—</a:t>
            </a:r>
            <a:r>
              <a:rPr spc="-35" dirty="0"/>
              <a:t> </a:t>
            </a:r>
            <a:r>
              <a:rPr spc="-10" dirty="0"/>
              <a:t>doesn't process</a:t>
            </a:r>
            <a:r>
              <a:rPr spc="-40" dirty="0"/>
              <a:t> </a:t>
            </a:r>
            <a:r>
              <a:rPr dirty="0"/>
              <a:t>more.</a:t>
            </a:r>
            <a:r>
              <a:rPr spc="-35" dirty="0"/>
              <a:t> </a:t>
            </a:r>
            <a:r>
              <a:rPr dirty="0"/>
              <a:t>NOT</a:t>
            </a:r>
            <a:r>
              <a:rPr spc="-35" dirty="0"/>
              <a:t> </a:t>
            </a:r>
            <a:r>
              <a:rPr dirty="0"/>
              <a:t>EXISTS</a:t>
            </a:r>
            <a:r>
              <a:rPr spc="-40" dirty="0"/>
              <a:t> </a:t>
            </a:r>
            <a:r>
              <a:rPr spc="-10" dirty="0"/>
              <a:t>returns</a:t>
            </a:r>
            <a:r>
              <a:rPr spc="-35" dirty="0"/>
              <a:t> </a:t>
            </a:r>
            <a:r>
              <a:rPr dirty="0"/>
              <a:t>TRUE</a:t>
            </a:r>
            <a:r>
              <a:rPr spc="-35" dirty="0"/>
              <a:t> </a:t>
            </a:r>
            <a:r>
              <a:rPr dirty="0"/>
              <a:t>if</a:t>
            </a:r>
            <a:r>
              <a:rPr spc="-3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inner</a:t>
            </a:r>
            <a:r>
              <a:rPr spc="-35" dirty="0"/>
              <a:t> </a:t>
            </a:r>
            <a:r>
              <a:rPr dirty="0"/>
              <a:t>query</a:t>
            </a:r>
            <a:r>
              <a:rPr spc="-35" dirty="0"/>
              <a:t> </a:t>
            </a:r>
            <a:r>
              <a:rPr spc="-10" dirty="0"/>
              <a:t>returns</a:t>
            </a:r>
            <a:r>
              <a:rPr spc="-35" dirty="0"/>
              <a:t> </a:t>
            </a:r>
            <a:r>
              <a:rPr dirty="0"/>
              <a:t>NO</a:t>
            </a:r>
            <a:r>
              <a:rPr spc="-40" dirty="0"/>
              <a:t> </a:t>
            </a:r>
            <a:r>
              <a:rPr dirty="0"/>
              <a:t>rows.</a:t>
            </a:r>
            <a:r>
              <a:rPr spc="-35" dirty="0"/>
              <a:t> </a:t>
            </a:r>
            <a:r>
              <a:rPr dirty="0"/>
              <a:t>Both</a:t>
            </a:r>
            <a:r>
              <a:rPr spc="-35" dirty="0"/>
              <a:t> </a:t>
            </a:r>
            <a:r>
              <a:rPr dirty="0"/>
              <a:t>are</a:t>
            </a:r>
            <a:r>
              <a:rPr spc="-35" dirty="0"/>
              <a:t> </a:t>
            </a:r>
            <a:r>
              <a:rPr spc="-10" dirty="0"/>
              <a:t>typically</a:t>
            </a:r>
            <a:r>
              <a:rPr spc="-40" dirty="0"/>
              <a:t> </a:t>
            </a:r>
            <a:r>
              <a:rPr dirty="0"/>
              <a:t>used</a:t>
            </a:r>
            <a:r>
              <a:rPr spc="-35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spc="-10" dirty="0"/>
              <a:t>correlated subqueries.</a:t>
            </a:r>
          </a:p>
          <a:p>
            <a:pPr marL="14604">
              <a:lnSpc>
                <a:spcPct val="100000"/>
              </a:lnSpc>
              <a:spcBef>
                <a:spcPts val="890"/>
              </a:spcBef>
            </a:pPr>
            <a:r>
              <a:rPr spc="-10" dirty="0"/>
              <a:t>Layman's:</a:t>
            </a:r>
          </a:p>
          <a:p>
            <a:pPr marL="14604" marR="5080">
              <a:lnSpc>
                <a:spcPct val="120100"/>
              </a:lnSpc>
            </a:pPr>
            <a:r>
              <a:rPr dirty="0"/>
              <a:t>EXISTS</a:t>
            </a:r>
            <a:r>
              <a:rPr spc="-45" dirty="0"/>
              <a:t> </a:t>
            </a:r>
            <a:r>
              <a:rPr dirty="0"/>
              <a:t>=</a:t>
            </a:r>
            <a:r>
              <a:rPr spc="-40" dirty="0"/>
              <a:t> </a:t>
            </a:r>
            <a:r>
              <a:rPr dirty="0"/>
              <a:t>'is</a:t>
            </a:r>
            <a:r>
              <a:rPr spc="-40" dirty="0"/>
              <a:t> </a:t>
            </a:r>
            <a:r>
              <a:rPr dirty="0"/>
              <a:t>there</a:t>
            </a:r>
            <a:r>
              <a:rPr spc="-45" dirty="0"/>
              <a:t> </a:t>
            </a:r>
            <a:r>
              <a:rPr dirty="0"/>
              <a:t>at</a:t>
            </a:r>
            <a:r>
              <a:rPr spc="-40" dirty="0"/>
              <a:t> </a:t>
            </a:r>
            <a:r>
              <a:rPr dirty="0"/>
              <a:t>least</a:t>
            </a:r>
            <a:r>
              <a:rPr spc="-40" dirty="0"/>
              <a:t> </a:t>
            </a:r>
            <a:r>
              <a:rPr dirty="0"/>
              <a:t>one</a:t>
            </a:r>
            <a:r>
              <a:rPr spc="-40" dirty="0"/>
              <a:t> </a:t>
            </a:r>
            <a:r>
              <a:rPr spc="-10" dirty="0"/>
              <a:t>matching</a:t>
            </a:r>
            <a:r>
              <a:rPr spc="-45" dirty="0"/>
              <a:t> </a:t>
            </a:r>
            <a:r>
              <a:rPr dirty="0"/>
              <a:t>row?'</a:t>
            </a:r>
            <a:r>
              <a:rPr spc="-40" dirty="0"/>
              <a:t> </a:t>
            </a:r>
            <a:r>
              <a:rPr spc="-10" dirty="0"/>
              <a:t>(returns</a:t>
            </a:r>
            <a:r>
              <a:rPr spc="-40" dirty="0"/>
              <a:t> </a:t>
            </a:r>
            <a:r>
              <a:rPr spc="-10" dirty="0"/>
              <a:t>TRUE/FALSE,</a:t>
            </a:r>
            <a:r>
              <a:rPr spc="-40" dirty="0"/>
              <a:t> </a:t>
            </a:r>
            <a:r>
              <a:rPr dirty="0"/>
              <a:t>doesn't</a:t>
            </a:r>
            <a:r>
              <a:rPr spc="-45" dirty="0"/>
              <a:t> </a:t>
            </a:r>
            <a:r>
              <a:rPr dirty="0"/>
              <a:t>care</a:t>
            </a:r>
            <a:r>
              <a:rPr spc="-40" dirty="0"/>
              <a:t> </a:t>
            </a:r>
            <a:r>
              <a:rPr dirty="0"/>
              <a:t>about</a:t>
            </a:r>
            <a:r>
              <a:rPr spc="-40" dirty="0"/>
              <a:t> </a:t>
            </a:r>
            <a:r>
              <a:rPr spc="-10" dirty="0"/>
              <a:t>values).</a:t>
            </a:r>
            <a:r>
              <a:rPr spc="-40" dirty="0"/>
              <a:t> </a:t>
            </a:r>
            <a:r>
              <a:rPr dirty="0"/>
              <a:t>NOT</a:t>
            </a:r>
            <a:r>
              <a:rPr spc="-45" dirty="0"/>
              <a:t> </a:t>
            </a:r>
            <a:r>
              <a:rPr dirty="0"/>
              <a:t>EXISTS</a:t>
            </a:r>
            <a:r>
              <a:rPr spc="-40" dirty="0"/>
              <a:t> </a:t>
            </a:r>
            <a:r>
              <a:rPr dirty="0"/>
              <a:t>=</a:t>
            </a:r>
            <a:r>
              <a:rPr spc="-40" dirty="0"/>
              <a:t> </a:t>
            </a:r>
            <a:r>
              <a:rPr spc="-20" dirty="0"/>
              <a:t>anti-</a:t>
            </a:r>
            <a:r>
              <a:rPr spc="-10" dirty="0"/>
              <a:t>join, safer</a:t>
            </a:r>
            <a:r>
              <a:rPr spc="-40" dirty="0"/>
              <a:t> </a:t>
            </a:r>
            <a:r>
              <a:rPr dirty="0"/>
              <a:t>than</a:t>
            </a:r>
            <a:r>
              <a:rPr spc="-40" dirty="0"/>
              <a:t>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IN.</a:t>
            </a:r>
            <a:r>
              <a:rPr spc="-40" dirty="0"/>
              <a:t> </a:t>
            </a:r>
            <a:r>
              <a:rPr dirty="0"/>
              <a:t>SELECT</a:t>
            </a:r>
            <a:r>
              <a:rPr spc="-40" dirty="0"/>
              <a:t> </a:t>
            </a:r>
            <a:r>
              <a:rPr dirty="0"/>
              <a:t>1</a:t>
            </a:r>
            <a:r>
              <a:rPr spc="-40" dirty="0"/>
              <a:t> </a:t>
            </a:r>
            <a:r>
              <a:rPr dirty="0"/>
              <a:t>inside</a:t>
            </a:r>
            <a:r>
              <a:rPr spc="-35" dirty="0"/>
              <a:t> </a:t>
            </a:r>
            <a:r>
              <a:rPr dirty="0"/>
              <a:t>EXISTS</a:t>
            </a:r>
            <a:r>
              <a:rPr spc="-4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spc="-10" dirty="0"/>
              <a:t>convention</a:t>
            </a:r>
            <a:r>
              <a:rPr spc="-40" dirty="0"/>
              <a:t> </a:t>
            </a:r>
            <a:r>
              <a:rPr dirty="0"/>
              <a:t>—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value</a:t>
            </a:r>
            <a:r>
              <a:rPr spc="-40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spc="-10" dirty="0"/>
              <a:t>ignored,</a:t>
            </a:r>
            <a:r>
              <a:rPr spc="-40" dirty="0"/>
              <a:t> </a:t>
            </a:r>
            <a:r>
              <a:rPr dirty="0"/>
              <a:t>only</a:t>
            </a:r>
            <a:r>
              <a:rPr spc="-40" dirty="0"/>
              <a:t> </a:t>
            </a:r>
            <a:r>
              <a:rPr spc="-10" dirty="0"/>
              <a:t>existence</a:t>
            </a:r>
            <a:r>
              <a:rPr spc="-40" dirty="0"/>
              <a:t> </a:t>
            </a:r>
            <a:r>
              <a:rPr spc="-10" dirty="0"/>
              <a:t>matters.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66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SYNTAX:</a:t>
            </a:r>
            <a:r>
              <a:rPr spc="-50" dirty="0"/>
              <a:t> </a:t>
            </a:r>
            <a:r>
              <a:rPr dirty="0"/>
              <a:t>EXISTS</a:t>
            </a:r>
            <a:r>
              <a:rPr spc="-50" dirty="0"/>
              <a:t> </a:t>
            </a:r>
            <a:r>
              <a:rPr dirty="0"/>
              <a:t>/</a:t>
            </a:r>
            <a:r>
              <a:rPr spc="-45" dirty="0"/>
              <a:t> </a:t>
            </a:r>
            <a:r>
              <a:rPr dirty="0"/>
              <a:t>NOT</a:t>
            </a:r>
            <a:r>
              <a:rPr spc="-50" dirty="0"/>
              <a:t> </a:t>
            </a:r>
            <a:r>
              <a:rPr spc="-10" dirty="0"/>
              <a:t>EXISTS</a:t>
            </a:r>
          </a:p>
        </p:txBody>
      </p:sp>
      <p:sp>
        <p:nvSpPr>
          <p:cNvPr id="5" name="object 5"/>
          <p:cNvSpPr/>
          <p:nvPr/>
        </p:nvSpPr>
        <p:spPr>
          <a:xfrm>
            <a:off x="273964" y="746125"/>
            <a:ext cx="8595360" cy="4114800"/>
          </a:xfrm>
          <a:custGeom>
            <a:avLst/>
            <a:gdLst/>
            <a:ahLst/>
            <a:cxnLst/>
            <a:rect l="l" t="t" r="r" b="b"/>
            <a:pathLst>
              <a:path w="8595360" h="4114800">
                <a:moveTo>
                  <a:pt x="8594991" y="0"/>
                </a:moveTo>
                <a:lnTo>
                  <a:pt x="0" y="0"/>
                </a:lnTo>
                <a:lnTo>
                  <a:pt x="0" y="4114431"/>
                </a:lnTo>
                <a:lnTo>
                  <a:pt x="4297680" y="4114431"/>
                </a:lnTo>
                <a:lnTo>
                  <a:pt x="8594991" y="4114431"/>
                </a:lnTo>
                <a:lnTo>
                  <a:pt x="8594991" y="0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1256" y="717592"/>
            <a:ext cx="3606800" cy="3006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37845">
              <a:lnSpc>
                <a:spcPct val="114999"/>
              </a:lnSpc>
              <a:spcBef>
                <a:spcPts val="10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EXISTS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—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does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at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least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one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row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exist?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c.customer_id,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c.first_name</a:t>
            </a:r>
            <a:endParaRPr sz="1000" dirty="0">
              <a:latin typeface="Courier New"/>
              <a:cs typeface="Courier New"/>
            </a:endParaRPr>
          </a:p>
          <a:p>
            <a:pPr marL="12700" marR="1604645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6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customers.customers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c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EXISTS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 dirty="0">
              <a:latin typeface="Courier New"/>
              <a:cs typeface="Courier New"/>
            </a:endParaRPr>
          </a:p>
          <a:p>
            <a:pPr marL="164465" marR="1071245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1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sales.orders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o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o.cust_id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c.customer_id</a:t>
            </a: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);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←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correlated,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references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outer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c</a:t>
            </a:r>
            <a:endParaRPr sz="1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000" dirty="0">
              <a:latin typeface="Courier New"/>
              <a:cs typeface="Courier New"/>
            </a:endParaRPr>
          </a:p>
          <a:p>
            <a:pPr marL="12700" marR="766445">
              <a:lnSpc>
                <a:spcPct val="114999"/>
              </a:lnSpc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NOT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EXISTS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—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safer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anti-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join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c.*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customers.customers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c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NOT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EXISTS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 dirty="0">
              <a:latin typeface="Courier New"/>
              <a:cs typeface="Courier New"/>
            </a:endParaRPr>
          </a:p>
          <a:p>
            <a:pPr marL="164465" marR="1071245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1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sales.orders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o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o.cust_id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c.customer_id</a:t>
            </a: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);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←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finds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customers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who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never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ordered</a:t>
            </a:r>
            <a:endParaRPr sz="1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SELECT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1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in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EXISTS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—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convention</a:t>
            </a: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The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value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is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ignored,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only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existence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matters</a:t>
            </a:r>
            <a:endParaRPr sz="1000" dirty="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66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dirty="0"/>
              <a:t>EXISTS</a:t>
            </a:r>
            <a:r>
              <a:rPr spc="-35" dirty="0"/>
              <a:t> </a:t>
            </a:r>
            <a:r>
              <a:rPr dirty="0"/>
              <a:t>vs</a:t>
            </a:r>
            <a:r>
              <a:rPr spc="-3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—</a:t>
            </a:r>
            <a:r>
              <a:rPr spc="-35" dirty="0"/>
              <a:t> </a:t>
            </a:r>
            <a:r>
              <a:rPr spc="-10" dirty="0"/>
              <a:t>Differences</a:t>
            </a:r>
          </a:p>
        </p:txBody>
      </p:sp>
      <p:sp>
        <p:nvSpPr>
          <p:cNvPr id="5" name="object 5"/>
          <p:cNvSpPr/>
          <p:nvPr/>
        </p:nvSpPr>
        <p:spPr>
          <a:xfrm>
            <a:off x="273964" y="685446"/>
            <a:ext cx="8595360" cy="4114800"/>
          </a:xfrm>
          <a:custGeom>
            <a:avLst/>
            <a:gdLst/>
            <a:ahLst/>
            <a:cxnLst/>
            <a:rect l="l" t="t" r="r" b="b"/>
            <a:pathLst>
              <a:path w="8595360" h="4114800">
                <a:moveTo>
                  <a:pt x="8594991" y="0"/>
                </a:moveTo>
                <a:lnTo>
                  <a:pt x="0" y="0"/>
                </a:lnTo>
                <a:lnTo>
                  <a:pt x="0" y="4114431"/>
                </a:lnTo>
                <a:lnTo>
                  <a:pt x="4297680" y="4114431"/>
                </a:lnTo>
                <a:lnTo>
                  <a:pt x="8594991" y="4114431"/>
                </a:lnTo>
                <a:lnTo>
                  <a:pt x="8594991" y="0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1256" y="717592"/>
            <a:ext cx="4140200" cy="3006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71245">
              <a:lnSpc>
                <a:spcPct val="114999"/>
              </a:lnSpc>
              <a:spcBef>
                <a:spcPts val="10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IN: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returns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same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result,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often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slower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*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customers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c</a:t>
            </a: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c.customer_id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IN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 dirty="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cust_id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sales.orders</a:t>
            </a: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);</a:t>
            </a:r>
            <a:endParaRPr sz="1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000" dirty="0">
              <a:latin typeface="Courier New"/>
              <a:cs typeface="Courier New"/>
            </a:endParaRPr>
          </a:p>
          <a:p>
            <a:pPr marL="12700" marR="1376680">
              <a:lnSpc>
                <a:spcPct val="114999"/>
              </a:lnSpc>
              <a:spcBef>
                <a:spcPts val="5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EXISTS: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same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result,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often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FASTER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*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customers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c</a:t>
            </a: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EXISTS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 dirty="0">
              <a:latin typeface="Courier New"/>
              <a:cs typeface="Courier New"/>
            </a:endParaRPr>
          </a:p>
          <a:p>
            <a:pPr marL="164465" marR="1604645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1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sales.orders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o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o.cust_id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c.customer_id</a:t>
            </a: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);</a:t>
            </a:r>
            <a:endParaRPr sz="1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Key</a:t>
            </a:r>
            <a:r>
              <a:rPr sz="1000" spc="-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differences:</a:t>
            </a: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1.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EXISTS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stops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at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first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match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—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can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be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faster</a:t>
            </a: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2.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NOT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EXISTS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handles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NULLs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safely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(NOT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IN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doesn't)</a:t>
            </a: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3.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EXISTS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is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correlated;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IN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can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use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list</a:t>
            </a:r>
            <a:endParaRPr sz="1000" dirty="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FF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dirty="0">
                <a:solidFill>
                  <a:srgbClr val="202020"/>
                </a:solidFill>
                <a:latin typeface="Georgia"/>
                <a:cs typeface="Georgia"/>
              </a:rPr>
              <a:t>Easy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:</a:t>
            </a:r>
            <a:r>
              <a:rPr sz="18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Georgia"/>
                <a:cs typeface="Georgia"/>
              </a:rPr>
              <a:t>Products</a:t>
            </a:r>
            <a:r>
              <a:rPr sz="18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Never</a:t>
            </a:r>
            <a:r>
              <a:rPr sz="18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Bought</a:t>
            </a:r>
            <a:r>
              <a:rPr sz="18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(NOT</a:t>
            </a:r>
            <a:r>
              <a:rPr sz="18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Georgia"/>
                <a:cs typeface="Georgia"/>
              </a:rPr>
              <a:t>EXISTS)</a:t>
            </a:r>
            <a:endParaRPr sz="1800" dirty="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33499" y="269178"/>
            <a:ext cx="6991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MEDIUM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696" y="717668"/>
            <a:ext cx="8107680" cy="1837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SCENARIO:</a:t>
            </a:r>
            <a:r>
              <a:rPr sz="1300" b="1" spc="-4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inventory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manager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needs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dead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stock: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products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catalog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have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NEVER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been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ordered.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EXISTS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NULL-safe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alternative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risk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zero-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silent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failures.</a:t>
            </a:r>
            <a:endParaRPr sz="1300">
              <a:latin typeface="Calibri"/>
              <a:cs typeface="Calibri"/>
            </a:endParaRPr>
          </a:p>
          <a:p>
            <a:pPr marL="12700" marR="66040">
              <a:lnSpc>
                <a:spcPct val="120100"/>
              </a:lnSpc>
              <a:spcBef>
                <a:spcPts val="57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YOUR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1D3A5E"/>
                </a:solidFill>
                <a:latin typeface="Calibri"/>
                <a:cs typeface="Calibri"/>
              </a:rPr>
              <a:t>TASK:</a:t>
            </a:r>
            <a:r>
              <a:rPr sz="1300" b="1" spc="-4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Outer: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SELECT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products.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subquery: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order_items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reference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product.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Show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name, brand,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price.</a:t>
            </a:r>
            <a:endParaRPr sz="1300">
              <a:latin typeface="Calibri"/>
              <a:cs typeface="Calibri"/>
            </a:endParaRPr>
          </a:p>
          <a:p>
            <a:pPr marL="12700" marR="99695">
              <a:lnSpc>
                <a:spcPct val="116700"/>
              </a:lnSpc>
              <a:spcBef>
                <a:spcPts val="265"/>
              </a:spcBef>
            </a:pPr>
            <a:r>
              <a:rPr sz="1600" spc="-185" dirty="0">
                <a:solidFill>
                  <a:srgbClr val="1D3A5E"/>
                </a:solidFill>
                <a:latin typeface="Segoe UI Symbol"/>
                <a:cs typeface="Segoe UI Symbol"/>
              </a:rPr>
              <a:t>🤔</a:t>
            </a:r>
            <a:r>
              <a:rPr sz="1600" spc="-285" dirty="0">
                <a:solidFill>
                  <a:srgbClr val="1D3A5E"/>
                </a:solidFill>
                <a:latin typeface="Segoe UI Symbol"/>
                <a:cs typeface="Segoe UI Symbol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Hint:</a:t>
            </a:r>
            <a:r>
              <a:rPr sz="1300" b="1" spc="-6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safer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way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express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'finds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matching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another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table'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equivalent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immune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NULL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trap.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Trap: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if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swap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prod_id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NULL,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query silently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zero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rows;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handles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NULL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cleanly.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FF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Georgia"/>
                <a:cs typeface="Georgia"/>
              </a:rPr>
              <a:t>Answer</a:t>
            </a:r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FF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3956" y="626165"/>
            <a:ext cx="2515235" cy="254190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endParaRPr sz="1000" dirty="0">
              <a:latin typeface="Courier New"/>
              <a:cs typeface="Courier New"/>
            </a:endParaRPr>
          </a:p>
          <a:p>
            <a:pPr marL="151765" marR="1211580">
              <a:lnSpc>
                <a:spcPct val="110100"/>
              </a:lnSpc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p.product_id, p.product_name, b.brand_name, p.price</a:t>
            </a:r>
            <a:endParaRPr sz="1000" dirty="0">
              <a:latin typeface="Courier New"/>
              <a:cs typeface="Courier New"/>
            </a:endParaRPr>
          </a:p>
          <a:p>
            <a:pPr marR="6781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products.products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p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JOIN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core.dim_brand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b</a:t>
            </a:r>
            <a:endParaRPr sz="1000" dirty="0">
              <a:latin typeface="Courier New"/>
              <a:cs typeface="Courier New"/>
            </a:endParaRPr>
          </a:p>
          <a:p>
            <a:pPr marR="373380" indent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ON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p.brand_id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b.brand_id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NOT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EXISTS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 dirty="0">
              <a:latin typeface="Courier New"/>
              <a:cs typeface="Courier New"/>
            </a:endParaRPr>
          </a:p>
          <a:p>
            <a:pPr marL="1517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1</a:t>
            </a:r>
            <a:endParaRPr sz="1000" dirty="0">
              <a:latin typeface="Courier New"/>
              <a:cs typeface="Courier New"/>
            </a:endParaRPr>
          </a:p>
          <a:p>
            <a:pPr marL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sales.order_items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oi</a:t>
            </a:r>
            <a:r>
              <a:rPr sz="1000" spc="50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oi.prod_id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p.product_id</a:t>
            </a:r>
            <a:endParaRPr sz="1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endParaRPr sz="1000" dirty="0">
              <a:latin typeface="Courier New"/>
              <a:cs typeface="Courier New"/>
            </a:endParaRPr>
          </a:p>
          <a:p>
            <a:pPr marR="9067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p.price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DESC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LIMIT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20;</a:t>
            </a:r>
            <a:endParaRPr sz="1000" dirty="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Hard:</a:t>
            </a:r>
            <a:r>
              <a:rPr sz="18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EXISTS</a:t>
            </a:r>
            <a:r>
              <a:rPr sz="18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vs</a:t>
            </a:r>
            <a:r>
              <a:rPr sz="18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IN</a:t>
            </a:r>
            <a:r>
              <a:rPr sz="18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—</a:t>
            </a:r>
            <a:r>
              <a:rPr sz="18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Georgia"/>
                <a:cs typeface="Georgia"/>
              </a:rPr>
              <a:t>Performance</a:t>
            </a:r>
            <a:r>
              <a:rPr sz="1800" spc="-2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and</a:t>
            </a:r>
            <a:r>
              <a:rPr sz="1800" spc="-2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Georgia"/>
                <a:cs typeface="Georgia"/>
              </a:rPr>
              <a:t>Correctness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54098" y="269178"/>
            <a:ext cx="45783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HARD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696" y="717668"/>
            <a:ext cx="8171180" cy="1837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0489">
              <a:lnSpc>
                <a:spcPct val="1201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SCENARIO:</a:t>
            </a:r>
            <a:r>
              <a:rPr sz="1300" b="1" spc="-4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Your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team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has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two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queries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both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look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'customers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placed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order'.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Compare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them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write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both,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run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both,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compare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counts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explanations.</a:t>
            </a:r>
            <a:endParaRPr sz="1300">
              <a:latin typeface="Calibri"/>
              <a:cs typeface="Calibri"/>
            </a:endParaRPr>
          </a:p>
          <a:p>
            <a:pPr marL="12700" marR="174625">
              <a:lnSpc>
                <a:spcPct val="120100"/>
              </a:lnSpc>
              <a:spcBef>
                <a:spcPts val="57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YOUR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1D3A5E"/>
                </a:solidFill>
                <a:latin typeface="Calibri"/>
                <a:cs typeface="Calibri"/>
              </a:rPr>
              <a:t>TASK: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Version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A: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(returns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cust_id).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Version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B: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correlated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reference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customer_id.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Show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both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should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same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explain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wins.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265"/>
              </a:spcBef>
            </a:pPr>
            <a:r>
              <a:rPr sz="1600" spc="-185" dirty="0">
                <a:solidFill>
                  <a:srgbClr val="1D3A5E"/>
                </a:solidFill>
                <a:latin typeface="Segoe UI Symbol"/>
                <a:cs typeface="Segoe UI Symbol"/>
              </a:rPr>
              <a:t>🤔</a:t>
            </a:r>
            <a:r>
              <a:rPr sz="1600" spc="-285" dirty="0">
                <a:solidFill>
                  <a:srgbClr val="1D3A5E"/>
                </a:solidFill>
                <a:latin typeface="Segoe UI Symbol"/>
                <a:cs typeface="Segoe UI Symbol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Hint:</a:t>
            </a:r>
            <a:r>
              <a:rPr sz="1300" b="1" spc="-6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Both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forms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answer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'has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customer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ordered?'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can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stop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scanning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sales.orders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moment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50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match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found.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Trap: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LARGE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many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duplicate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cust_ids,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often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wins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because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materializes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full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list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first;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EXPLAIN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ANALYZE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shows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which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strategy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planner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picks.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Georgia"/>
                <a:cs typeface="Georgia"/>
              </a:rPr>
              <a:t>Answer</a:t>
            </a:r>
            <a:r>
              <a:rPr spc="-95" dirty="0">
                <a:latin typeface="Georgia"/>
                <a:cs typeface="Georgia"/>
              </a:rPr>
              <a:t> </a:t>
            </a:r>
            <a:r>
              <a:rPr spc="-20" dirty="0">
                <a:latin typeface="Georgia"/>
                <a:cs typeface="Georgia"/>
              </a:rPr>
              <a:t>(1/2)</a:t>
            </a:r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3956" y="626165"/>
            <a:ext cx="2743200" cy="3716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31215">
              <a:lnSpc>
                <a:spcPct val="110100"/>
              </a:lnSpc>
              <a:spcBef>
                <a:spcPts val="10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Version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A: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IN-subquery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c.customer_id,</a:t>
            </a:r>
            <a:endParaRPr sz="1000">
              <a:latin typeface="Courier New"/>
              <a:cs typeface="Courier New"/>
            </a:endParaRPr>
          </a:p>
          <a:p>
            <a:pPr marL="304165" indent="-15240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c.first_name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||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||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c.last_name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customer</a:t>
            </a:r>
            <a:endParaRPr sz="1000">
              <a:latin typeface="Courier New"/>
              <a:cs typeface="Courier New"/>
            </a:endParaRPr>
          </a:p>
          <a:p>
            <a:pPr marR="75374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6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customers.customers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c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c.customer_id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IN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151765" marR="128714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cust_id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sales.orders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LIMIT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10;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000">
              <a:latin typeface="Courier New"/>
              <a:cs typeface="Courier New"/>
            </a:endParaRPr>
          </a:p>
          <a:p>
            <a:pPr marR="220345">
              <a:lnSpc>
                <a:spcPct val="110100"/>
              </a:lnSpc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Version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B: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EXISTS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(correlated)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c.customer_id,</a:t>
            </a:r>
            <a:endParaRPr sz="1000">
              <a:latin typeface="Courier New"/>
              <a:cs typeface="Courier New"/>
            </a:endParaRPr>
          </a:p>
          <a:p>
            <a:pPr marL="304165" indent="-15240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c.first_name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||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||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c.last_name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customer</a:t>
            </a:r>
            <a:endParaRPr sz="1000">
              <a:latin typeface="Courier New"/>
              <a:cs typeface="Courier New"/>
            </a:endParaRPr>
          </a:p>
          <a:p>
            <a:pPr marR="75374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6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customers.customers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c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EXISTS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151765">
              <a:lnSpc>
                <a:spcPct val="100000"/>
              </a:lnSpc>
              <a:spcBef>
                <a:spcPts val="125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1</a:t>
            </a:r>
            <a:endParaRPr sz="1000">
              <a:latin typeface="Courier New"/>
              <a:cs typeface="Courier New"/>
            </a:endParaRPr>
          </a:p>
          <a:p>
            <a:pPr marL="1517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sales.orders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  <a:p>
            <a:pPr marL="1517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o.cust_id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c.customer_id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LIMIT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10;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Georgia"/>
                <a:cs typeface="Georgia"/>
              </a:rPr>
              <a:t>Answer</a:t>
            </a:r>
            <a:r>
              <a:rPr spc="-95" dirty="0">
                <a:latin typeface="Georgia"/>
                <a:cs typeface="Georgia"/>
              </a:rPr>
              <a:t> </a:t>
            </a:r>
            <a:r>
              <a:rPr spc="-20" dirty="0">
                <a:latin typeface="Georgia"/>
                <a:cs typeface="Georgia"/>
              </a:rPr>
              <a:t>(2/2)</a:t>
            </a:r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256" y="778806"/>
            <a:ext cx="3226435" cy="36131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Same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result.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EXISTS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often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faster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on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large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tables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(stops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at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first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match).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Crazy:</a:t>
            </a:r>
            <a:r>
              <a:rPr sz="1800" spc="-5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Stores</a:t>
            </a:r>
            <a:r>
              <a:rPr sz="1800" spc="-5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Where</a:t>
            </a:r>
            <a:r>
              <a:rPr sz="1800" spc="-4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NO</a:t>
            </a:r>
            <a:r>
              <a:rPr sz="1800" spc="-5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One</a:t>
            </a:r>
            <a:r>
              <a:rPr sz="1800" spc="-4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Earns</a:t>
            </a:r>
            <a:r>
              <a:rPr sz="1800" spc="-5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Above</a:t>
            </a:r>
            <a:r>
              <a:rPr sz="1800" spc="-5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Georgia"/>
                <a:cs typeface="Georgia"/>
              </a:rPr>
              <a:t>Average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31060" y="269178"/>
            <a:ext cx="5041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CRAZY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696" y="717668"/>
            <a:ext cx="8058150" cy="1837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0665">
              <a:lnSpc>
                <a:spcPct val="1201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SCENARIO:</a:t>
            </a:r>
            <a:r>
              <a:rPr sz="1300" b="1" spc="-5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wants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stores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employee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earns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BELOW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company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average.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'there's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no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employee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this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store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earning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above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average'.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Nested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containing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scalar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subquery.</a:t>
            </a:r>
            <a:endParaRPr sz="1300">
              <a:latin typeface="Calibri"/>
              <a:cs typeface="Calibri"/>
            </a:endParaRPr>
          </a:p>
          <a:p>
            <a:pPr marL="12700" marR="203835">
              <a:lnSpc>
                <a:spcPct val="120100"/>
              </a:lnSpc>
              <a:spcBef>
                <a:spcPts val="57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YOUR</a:t>
            </a:r>
            <a:r>
              <a:rPr sz="1300" b="1" spc="-5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1D3A5E"/>
                </a:solidFill>
                <a:latin typeface="Calibri"/>
                <a:cs typeface="Calibri"/>
              </a:rPr>
              <a:t>TASK:</a:t>
            </a:r>
            <a:r>
              <a:rPr sz="1300" b="1" spc="-5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Outer: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SELECT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stores.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filter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only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stores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have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employees.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require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zero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above-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average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employees.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'above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average'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scalar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company-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wide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mean.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265"/>
              </a:spcBef>
            </a:pPr>
            <a:r>
              <a:rPr sz="1600" spc="-185" dirty="0">
                <a:solidFill>
                  <a:srgbClr val="1D3A5E"/>
                </a:solidFill>
                <a:latin typeface="Segoe UI Symbol"/>
                <a:cs typeface="Segoe UI Symbol"/>
              </a:rPr>
              <a:t>🤔</a:t>
            </a:r>
            <a:r>
              <a:rPr sz="1600" spc="-285" dirty="0">
                <a:solidFill>
                  <a:srgbClr val="1D3A5E"/>
                </a:solidFill>
                <a:latin typeface="Segoe UI Symbol"/>
                <a:cs typeface="Segoe UI Symbol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Hint:</a:t>
            </a:r>
            <a:r>
              <a:rPr sz="1300" b="1" spc="-5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'No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employee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above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average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store'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textbook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'above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average'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part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needs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own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scalar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company-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wide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benchmark.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Trap: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don't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here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if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salary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NULL,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IN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silently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zero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rows;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handles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NULLs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correctly.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Georgia"/>
                <a:cs typeface="Georgia"/>
              </a:rPr>
              <a:t>Answer</a:t>
            </a:r>
            <a:r>
              <a:rPr spc="-95" dirty="0">
                <a:latin typeface="Georgia"/>
                <a:cs typeface="Georgia"/>
              </a:rPr>
              <a:t> </a:t>
            </a:r>
            <a:r>
              <a:rPr spc="-20" dirty="0">
                <a:latin typeface="Georgia"/>
                <a:cs typeface="Georgia"/>
              </a:rPr>
              <a:t>(1/2)</a:t>
            </a:r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3956" y="626165"/>
            <a:ext cx="2515235" cy="3716654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endParaRPr sz="1000" dirty="0">
              <a:latin typeface="Courier New"/>
              <a:cs typeface="Courier New"/>
            </a:endParaRPr>
          </a:p>
          <a:p>
            <a:pPr marL="151765" marR="1363980">
              <a:lnSpc>
                <a:spcPct val="110100"/>
              </a:lnSpc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s.store_id, s.store_name, s.city,</a:t>
            </a:r>
            <a:endParaRPr sz="1000" dirty="0">
              <a:latin typeface="Courier New"/>
              <a:cs typeface="Courier New"/>
            </a:endParaRPr>
          </a:p>
          <a:p>
            <a:pPr marL="1517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(SELECT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COUNT(*)</a:t>
            </a:r>
            <a:endParaRPr sz="1000" dirty="0">
              <a:latin typeface="Courier New"/>
              <a:cs typeface="Courier New"/>
            </a:endParaRPr>
          </a:p>
          <a:p>
            <a:pPr marL="2279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stores.employees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e</a:t>
            </a:r>
            <a:endParaRPr sz="1000" dirty="0">
              <a:latin typeface="Courier New"/>
              <a:cs typeface="Courier New"/>
            </a:endParaRPr>
          </a:p>
          <a:p>
            <a:pPr marL="304165" indent="-7683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e.store_id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s.store_id)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employee_count</a:t>
            </a:r>
            <a:endParaRPr sz="1000" dirty="0">
              <a:latin typeface="Courier New"/>
              <a:cs typeface="Courier New"/>
            </a:endParaRPr>
          </a:p>
          <a:p>
            <a:pPr marR="982344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stores.stores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EXISTS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 dirty="0">
              <a:latin typeface="Courier New"/>
              <a:cs typeface="Courier New"/>
            </a:endParaRPr>
          </a:p>
          <a:p>
            <a:pPr marL="1517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1</a:t>
            </a:r>
            <a:endParaRPr sz="1000" dirty="0">
              <a:latin typeface="Courier New"/>
              <a:cs typeface="Courier New"/>
            </a:endParaRPr>
          </a:p>
          <a:p>
            <a:pPr marL="151765" marR="685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stores.employees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e2</a:t>
            </a:r>
            <a:r>
              <a:rPr sz="1000" spc="50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e2.store_id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s.store_id</a:t>
            </a:r>
            <a:endParaRPr sz="1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endParaRPr sz="1000" dirty="0">
              <a:latin typeface="Courier New"/>
              <a:cs typeface="Courier New"/>
            </a:endParaRPr>
          </a:p>
          <a:p>
            <a:pPr marL="151765" marR="1287145" indent="-15240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AND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NOT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EXISTS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1</a:t>
            </a:r>
            <a:endParaRPr sz="1000" dirty="0">
              <a:latin typeface="Courier New"/>
              <a:cs typeface="Courier New"/>
            </a:endParaRPr>
          </a:p>
          <a:p>
            <a:pPr marL="151765" marR="14414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stores.employees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e</a:t>
            </a:r>
            <a:r>
              <a:rPr sz="1000" spc="50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e.store_id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s.store_id</a:t>
            </a:r>
            <a:endParaRPr sz="1000" dirty="0">
              <a:latin typeface="Courier New"/>
              <a:cs typeface="Courier New"/>
            </a:endParaRPr>
          </a:p>
          <a:p>
            <a:pPr marL="456565" marR="448945" indent="-15240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AND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e.salary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&gt;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r>
              <a:rPr sz="1000" spc="50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AVG(salary)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stores.employees</a:t>
            </a:r>
            <a:endParaRPr sz="1000" dirty="0">
              <a:latin typeface="Courier New"/>
              <a:cs typeface="Courier New"/>
            </a:endParaRPr>
          </a:p>
          <a:p>
            <a:pPr marL="304165">
              <a:lnSpc>
                <a:spcPct val="100000"/>
              </a:lnSpc>
              <a:spcBef>
                <a:spcPts val="120"/>
              </a:spcBef>
            </a:pP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endParaRPr sz="1000" dirty="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52704" y="180989"/>
            <a:ext cx="1400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B200"/>
                </a:solidFill>
                <a:latin typeface="Georgia"/>
                <a:cs typeface="Georgia"/>
              </a:rPr>
              <a:t>Answer</a:t>
            </a:r>
            <a:r>
              <a:rPr sz="1600" b="1" spc="-95" dirty="0">
                <a:solidFill>
                  <a:srgbClr val="FFB200"/>
                </a:solidFill>
                <a:latin typeface="Georgia"/>
                <a:cs typeface="Georgia"/>
              </a:rPr>
              <a:t> </a:t>
            </a:r>
            <a:r>
              <a:rPr sz="1600" b="1" spc="-20" dirty="0">
                <a:solidFill>
                  <a:srgbClr val="FFB200"/>
                </a:solidFill>
                <a:latin typeface="Georgia"/>
                <a:cs typeface="Georgia"/>
              </a:rPr>
              <a:t>(2/2)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3956" y="626165"/>
            <a:ext cx="2896235" cy="36131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20"/>
              </a:spcBef>
            </a:pP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endParaRPr sz="1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employee_count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DESC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LIMIT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15;</a:t>
            </a:r>
            <a:endParaRPr sz="10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1A5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77303" y="345505"/>
            <a:ext cx="880744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30" dirty="0">
                <a:solidFill>
                  <a:srgbClr val="FFFFFF"/>
                </a:solidFill>
                <a:latin typeface="Calibri"/>
                <a:cs typeface="Calibri"/>
              </a:rPr>
              <a:t>TAKEAWAYS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2947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EXISTS</a:t>
            </a:r>
            <a:r>
              <a:rPr sz="2000" spc="-1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/</a:t>
            </a:r>
            <a:r>
              <a:rPr sz="2000" spc="-1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NOT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 EXISTS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939405" cy="739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5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checks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LEAST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match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stops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first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match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(fast).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safer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anti-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join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handles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NULLs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correctly.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SELECT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1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inside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convention;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value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ignored.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instead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avoid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NULL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trap.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always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correlated.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BE36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7653" y="345505"/>
            <a:ext cx="10598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COMMON</a:t>
            </a:r>
            <a:r>
              <a:rPr sz="10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MISTAKE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34639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Forgetting</a:t>
            </a:r>
            <a:r>
              <a:rPr sz="2000" spc="-5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the</a:t>
            </a:r>
            <a:r>
              <a:rPr sz="2000" spc="-5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Correlation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409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Mistake:</a:t>
            </a:r>
          </a:p>
          <a:p>
            <a:pPr marL="14604" marR="5080">
              <a:lnSpc>
                <a:spcPct val="120100"/>
              </a:lnSpc>
            </a:pPr>
            <a:r>
              <a:rPr dirty="0"/>
              <a:t>WHERE</a:t>
            </a:r>
            <a:r>
              <a:rPr spc="-35" dirty="0"/>
              <a:t> </a:t>
            </a:r>
            <a:r>
              <a:rPr dirty="0"/>
              <a:t>EXISTS</a:t>
            </a:r>
            <a:r>
              <a:rPr spc="-30" dirty="0"/>
              <a:t> </a:t>
            </a:r>
            <a:r>
              <a:rPr spc="-10" dirty="0"/>
              <a:t>(SELECT</a:t>
            </a:r>
            <a:r>
              <a:rPr spc="-30" dirty="0"/>
              <a:t> </a:t>
            </a:r>
            <a:r>
              <a:rPr dirty="0"/>
              <a:t>1</a:t>
            </a:r>
            <a:r>
              <a:rPr spc="-30" dirty="0"/>
              <a:t> </a:t>
            </a:r>
            <a:r>
              <a:rPr dirty="0"/>
              <a:t>FROM</a:t>
            </a:r>
            <a:r>
              <a:rPr spc="-40" dirty="0"/>
              <a:t> </a:t>
            </a:r>
            <a:r>
              <a:rPr spc="-10" dirty="0"/>
              <a:t>sales.orders)</a:t>
            </a:r>
            <a:r>
              <a:rPr spc="-30" dirty="0"/>
              <a:t> </a:t>
            </a:r>
            <a:r>
              <a:rPr dirty="0"/>
              <a:t>—</a:t>
            </a:r>
            <a:r>
              <a:rPr spc="-30" dirty="0"/>
              <a:t> </a:t>
            </a:r>
            <a:r>
              <a:rPr dirty="0"/>
              <a:t>no</a:t>
            </a:r>
            <a:r>
              <a:rPr spc="-30" dirty="0"/>
              <a:t> </a:t>
            </a:r>
            <a:r>
              <a:rPr spc="-20" dirty="0"/>
              <a:t>reference</a:t>
            </a:r>
            <a:r>
              <a:rPr spc="-3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outer</a:t>
            </a:r>
            <a:r>
              <a:rPr spc="-30" dirty="0"/>
              <a:t> </a:t>
            </a:r>
            <a:r>
              <a:rPr spc="-10" dirty="0"/>
              <a:t>table.</a:t>
            </a:r>
            <a:r>
              <a:rPr spc="-3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inner</a:t>
            </a:r>
            <a:r>
              <a:rPr spc="-30" dirty="0"/>
              <a:t> </a:t>
            </a:r>
            <a:r>
              <a:rPr dirty="0"/>
              <a:t>query</a:t>
            </a:r>
            <a:r>
              <a:rPr spc="-30" dirty="0"/>
              <a:t> </a:t>
            </a:r>
            <a:r>
              <a:rPr spc="-10" dirty="0"/>
              <a:t>always</a:t>
            </a:r>
            <a:r>
              <a:rPr spc="-30" dirty="0"/>
              <a:t> </a:t>
            </a:r>
            <a:r>
              <a:rPr spc="-10" dirty="0"/>
              <a:t>returns</a:t>
            </a:r>
            <a:r>
              <a:rPr spc="-35" dirty="0"/>
              <a:t> </a:t>
            </a:r>
            <a:r>
              <a:rPr dirty="0"/>
              <a:t>rows</a:t>
            </a:r>
            <a:r>
              <a:rPr spc="-30" dirty="0"/>
              <a:t> </a:t>
            </a:r>
            <a:r>
              <a:rPr spc="-20" dirty="0"/>
              <a:t>(the </a:t>
            </a:r>
            <a:r>
              <a:rPr dirty="0"/>
              <a:t>table</a:t>
            </a:r>
            <a:r>
              <a:rPr spc="-40" dirty="0"/>
              <a:t> </a:t>
            </a:r>
            <a:r>
              <a:rPr dirty="0"/>
              <a:t>has</a:t>
            </a:r>
            <a:r>
              <a:rPr spc="-40" dirty="0"/>
              <a:t> </a:t>
            </a:r>
            <a:r>
              <a:rPr spc="-10" dirty="0"/>
              <a:t>data),</a:t>
            </a:r>
            <a:r>
              <a:rPr spc="-40" dirty="0"/>
              <a:t> </a:t>
            </a:r>
            <a:r>
              <a:rPr dirty="0"/>
              <a:t>so</a:t>
            </a:r>
            <a:r>
              <a:rPr spc="-35" dirty="0"/>
              <a:t> </a:t>
            </a:r>
            <a:r>
              <a:rPr dirty="0"/>
              <a:t>EXISTS</a:t>
            </a:r>
            <a:r>
              <a:rPr spc="-4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spc="-10" dirty="0"/>
              <a:t>always</a:t>
            </a:r>
            <a:r>
              <a:rPr spc="-35" dirty="0"/>
              <a:t> </a:t>
            </a:r>
            <a:r>
              <a:rPr dirty="0"/>
              <a:t>TRUE</a:t>
            </a:r>
            <a:r>
              <a:rPr spc="-40" dirty="0"/>
              <a:t> </a:t>
            </a:r>
            <a:r>
              <a:rPr dirty="0"/>
              <a:t>—</a:t>
            </a:r>
            <a:r>
              <a:rPr spc="-4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filter</a:t>
            </a:r>
            <a:r>
              <a:rPr spc="-40" dirty="0"/>
              <a:t> </a:t>
            </a:r>
            <a:r>
              <a:rPr dirty="0"/>
              <a:t>does</a:t>
            </a:r>
            <a:r>
              <a:rPr spc="-40" dirty="0"/>
              <a:t> </a:t>
            </a:r>
            <a:r>
              <a:rPr spc="-10" dirty="0"/>
              <a:t>nothing.</a:t>
            </a:r>
          </a:p>
          <a:p>
            <a:pPr marL="14604">
              <a:lnSpc>
                <a:spcPct val="100000"/>
              </a:lnSpc>
              <a:spcBef>
                <a:spcPts val="890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spc="-20" dirty="0"/>
              <a:t>Fix:</a:t>
            </a:r>
          </a:p>
          <a:p>
            <a:pPr marL="14604" marR="370840">
              <a:lnSpc>
                <a:spcPct val="120100"/>
              </a:lnSpc>
            </a:pPr>
            <a:r>
              <a:rPr dirty="0"/>
              <a:t>EXISTS</a:t>
            </a:r>
            <a:r>
              <a:rPr spc="-35" dirty="0"/>
              <a:t> </a:t>
            </a:r>
            <a:r>
              <a:rPr dirty="0"/>
              <a:t>needs</a:t>
            </a:r>
            <a:r>
              <a:rPr spc="-3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10" dirty="0"/>
              <a:t>correlation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inner</a:t>
            </a:r>
            <a:r>
              <a:rPr spc="-30" dirty="0"/>
              <a:t> </a:t>
            </a:r>
            <a:r>
              <a:rPr dirty="0"/>
              <a:t>WHERE:</a:t>
            </a:r>
            <a:r>
              <a:rPr spc="-30" dirty="0"/>
              <a:t> </a:t>
            </a:r>
            <a:r>
              <a:rPr dirty="0"/>
              <a:t>WHERE</a:t>
            </a:r>
            <a:r>
              <a:rPr spc="-30" dirty="0"/>
              <a:t> </a:t>
            </a:r>
            <a:r>
              <a:rPr spc="-10" dirty="0"/>
              <a:t>o.cust_id</a:t>
            </a:r>
            <a:r>
              <a:rPr spc="-35" dirty="0"/>
              <a:t> </a:t>
            </a:r>
            <a:r>
              <a:rPr dirty="0"/>
              <a:t>=</a:t>
            </a:r>
            <a:r>
              <a:rPr spc="-30" dirty="0"/>
              <a:t> </a:t>
            </a:r>
            <a:r>
              <a:rPr spc="-10" dirty="0"/>
              <a:t>c.customer_id.</a:t>
            </a:r>
            <a:r>
              <a:rPr spc="-30" dirty="0"/>
              <a:t> </a:t>
            </a:r>
            <a:r>
              <a:rPr spc="-10" dirty="0"/>
              <a:t>Without</a:t>
            </a:r>
            <a:r>
              <a:rPr spc="-30" dirty="0"/>
              <a:t> </a:t>
            </a:r>
            <a:r>
              <a:rPr dirty="0"/>
              <a:t>it,</a:t>
            </a:r>
            <a:r>
              <a:rPr spc="-30" dirty="0"/>
              <a:t> </a:t>
            </a:r>
            <a:r>
              <a:rPr dirty="0"/>
              <a:t>EXISTS</a:t>
            </a:r>
            <a:r>
              <a:rPr spc="-30" dirty="0"/>
              <a:t> </a:t>
            </a:r>
            <a:r>
              <a:rPr spc="-10" dirty="0"/>
              <a:t>becomes</a:t>
            </a:r>
            <a:r>
              <a:rPr spc="-30" dirty="0"/>
              <a:t> </a:t>
            </a:r>
            <a:r>
              <a:rPr spc="-50" dirty="0"/>
              <a:t>a </a:t>
            </a:r>
            <a:r>
              <a:rPr spc="-10" dirty="0"/>
              <a:t>constant</a:t>
            </a:r>
            <a:r>
              <a:rPr spc="-35" dirty="0"/>
              <a:t> </a:t>
            </a:r>
            <a:r>
              <a:rPr spc="-10" dirty="0"/>
              <a:t>TRUE/FALSE</a:t>
            </a:r>
            <a:r>
              <a:rPr spc="-35" dirty="0"/>
              <a:t> </a:t>
            </a:r>
            <a:r>
              <a:rPr dirty="0"/>
              <a:t>check,</a:t>
            </a:r>
            <a:r>
              <a:rPr spc="-35" dirty="0"/>
              <a:t> </a:t>
            </a:r>
            <a:r>
              <a:rPr dirty="0"/>
              <a:t>not</a:t>
            </a:r>
            <a:r>
              <a:rPr spc="-3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25" dirty="0"/>
              <a:t>per-</a:t>
            </a:r>
            <a:r>
              <a:rPr dirty="0"/>
              <a:t>row</a:t>
            </a:r>
            <a:r>
              <a:rPr spc="-35" dirty="0"/>
              <a:t> </a:t>
            </a:r>
            <a:r>
              <a:rPr spc="-10" dirty="0"/>
              <a:t>check.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156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35417" y="345505"/>
            <a:ext cx="3638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STORY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22409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The</a:t>
            </a:r>
            <a:r>
              <a:rPr sz="20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Recipe</a:t>
            </a:r>
            <a:r>
              <a:rPr sz="2000" spc="-2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Steps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828280" cy="1288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cookbook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recipe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doesn't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giant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paragraph,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mix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ingredients,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cook,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plate.'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lists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STEPS: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'(1)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Prep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vegetables.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(2)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Heat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oil.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(3)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Sauté.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(4)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Add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sauce.'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step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has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name,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builds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previous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the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reader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follows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top-to-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bottom.</a:t>
            </a:r>
            <a:endParaRPr sz="1300" dirty="0">
              <a:latin typeface="Calibri"/>
              <a:cs typeface="Calibri"/>
            </a:endParaRPr>
          </a:p>
          <a:p>
            <a:pPr marL="12700" marR="95250">
              <a:lnSpc>
                <a:spcPct val="120100"/>
              </a:lnSpc>
              <a:spcBef>
                <a:spcPts val="57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exactly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SQL.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clause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lets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NAME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subqueries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chain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them.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Read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top-to-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bottom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like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a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recipe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instead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inside-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like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nested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doll.</a:t>
            </a:r>
            <a:endParaRPr sz="1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6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6454" y="345505"/>
            <a:ext cx="6419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DEFINITION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43707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Common</a:t>
            </a:r>
            <a:r>
              <a:rPr sz="2000" spc="-4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Table</a:t>
            </a:r>
            <a:r>
              <a:rPr sz="20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Expression</a:t>
            </a:r>
            <a:r>
              <a:rPr sz="20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(CTE)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409"/>
              </a:spcBef>
            </a:pPr>
            <a:r>
              <a:rPr spc="-10" dirty="0"/>
              <a:t>Technical:</a:t>
            </a:r>
          </a:p>
          <a:p>
            <a:pPr marL="14604" marR="5080">
              <a:lnSpc>
                <a:spcPct val="120100"/>
              </a:lnSpc>
            </a:pPr>
            <a:r>
              <a:rPr dirty="0"/>
              <a:t>A</a:t>
            </a:r>
            <a:r>
              <a:rPr spc="-35" dirty="0"/>
              <a:t> </a:t>
            </a:r>
            <a:r>
              <a:rPr dirty="0"/>
              <a:t>CTE</a:t>
            </a:r>
            <a:r>
              <a:rPr spc="-35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named</a:t>
            </a:r>
            <a:r>
              <a:rPr spc="-30" dirty="0"/>
              <a:t> </a:t>
            </a:r>
            <a:r>
              <a:rPr dirty="0"/>
              <a:t>subquery</a:t>
            </a:r>
            <a:r>
              <a:rPr spc="-35" dirty="0"/>
              <a:t> </a:t>
            </a:r>
            <a:r>
              <a:rPr spc="-10" dirty="0"/>
              <a:t>defined</a:t>
            </a:r>
            <a:r>
              <a:rPr spc="-35" dirty="0"/>
              <a:t> </a:t>
            </a:r>
            <a:r>
              <a:rPr dirty="0"/>
              <a:t>with</a:t>
            </a:r>
            <a:r>
              <a:rPr spc="-30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dirty="0"/>
              <a:t>name</a:t>
            </a:r>
            <a:r>
              <a:rPr spc="-30" dirty="0"/>
              <a:t> </a:t>
            </a:r>
            <a:r>
              <a:rPr dirty="0"/>
              <a:t>AS</a:t>
            </a:r>
            <a:r>
              <a:rPr spc="-35" dirty="0"/>
              <a:t> </a:t>
            </a:r>
            <a:r>
              <a:rPr dirty="0"/>
              <a:t>(...).</a:t>
            </a:r>
            <a:r>
              <a:rPr spc="-35" dirty="0"/>
              <a:t> </a:t>
            </a:r>
            <a:r>
              <a:rPr spc="-10" dirty="0"/>
              <a:t>Available</a:t>
            </a:r>
            <a:r>
              <a:rPr spc="-30" dirty="0"/>
              <a:t> </a:t>
            </a:r>
            <a:r>
              <a:rPr dirty="0"/>
              <a:t>only</a:t>
            </a:r>
            <a:r>
              <a:rPr spc="-35" dirty="0"/>
              <a:t> </a:t>
            </a:r>
            <a:r>
              <a:rPr dirty="0"/>
              <a:t>within</a:t>
            </a:r>
            <a:r>
              <a:rPr spc="-3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query</a:t>
            </a:r>
            <a:r>
              <a:rPr spc="-35" dirty="0"/>
              <a:t> </a:t>
            </a:r>
            <a:r>
              <a:rPr dirty="0"/>
              <a:t>that</a:t>
            </a:r>
            <a:r>
              <a:rPr spc="-30" dirty="0"/>
              <a:t> </a:t>
            </a:r>
            <a:r>
              <a:rPr spc="-10" dirty="0"/>
              <a:t>defined</a:t>
            </a:r>
            <a:r>
              <a:rPr spc="-35" dirty="0"/>
              <a:t> </a:t>
            </a:r>
            <a:r>
              <a:rPr dirty="0"/>
              <a:t>it.</a:t>
            </a:r>
            <a:r>
              <a:rPr spc="-30" dirty="0"/>
              <a:t> </a:t>
            </a:r>
            <a:r>
              <a:rPr spc="-10" dirty="0"/>
              <a:t>Multiple </a:t>
            </a:r>
            <a:r>
              <a:rPr dirty="0"/>
              <a:t>CTEs</a:t>
            </a:r>
            <a:r>
              <a:rPr spc="-35" dirty="0"/>
              <a:t> </a:t>
            </a:r>
            <a:r>
              <a:rPr dirty="0"/>
              <a:t>can</a:t>
            </a:r>
            <a:r>
              <a:rPr spc="-35" dirty="0"/>
              <a:t> </a:t>
            </a:r>
            <a:r>
              <a:rPr dirty="0"/>
              <a:t>chain</a:t>
            </a:r>
            <a:r>
              <a:rPr spc="-35" dirty="0"/>
              <a:t> </a:t>
            </a:r>
            <a:r>
              <a:rPr dirty="0"/>
              <a:t>—</a:t>
            </a:r>
            <a:r>
              <a:rPr spc="-35" dirty="0"/>
              <a:t> </a:t>
            </a:r>
            <a:r>
              <a:rPr dirty="0"/>
              <a:t>later</a:t>
            </a:r>
            <a:r>
              <a:rPr spc="-35" dirty="0"/>
              <a:t> </a:t>
            </a:r>
            <a:r>
              <a:rPr dirty="0"/>
              <a:t>CTEs</a:t>
            </a:r>
            <a:r>
              <a:rPr spc="-35" dirty="0"/>
              <a:t> </a:t>
            </a:r>
            <a:r>
              <a:rPr dirty="0"/>
              <a:t>can</a:t>
            </a:r>
            <a:r>
              <a:rPr spc="-30" dirty="0"/>
              <a:t> </a:t>
            </a:r>
            <a:r>
              <a:rPr spc="-10" dirty="0"/>
              <a:t>reference</a:t>
            </a:r>
            <a:r>
              <a:rPr spc="-35" dirty="0"/>
              <a:t> </a:t>
            </a:r>
            <a:r>
              <a:rPr dirty="0"/>
              <a:t>earlier</a:t>
            </a:r>
            <a:r>
              <a:rPr spc="-35" dirty="0"/>
              <a:t> </a:t>
            </a:r>
            <a:r>
              <a:rPr dirty="0"/>
              <a:t>ones.</a:t>
            </a:r>
            <a:r>
              <a:rPr spc="-35" dirty="0"/>
              <a:t> </a:t>
            </a:r>
            <a:r>
              <a:rPr dirty="0"/>
              <a:t>Reads</a:t>
            </a:r>
            <a:r>
              <a:rPr spc="-35" dirty="0"/>
              <a:t> </a:t>
            </a:r>
            <a:r>
              <a:rPr spc="-20" dirty="0"/>
              <a:t>top-</a:t>
            </a:r>
            <a:r>
              <a:rPr spc="-25" dirty="0"/>
              <a:t>to-</a:t>
            </a:r>
            <a:r>
              <a:rPr spc="-10" dirty="0"/>
              <a:t>bottom;</a:t>
            </a:r>
            <a:r>
              <a:rPr spc="-35" dirty="0"/>
              <a:t> </a:t>
            </a:r>
            <a:r>
              <a:rPr spc="-10" dirty="0"/>
              <a:t>nested</a:t>
            </a:r>
            <a:r>
              <a:rPr spc="-30" dirty="0"/>
              <a:t> </a:t>
            </a:r>
            <a:r>
              <a:rPr spc="-10" dirty="0"/>
              <a:t>subqueries</a:t>
            </a:r>
            <a:r>
              <a:rPr spc="-35" dirty="0"/>
              <a:t> </a:t>
            </a:r>
            <a:r>
              <a:rPr dirty="0"/>
              <a:t>read</a:t>
            </a:r>
            <a:r>
              <a:rPr spc="-35" dirty="0"/>
              <a:t> </a:t>
            </a:r>
            <a:r>
              <a:rPr spc="-20" dirty="0"/>
              <a:t>inside-out.</a:t>
            </a:r>
          </a:p>
          <a:p>
            <a:pPr marL="14604">
              <a:lnSpc>
                <a:spcPct val="100000"/>
              </a:lnSpc>
              <a:spcBef>
                <a:spcPts val="890"/>
              </a:spcBef>
            </a:pPr>
            <a:r>
              <a:rPr spc="-10" dirty="0"/>
              <a:t>Layman's:</a:t>
            </a:r>
          </a:p>
          <a:p>
            <a:pPr marL="14604" marR="11430">
              <a:lnSpc>
                <a:spcPct val="120100"/>
              </a:lnSpc>
            </a:pPr>
            <a:r>
              <a:rPr dirty="0"/>
              <a:t>CTE</a:t>
            </a:r>
            <a:r>
              <a:rPr spc="-30" dirty="0"/>
              <a:t> </a:t>
            </a:r>
            <a:r>
              <a:rPr dirty="0"/>
              <a:t>=</a:t>
            </a:r>
            <a:r>
              <a:rPr spc="-25" dirty="0"/>
              <a:t> </a:t>
            </a:r>
            <a:r>
              <a:rPr dirty="0"/>
              <a:t>'name</a:t>
            </a:r>
            <a:r>
              <a:rPr spc="-25" dirty="0"/>
              <a:t> </a:t>
            </a:r>
            <a:r>
              <a:rPr dirty="0"/>
              <a:t>this</a:t>
            </a:r>
            <a:r>
              <a:rPr spc="-25" dirty="0"/>
              <a:t> </a:t>
            </a:r>
            <a:r>
              <a:rPr dirty="0"/>
              <a:t>query</a:t>
            </a:r>
            <a:r>
              <a:rPr spc="-25" dirty="0"/>
              <a:t> </a:t>
            </a:r>
            <a:r>
              <a:rPr dirty="0"/>
              <a:t>result</a:t>
            </a:r>
            <a:r>
              <a:rPr spc="-25" dirty="0"/>
              <a:t> </a:t>
            </a:r>
            <a:r>
              <a:rPr dirty="0"/>
              <a:t>so</a:t>
            </a:r>
            <a:r>
              <a:rPr spc="-25" dirty="0"/>
              <a:t> </a:t>
            </a:r>
            <a:r>
              <a:rPr dirty="0"/>
              <a:t>I</a:t>
            </a:r>
            <a:r>
              <a:rPr spc="-25" dirty="0"/>
              <a:t> </a:t>
            </a:r>
            <a:r>
              <a:rPr dirty="0"/>
              <a:t>can</a:t>
            </a:r>
            <a:r>
              <a:rPr spc="-25" dirty="0"/>
              <a:t> </a:t>
            </a:r>
            <a:r>
              <a:rPr dirty="0"/>
              <a:t>use</a:t>
            </a:r>
            <a:r>
              <a:rPr spc="-25" dirty="0"/>
              <a:t> </a:t>
            </a:r>
            <a:r>
              <a:rPr dirty="0"/>
              <a:t>it</a:t>
            </a:r>
            <a:r>
              <a:rPr spc="-25" dirty="0"/>
              <a:t> </a:t>
            </a:r>
            <a:r>
              <a:rPr spc="-10" dirty="0"/>
              <a:t>later'.</a:t>
            </a:r>
            <a:r>
              <a:rPr spc="-25" dirty="0"/>
              <a:t> </a:t>
            </a:r>
            <a:r>
              <a:rPr spc="-10" dirty="0"/>
              <a:t>Like</a:t>
            </a:r>
            <a:r>
              <a:rPr spc="-25" dirty="0"/>
              <a:t> </a:t>
            </a:r>
            <a:r>
              <a:rPr spc="-10" dirty="0"/>
              <a:t>declaring</a:t>
            </a:r>
            <a:r>
              <a:rPr spc="-2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10" dirty="0"/>
              <a:t>variable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code.</a:t>
            </a:r>
            <a:r>
              <a:rPr spc="-25" dirty="0"/>
              <a:t> </a:t>
            </a:r>
            <a:r>
              <a:rPr dirty="0"/>
              <a:t>Same</a:t>
            </a:r>
            <a:r>
              <a:rPr spc="-25" dirty="0"/>
              <a:t> </a:t>
            </a:r>
            <a:r>
              <a:rPr dirty="0"/>
              <a:t>idea</a:t>
            </a:r>
            <a:r>
              <a:rPr spc="-25" dirty="0"/>
              <a:t> </a:t>
            </a:r>
            <a:r>
              <a:rPr dirty="0"/>
              <a:t>as</a:t>
            </a:r>
            <a:r>
              <a:rPr spc="-2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spc="-10" dirty="0"/>
              <a:t>derived</a:t>
            </a:r>
            <a:r>
              <a:rPr spc="-25" dirty="0"/>
              <a:t> </a:t>
            </a:r>
            <a:r>
              <a:rPr spc="-10" dirty="0"/>
              <a:t>table,</a:t>
            </a:r>
            <a:r>
              <a:rPr spc="-25" dirty="0"/>
              <a:t> but </a:t>
            </a:r>
            <a:r>
              <a:rPr spc="-10" dirty="0"/>
              <a:t>readable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reusable</a:t>
            </a:r>
            <a:r>
              <a:rPr spc="-30" dirty="0"/>
              <a:t> </a:t>
            </a:r>
            <a:r>
              <a:rPr dirty="0"/>
              <a:t>within</a:t>
            </a:r>
            <a:r>
              <a:rPr spc="-3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same</a:t>
            </a:r>
            <a:r>
              <a:rPr spc="-30" dirty="0"/>
              <a:t> </a:t>
            </a:r>
            <a:r>
              <a:rPr spc="-20" dirty="0"/>
              <a:t>statement.</a:t>
            </a:r>
            <a:r>
              <a:rPr spc="-35" dirty="0"/>
              <a:t> </a:t>
            </a:r>
            <a:r>
              <a:rPr dirty="0"/>
              <a:t>CTEs</a:t>
            </a:r>
            <a:r>
              <a:rPr spc="-30" dirty="0"/>
              <a:t> </a:t>
            </a:r>
            <a:r>
              <a:rPr dirty="0"/>
              <a:t>are</a:t>
            </a:r>
            <a:r>
              <a:rPr spc="-3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modern</a:t>
            </a:r>
            <a:r>
              <a:rPr spc="-30" dirty="0"/>
              <a:t> </a:t>
            </a:r>
            <a:r>
              <a:rPr dirty="0"/>
              <a:t>way</a:t>
            </a:r>
            <a:r>
              <a:rPr spc="-3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write</a:t>
            </a:r>
            <a:r>
              <a:rPr spc="-30" dirty="0"/>
              <a:t> </a:t>
            </a:r>
            <a:r>
              <a:rPr spc="-10" dirty="0"/>
              <a:t>complex</a:t>
            </a:r>
            <a:r>
              <a:rPr spc="-35" dirty="0"/>
              <a:t> </a:t>
            </a:r>
            <a:r>
              <a:rPr spc="-20" dirty="0"/>
              <a:t>SQL.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66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SYNTAX:</a:t>
            </a:r>
            <a:r>
              <a:rPr spc="-45" dirty="0"/>
              <a:t> </a:t>
            </a:r>
            <a:r>
              <a:rPr dirty="0"/>
              <a:t>CTEs</a:t>
            </a:r>
            <a:r>
              <a:rPr spc="-40" dirty="0"/>
              <a:t> </a:t>
            </a:r>
            <a:r>
              <a:rPr dirty="0"/>
              <a:t>(WITH</a:t>
            </a:r>
            <a:r>
              <a:rPr spc="-40" dirty="0"/>
              <a:t> </a:t>
            </a:r>
            <a:r>
              <a:rPr spc="-10" dirty="0"/>
              <a:t>clause)</a:t>
            </a:r>
          </a:p>
        </p:txBody>
      </p:sp>
      <p:sp>
        <p:nvSpPr>
          <p:cNvPr id="5" name="object 5"/>
          <p:cNvSpPr/>
          <p:nvPr/>
        </p:nvSpPr>
        <p:spPr>
          <a:xfrm>
            <a:off x="273964" y="685446"/>
            <a:ext cx="8595360" cy="4114800"/>
          </a:xfrm>
          <a:custGeom>
            <a:avLst/>
            <a:gdLst/>
            <a:ahLst/>
            <a:cxnLst/>
            <a:rect l="l" t="t" r="r" b="b"/>
            <a:pathLst>
              <a:path w="8595360" h="4114800">
                <a:moveTo>
                  <a:pt x="8594991" y="0"/>
                </a:moveTo>
                <a:lnTo>
                  <a:pt x="0" y="0"/>
                </a:lnTo>
                <a:lnTo>
                  <a:pt x="0" y="4114431"/>
                </a:lnTo>
                <a:lnTo>
                  <a:pt x="4297680" y="4114431"/>
                </a:lnTo>
                <a:lnTo>
                  <a:pt x="8594991" y="4114431"/>
                </a:lnTo>
                <a:lnTo>
                  <a:pt x="8594991" y="0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1256" y="717592"/>
            <a:ext cx="3136900" cy="335661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Single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CTE</a:t>
            </a: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WITH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top_customers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 dirty="0">
              <a:latin typeface="Courier New"/>
              <a:cs typeface="Courier New"/>
            </a:endParaRPr>
          </a:p>
          <a:p>
            <a:pPr marL="164465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cust_id,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SUM(net_total)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total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sales.orders</a:t>
            </a:r>
            <a:endParaRPr sz="1000" dirty="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GROUP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cust_id</a:t>
            </a:r>
            <a:endParaRPr sz="1000" dirty="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HAVING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SUM(net_total)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&gt;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50000</a:t>
            </a: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endParaRPr sz="1000" dirty="0">
              <a:latin typeface="Courier New"/>
              <a:cs typeface="Courier New"/>
            </a:endParaRPr>
          </a:p>
          <a:p>
            <a:pPr marL="12700" marR="906144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c.first_name,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tc.total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top_customers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tc</a:t>
            </a: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JOIN</a:t>
            </a:r>
            <a:r>
              <a:rPr sz="1000" spc="-6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customers.customers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c</a:t>
            </a:r>
            <a:endParaRPr sz="1000" dirty="0">
              <a:latin typeface="Courier New"/>
              <a:cs typeface="Courier New"/>
            </a:endParaRPr>
          </a:p>
          <a:p>
            <a:pPr marL="12700" marR="753745" indent="151765">
              <a:lnSpc>
                <a:spcPct val="114999"/>
              </a:lnSpc>
              <a:spcBef>
                <a:spcPts val="5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ON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tc.cust_id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c.customer_id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tc.total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DESC;</a:t>
            </a:r>
            <a:endParaRPr sz="1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000" dirty="0">
              <a:latin typeface="Courier New"/>
              <a:cs typeface="Courier New"/>
            </a:endParaRPr>
          </a:p>
          <a:p>
            <a:pPr marL="12700" marR="1287145">
              <a:lnSpc>
                <a:spcPct val="114999"/>
              </a:lnSpc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Multiple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CTEs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chained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WITH</a:t>
            </a:r>
            <a:endParaRPr sz="1000" dirty="0">
              <a:latin typeface="Courier New"/>
              <a:cs typeface="Courier New"/>
            </a:endParaRPr>
          </a:p>
          <a:p>
            <a:pPr marL="164465" marR="144145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step1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(SELECT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...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...),</a:t>
            </a:r>
            <a:r>
              <a:rPr sz="1000" spc="50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step2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(SELECT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...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step1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...),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step3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(SELECT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...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step2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...)</a:t>
            </a: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*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step3;</a:t>
            </a:r>
            <a:endParaRPr sz="1000" dirty="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4C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Easy:</a:t>
            </a:r>
            <a:r>
              <a:rPr sz="1800" spc="-5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Top</a:t>
            </a:r>
            <a:r>
              <a:rPr sz="1800" spc="-4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Stores</a:t>
            </a:r>
            <a:r>
              <a:rPr sz="1800" spc="-4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by</a:t>
            </a:r>
            <a:r>
              <a:rPr sz="1800" spc="-5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Revenue</a:t>
            </a:r>
            <a:r>
              <a:rPr sz="1800" spc="-4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(CTE</a:t>
            </a:r>
            <a:r>
              <a:rPr sz="1800" spc="-4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Georgia"/>
                <a:cs typeface="Georgia"/>
              </a:rPr>
              <a:t>refactor)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87576" y="269178"/>
            <a:ext cx="3917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EASY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696" y="717668"/>
            <a:ext cx="8144509" cy="183705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SCENARIO: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Yesterday's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derived-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'top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stores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revenue'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worked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was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hard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read.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Refactor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into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CTE</a:t>
            </a:r>
            <a:endParaRPr sz="13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same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result,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cleaner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code.</a:t>
            </a:r>
            <a:endParaRPr sz="1300" dirty="0">
              <a:latin typeface="Calibri"/>
              <a:cs typeface="Calibri"/>
            </a:endParaRPr>
          </a:p>
          <a:p>
            <a:pPr marL="12700" marR="165735">
              <a:lnSpc>
                <a:spcPct val="120100"/>
              </a:lnSpc>
              <a:spcBef>
                <a:spcPts val="575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YOUR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1D3A5E"/>
                </a:solidFill>
                <a:latin typeface="Calibri"/>
                <a:cs typeface="Calibri"/>
              </a:rPr>
              <a:t>TASK: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store_rev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(SELECT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store_id,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SUM(net_total)...).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query: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JOIN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stores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store_rev.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Show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top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10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revenue.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result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identical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derived-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version.</a:t>
            </a:r>
            <a:endParaRPr sz="1300" dirty="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265"/>
              </a:spcBef>
            </a:pPr>
            <a:r>
              <a:rPr sz="1600" spc="-185" dirty="0">
                <a:solidFill>
                  <a:srgbClr val="1D3A5E"/>
                </a:solidFill>
                <a:latin typeface="Segoe UI Symbol"/>
                <a:cs typeface="Segoe UI Symbol"/>
              </a:rPr>
              <a:t>🤔</a:t>
            </a:r>
            <a:r>
              <a:rPr sz="1600" spc="-285" dirty="0">
                <a:solidFill>
                  <a:srgbClr val="1D3A5E"/>
                </a:solidFill>
                <a:latin typeface="Segoe UI Symbol"/>
                <a:cs typeface="Segoe UI Symbol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Hint:</a:t>
            </a:r>
            <a:r>
              <a:rPr sz="1300" b="1" spc="-5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just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NAME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pulled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top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rest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reads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more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like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steps.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Trap:</a:t>
            </a:r>
            <a:r>
              <a:rPr sz="1300" spc="-5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don't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forget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alias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aggregate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inside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(SUM(...)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revenue);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without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alias,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query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can't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reference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result.</a:t>
            </a:r>
            <a:endParaRPr sz="1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4C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Georgia"/>
                <a:cs typeface="Georgia"/>
              </a:rPr>
              <a:t>Answer</a:t>
            </a:r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4C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3956" y="626165"/>
            <a:ext cx="3048635" cy="3045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marR="1592580" indent="-152400">
              <a:lnSpc>
                <a:spcPct val="110100"/>
              </a:lnSpc>
              <a:spcBef>
                <a:spcPts val="10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WITH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store_rev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endParaRPr sz="1000" dirty="0">
              <a:latin typeface="Courier New"/>
              <a:cs typeface="Courier New"/>
            </a:endParaRPr>
          </a:p>
          <a:p>
            <a:pPr marL="304165">
              <a:lnSpc>
                <a:spcPct val="100000"/>
              </a:lnSpc>
              <a:spcBef>
                <a:spcPts val="1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store_id,</a:t>
            </a:r>
            <a:endParaRPr sz="1000" dirty="0">
              <a:latin typeface="Courier New"/>
              <a:cs typeface="Courier New"/>
            </a:endParaRPr>
          </a:p>
          <a:p>
            <a:pPr marL="304165" marR="7543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SUM(net_total)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revenue,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COUNT(*)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order_count</a:t>
            </a:r>
            <a:endParaRPr sz="1000" dirty="0">
              <a:latin typeface="Courier New"/>
              <a:cs typeface="Courier New"/>
            </a:endParaRPr>
          </a:p>
          <a:p>
            <a:pPr marL="151765" marR="15925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sales.orders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GROUP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store_id</a:t>
            </a:r>
            <a:endParaRPr sz="1000" dirty="0">
              <a:latin typeface="Courier New"/>
              <a:cs typeface="Courier New"/>
            </a:endParaRPr>
          </a:p>
          <a:p>
            <a:pPr marR="2583180">
              <a:lnSpc>
                <a:spcPct val="110100"/>
              </a:lnSpc>
            </a:pP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)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endParaRPr sz="1000" dirty="0">
              <a:latin typeface="Courier New"/>
              <a:cs typeface="Courier New"/>
            </a:endParaRPr>
          </a:p>
          <a:p>
            <a:pPr marL="151765" marR="1897380">
              <a:lnSpc>
                <a:spcPct val="110100"/>
              </a:lnSpc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s.store_name, s.city,</a:t>
            </a:r>
            <a:endParaRPr sz="1000" dirty="0">
              <a:latin typeface="Courier New"/>
              <a:cs typeface="Courier New"/>
            </a:endParaRPr>
          </a:p>
          <a:p>
            <a:pPr marL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ROUND(sr.revenue,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0)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total_revenue, sr.order_count</a:t>
            </a:r>
            <a:endParaRPr sz="1000" dirty="0">
              <a:latin typeface="Courier New"/>
              <a:cs typeface="Courier New"/>
            </a:endParaRPr>
          </a:p>
          <a:p>
            <a:pPr marR="15163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stores.stores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JOIN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store_rev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sr</a:t>
            </a:r>
            <a:endParaRPr sz="1000" dirty="0">
              <a:latin typeface="Courier New"/>
              <a:cs typeface="Courier New"/>
            </a:endParaRPr>
          </a:p>
          <a:p>
            <a:pPr marR="831215" indent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ON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s.store_id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sr.store_id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total_revenue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DESC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LIMIT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10;</a:t>
            </a:r>
            <a:endParaRPr sz="1000" dirty="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Crazy:</a:t>
            </a:r>
            <a:r>
              <a:rPr sz="1800" spc="-5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VIP</a:t>
            </a:r>
            <a:r>
              <a:rPr sz="1800" spc="-5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Engagement</a:t>
            </a:r>
            <a:r>
              <a:rPr sz="1800" spc="-5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Score</a:t>
            </a:r>
            <a:r>
              <a:rPr sz="1800" spc="-5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—</a:t>
            </a:r>
            <a:r>
              <a:rPr sz="1800" spc="-4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Georgia"/>
                <a:cs typeface="Georgia"/>
              </a:rPr>
              <a:t>Multi-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Step</a:t>
            </a:r>
            <a:r>
              <a:rPr sz="1800" spc="-5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CTE</a:t>
            </a:r>
            <a:r>
              <a:rPr sz="1800" spc="-5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Georgia"/>
                <a:cs typeface="Georgia"/>
              </a:rPr>
              <a:t>Chain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31060" y="269178"/>
            <a:ext cx="5041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CRAZY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696" y="717668"/>
            <a:ext cx="8172450" cy="207454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SCENARIO: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CMO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wants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VIP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engagement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score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customer: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(1)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total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spend,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(2)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recency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days,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(3)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brand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diversity,</a:t>
            </a:r>
            <a:endParaRPr sz="1300">
              <a:latin typeface="Calibri"/>
              <a:cs typeface="Calibri"/>
            </a:endParaRPr>
          </a:p>
          <a:p>
            <a:pPr marL="12700" marR="218440">
              <a:lnSpc>
                <a:spcPct val="120100"/>
              </a:lnSpc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(4)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review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activity.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Combine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four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into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score,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top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10.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Four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feeding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fifth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computes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the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composite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score.</a:t>
            </a:r>
            <a:endParaRPr sz="1300">
              <a:latin typeface="Calibri"/>
              <a:cs typeface="Calibri"/>
            </a:endParaRPr>
          </a:p>
          <a:p>
            <a:pPr marL="12700" marR="60960">
              <a:lnSpc>
                <a:spcPct val="120100"/>
              </a:lnSpc>
              <a:spcBef>
                <a:spcPts val="575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YOUR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1D3A5E"/>
                </a:solidFill>
                <a:latin typeface="Calibri"/>
                <a:cs typeface="Calibri"/>
              </a:rPr>
              <a:t>TASK: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Five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CTEs: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spend,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recency,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brands,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reviews,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scored.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'scored'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LEFT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JOINs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first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four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customer_id, computes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weighted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score.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query: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order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score,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return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top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10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components.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265"/>
              </a:spcBef>
            </a:pPr>
            <a:r>
              <a:rPr sz="1600" spc="-185" dirty="0">
                <a:solidFill>
                  <a:srgbClr val="1D3A5E"/>
                </a:solidFill>
                <a:latin typeface="Segoe UI Symbol"/>
                <a:cs typeface="Segoe UI Symbol"/>
              </a:rPr>
              <a:t>🤔</a:t>
            </a:r>
            <a:r>
              <a:rPr sz="1600" spc="-285" dirty="0">
                <a:solidFill>
                  <a:srgbClr val="1D3A5E"/>
                </a:solidFill>
                <a:latin typeface="Segoe UI Symbol"/>
                <a:cs typeface="Segoe UI Symbol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Hint:</a:t>
            </a:r>
            <a:r>
              <a:rPr sz="1300" b="1" spc="-4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has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4+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logical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stages,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become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essential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readability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nested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subqueries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would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be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unreadable.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Trap: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LEFT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JOIN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chaining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together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if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some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customers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might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missing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intermediate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CTEs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(e.g.,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customers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reviews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still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exist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don't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lose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them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INNER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JOIN).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Georgia"/>
                <a:cs typeface="Georgia"/>
              </a:rPr>
              <a:t>Answer</a:t>
            </a:r>
            <a:r>
              <a:rPr spc="-95" dirty="0">
                <a:latin typeface="Georgia"/>
                <a:cs typeface="Georgia"/>
              </a:rPr>
              <a:t> </a:t>
            </a:r>
            <a:r>
              <a:rPr spc="-10" dirty="0">
                <a:latin typeface="Georgia"/>
                <a:cs typeface="Georgia"/>
              </a:rPr>
              <a:t>(1/3)</a:t>
            </a:r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256" y="626165"/>
            <a:ext cx="2768600" cy="3716654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WITH</a:t>
            </a:r>
            <a:endParaRPr sz="1000">
              <a:latin typeface="Courier New"/>
              <a:cs typeface="Courier New"/>
            </a:endParaRPr>
          </a:p>
          <a:p>
            <a:pPr marL="316865" marR="1299845" indent="-15240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spend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r>
              <a:rPr sz="1000" spc="50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cust_id,</a:t>
            </a:r>
            <a:endParaRPr sz="1000">
              <a:latin typeface="Courier New"/>
              <a:cs typeface="Courier New"/>
            </a:endParaRPr>
          </a:p>
          <a:p>
            <a:pPr marL="316865" marR="80645" indent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SUM(net_total)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total_spend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sales.orders</a:t>
            </a:r>
            <a:endParaRPr sz="1000">
              <a:latin typeface="Courier New"/>
              <a:cs typeface="Courier New"/>
            </a:endParaRPr>
          </a:p>
          <a:p>
            <a:pPr marL="164465" marR="1071245" indent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GROUP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cust_id),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recency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3168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cust_id,</a:t>
            </a:r>
            <a:endParaRPr sz="1000">
              <a:latin typeface="Courier New"/>
              <a:cs typeface="Courier New"/>
            </a:endParaRPr>
          </a:p>
          <a:p>
            <a:pPr marL="621665" marR="5080" indent="-15240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CURRENT_DATE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MAX(order_date)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days_since</a:t>
            </a:r>
            <a:endParaRPr sz="1000">
              <a:latin typeface="Courier New"/>
              <a:cs typeface="Courier New"/>
            </a:endParaRPr>
          </a:p>
          <a:p>
            <a:pPr marL="316865" marR="107124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sales.orders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GROUP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cust_id),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brands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469265" marR="309245" indent="-15240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o.cust_id,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COUNT(DISTINCT</a:t>
            </a:r>
            <a:r>
              <a:rPr sz="1000" spc="-7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p.brand_id)</a:t>
            </a:r>
            <a:endParaRPr sz="1000">
              <a:latin typeface="Courier New"/>
              <a:cs typeface="Courier New"/>
            </a:endParaRPr>
          </a:p>
          <a:p>
            <a:pPr marL="316865" marR="995044" indent="3041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brand_count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sales.orders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  <a:p>
            <a:pPr marL="3168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JOIN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sales.order_items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oi</a:t>
            </a:r>
            <a:endParaRPr sz="1000">
              <a:latin typeface="Courier New"/>
              <a:cs typeface="Courier New"/>
            </a:endParaRPr>
          </a:p>
          <a:p>
            <a:pPr marL="316865" marR="233045" indent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ON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o.order_id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oi.order_id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JOIN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products.products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p</a:t>
            </a:r>
            <a:endParaRPr sz="1000">
              <a:latin typeface="Courier New"/>
              <a:cs typeface="Courier New"/>
            </a:endParaRPr>
          </a:p>
          <a:p>
            <a:pPr marL="316865" marR="156845" indent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ON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oi.prod_id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p.product_id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GROUP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o.cust_id),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Georgia"/>
                <a:cs typeface="Georgia"/>
              </a:rPr>
              <a:t>Answer</a:t>
            </a:r>
            <a:r>
              <a:rPr spc="-95" dirty="0">
                <a:latin typeface="Georgia"/>
                <a:cs typeface="Georgia"/>
              </a:rPr>
              <a:t> </a:t>
            </a:r>
            <a:r>
              <a:rPr spc="-10" dirty="0">
                <a:latin typeface="Georgia"/>
                <a:cs typeface="Georgia"/>
              </a:rPr>
              <a:t>(2/3)</a:t>
            </a:r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3620" y="626165"/>
            <a:ext cx="3149600" cy="3716654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reviews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316865" marR="690880" indent="-15240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customer_id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cust_id,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COUNT(*)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review_count</a:t>
            </a:r>
            <a:endParaRPr sz="1000">
              <a:latin typeface="Courier New"/>
              <a:cs typeface="Courier New"/>
            </a:endParaRPr>
          </a:p>
          <a:p>
            <a:pPr marL="164465" marR="129984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customers.reviews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GROUP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customer_id),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scored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316865" marR="690880" indent="-15240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s.cust_id, s.total_spend,</a:t>
            </a:r>
            <a:r>
              <a:rPr sz="1000" spc="50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r.days_since,</a:t>
            </a:r>
            <a:r>
              <a:rPr sz="1000" spc="50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b.brand_count,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COALESCE(rv.review_count,</a:t>
            </a:r>
            <a:r>
              <a:rPr sz="1000" spc="-1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0)</a:t>
            </a:r>
            <a:endParaRPr sz="1000">
              <a:latin typeface="Courier New"/>
              <a:cs typeface="Courier New"/>
            </a:endParaRPr>
          </a:p>
          <a:p>
            <a:pPr marL="316865" marR="1071245" indent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review_count,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(s.total_spend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/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1000.0</a:t>
            </a:r>
            <a:endParaRPr sz="1000">
              <a:latin typeface="Courier New"/>
              <a:cs typeface="Courier New"/>
            </a:endParaRPr>
          </a:p>
          <a:p>
            <a:pPr marL="3930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+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b.brand_count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*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5</a:t>
            </a:r>
            <a:endParaRPr sz="1000">
              <a:latin typeface="Courier New"/>
              <a:cs typeface="Courier New"/>
            </a:endParaRPr>
          </a:p>
          <a:p>
            <a:pPr marL="3930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+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COALESCE(rv.review_count,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0)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*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10</a:t>
            </a:r>
            <a:endParaRPr sz="1000">
              <a:latin typeface="Courier New"/>
              <a:cs typeface="Courier New"/>
            </a:endParaRPr>
          </a:p>
          <a:p>
            <a:pPr marL="469265" marR="1147445" indent="-7683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r.days_since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*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0.1)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score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spend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s</a:t>
            </a:r>
            <a:endParaRPr sz="1000">
              <a:latin typeface="Courier New"/>
              <a:cs typeface="Courier New"/>
            </a:endParaRPr>
          </a:p>
          <a:p>
            <a:pPr marL="164465" marR="50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JOIN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recency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ON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s.cust_id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r.cust_id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JOIN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brands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ON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s.cust_id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b.cust_id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LEFT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JOIN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reviews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rv</a:t>
            </a:r>
            <a:endParaRPr sz="1000">
              <a:latin typeface="Courier New"/>
              <a:cs typeface="Courier New"/>
            </a:endParaRPr>
          </a:p>
          <a:p>
            <a:pPr marL="3168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ON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s.cust_id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rv.cust_id)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Georgia"/>
                <a:cs typeface="Georgia"/>
              </a:rPr>
              <a:t>Answer</a:t>
            </a:r>
            <a:r>
              <a:rPr spc="-95" dirty="0">
                <a:latin typeface="Georgia"/>
                <a:cs typeface="Georgia"/>
              </a:rPr>
              <a:t> </a:t>
            </a:r>
            <a:r>
              <a:rPr spc="-10" dirty="0">
                <a:latin typeface="Georgia"/>
                <a:cs typeface="Georgia"/>
              </a:rPr>
              <a:t>(3/3)</a:t>
            </a:r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256" y="626165"/>
            <a:ext cx="2768600" cy="203898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endParaRPr sz="1000">
              <a:latin typeface="Courier New"/>
              <a:cs typeface="Courier New"/>
            </a:endParaRPr>
          </a:p>
          <a:p>
            <a:pPr marL="316865" marR="5080" indent="-15240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c.first_name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||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||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c.last_name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customer,</a:t>
            </a:r>
            <a:endParaRPr sz="1000">
              <a:latin typeface="Courier New"/>
              <a:cs typeface="Courier New"/>
            </a:endParaRPr>
          </a:p>
          <a:p>
            <a:pPr marL="164465" marR="50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ROUND(sc.total_spend,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0)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spend, sc.days_since,</a:t>
            </a:r>
            <a:endParaRPr sz="1000">
              <a:latin typeface="Courier New"/>
              <a:cs typeface="Courier New"/>
            </a:endParaRPr>
          </a:p>
          <a:p>
            <a:pPr marL="164465" marR="537845">
              <a:lnSpc>
                <a:spcPct val="110100"/>
              </a:lnSpc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sc.brand_count, sc.review_count,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ROUND(sc.score,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1)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score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scored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sc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JOIN</a:t>
            </a:r>
            <a:r>
              <a:rPr sz="1000" spc="-6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customers.customers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c</a:t>
            </a:r>
            <a:endParaRPr sz="1000">
              <a:latin typeface="Courier New"/>
              <a:cs typeface="Courier New"/>
            </a:endParaRPr>
          </a:p>
          <a:p>
            <a:pPr marL="12700" marR="309245" indent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ON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sc.cust_id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c.customer_id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sc.score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DESC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LIMIT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10;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1A5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77303" y="345505"/>
            <a:ext cx="880744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30" dirty="0">
                <a:solidFill>
                  <a:srgbClr val="FFFFFF"/>
                </a:solidFill>
                <a:latin typeface="Calibri"/>
                <a:cs typeface="Calibri"/>
              </a:rPr>
              <a:t>TAKEAWAYS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6953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CTEs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989570" cy="739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=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named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name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(...).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Reads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top-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to-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bottom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like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recipe.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Multiple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chain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later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ones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reference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earlier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ones.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Modern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replacement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nested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subqueries.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Same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idea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more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readable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and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reusable.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PostgreSQL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inlines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default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(12+),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performance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competitive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tables.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4C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57935" y="345505"/>
            <a:ext cx="7194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REAL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WORLD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25647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CTEs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in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 Production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5354320" cy="152590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modern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analyst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codebase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full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CTEs:</a:t>
            </a:r>
            <a:endParaRPr sz="1300">
              <a:latin typeface="Calibri"/>
              <a:cs typeface="Calibri"/>
            </a:endParaRPr>
          </a:p>
          <a:p>
            <a:pPr marL="132080" indent="-119380">
              <a:lnSpc>
                <a:spcPct val="100000"/>
              </a:lnSpc>
              <a:spcBef>
                <a:spcPts val="315"/>
              </a:spcBef>
              <a:buChar char="•"/>
              <a:tabLst>
                <a:tab pos="132080" algn="l"/>
              </a:tabLst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dbt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(data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build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tool)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ENTIRELY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built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model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chain</a:t>
            </a:r>
            <a:endParaRPr sz="1300">
              <a:latin typeface="Calibri"/>
              <a:cs typeface="Calibri"/>
            </a:endParaRPr>
          </a:p>
          <a:p>
            <a:pPr marL="132080" indent="-119380">
              <a:lnSpc>
                <a:spcPct val="100000"/>
              </a:lnSpc>
              <a:spcBef>
                <a:spcPts val="315"/>
              </a:spcBef>
              <a:buChar char="•"/>
              <a:tabLst>
                <a:tab pos="132080" algn="l"/>
              </a:tabLst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Looker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/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Mode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/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Hex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interactive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analytics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tools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generate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CTE-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heavy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SQL</a:t>
            </a:r>
            <a:endParaRPr sz="1300">
              <a:latin typeface="Calibri"/>
              <a:cs typeface="Calibri"/>
            </a:endParaRPr>
          </a:p>
          <a:p>
            <a:pPr marL="132080" indent="-119380">
              <a:lnSpc>
                <a:spcPct val="100000"/>
              </a:lnSpc>
              <a:spcBef>
                <a:spcPts val="315"/>
              </a:spcBef>
              <a:buChar char="•"/>
              <a:tabLst>
                <a:tab pos="132080" algn="l"/>
              </a:tabLst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Capstone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projects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this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course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will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90%+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queries</a:t>
            </a:r>
            <a:endParaRPr sz="1300">
              <a:latin typeface="Calibri"/>
              <a:cs typeface="Calibri"/>
            </a:endParaRPr>
          </a:p>
          <a:p>
            <a:pPr marL="132080" indent="-119380">
              <a:lnSpc>
                <a:spcPct val="100000"/>
              </a:lnSpc>
              <a:spcBef>
                <a:spcPts val="310"/>
              </a:spcBef>
              <a:buChar char="•"/>
              <a:tabLst>
                <a:tab pos="132080" algn="l"/>
              </a:tabLst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Modern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interviewers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EXPECT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candidates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write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over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nested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subqueries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Once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start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writing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CTEs,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you'll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wonder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how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ever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wrote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nested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SQL.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F47F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96898" y="345505"/>
            <a:ext cx="4413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PRO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TIP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11449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PRO</a:t>
            </a:r>
            <a:r>
              <a:rPr sz="20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25" dirty="0">
                <a:solidFill>
                  <a:srgbClr val="202020"/>
                </a:solidFill>
                <a:latin typeface="Georgia"/>
                <a:cs typeface="Georgia"/>
              </a:rPr>
              <a:t>TIP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846695" cy="73977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table: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identical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DB's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perspective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(PostgreSQL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12+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inlines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default).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Choose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when: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20100"/>
              </a:lnSpc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(1)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logic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multi-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step,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(2)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reference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same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twice,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(3)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readability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matters.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Choose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when: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small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once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inline.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156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35417" y="345505"/>
            <a:ext cx="3638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STORY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34105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Walking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Up</a:t>
            </a:r>
            <a:r>
              <a:rPr sz="2000" spc="-1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a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Family</a:t>
            </a:r>
            <a:r>
              <a:rPr sz="2000" spc="-1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Tree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927340" cy="1288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2545" algn="just">
              <a:lnSpc>
                <a:spcPct val="1201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'List</a:t>
            </a:r>
            <a:r>
              <a:rPr sz="1300" spc="-6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ancestors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person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X.'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65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answer,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find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X's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parents,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THEIR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parents,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THEIRS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walking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up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tree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until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reach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root.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logic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REPETITIVE: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step,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apply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same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rule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previous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result.</a:t>
            </a:r>
            <a:endParaRPr sz="1300">
              <a:latin typeface="Calibri"/>
              <a:cs typeface="Calibri"/>
            </a:endParaRPr>
          </a:p>
          <a:p>
            <a:pPr marL="12700" marR="5080" algn="just">
              <a:lnSpc>
                <a:spcPct val="120100"/>
              </a:lnSpc>
              <a:spcBef>
                <a:spcPts val="57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That's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RECURSIVE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Two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parts: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ANCHOR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(starting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point)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RECURSIVE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step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(apply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this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transformation,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then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keep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going).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UNION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combines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generations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into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result.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Used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for: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org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charts,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category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trees,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bill-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of-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materials,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date</a:t>
            </a:r>
            <a:r>
              <a:rPr sz="1300" spc="-6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series,</a:t>
            </a:r>
            <a:r>
              <a:rPr sz="1300" spc="-6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number</a:t>
            </a:r>
            <a:r>
              <a:rPr sz="1300" spc="-6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sequences.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6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6454" y="345505"/>
            <a:ext cx="6419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DEFINITION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192658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Recursive</a:t>
            </a:r>
            <a:r>
              <a:rPr sz="20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25" dirty="0">
                <a:solidFill>
                  <a:srgbClr val="202020"/>
                </a:solidFill>
                <a:latin typeface="Georgia"/>
                <a:cs typeface="Georgia"/>
              </a:rPr>
              <a:t>CTE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409"/>
              </a:spcBef>
            </a:pPr>
            <a:r>
              <a:rPr spc="-10" dirty="0"/>
              <a:t>Technical:</a:t>
            </a:r>
          </a:p>
          <a:p>
            <a:pPr marL="14604" marR="5080">
              <a:lnSpc>
                <a:spcPct val="120100"/>
              </a:lnSpc>
            </a:pPr>
            <a:r>
              <a:rPr dirty="0"/>
              <a:t>WITH</a:t>
            </a:r>
            <a:r>
              <a:rPr spc="-30" dirty="0"/>
              <a:t> </a:t>
            </a:r>
            <a:r>
              <a:rPr spc="-10" dirty="0"/>
              <a:t>RECURSIVE</a:t>
            </a:r>
            <a:r>
              <a:rPr spc="-30" dirty="0"/>
              <a:t> </a:t>
            </a:r>
            <a:r>
              <a:rPr dirty="0"/>
              <a:t>cte</a:t>
            </a:r>
            <a:r>
              <a:rPr spc="-30" dirty="0"/>
              <a:t> </a:t>
            </a:r>
            <a:r>
              <a:rPr dirty="0"/>
              <a:t>AS</a:t>
            </a:r>
            <a:r>
              <a:rPr spc="-30" dirty="0"/>
              <a:t> </a:t>
            </a:r>
            <a:r>
              <a:rPr dirty="0"/>
              <a:t>(</a:t>
            </a:r>
            <a:r>
              <a:rPr spc="-30" dirty="0"/>
              <a:t> </a:t>
            </a:r>
            <a:r>
              <a:rPr spc="-10" dirty="0"/>
              <a:t>anchor_query</a:t>
            </a:r>
            <a:r>
              <a:rPr spc="-30" dirty="0"/>
              <a:t> </a:t>
            </a:r>
            <a:r>
              <a:rPr dirty="0"/>
              <a:t>UNION</a:t>
            </a:r>
            <a:r>
              <a:rPr spc="-30" dirty="0"/>
              <a:t> </a:t>
            </a:r>
            <a:r>
              <a:rPr dirty="0"/>
              <a:t>ALL</a:t>
            </a:r>
            <a:r>
              <a:rPr spc="-25" dirty="0"/>
              <a:t> </a:t>
            </a:r>
            <a:r>
              <a:rPr spc="-10" dirty="0"/>
              <a:t>recursive_query</a:t>
            </a:r>
            <a:r>
              <a:rPr spc="-30" dirty="0"/>
              <a:t> </a:t>
            </a:r>
            <a:r>
              <a:rPr dirty="0"/>
              <a:t>).</a:t>
            </a:r>
            <a:r>
              <a:rPr spc="-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anchor</a:t>
            </a:r>
            <a:r>
              <a:rPr spc="-30" dirty="0"/>
              <a:t> </a:t>
            </a:r>
            <a:r>
              <a:rPr spc="-10" dirty="0"/>
              <a:t>returns</a:t>
            </a:r>
            <a:r>
              <a:rPr spc="-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10" dirty="0"/>
              <a:t>starting</a:t>
            </a:r>
            <a:r>
              <a:rPr spc="-30" dirty="0"/>
              <a:t> </a:t>
            </a:r>
            <a:r>
              <a:rPr dirty="0"/>
              <a:t>rows.</a:t>
            </a:r>
            <a:r>
              <a:rPr spc="-25" dirty="0"/>
              <a:t> The </a:t>
            </a:r>
            <a:r>
              <a:rPr spc="-10" dirty="0"/>
              <a:t>recursive</a:t>
            </a:r>
            <a:r>
              <a:rPr spc="-35" dirty="0"/>
              <a:t> </a:t>
            </a:r>
            <a:r>
              <a:rPr dirty="0"/>
              <a:t>query</a:t>
            </a:r>
            <a:r>
              <a:rPr spc="-35" dirty="0"/>
              <a:t> </a:t>
            </a:r>
            <a:r>
              <a:rPr spc="-20" dirty="0"/>
              <a:t>references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CTE</a:t>
            </a:r>
            <a:r>
              <a:rPr spc="-35" dirty="0"/>
              <a:t> </a:t>
            </a:r>
            <a:r>
              <a:rPr dirty="0"/>
              <a:t>itself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produces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next</a:t>
            </a:r>
            <a:r>
              <a:rPr spc="-35" dirty="0"/>
              <a:t> </a:t>
            </a:r>
            <a:r>
              <a:rPr spc="-10" dirty="0"/>
              <a:t>'generation'.</a:t>
            </a:r>
            <a:r>
              <a:rPr spc="-35" dirty="0"/>
              <a:t> </a:t>
            </a:r>
            <a:r>
              <a:rPr spc="-10" dirty="0"/>
              <a:t>PostgreSQL</a:t>
            </a:r>
            <a:r>
              <a:rPr spc="-35" dirty="0"/>
              <a:t> </a:t>
            </a:r>
            <a:r>
              <a:rPr spc="-10" dirty="0"/>
              <a:t>repeats</a:t>
            </a:r>
            <a:r>
              <a:rPr spc="-35" dirty="0"/>
              <a:t> </a:t>
            </a:r>
            <a:r>
              <a:rPr dirty="0"/>
              <a:t>until</a:t>
            </a:r>
            <a:r>
              <a:rPr spc="-3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recursive </a:t>
            </a:r>
            <a:r>
              <a:rPr dirty="0"/>
              <a:t>query</a:t>
            </a:r>
            <a:r>
              <a:rPr spc="-40" dirty="0"/>
              <a:t> </a:t>
            </a:r>
            <a:r>
              <a:rPr spc="-10" dirty="0"/>
              <a:t>returns</a:t>
            </a:r>
            <a:r>
              <a:rPr spc="-35" dirty="0"/>
              <a:t> </a:t>
            </a:r>
            <a:r>
              <a:rPr dirty="0"/>
              <a:t>no</a:t>
            </a:r>
            <a:r>
              <a:rPr spc="-35" dirty="0"/>
              <a:t> </a:t>
            </a:r>
            <a:r>
              <a:rPr dirty="0"/>
              <a:t>rows.</a:t>
            </a:r>
            <a:r>
              <a:rPr spc="-35" dirty="0"/>
              <a:t> </a:t>
            </a:r>
            <a:r>
              <a:rPr dirty="0"/>
              <a:t>UNION</a:t>
            </a:r>
            <a:r>
              <a:rPr spc="-35" dirty="0"/>
              <a:t> </a:t>
            </a:r>
            <a:r>
              <a:rPr dirty="0"/>
              <a:t>ALL</a:t>
            </a:r>
            <a:r>
              <a:rPr spc="-35" dirty="0"/>
              <a:t> </a:t>
            </a:r>
            <a:r>
              <a:rPr spc="-10" dirty="0"/>
              <a:t>stacks</a:t>
            </a:r>
            <a:r>
              <a:rPr spc="-35" dirty="0"/>
              <a:t> </a:t>
            </a:r>
            <a:r>
              <a:rPr dirty="0"/>
              <a:t>all</a:t>
            </a:r>
            <a:r>
              <a:rPr spc="-35" dirty="0"/>
              <a:t> </a:t>
            </a:r>
            <a:r>
              <a:rPr spc="-10" dirty="0"/>
              <a:t>generations.</a:t>
            </a:r>
          </a:p>
          <a:p>
            <a:pPr marL="14604">
              <a:lnSpc>
                <a:spcPct val="100000"/>
              </a:lnSpc>
              <a:spcBef>
                <a:spcPts val="890"/>
              </a:spcBef>
            </a:pPr>
            <a:r>
              <a:rPr spc="-10" dirty="0"/>
              <a:t>Layman's:</a:t>
            </a:r>
          </a:p>
          <a:p>
            <a:pPr marL="14604" marR="53975">
              <a:lnSpc>
                <a:spcPct val="120100"/>
              </a:lnSpc>
            </a:pPr>
            <a:r>
              <a:rPr spc="-10" dirty="0"/>
              <a:t>Recursive</a:t>
            </a:r>
            <a:r>
              <a:rPr spc="-35" dirty="0"/>
              <a:t> </a:t>
            </a:r>
            <a:r>
              <a:rPr dirty="0"/>
              <a:t>CTE</a:t>
            </a:r>
            <a:r>
              <a:rPr spc="-30" dirty="0"/>
              <a:t> </a:t>
            </a:r>
            <a:r>
              <a:rPr dirty="0"/>
              <a:t>=</a:t>
            </a:r>
            <a:r>
              <a:rPr spc="-30" dirty="0"/>
              <a:t> </a:t>
            </a:r>
            <a:r>
              <a:rPr spc="-10" dirty="0"/>
              <a:t>'start</a:t>
            </a:r>
            <a:r>
              <a:rPr spc="-30" dirty="0"/>
              <a:t> </a:t>
            </a:r>
            <a:r>
              <a:rPr dirty="0"/>
              <a:t>with</a:t>
            </a:r>
            <a:r>
              <a:rPr spc="-30" dirty="0"/>
              <a:t> </a:t>
            </a:r>
            <a:r>
              <a:rPr dirty="0"/>
              <a:t>X,</a:t>
            </a:r>
            <a:r>
              <a:rPr spc="-30" dirty="0"/>
              <a:t> </a:t>
            </a:r>
            <a:r>
              <a:rPr dirty="0"/>
              <a:t>then</a:t>
            </a:r>
            <a:r>
              <a:rPr spc="-30" dirty="0"/>
              <a:t> </a:t>
            </a:r>
            <a:r>
              <a:rPr spc="-10" dirty="0"/>
              <a:t>repeatedly</a:t>
            </a:r>
            <a:r>
              <a:rPr spc="-30" dirty="0"/>
              <a:t> </a:t>
            </a:r>
            <a:r>
              <a:rPr dirty="0"/>
              <a:t>apply</a:t>
            </a:r>
            <a:r>
              <a:rPr spc="-30" dirty="0"/>
              <a:t> </a:t>
            </a:r>
            <a:r>
              <a:rPr dirty="0"/>
              <a:t>this</a:t>
            </a:r>
            <a:r>
              <a:rPr spc="-30" dirty="0"/>
              <a:t> </a:t>
            </a:r>
            <a:r>
              <a:rPr dirty="0"/>
              <a:t>rule</a:t>
            </a:r>
            <a:r>
              <a:rPr spc="-30" dirty="0"/>
              <a:t> </a:t>
            </a:r>
            <a:r>
              <a:rPr dirty="0"/>
              <a:t>until</a:t>
            </a:r>
            <a:r>
              <a:rPr spc="-30" dirty="0"/>
              <a:t> </a:t>
            </a:r>
            <a:r>
              <a:rPr spc="-10" dirty="0"/>
              <a:t>nothing</a:t>
            </a:r>
            <a:r>
              <a:rPr spc="-30" dirty="0"/>
              <a:t> </a:t>
            </a:r>
            <a:r>
              <a:rPr dirty="0"/>
              <a:t>new</a:t>
            </a:r>
            <a:r>
              <a:rPr spc="-30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spc="-10" dirty="0"/>
              <a:t>produced.'</a:t>
            </a:r>
            <a:r>
              <a:rPr spc="-30" dirty="0"/>
              <a:t> </a:t>
            </a:r>
            <a:r>
              <a:rPr dirty="0"/>
              <a:t>Like</a:t>
            </a:r>
            <a:r>
              <a:rPr spc="-3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10" dirty="0"/>
              <a:t>snowball</a:t>
            </a:r>
            <a:r>
              <a:rPr spc="-30" dirty="0"/>
              <a:t> </a:t>
            </a:r>
            <a:r>
              <a:rPr spc="-10" dirty="0"/>
              <a:t>rolling </a:t>
            </a:r>
            <a:r>
              <a:rPr dirty="0"/>
              <a:t>down</a:t>
            </a:r>
            <a:r>
              <a:rPr spc="-4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hill</a:t>
            </a:r>
            <a:r>
              <a:rPr spc="-35" dirty="0"/>
              <a:t> </a:t>
            </a:r>
            <a:r>
              <a:rPr dirty="0"/>
              <a:t>—</a:t>
            </a:r>
            <a:r>
              <a:rPr spc="-40" dirty="0"/>
              <a:t> </a:t>
            </a:r>
            <a:r>
              <a:rPr dirty="0"/>
              <a:t>each</a:t>
            </a:r>
            <a:r>
              <a:rPr spc="-35" dirty="0"/>
              <a:t> </a:t>
            </a:r>
            <a:r>
              <a:rPr dirty="0"/>
              <a:t>step</a:t>
            </a:r>
            <a:r>
              <a:rPr spc="-35" dirty="0"/>
              <a:t> </a:t>
            </a:r>
            <a:r>
              <a:rPr dirty="0"/>
              <a:t>builds</a:t>
            </a:r>
            <a:r>
              <a:rPr spc="-40" dirty="0"/>
              <a:t> </a:t>
            </a:r>
            <a:r>
              <a:rPr dirty="0"/>
              <a:t>on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previous.</a:t>
            </a:r>
            <a:r>
              <a:rPr spc="-40" dirty="0"/>
              <a:t> </a:t>
            </a:r>
            <a:r>
              <a:rPr dirty="0"/>
              <a:t>Used</a:t>
            </a:r>
            <a:r>
              <a:rPr spc="-35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dirty="0"/>
              <a:t>any</a:t>
            </a:r>
            <a:r>
              <a:rPr spc="-40" dirty="0"/>
              <a:t> </a:t>
            </a:r>
            <a:r>
              <a:rPr dirty="0"/>
              <a:t>'walk</a:t>
            </a:r>
            <a:r>
              <a:rPr spc="-35" dirty="0"/>
              <a:t> </a:t>
            </a:r>
            <a:r>
              <a:rPr spc="-10" dirty="0"/>
              <a:t>through</a:t>
            </a:r>
            <a:r>
              <a:rPr spc="-3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tree'</a:t>
            </a:r>
            <a:r>
              <a:rPr spc="-3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spc="-10" dirty="0"/>
              <a:t>'generate</a:t>
            </a:r>
            <a:r>
              <a:rPr spc="-4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series'</a:t>
            </a:r>
            <a:r>
              <a:rPr spc="-35" dirty="0"/>
              <a:t> </a:t>
            </a:r>
            <a:r>
              <a:rPr spc="-10" dirty="0"/>
              <a:t>problem.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66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SYNTAX:</a:t>
            </a:r>
            <a:r>
              <a:rPr spc="-55" dirty="0"/>
              <a:t> </a:t>
            </a:r>
            <a:r>
              <a:rPr spc="-10" dirty="0"/>
              <a:t>Recursive</a:t>
            </a:r>
            <a:r>
              <a:rPr spc="-55" dirty="0"/>
              <a:t> </a:t>
            </a:r>
            <a:r>
              <a:rPr spc="-25" dirty="0"/>
              <a:t>CTE</a:t>
            </a:r>
          </a:p>
        </p:txBody>
      </p:sp>
      <p:sp>
        <p:nvSpPr>
          <p:cNvPr id="5" name="object 5"/>
          <p:cNvSpPr/>
          <p:nvPr/>
        </p:nvSpPr>
        <p:spPr>
          <a:xfrm>
            <a:off x="273964" y="685446"/>
            <a:ext cx="8595360" cy="4114800"/>
          </a:xfrm>
          <a:custGeom>
            <a:avLst/>
            <a:gdLst/>
            <a:ahLst/>
            <a:cxnLst/>
            <a:rect l="l" t="t" r="r" b="b"/>
            <a:pathLst>
              <a:path w="8595360" h="4114800">
                <a:moveTo>
                  <a:pt x="8594991" y="0"/>
                </a:moveTo>
                <a:lnTo>
                  <a:pt x="0" y="0"/>
                </a:lnTo>
                <a:lnTo>
                  <a:pt x="0" y="4114431"/>
                </a:lnTo>
                <a:lnTo>
                  <a:pt x="4297680" y="4114431"/>
                </a:lnTo>
                <a:lnTo>
                  <a:pt x="8594991" y="4114431"/>
                </a:lnTo>
                <a:lnTo>
                  <a:pt x="8594991" y="0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1256" y="717592"/>
            <a:ext cx="3759200" cy="300609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Anatomy:</a:t>
            </a: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WITH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RECURSIVE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cte_name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 dirty="0">
              <a:latin typeface="Courier New"/>
              <a:cs typeface="Courier New"/>
            </a:endParaRPr>
          </a:p>
          <a:p>
            <a:pPr marL="164465" marR="1376045">
              <a:lnSpc>
                <a:spcPct val="114999"/>
              </a:lnSpc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Anchor: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starting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rows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col1,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col2,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1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depth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source</a:t>
            </a:r>
            <a:endParaRPr sz="1000" dirty="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starting_condition</a:t>
            </a:r>
            <a:endParaRPr sz="1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000" dirty="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UNION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ALL</a:t>
            </a:r>
            <a:endParaRPr sz="1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000" dirty="0">
              <a:latin typeface="Courier New"/>
              <a:cs typeface="Courier New"/>
            </a:endParaRPr>
          </a:p>
          <a:p>
            <a:pPr marL="164465" marR="5080">
              <a:lnSpc>
                <a:spcPct val="114999"/>
              </a:lnSpc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Recursive: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builds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on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previous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iteration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child.col1,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child.col2,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parent.depth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+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1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source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child</a:t>
            </a:r>
            <a:endParaRPr sz="1000" dirty="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JOIN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cte_name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parent</a:t>
            </a:r>
            <a:endParaRPr sz="1000" dirty="0">
              <a:latin typeface="Courier New"/>
              <a:cs typeface="Courier New"/>
            </a:endParaRPr>
          </a:p>
          <a:p>
            <a:pPr marL="316865">
              <a:lnSpc>
                <a:spcPct val="100000"/>
              </a:lnSpc>
              <a:spcBef>
                <a:spcPts val="185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ON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child.parent_id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parent.id</a:t>
            </a:r>
            <a:endParaRPr sz="1000" dirty="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May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include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termination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condition</a:t>
            </a: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*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cte_name;</a:t>
            </a:r>
            <a:endParaRPr sz="1000" dirty="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66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Step-</a:t>
            </a:r>
            <a:r>
              <a:rPr spc="-30" dirty="0"/>
              <a:t>by-</a:t>
            </a:r>
            <a:r>
              <a:rPr dirty="0"/>
              <a:t>Step:</a:t>
            </a:r>
            <a:r>
              <a:rPr spc="-30" dirty="0"/>
              <a:t> </a:t>
            </a:r>
            <a:r>
              <a:rPr spc="-10" dirty="0"/>
              <a:t>Recursive</a:t>
            </a:r>
            <a:r>
              <a:rPr spc="-30" dirty="0"/>
              <a:t> </a:t>
            </a:r>
            <a:r>
              <a:rPr spc="-10" dirty="0"/>
              <a:t>Execution</a:t>
            </a:r>
          </a:p>
        </p:txBody>
      </p:sp>
      <p:sp>
        <p:nvSpPr>
          <p:cNvPr id="5" name="object 5"/>
          <p:cNvSpPr/>
          <p:nvPr/>
        </p:nvSpPr>
        <p:spPr>
          <a:xfrm>
            <a:off x="273964" y="746125"/>
            <a:ext cx="8595360" cy="4114800"/>
          </a:xfrm>
          <a:custGeom>
            <a:avLst/>
            <a:gdLst/>
            <a:ahLst/>
            <a:cxnLst/>
            <a:rect l="l" t="t" r="r" b="b"/>
            <a:pathLst>
              <a:path w="8595360" h="4114800">
                <a:moveTo>
                  <a:pt x="8594991" y="0"/>
                </a:moveTo>
                <a:lnTo>
                  <a:pt x="0" y="0"/>
                </a:lnTo>
                <a:lnTo>
                  <a:pt x="0" y="4114431"/>
                </a:lnTo>
                <a:lnTo>
                  <a:pt x="4297680" y="4114431"/>
                </a:lnTo>
                <a:lnTo>
                  <a:pt x="8594991" y="4114431"/>
                </a:lnTo>
                <a:lnTo>
                  <a:pt x="8594991" y="0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1256" y="717592"/>
            <a:ext cx="208343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Example: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count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1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to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699954"/>
                </a:solidFill>
                <a:latin typeface="Courier New"/>
                <a:cs typeface="Courier New"/>
              </a:rPr>
              <a:t>5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WITH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RECURSIVE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counter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 dirty="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3620" y="1068252"/>
            <a:ext cx="1016635" cy="902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1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n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UNION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ALL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+</a:t>
            </a:r>
            <a:r>
              <a:rPr sz="1000" spc="-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1</a:t>
            </a:r>
            <a:endParaRPr sz="1000">
              <a:latin typeface="Courier New"/>
              <a:cs typeface="Courier New"/>
            </a:endParaRPr>
          </a:p>
          <a:p>
            <a:pPr marL="12700" marR="80645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counter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&lt;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5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08366" y="1091071"/>
            <a:ext cx="13976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Anchor: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row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(1)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84739" y="1441705"/>
            <a:ext cx="13214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Recursive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step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84739" y="1792340"/>
            <a:ext cx="13214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Stop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condition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1256" y="1944831"/>
            <a:ext cx="3835400" cy="177863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*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counter;</a:t>
            </a:r>
            <a:endParaRPr sz="1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Step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1: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Anchor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→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{1}</a:t>
            </a: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Step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2: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Recursive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on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{1}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→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{2}</a:t>
            </a: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Step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3: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Recursive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on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{2}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→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{3}</a:t>
            </a: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Step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4: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Recursive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on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{3}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→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{4}</a:t>
            </a: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Step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5: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Recursive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on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{4}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→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{5}</a:t>
            </a: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Step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6: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Recursive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on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{5}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→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{}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(WHERE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5&lt;5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FALSE)</a:t>
            </a: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Final: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UNION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ALL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of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{1},{2},{3},{4},{5}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=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1..5</a:t>
            </a:r>
            <a:endParaRPr sz="1000" dirty="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4C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Easy:</a:t>
            </a:r>
            <a:r>
              <a:rPr sz="18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Generate</a:t>
            </a:r>
            <a:r>
              <a:rPr sz="18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a</a:t>
            </a:r>
            <a:r>
              <a:rPr sz="18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Number</a:t>
            </a:r>
            <a:r>
              <a:rPr sz="18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Series</a:t>
            </a:r>
            <a:r>
              <a:rPr sz="1800" spc="-2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1</a:t>
            </a:r>
            <a:r>
              <a:rPr sz="18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to</a:t>
            </a:r>
            <a:r>
              <a:rPr sz="18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202020"/>
                </a:solidFill>
                <a:latin typeface="Georgia"/>
                <a:cs typeface="Georgia"/>
              </a:rPr>
              <a:t>100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87576" y="269178"/>
            <a:ext cx="3917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EASY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696" y="717668"/>
            <a:ext cx="8107045" cy="1837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17500">
              <a:lnSpc>
                <a:spcPct val="1201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SCENARIO: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need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list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integers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1-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100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(without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depending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table).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Recursive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can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build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series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the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simplest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demonstration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anchor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+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recursive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step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works.</a:t>
            </a:r>
            <a:endParaRPr sz="1300">
              <a:latin typeface="Calibri"/>
              <a:cs typeface="Calibri"/>
            </a:endParaRPr>
          </a:p>
          <a:p>
            <a:pPr marL="12700" marR="25400">
              <a:lnSpc>
                <a:spcPct val="120100"/>
              </a:lnSpc>
              <a:spcBef>
                <a:spcPts val="57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YOUR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1D3A5E"/>
                </a:solidFill>
                <a:latin typeface="Calibri"/>
                <a:cs typeface="Calibri"/>
              </a:rPr>
              <a:t>TASK:</a:t>
            </a:r>
            <a:r>
              <a:rPr sz="1300" b="1" spc="-4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Anchor: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SELECT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1.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Recursive: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SELECT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n+1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counter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&lt;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100.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UNION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combines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them.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100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rows.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265"/>
              </a:spcBef>
            </a:pPr>
            <a:r>
              <a:rPr sz="1600" spc="-185" dirty="0">
                <a:solidFill>
                  <a:srgbClr val="1D3A5E"/>
                </a:solidFill>
                <a:latin typeface="Segoe UI Symbol"/>
                <a:cs typeface="Segoe UI Symbol"/>
              </a:rPr>
              <a:t>🤔</a:t>
            </a:r>
            <a:r>
              <a:rPr sz="1600" spc="-285" dirty="0">
                <a:solidFill>
                  <a:srgbClr val="1D3A5E"/>
                </a:solidFill>
                <a:latin typeface="Segoe UI Symbol"/>
                <a:cs typeface="Segoe UI Symbol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Hint:</a:t>
            </a:r>
            <a:r>
              <a:rPr sz="1300" b="1" spc="-5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Recursive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=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anchor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seed)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+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UNION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+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recursive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step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(referencing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itself).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Trap: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forgetting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the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termination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condition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causes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infinite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recursion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PostgreSQL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eventually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errors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hang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a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while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first.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4C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Georgia"/>
                <a:cs typeface="Georgia"/>
              </a:rPr>
              <a:t>Answer</a:t>
            </a:r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4C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3956" y="626165"/>
            <a:ext cx="2058035" cy="1535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indent="-152400">
              <a:lnSpc>
                <a:spcPct val="110100"/>
              </a:lnSpc>
              <a:spcBef>
                <a:spcPts val="10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WITH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RECURSIVE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counter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1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n</a:t>
            </a:r>
            <a:endParaRPr sz="1000">
              <a:latin typeface="Courier New"/>
              <a:cs typeface="Courier New"/>
            </a:endParaRPr>
          </a:p>
          <a:p>
            <a:pPr marL="151765" marR="982344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UNION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ALL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+</a:t>
            </a:r>
            <a:r>
              <a:rPr sz="1000" spc="-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1</a:t>
            </a:r>
            <a:endParaRPr sz="1000">
              <a:latin typeface="Courier New"/>
              <a:cs typeface="Courier New"/>
            </a:endParaRPr>
          </a:p>
          <a:p>
            <a:pPr marL="151765" marR="9067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counter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&lt;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100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  <a:p>
            <a:pPr marR="4495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counter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n;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FF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Medium:</a:t>
            </a:r>
            <a:r>
              <a:rPr sz="1800" spc="-2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Date</a:t>
            </a:r>
            <a:r>
              <a:rPr sz="1800" spc="-2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Series</a:t>
            </a:r>
            <a:r>
              <a:rPr sz="1800" spc="-2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for</a:t>
            </a:r>
            <a:r>
              <a:rPr sz="1800" spc="-2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a</a:t>
            </a:r>
            <a:r>
              <a:rPr sz="1800" spc="-2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Calendar</a:t>
            </a:r>
            <a:r>
              <a:rPr sz="1800" spc="-1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Georgia"/>
                <a:cs typeface="Georgia"/>
              </a:rPr>
              <a:t>Table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33499" y="269178"/>
            <a:ext cx="6991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MEDIUM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696" y="717668"/>
            <a:ext cx="7739380" cy="1837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1454">
              <a:lnSpc>
                <a:spcPct val="1201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SCENARIO:</a:t>
            </a:r>
            <a:r>
              <a:rPr sz="1300" b="1" spc="-5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Analytics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needs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daily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date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list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last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30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days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useful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'fill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zeros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missing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days'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reports. Recursive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builds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sequence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stepping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+1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iteration.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20100"/>
              </a:lnSpc>
              <a:spcBef>
                <a:spcPts val="57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YOUR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1D3A5E"/>
                </a:solidFill>
                <a:latin typeface="Calibri"/>
                <a:cs typeface="Calibri"/>
              </a:rPr>
              <a:t>TASK: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Anchor: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CURRENT_DATE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29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(start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30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days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ago).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Recursive: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previous_date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+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1.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Stop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CURRENT_DATE. Return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30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dates.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Add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day-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of-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week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bonus.</a:t>
            </a:r>
            <a:endParaRPr sz="1300">
              <a:latin typeface="Calibri"/>
              <a:cs typeface="Calibri"/>
            </a:endParaRPr>
          </a:p>
          <a:p>
            <a:pPr marL="12700" marR="41275">
              <a:lnSpc>
                <a:spcPct val="116700"/>
              </a:lnSpc>
              <a:spcBef>
                <a:spcPts val="265"/>
              </a:spcBef>
            </a:pPr>
            <a:r>
              <a:rPr sz="1600" spc="-185" dirty="0">
                <a:solidFill>
                  <a:srgbClr val="1D3A5E"/>
                </a:solidFill>
                <a:latin typeface="Segoe UI Symbol"/>
                <a:cs typeface="Segoe UI Symbol"/>
              </a:rPr>
              <a:t>🤔</a:t>
            </a:r>
            <a:r>
              <a:rPr sz="1600" spc="-285" dirty="0">
                <a:solidFill>
                  <a:srgbClr val="1D3A5E"/>
                </a:solidFill>
                <a:latin typeface="Segoe UI Symbol"/>
                <a:cs typeface="Segoe UI Symbol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Hint:</a:t>
            </a:r>
            <a:r>
              <a:rPr sz="1300" b="1" spc="-6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arithmetic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PostgreSQL: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+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integer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=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days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added.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Trap: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PostgreSQL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also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has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generate_series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exact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purpose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usually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preferred;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recursive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here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LEARNING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pattern,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not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because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it's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best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tool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series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production.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FF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Georgia"/>
                <a:cs typeface="Georgia"/>
              </a:rPr>
              <a:t>Answer</a:t>
            </a:r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FF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3956" y="626165"/>
            <a:ext cx="2896235" cy="2206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marR="297180" indent="-152400">
              <a:lnSpc>
                <a:spcPct val="110100"/>
              </a:lnSpc>
              <a:spcBef>
                <a:spcPts val="100"/>
              </a:spcBef>
            </a:pP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WITH</a:t>
            </a:r>
            <a:r>
              <a:rPr lang="en-US"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RECURSIVE</a:t>
            </a:r>
            <a:r>
              <a:rPr lang="en-US"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dirty="0" err="1">
                <a:solidFill>
                  <a:srgbClr val="D3D3D3"/>
                </a:solidFill>
                <a:latin typeface="Courier New"/>
                <a:cs typeface="Courier New"/>
              </a:rPr>
              <a:t>date_series</a:t>
            </a:r>
            <a:r>
              <a:rPr lang="en-US"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lang="en-US"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spc="-50" dirty="0">
                <a:solidFill>
                  <a:srgbClr val="D3D3D3"/>
                </a:solidFill>
                <a:latin typeface="Courier New"/>
                <a:cs typeface="Courier New"/>
              </a:rPr>
              <a:t>( </a:t>
            </a: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lang="en-US"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CURRENT_DATE</a:t>
            </a:r>
            <a:r>
              <a:rPr lang="en-US"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lang="en-US"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29</a:t>
            </a:r>
            <a:r>
              <a:rPr lang="en-US"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lang="en-US" sz="1000" spc="-20" dirty="0">
                <a:solidFill>
                  <a:srgbClr val="D3D3D3"/>
                </a:solidFill>
                <a:latin typeface="Courier New"/>
                <a:cs typeface="Courier New"/>
              </a:rPr>
              <a:t> day,</a:t>
            </a:r>
            <a:endParaRPr lang="en-US" sz="1000" dirty="0">
              <a:latin typeface="Courier New"/>
              <a:cs typeface="Courier New"/>
            </a:endParaRPr>
          </a:p>
          <a:p>
            <a:pPr marL="304165">
              <a:lnSpc>
                <a:spcPct val="100000"/>
              </a:lnSpc>
              <a:spcBef>
                <a:spcPts val="120"/>
              </a:spcBef>
            </a:pP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TO_CHAR(CURRENT_DATE</a:t>
            </a:r>
            <a:r>
              <a:rPr lang="en-US"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lang="en-US"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29,</a:t>
            </a:r>
            <a:r>
              <a:rPr lang="en-US"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spc="-10" dirty="0">
                <a:solidFill>
                  <a:srgbClr val="D3D3D3"/>
                </a:solidFill>
                <a:latin typeface="Courier New"/>
                <a:cs typeface="Courier New"/>
              </a:rPr>
              <a:t>'Day')</a:t>
            </a:r>
            <a:endParaRPr lang="en-US" sz="1000" dirty="0">
              <a:latin typeface="Courier New"/>
              <a:cs typeface="Courier New"/>
            </a:endParaRPr>
          </a:p>
          <a:p>
            <a:pPr marL="151765" marR="1592580" indent="304165">
              <a:lnSpc>
                <a:spcPct val="110100"/>
              </a:lnSpc>
            </a:pP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lang="en-US"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spc="-10" dirty="0" err="1">
                <a:solidFill>
                  <a:srgbClr val="D3D3D3"/>
                </a:solidFill>
                <a:latin typeface="Courier New"/>
                <a:cs typeface="Courier New"/>
              </a:rPr>
              <a:t>day_name</a:t>
            </a:r>
            <a:r>
              <a:rPr lang="en-US"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UNION</a:t>
            </a:r>
            <a:r>
              <a:rPr lang="en-US" sz="1000" spc="-25" dirty="0">
                <a:solidFill>
                  <a:srgbClr val="D3D3D3"/>
                </a:solidFill>
                <a:latin typeface="Courier New"/>
                <a:cs typeface="Courier New"/>
              </a:rPr>
              <a:t> ALL </a:t>
            </a: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lang="en-US"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day</a:t>
            </a:r>
            <a:r>
              <a:rPr lang="en-US"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+</a:t>
            </a:r>
            <a:r>
              <a:rPr lang="en-US"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spc="-25" dirty="0">
                <a:solidFill>
                  <a:srgbClr val="D3D3D3"/>
                </a:solidFill>
                <a:latin typeface="Courier New"/>
                <a:cs typeface="Courier New"/>
              </a:rPr>
              <a:t>1,</a:t>
            </a:r>
            <a:endParaRPr lang="en-US" sz="1000" dirty="0">
              <a:latin typeface="Courier New"/>
              <a:cs typeface="Courier New"/>
            </a:endParaRPr>
          </a:p>
          <a:p>
            <a:pPr marL="151765" marR="831215" indent="151765">
              <a:lnSpc>
                <a:spcPct val="110100"/>
              </a:lnSpc>
            </a:pP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TO_CHAR(day</a:t>
            </a:r>
            <a:r>
              <a:rPr lang="en-US"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+</a:t>
            </a:r>
            <a:r>
              <a:rPr lang="en-US"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1,</a:t>
            </a:r>
            <a:r>
              <a:rPr lang="en-US"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spc="-10" dirty="0">
                <a:solidFill>
                  <a:srgbClr val="D3D3D3"/>
                </a:solidFill>
                <a:latin typeface="Courier New"/>
                <a:cs typeface="Courier New"/>
              </a:rPr>
              <a:t>'Day') </a:t>
            </a: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lang="en-US"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spc="-10" dirty="0" err="1">
                <a:solidFill>
                  <a:srgbClr val="D3D3D3"/>
                </a:solidFill>
                <a:latin typeface="Courier New"/>
                <a:cs typeface="Courier New"/>
              </a:rPr>
              <a:t>date_series</a:t>
            </a:r>
            <a:endParaRPr lang="en-US" sz="1000" dirty="0">
              <a:latin typeface="Courier New"/>
              <a:cs typeface="Courier New"/>
            </a:endParaRPr>
          </a:p>
          <a:p>
            <a:pPr marL="151765">
              <a:lnSpc>
                <a:spcPct val="100000"/>
              </a:lnSpc>
              <a:spcBef>
                <a:spcPts val="120"/>
              </a:spcBef>
            </a:pP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lang="en-US"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day</a:t>
            </a:r>
            <a:r>
              <a:rPr lang="en-US"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&lt;</a:t>
            </a:r>
            <a:r>
              <a:rPr lang="en-US"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spc="-10" dirty="0">
                <a:solidFill>
                  <a:srgbClr val="D3D3D3"/>
                </a:solidFill>
                <a:latin typeface="Courier New"/>
                <a:cs typeface="Courier New"/>
              </a:rPr>
              <a:t>CURRENT_DATE</a:t>
            </a:r>
            <a:endParaRPr lang="en-US" sz="1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r>
              <a:rPr lang="en-US" sz="1000" spc="-5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endParaRPr lang="en-US" sz="1000" dirty="0">
              <a:latin typeface="Courier New"/>
              <a:cs typeface="Courier New"/>
            </a:endParaRPr>
          </a:p>
          <a:p>
            <a:pPr>
              <a:lnSpc>
                <a:spcPct val="110100"/>
              </a:lnSpc>
            </a:pP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lang="en-US"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day,</a:t>
            </a:r>
            <a:r>
              <a:rPr lang="en-US"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TRIM(</a:t>
            </a:r>
            <a:r>
              <a:rPr lang="en-US" sz="1000" dirty="0" err="1">
                <a:solidFill>
                  <a:srgbClr val="D3D3D3"/>
                </a:solidFill>
                <a:latin typeface="Courier New"/>
                <a:cs typeface="Courier New"/>
              </a:rPr>
              <a:t>day_name</a:t>
            </a: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r>
              <a:rPr lang="en-US"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lang="en-US"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spc="-10" dirty="0" err="1">
                <a:solidFill>
                  <a:srgbClr val="D3D3D3"/>
                </a:solidFill>
                <a:latin typeface="Courier New"/>
                <a:cs typeface="Courier New"/>
              </a:rPr>
              <a:t>day_name</a:t>
            </a:r>
            <a:r>
              <a:rPr lang="en-US"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lang="en-US"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spc="-10" dirty="0" err="1">
                <a:solidFill>
                  <a:srgbClr val="D3D3D3"/>
                </a:solidFill>
                <a:latin typeface="Courier New"/>
                <a:cs typeface="Courier New"/>
              </a:rPr>
              <a:t>date_series</a:t>
            </a:r>
            <a:endParaRPr lang="en-US" sz="1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ORDER</a:t>
            </a:r>
            <a:r>
              <a:rPr lang="en-US"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lang="en-US"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lang="en-US" sz="1000" spc="-20" dirty="0">
                <a:solidFill>
                  <a:srgbClr val="D3D3D3"/>
                </a:solidFill>
                <a:latin typeface="Courier New"/>
                <a:cs typeface="Courier New"/>
              </a:rPr>
              <a:t>day;</a:t>
            </a:r>
            <a:endParaRPr lang="en-US" sz="1000" dirty="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Hard:</a:t>
            </a:r>
            <a:r>
              <a:rPr sz="18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Cumulative</a:t>
            </a:r>
            <a:r>
              <a:rPr sz="18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Order</a:t>
            </a:r>
            <a:r>
              <a:rPr sz="1800" spc="-2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Days</a:t>
            </a:r>
            <a:r>
              <a:rPr sz="18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Per</a:t>
            </a:r>
            <a:r>
              <a:rPr sz="1800" spc="-2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Georgia"/>
                <a:cs typeface="Georgia"/>
              </a:rPr>
              <a:t>Customer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54098" y="269178"/>
            <a:ext cx="45783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HARD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696" y="717668"/>
            <a:ext cx="8103234" cy="1837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SCENARIO:</a:t>
            </a:r>
            <a:r>
              <a:rPr sz="1300" b="1" spc="-4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customer,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generate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their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first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order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current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useful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cohort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retention analysis</a:t>
            </a:r>
            <a:r>
              <a:rPr sz="1300" spc="-5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(need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empty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days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too).</a:t>
            </a:r>
            <a:endParaRPr sz="1300">
              <a:latin typeface="Calibri"/>
              <a:cs typeface="Calibri"/>
            </a:endParaRPr>
          </a:p>
          <a:p>
            <a:pPr marL="12700" marR="47625">
              <a:lnSpc>
                <a:spcPct val="120100"/>
              </a:lnSpc>
              <a:spcBef>
                <a:spcPts val="57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YOUR</a:t>
            </a:r>
            <a:r>
              <a:rPr sz="1300" b="1" spc="-4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1D3A5E"/>
                </a:solidFill>
                <a:latin typeface="Calibri"/>
                <a:cs typeface="Calibri"/>
              </a:rPr>
              <a:t>TASK: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Anchor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customer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+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first_order_date.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Recursive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walk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forward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until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current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date.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JOIN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back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customers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name.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customer,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day_number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(1,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2,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3...),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date.</a:t>
            </a:r>
            <a:endParaRPr sz="1300">
              <a:latin typeface="Calibri"/>
              <a:cs typeface="Calibri"/>
            </a:endParaRPr>
          </a:p>
          <a:p>
            <a:pPr marL="12700" marR="88265">
              <a:lnSpc>
                <a:spcPct val="116700"/>
              </a:lnSpc>
              <a:spcBef>
                <a:spcPts val="265"/>
              </a:spcBef>
            </a:pPr>
            <a:r>
              <a:rPr sz="1600" spc="-185" dirty="0">
                <a:solidFill>
                  <a:srgbClr val="1D3A5E"/>
                </a:solidFill>
                <a:latin typeface="Segoe UI Symbol"/>
                <a:cs typeface="Segoe UI Symbol"/>
              </a:rPr>
              <a:t>🤔</a:t>
            </a:r>
            <a:r>
              <a:rPr sz="1600" spc="-285" dirty="0">
                <a:solidFill>
                  <a:srgbClr val="1D3A5E"/>
                </a:solidFill>
                <a:latin typeface="Segoe UI Symbol"/>
                <a:cs typeface="Segoe UI Symbol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Hint:</a:t>
            </a:r>
            <a:r>
              <a:rPr sz="1300" b="1" spc="-5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Recursive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can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values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world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anchors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here,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customer's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first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order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date.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Trap: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this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can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HUGE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outputs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(millions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many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customers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×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many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days)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always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LIMIT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practice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or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filter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small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customers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demo.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Georgia"/>
                <a:cs typeface="Georgia"/>
              </a:rPr>
              <a:t>Answer</a:t>
            </a:r>
            <a:r>
              <a:rPr spc="-95" dirty="0">
                <a:latin typeface="Georgia"/>
                <a:cs typeface="Georgia"/>
              </a:rPr>
              <a:t> </a:t>
            </a:r>
            <a:r>
              <a:rPr spc="-20" dirty="0">
                <a:latin typeface="Georgia"/>
                <a:cs typeface="Georgia"/>
              </a:rPr>
              <a:t>(1/2)</a:t>
            </a:r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3956" y="626165"/>
            <a:ext cx="2820035" cy="3716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marR="296545" indent="-152400">
              <a:lnSpc>
                <a:spcPct val="110100"/>
              </a:lnSpc>
              <a:spcBef>
                <a:spcPts val="10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WITH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RECURSIVE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customer_days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endParaRPr sz="1000">
              <a:latin typeface="Courier New"/>
              <a:cs typeface="Courier New"/>
            </a:endParaRPr>
          </a:p>
          <a:p>
            <a:pPr marL="304165" marR="753745">
              <a:lnSpc>
                <a:spcPct val="110100"/>
              </a:lnSpc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cust_id,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MIN(order_date)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day,</a:t>
            </a:r>
            <a:endParaRPr sz="1000">
              <a:latin typeface="Courier New"/>
              <a:cs typeface="Courier New"/>
            </a:endParaRPr>
          </a:p>
          <a:p>
            <a:pPr marL="151765" marR="1287145" indent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1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day_num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sales.orders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cust_id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&lt;=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5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GROUP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cust_id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UNION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ALL</a:t>
            </a:r>
            <a:endParaRPr sz="1000">
              <a:latin typeface="Courier New"/>
              <a:cs typeface="Courier New"/>
            </a:endParaRPr>
          </a:p>
          <a:p>
            <a:pPr marL="151765">
              <a:lnSpc>
                <a:spcPct val="100000"/>
              </a:lnSpc>
              <a:spcBef>
                <a:spcPts val="1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endParaRPr sz="1000">
              <a:latin typeface="Courier New"/>
              <a:cs typeface="Courier New"/>
            </a:endParaRPr>
          </a:p>
          <a:p>
            <a:pPr marL="304165" marR="1897380">
              <a:lnSpc>
                <a:spcPct val="110100"/>
              </a:lnSpc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cust_id,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day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+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1,</a:t>
            </a:r>
            <a:endParaRPr sz="1000">
              <a:latin typeface="Courier New"/>
              <a:cs typeface="Courier New"/>
            </a:endParaRPr>
          </a:p>
          <a:p>
            <a:pPr marL="151765" marR="1287145" indent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day_num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+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1</a:t>
            </a:r>
            <a:r>
              <a:rPr sz="1000" spc="50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customer_days</a:t>
            </a:r>
            <a:endParaRPr sz="1000">
              <a:latin typeface="Courier New"/>
              <a:cs typeface="Courier New"/>
            </a:endParaRPr>
          </a:p>
          <a:p>
            <a:pPr marL="1517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day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&lt;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CURRENT_DATE</a:t>
            </a:r>
            <a:endParaRPr sz="1000">
              <a:latin typeface="Courier New"/>
              <a:cs typeface="Courier New"/>
            </a:endParaRPr>
          </a:p>
          <a:p>
            <a:pPr marL="3041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AND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day_num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&lt;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60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safety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limit</a:t>
            </a:r>
            <a:endParaRPr sz="1000">
              <a:latin typeface="Courier New"/>
              <a:cs typeface="Courier New"/>
            </a:endParaRPr>
          </a:p>
          <a:p>
            <a:pPr marR="2354580">
              <a:lnSpc>
                <a:spcPct val="110100"/>
              </a:lnSpc>
            </a:pP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)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endParaRPr sz="1000">
              <a:latin typeface="Courier New"/>
              <a:cs typeface="Courier New"/>
            </a:endParaRPr>
          </a:p>
          <a:p>
            <a:pPr marL="151765" marR="75374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c.first_name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customer, cd.day,</a:t>
            </a:r>
            <a:endParaRPr sz="1000">
              <a:latin typeface="Courier New"/>
              <a:cs typeface="Courier New"/>
            </a:endParaRPr>
          </a:p>
          <a:p>
            <a:pPr marL="151765">
              <a:lnSpc>
                <a:spcPct val="100000"/>
              </a:lnSpc>
              <a:spcBef>
                <a:spcPts val="1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cd.day_num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customer_days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cd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Georgia"/>
                <a:cs typeface="Georgia"/>
              </a:rPr>
              <a:t>Answer</a:t>
            </a:r>
            <a:r>
              <a:rPr spc="-95" dirty="0">
                <a:latin typeface="Georgia"/>
                <a:cs typeface="Georgia"/>
              </a:rPr>
              <a:t> </a:t>
            </a:r>
            <a:r>
              <a:rPr spc="-20" dirty="0">
                <a:latin typeface="Georgia"/>
                <a:cs typeface="Georgia"/>
              </a:rPr>
              <a:t>(2/2)</a:t>
            </a:r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256" y="626165"/>
            <a:ext cx="2388235" cy="69659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JOIN</a:t>
            </a:r>
            <a:r>
              <a:rPr sz="1000" spc="-6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customers.customers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c</a:t>
            </a:r>
            <a:endParaRPr sz="1000">
              <a:latin typeface="Courier New"/>
              <a:cs typeface="Courier New"/>
            </a:endParaRPr>
          </a:p>
          <a:p>
            <a:pPr marL="12700" marR="5080" indent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ON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cd.cust_id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c.customer_id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cd.cust_id,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cd.day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LIMIT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30;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Crazy:</a:t>
            </a:r>
            <a:r>
              <a:rPr sz="1800" spc="-4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Walk</a:t>
            </a:r>
            <a:r>
              <a:rPr sz="1800" spc="-4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a</a:t>
            </a:r>
            <a:r>
              <a:rPr sz="1800" spc="-4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Synthetic</a:t>
            </a:r>
            <a:r>
              <a:rPr sz="1800" spc="-4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Org</a:t>
            </a:r>
            <a:r>
              <a:rPr sz="1800" spc="-4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Georgia"/>
                <a:cs typeface="Georgia"/>
              </a:rPr>
              <a:t>Chart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31060" y="269178"/>
            <a:ext cx="5041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CRAZY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696" y="717668"/>
            <a:ext cx="8105140" cy="2074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1120" algn="just">
              <a:lnSpc>
                <a:spcPct val="1201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SCENARIO: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RetailMart's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stores.employees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has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manager_id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can't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walk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real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hierarchy.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Instead: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BUILD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synthetic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3-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level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tree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VALUES,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recursive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traverse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CEO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downward.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the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canonical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'org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chart'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interview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question,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adapted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data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have.</a:t>
            </a:r>
            <a:endParaRPr sz="1300">
              <a:latin typeface="Calibri"/>
              <a:cs typeface="Calibri"/>
            </a:endParaRPr>
          </a:p>
          <a:p>
            <a:pPr marL="12700" marR="133985" algn="just">
              <a:lnSpc>
                <a:spcPct val="120100"/>
              </a:lnSpc>
              <a:spcBef>
                <a:spcPts val="57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YOUR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1D3A5E"/>
                </a:solidFill>
                <a:latin typeface="Calibri"/>
                <a:cs typeface="Calibri"/>
              </a:rPr>
              <a:t>TASK: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Create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synthetic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VALUES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employee_id,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name,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manager_id.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Anchor: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manager_id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IS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NULL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CEO).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Recursive: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JOIN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children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parents.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Show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name,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level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(depth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root),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path.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265"/>
              </a:spcBef>
            </a:pPr>
            <a:r>
              <a:rPr sz="1600" spc="-185" dirty="0">
                <a:solidFill>
                  <a:srgbClr val="1D3A5E"/>
                </a:solidFill>
                <a:latin typeface="Segoe UI Symbol"/>
                <a:cs typeface="Segoe UI Symbol"/>
              </a:rPr>
              <a:t>🤔</a:t>
            </a:r>
            <a:r>
              <a:rPr sz="1600" spc="-285" dirty="0">
                <a:solidFill>
                  <a:srgbClr val="1D3A5E"/>
                </a:solidFill>
                <a:latin typeface="Segoe UI Symbol"/>
                <a:cs typeface="Segoe UI Symbol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Hint:</a:t>
            </a:r>
            <a:r>
              <a:rPr sz="1300" b="1" spc="-5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Recursive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org-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chart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pattern: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anchor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=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root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(NULL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parent),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recursive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step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=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JOIN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children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running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CTE.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Trap: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building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'path'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concatenated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string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('CEO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&gt;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VP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&gt;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Mgr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&gt;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Staff')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requires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keeping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path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BOTH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the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anchor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recursive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step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casting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carefully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match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types.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Georgia"/>
                <a:cs typeface="Georgia"/>
              </a:rPr>
              <a:t>Answer</a:t>
            </a:r>
            <a:r>
              <a:rPr spc="-95" dirty="0">
                <a:latin typeface="Georgia"/>
                <a:cs typeface="Georgia"/>
              </a:rPr>
              <a:t> </a:t>
            </a:r>
            <a:r>
              <a:rPr spc="-20" dirty="0">
                <a:latin typeface="Georgia"/>
                <a:cs typeface="Georgia"/>
              </a:rPr>
              <a:t>(1/2)</a:t>
            </a:r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256" y="626165"/>
            <a:ext cx="3074035" cy="3716654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WITH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RECURSIVE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org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(id,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name,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mgr_id,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lvl,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path)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316865">
              <a:lnSpc>
                <a:spcPct val="100000"/>
              </a:lnSpc>
              <a:spcBef>
                <a:spcPts val="12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Synthetic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org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chart</a:t>
            </a:r>
            <a:endParaRPr sz="1000">
              <a:latin typeface="Courier New"/>
              <a:cs typeface="Courier New"/>
            </a:endParaRPr>
          </a:p>
          <a:p>
            <a:pPr marL="469265" marR="156845" indent="-15240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id,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name,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mgr_id,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1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lvl,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name::TEXT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path</a:t>
            </a:r>
            <a:endParaRPr sz="1000">
              <a:latin typeface="Courier New"/>
              <a:cs typeface="Courier New"/>
            </a:endParaRPr>
          </a:p>
          <a:p>
            <a:pPr marL="3168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(VALUES</a:t>
            </a:r>
            <a:endParaRPr sz="1000">
              <a:latin typeface="Courier New"/>
              <a:cs typeface="Courier New"/>
            </a:endParaRPr>
          </a:p>
          <a:p>
            <a:pPr marL="469265">
              <a:lnSpc>
                <a:spcPct val="100000"/>
              </a:lnSpc>
              <a:spcBef>
                <a:spcPts val="125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(1,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'Asha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(CEO)',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NULL),</a:t>
            </a:r>
            <a:endParaRPr sz="1000">
              <a:latin typeface="Courier New"/>
              <a:cs typeface="Courier New"/>
            </a:endParaRPr>
          </a:p>
          <a:p>
            <a:pPr marL="4692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(2,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'Bina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(VP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Sales)',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1),</a:t>
            </a:r>
            <a:endParaRPr sz="1000">
              <a:latin typeface="Courier New"/>
              <a:cs typeface="Courier New"/>
            </a:endParaRPr>
          </a:p>
          <a:p>
            <a:pPr marL="4692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(3,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'Chetan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(VP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Ops)',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1),</a:t>
            </a:r>
            <a:endParaRPr sz="1000">
              <a:latin typeface="Courier New"/>
              <a:cs typeface="Courier New"/>
            </a:endParaRPr>
          </a:p>
          <a:p>
            <a:pPr marL="4692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(4,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'Diya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(Sales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Mgr)',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2),</a:t>
            </a:r>
            <a:endParaRPr sz="1000">
              <a:latin typeface="Courier New"/>
              <a:cs typeface="Courier New"/>
            </a:endParaRPr>
          </a:p>
          <a:p>
            <a:pPr marL="4692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(5,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'Esha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(Ops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Mgr)',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3),</a:t>
            </a:r>
            <a:endParaRPr sz="1000">
              <a:latin typeface="Courier New"/>
              <a:cs typeface="Courier New"/>
            </a:endParaRPr>
          </a:p>
          <a:p>
            <a:pPr marL="4692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(6,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'Farhan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(Rep)',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4),</a:t>
            </a:r>
            <a:endParaRPr sz="1000">
              <a:latin typeface="Courier New"/>
              <a:cs typeface="Courier New"/>
            </a:endParaRPr>
          </a:p>
          <a:p>
            <a:pPr marL="469265">
              <a:lnSpc>
                <a:spcPct val="100000"/>
              </a:lnSpc>
              <a:spcBef>
                <a:spcPts val="125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(7,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'Gita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(Rep)',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4),</a:t>
            </a:r>
            <a:endParaRPr sz="1000">
              <a:latin typeface="Courier New"/>
              <a:cs typeface="Courier New"/>
            </a:endParaRPr>
          </a:p>
          <a:p>
            <a:pPr marL="4692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(8,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'Hari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(Staff)',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5)</a:t>
            </a:r>
            <a:endParaRPr sz="1000">
              <a:latin typeface="Courier New"/>
              <a:cs typeface="Courier New"/>
            </a:endParaRPr>
          </a:p>
          <a:p>
            <a:pPr marL="316865" marR="7670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emp(id,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name,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mgr_id)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mgr_id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NULL</a:t>
            </a:r>
            <a:r>
              <a:rPr sz="1000" spc="50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UNION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ALL</a:t>
            </a:r>
            <a:endParaRPr sz="1000">
              <a:latin typeface="Courier New"/>
              <a:cs typeface="Courier New"/>
            </a:endParaRPr>
          </a:p>
          <a:p>
            <a:pPr marL="469265" marR="462280" indent="-15240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e.id,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e.name,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e.mgr_id,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o.lvl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+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1,</a:t>
            </a:r>
            <a:endParaRPr sz="1000">
              <a:latin typeface="Courier New"/>
              <a:cs typeface="Courier New"/>
            </a:endParaRPr>
          </a:p>
          <a:p>
            <a:pPr marL="316865" marR="690880" indent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o.path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||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&gt;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||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e.name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(VALUES</a:t>
            </a:r>
            <a:endParaRPr sz="1000">
              <a:latin typeface="Courier New"/>
              <a:cs typeface="Courier New"/>
            </a:endParaRPr>
          </a:p>
          <a:p>
            <a:pPr marL="4692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(1,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'Asha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(CEO)',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NULL),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Georgia"/>
                <a:cs typeface="Georgia"/>
              </a:rPr>
              <a:t>Answer</a:t>
            </a:r>
            <a:r>
              <a:rPr spc="-95" dirty="0">
                <a:latin typeface="Georgia"/>
                <a:cs typeface="Georgia"/>
              </a:rPr>
              <a:t> </a:t>
            </a:r>
            <a:r>
              <a:rPr spc="-20" dirty="0">
                <a:latin typeface="Georgia"/>
                <a:cs typeface="Georgia"/>
              </a:rPr>
              <a:t>(2/2)</a:t>
            </a:r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3956" y="626165"/>
            <a:ext cx="2527935" cy="220662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456565">
              <a:lnSpc>
                <a:spcPct val="100000"/>
              </a:lnSpc>
              <a:spcBef>
                <a:spcPts val="2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(2,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'Bina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(VP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Sales)',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1),</a:t>
            </a:r>
            <a:endParaRPr sz="1000">
              <a:latin typeface="Courier New"/>
              <a:cs typeface="Courier New"/>
            </a:endParaRPr>
          </a:p>
          <a:p>
            <a:pPr marL="4565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(3,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'Chetan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(VP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Ops)',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1),</a:t>
            </a:r>
            <a:endParaRPr sz="1000">
              <a:latin typeface="Courier New"/>
              <a:cs typeface="Courier New"/>
            </a:endParaRPr>
          </a:p>
          <a:p>
            <a:pPr marL="4565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(4,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'Diya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(Sales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Mgr)',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2),</a:t>
            </a:r>
            <a:endParaRPr sz="1000">
              <a:latin typeface="Courier New"/>
              <a:cs typeface="Courier New"/>
            </a:endParaRPr>
          </a:p>
          <a:p>
            <a:pPr marL="4565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(5,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'Esha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(Ops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Mgr)',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3),</a:t>
            </a:r>
            <a:endParaRPr sz="1000">
              <a:latin typeface="Courier New"/>
              <a:cs typeface="Courier New"/>
            </a:endParaRPr>
          </a:p>
          <a:p>
            <a:pPr marL="456565">
              <a:lnSpc>
                <a:spcPct val="100000"/>
              </a:lnSpc>
              <a:spcBef>
                <a:spcPts val="125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(6,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'Farhan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(Rep)',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4),</a:t>
            </a:r>
            <a:endParaRPr sz="1000">
              <a:latin typeface="Courier New"/>
              <a:cs typeface="Courier New"/>
            </a:endParaRPr>
          </a:p>
          <a:p>
            <a:pPr marL="4565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(7,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'Gita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(Rep)',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4),</a:t>
            </a:r>
            <a:endParaRPr sz="1000">
              <a:latin typeface="Courier New"/>
              <a:cs typeface="Courier New"/>
            </a:endParaRPr>
          </a:p>
          <a:p>
            <a:pPr marL="4565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(8,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'Hari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(Staff)',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5)</a:t>
            </a:r>
            <a:endParaRPr sz="1000">
              <a:latin typeface="Courier New"/>
              <a:cs typeface="Courier New"/>
            </a:endParaRPr>
          </a:p>
          <a:p>
            <a:pPr marL="304165" marR="50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e(id,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name,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mgr_id)</a:t>
            </a:r>
            <a:r>
              <a:rPr sz="1000" spc="50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JOIN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org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ON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e.mgr_id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o.id</a:t>
            </a:r>
            <a:endParaRPr sz="1000">
              <a:latin typeface="Courier New"/>
              <a:cs typeface="Courier New"/>
            </a:endParaRPr>
          </a:p>
          <a:p>
            <a:pPr marL="151765">
              <a:lnSpc>
                <a:spcPct val="100000"/>
              </a:lnSpc>
              <a:spcBef>
                <a:spcPts val="120"/>
              </a:spcBef>
            </a:pP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  <a:p>
            <a:pPr marR="84391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lvl,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name,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path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org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lvl,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name;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1A5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77303" y="345505"/>
            <a:ext cx="880744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30" dirty="0">
                <a:solidFill>
                  <a:srgbClr val="FFFFFF"/>
                </a:solidFill>
                <a:latin typeface="Calibri"/>
                <a:cs typeface="Calibri"/>
              </a:rPr>
              <a:t>TAKEAWAYS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205676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Recursive</a:t>
            </a:r>
            <a:r>
              <a:rPr sz="20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CTEs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925434" cy="739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Recursive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=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anchor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(seed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rows)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+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UNION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+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recursive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step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(references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itself).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PostgreSQL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repeats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until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the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recursive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step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zero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rows.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for: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hierarchies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(org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charts,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category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trees),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series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(dates,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numbers),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tree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traversal.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ALWAYS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include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termination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condition.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Add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safety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counter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(lvl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&lt;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100)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guard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against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runaway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recursion.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BE36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7653" y="345505"/>
            <a:ext cx="10598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COMMON</a:t>
            </a:r>
            <a:r>
              <a:rPr sz="10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MISTAKE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24231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Infinite</a:t>
            </a:r>
            <a:r>
              <a:rPr sz="2000" spc="-6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Recursion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409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Mistake:</a:t>
            </a:r>
          </a:p>
          <a:p>
            <a:pPr marL="14604" marR="56515">
              <a:lnSpc>
                <a:spcPct val="120100"/>
              </a:lnSpc>
            </a:pPr>
            <a:r>
              <a:rPr spc="-10" dirty="0"/>
              <a:t>Recursive</a:t>
            </a:r>
            <a:r>
              <a:rPr spc="-35" dirty="0"/>
              <a:t> </a:t>
            </a:r>
            <a:r>
              <a:rPr dirty="0"/>
              <a:t>step</a:t>
            </a:r>
            <a:r>
              <a:rPr spc="-35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dirty="0"/>
              <a:t>no</a:t>
            </a:r>
            <a:r>
              <a:rPr spc="-35" dirty="0"/>
              <a:t> </a:t>
            </a:r>
            <a:r>
              <a:rPr spc="-10" dirty="0"/>
              <a:t>termination</a:t>
            </a:r>
            <a:r>
              <a:rPr spc="-35" dirty="0"/>
              <a:t> </a:t>
            </a:r>
            <a:r>
              <a:rPr spc="-10" dirty="0"/>
              <a:t>condition.</a:t>
            </a:r>
            <a:r>
              <a:rPr spc="-35" dirty="0"/>
              <a:t> </a:t>
            </a:r>
            <a:r>
              <a:rPr spc="-10" dirty="0"/>
              <a:t>PostgreSQL</a:t>
            </a:r>
            <a:r>
              <a:rPr spc="-35" dirty="0"/>
              <a:t> </a:t>
            </a:r>
            <a:r>
              <a:rPr spc="-10" dirty="0"/>
              <a:t>keeps</a:t>
            </a:r>
            <a:r>
              <a:rPr spc="-30" dirty="0"/>
              <a:t> </a:t>
            </a:r>
            <a:r>
              <a:rPr spc="-10" dirty="0"/>
              <a:t>recursing</a:t>
            </a:r>
            <a:r>
              <a:rPr spc="-35" dirty="0"/>
              <a:t> </a:t>
            </a:r>
            <a:r>
              <a:rPr dirty="0"/>
              <a:t>—</a:t>
            </a:r>
            <a:r>
              <a:rPr spc="-35" dirty="0"/>
              <a:t> </a:t>
            </a:r>
            <a:r>
              <a:rPr spc="-10" dirty="0"/>
              <a:t>eventually</a:t>
            </a:r>
            <a:r>
              <a:rPr spc="-35" dirty="0"/>
              <a:t> </a:t>
            </a:r>
            <a:r>
              <a:rPr spc="-10" dirty="0"/>
              <a:t>errors</a:t>
            </a:r>
            <a:r>
              <a:rPr spc="-35" dirty="0"/>
              <a:t> </a:t>
            </a:r>
            <a:r>
              <a:rPr dirty="0"/>
              <a:t>out,</a:t>
            </a:r>
            <a:r>
              <a:rPr spc="-35" dirty="0"/>
              <a:t> </a:t>
            </a:r>
            <a:r>
              <a:rPr dirty="0"/>
              <a:t>but</a:t>
            </a:r>
            <a:r>
              <a:rPr spc="-3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query</a:t>
            </a:r>
            <a:r>
              <a:rPr spc="-35" dirty="0"/>
              <a:t> </a:t>
            </a:r>
            <a:r>
              <a:rPr spc="-20" dirty="0"/>
              <a:t>runs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while</a:t>
            </a:r>
            <a:r>
              <a:rPr spc="-25" dirty="0"/>
              <a:t> </a:t>
            </a:r>
            <a:r>
              <a:rPr spc="-10" dirty="0"/>
              <a:t>first.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spc="-10" dirty="0"/>
              <a:t>worse:</a:t>
            </a:r>
            <a:r>
              <a:rPr spc="-3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cycle</a:t>
            </a:r>
            <a:r>
              <a:rPr spc="-2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spc="-10" dirty="0"/>
              <a:t>(employee</a:t>
            </a:r>
            <a:r>
              <a:rPr spc="-3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spc="-10" dirty="0"/>
              <a:t>reports</a:t>
            </a:r>
            <a:r>
              <a:rPr spc="-3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B</a:t>
            </a:r>
            <a:r>
              <a:rPr spc="-30" dirty="0"/>
              <a:t> </a:t>
            </a:r>
            <a:r>
              <a:rPr spc="-10" dirty="0"/>
              <a:t>reports</a:t>
            </a:r>
            <a:r>
              <a:rPr spc="-3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A)</a:t>
            </a:r>
            <a:r>
              <a:rPr spc="-30" dirty="0"/>
              <a:t> </a:t>
            </a:r>
            <a:r>
              <a:rPr dirty="0"/>
              <a:t>causes</a:t>
            </a:r>
            <a:r>
              <a:rPr spc="-25" dirty="0"/>
              <a:t> </a:t>
            </a:r>
            <a:r>
              <a:rPr spc="-10" dirty="0"/>
              <a:t>infinite</a:t>
            </a:r>
            <a:r>
              <a:rPr spc="-30" dirty="0"/>
              <a:t> </a:t>
            </a:r>
            <a:r>
              <a:rPr spc="-10" dirty="0"/>
              <a:t>recursion.</a:t>
            </a:r>
          </a:p>
          <a:p>
            <a:pPr marL="14604">
              <a:lnSpc>
                <a:spcPct val="100000"/>
              </a:lnSpc>
              <a:spcBef>
                <a:spcPts val="890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spc="-20" dirty="0"/>
              <a:t>Fix:</a:t>
            </a:r>
          </a:p>
          <a:p>
            <a:pPr marL="14604" marR="5080">
              <a:lnSpc>
                <a:spcPct val="120100"/>
              </a:lnSpc>
            </a:pPr>
            <a:r>
              <a:rPr spc="-10" dirty="0"/>
              <a:t>Always</a:t>
            </a:r>
            <a:r>
              <a:rPr spc="-35" dirty="0"/>
              <a:t> </a:t>
            </a:r>
            <a:r>
              <a:rPr dirty="0"/>
              <a:t>include</a:t>
            </a:r>
            <a:r>
              <a:rPr spc="-3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stop</a:t>
            </a:r>
            <a:r>
              <a:rPr spc="-35" dirty="0"/>
              <a:t> </a:t>
            </a:r>
            <a:r>
              <a:rPr spc="-10" dirty="0"/>
              <a:t>condition:</a:t>
            </a:r>
            <a:r>
              <a:rPr spc="-30" dirty="0"/>
              <a:t> </a:t>
            </a:r>
            <a:r>
              <a:rPr dirty="0"/>
              <a:t>WHERE</a:t>
            </a:r>
            <a:r>
              <a:rPr spc="-35" dirty="0"/>
              <a:t> </a:t>
            </a:r>
            <a:r>
              <a:rPr dirty="0"/>
              <a:t>day</a:t>
            </a:r>
            <a:r>
              <a:rPr spc="-30" dirty="0"/>
              <a:t> </a:t>
            </a:r>
            <a:r>
              <a:rPr dirty="0"/>
              <a:t>&lt;</a:t>
            </a:r>
            <a:r>
              <a:rPr spc="-35" dirty="0"/>
              <a:t> </a:t>
            </a:r>
            <a:r>
              <a:rPr spc="-20" dirty="0"/>
              <a:t>CURRENT_DATE,</a:t>
            </a:r>
            <a:r>
              <a:rPr spc="-35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depth</a:t>
            </a:r>
            <a:r>
              <a:rPr spc="-30" dirty="0"/>
              <a:t> </a:t>
            </a:r>
            <a:r>
              <a:rPr dirty="0"/>
              <a:t>&lt;</a:t>
            </a:r>
            <a:r>
              <a:rPr spc="-35" dirty="0"/>
              <a:t> </a:t>
            </a:r>
            <a:r>
              <a:rPr dirty="0"/>
              <a:t>100.</a:t>
            </a:r>
            <a:r>
              <a:rPr spc="-30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dirty="0"/>
              <a:t>cyclic</a:t>
            </a:r>
            <a:r>
              <a:rPr spc="-35" dirty="0"/>
              <a:t> </a:t>
            </a:r>
            <a:r>
              <a:rPr spc="-10" dirty="0"/>
              <a:t>data,</a:t>
            </a:r>
            <a:r>
              <a:rPr spc="-30" dirty="0"/>
              <a:t> </a:t>
            </a:r>
            <a:r>
              <a:rPr dirty="0"/>
              <a:t>use</a:t>
            </a:r>
            <a:r>
              <a:rPr spc="-35" dirty="0"/>
              <a:t> </a:t>
            </a:r>
            <a:r>
              <a:rPr dirty="0"/>
              <a:t>UNION</a:t>
            </a:r>
            <a:r>
              <a:rPr spc="-30" dirty="0"/>
              <a:t> </a:t>
            </a:r>
            <a:r>
              <a:rPr spc="-10" dirty="0"/>
              <a:t>(which deduplicates)</a:t>
            </a:r>
            <a:r>
              <a:rPr spc="-35" dirty="0"/>
              <a:t> </a:t>
            </a:r>
            <a:r>
              <a:rPr spc="-10" dirty="0"/>
              <a:t>instead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UNION</a:t>
            </a:r>
            <a:r>
              <a:rPr spc="-35" dirty="0"/>
              <a:t> </a:t>
            </a:r>
            <a:r>
              <a:rPr dirty="0"/>
              <a:t>ALL</a:t>
            </a:r>
            <a:r>
              <a:rPr spc="-35" dirty="0"/>
              <a:t> </a:t>
            </a:r>
            <a:r>
              <a:rPr dirty="0"/>
              <a:t>—</a:t>
            </a:r>
            <a:r>
              <a:rPr spc="-30" dirty="0"/>
              <a:t> </a:t>
            </a:r>
            <a:r>
              <a:rPr dirty="0"/>
              <a:t>costs</a:t>
            </a:r>
            <a:r>
              <a:rPr spc="-35" dirty="0"/>
              <a:t> </a:t>
            </a:r>
            <a:r>
              <a:rPr dirty="0"/>
              <a:t>more</a:t>
            </a:r>
            <a:r>
              <a:rPr spc="-35" dirty="0"/>
              <a:t> </a:t>
            </a:r>
            <a:r>
              <a:rPr dirty="0"/>
              <a:t>but</a:t>
            </a:r>
            <a:r>
              <a:rPr spc="-35" dirty="0"/>
              <a:t> </a:t>
            </a:r>
            <a:r>
              <a:rPr spc="-10" dirty="0"/>
              <a:t>breaks</a:t>
            </a:r>
            <a:r>
              <a:rPr spc="-35" dirty="0"/>
              <a:t> </a:t>
            </a:r>
            <a:r>
              <a:rPr spc="-10" dirty="0"/>
              <a:t>cycles.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156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35417" y="345505"/>
            <a:ext cx="3638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STORY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14668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Try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It</a:t>
            </a:r>
            <a:r>
              <a:rPr sz="2000" spc="-1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Live!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912734" cy="50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Modify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query.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Convert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EXISTS.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Add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another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step.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Increase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recursion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depth.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Understanding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comes</a:t>
            </a:r>
            <a:r>
              <a:rPr sz="1300" spc="-5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experimentation.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66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dirty="0"/>
              <a:t>Challenge</a:t>
            </a:r>
            <a:r>
              <a:rPr spc="-60" dirty="0"/>
              <a:t> </a:t>
            </a:r>
            <a:r>
              <a:rPr dirty="0"/>
              <a:t>1:</a:t>
            </a:r>
            <a:r>
              <a:rPr spc="-55" dirty="0"/>
              <a:t> </a:t>
            </a:r>
            <a:r>
              <a:rPr dirty="0"/>
              <a:t>EXISTS</a:t>
            </a:r>
            <a:r>
              <a:rPr spc="-55" dirty="0"/>
              <a:t> </a:t>
            </a:r>
            <a:r>
              <a:rPr dirty="0"/>
              <a:t>Speed</a:t>
            </a:r>
            <a:r>
              <a:rPr spc="-55" dirty="0"/>
              <a:t> </a:t>
            </a:r>
            <a:r>
              <a:rPr spc="-20" dirty="0"/>
              <a:t>Demo</a:t>
            </a:r>
          </a:p>
        </p:txBody>
      </p:sp>
      <p:sp>
        <p:nvSpPr>
          <p:cNvPr id="5" name="object 5"/>
          <p:cNvSpPr/>
          <p:nvPr/>
        </p:nvSpPr>
        <p:spPr>
          <a:xfrm>
            <a:off x="273964" y="685446"/>
            <a:ext cx="8595360" cy="4114800"/>
          </a:xfrm>
          <a:custGeom>
            <a:avLst/>
            <a:gdLst/>
            <a:ahLst/>
            <a:cxnLst/>
            <a:rect l="l" t="t" r="r" b="b"/>
            <a:pathLst>
              <a:path w="8595360" h="4114800">
                <a:moveTo>
                  <a:pt x="8594991" y="0"/>
                </a:moveTo>
                <a:lnTo>
                  <a:pt x="0" y="0"/>
                </a:lnTo>
                <a:lnTo>
                  <a:pt x="0" y="4114431"/>
                </a:lnTo>
                <a:lnTo>
                  <a:pt x="4297680" y="4114431"/>
                </a:lnTo>
                <a:lnTo>
                  <a:pt x="8594991" y="4114431"/>
                </a:lnTo>
                <a:lnTo>
                  <a:pt x="8594991" y="0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1256" y="717592"/>
            <a:ext cx="3531235" cy="160337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Customers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who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have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ordered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(EXISTS)</a:t>
            </a:r>
            <a:endParaRPr sz="1000">
              <a:latin typeface="Courier New"/>
              <a:cs typeface="Courier New"/>
            </a:endParaRPr>
          </a:p>
          <a:p>
            <a:pPr marL="12700" marR="5080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c.first_name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customers.customers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c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EXISTS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164465" marR="995044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1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sales.orders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o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o.cust_id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c.customer_id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LIMIT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10;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YOUR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TURN: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Rewrite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as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IN-subquery,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compare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EXPLAIN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ANALYZE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timings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66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dirty="0"/>
              <a:t>Challenge</a:t>
            </a:r>
            <a:r>
              <a:rPr spc="-40" dirty="0"/>
              <a:t> </a:t>
            </a:r>
            <a:r>
              <a:rPr dirty="0"/>
              <a:t>2:</a:t>
            </a:r>
            <a:r>
              <a:rPr spc="-35" dirty="0"/>
              <a:t> </a:t>
            </a:r>
            <a:r>
              <a:rPr spc="-10" dirty="0"/>
              <a:t>Correlated</a:t>
            </a:r>
            <a:r>
              <a:rPr spc="-35" dirty="0"/>
              <a:t> </a:t>
            </a:r>
            <a:r>
              <a:rPr spc="-30" dirty="0"/>
              <a:t>Per-</a:t>
            </a:r>
            <a:r>
              <a:rPr spc="-10" dirty="0"/>
              <a:t>Customer</a:t>
            </a:r>
            <a:r>
              <a:rPr spc="-35" dirty="0"/>
              <a:t> </a:t>
            </a:r>
            <a:r>
              <a:rPr spc="-10" dirty="0"/>
              <a:t>Count</a:t>
            </a:r>
          </a:p>
        </p:txBody>
      </p:sp>
      <p:sp>
        <p:nvSpPr>
          <p:cNvPr id="5" name="object 5"/>
          <p:cNvSpPr/>
          <p:nvPr/>
        </p:nvSpPr>
        <p:spPr>
          <a:xfrm>
            <a:off x="273964" y="685446"/>
            <a:ext cx="8595360" cy="4114800"/>
          </a:xfrm>
          <a:custGeom>
            <a:avLst/>
            <a:gdLst/>
            <a:ahLst/>
            <a:cxnLst/>
            <a:rect l="l" t="t" r="r" b="b"/>
            <a:pathLst>
              <a:path w="8595360" h="4114800">
                <a:moveTo>
                  <a:pt x="8594991" y="0"/>
                </a:moveTo>
                <a:lnTo>
                  <a:pt x="0" y="0"/>
                </a:lnTo>
                <a:lnTo>
                  <a:pt x="0" y="4114431"/>
                </a:lnTo>
                <a:lnTo>
                  <a:pt x="4297680" y="4114431"/>
                </a:lnTo>
                <a:lnTo>
                  <a:pt x="8594991" y="4114431"/>
                </a:lnTo>
                <a:lnTo>
                  <a:pt x="8594991" y="0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1256" y="717592"/>
            <a:ext cx="3149600" cy="1428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6845">
              <a:lnSpc>
                <a:spcPct val="114999"/>
              </a:lnSpc>
              <a:spcBef>
                <a:spcPts val="10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Each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customer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with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their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order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count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c.first_name,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(SELECT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COUNT(*)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sales.orders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  <a:p>
            <a:pPr marL="316865" marR="461645" indent="-76835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o.cust_id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c.customer_id)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orders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6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customers.customers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c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orders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DESC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NULLS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LAST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LIMIT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15;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66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dirty="0"/>
              <a:t>Challenge</a:t>
            </a:r>
            <a:r>
              <a:rPr spc="-40" dirty="0"/>
              <a:t> </a:t>
            </a:r>
            <a:r>
              <a:rPr dirty="0"/>
              <a:t>3:</a:t>
            </a:r>
            <a:r>
              <a:rPr spc="-35" dirty="0"/>
              <a:t> </a:t>
            </a:r>
            <a:r>
              <a:rPr spc="-30" dirty="0"/>
              <a:t>Two-</a:t>
            </a:r>
            <a:r>
              <a:rPr dirty="0"/>
              <a:t>Step</a:t>
            </a:r>
            <a:r>
              <a:rPr spc="-35" dirty="0"/>
              <a:t> </a:t>
            </a:r>
            <a:r>
              <a:rPr dirty="0"/>
              <a:t>CTE</a:t>
            </a:r>
            <a:r>
              <a:rPr spc="-35" dirty="0"/>
              <a:t> </a:t>
            </a:r>
            <a:r>
              <a:rPr spc="-10" dirty="0"/>
              <a:t>Pattern</a:t>
            </a:r>
          </a:p>
        </p:txBody>
      </p:sp>
      <p:sp>
        <p:nvSpPr>
          <p:cNvPr id="5" name="object 5"/>
          <p:cNvSpPr/>
          <p:nvPr/>
        </p:nvSpPr>
        <p:spPr>
          <a:xfrm>
            <a:off x="273964" y="685446"/>
            <a:ext cx="8595360" cy="4114800"/>
          </a:xfrm>
          <a:custGeom>
            <a:avLst/>
            <a:gdLst/>
            <a:ahLst/>
            <a:cxnLst/>
            <a:rect l="l" t="t" r="r" b="b"/>
            <a:pathLst>
              <a:path w="8595360" h="4114800">
                <a:moveTo>
                  <a:pt x="8594991" y="0"/>
                </a:moveTo>
                <a:lnTo>
                  <a:pt x="0" y="0"/>
                </a:lnTo>
                <a:lnTo>
                  <a:pt x="0" y="4114431"/>
                </a:lnTo>
                <a:lnTo>
                  <a:pt x="4297680" y="4114431"/>
                </a:lnTo>
                <a:lnTo>
                  <a:pt x="8594991" y="4114431"/>
                </a:lnTo>
                <a:lnTo>
                  <a:pt x="8594991" y="0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3956" y="717592"/>
            <a:ext cx="3353435" cy="2305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82344">
              <a:lnSpc>
                <a:spcPct val="114999"/>
              </a:lnSpc>
              <a:spcBef>
                <a:spcPts val="10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High-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spend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customers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in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2024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WITH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high_spenders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151765" marR="220979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cust_id,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SUM(net_total)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total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sales.orders</a:t>
            </a:r>
            <a:endParaRPr sz="1000">
              <a:latin typeface="Courier New"/>
              <a:cs typeface="Courier New"/>
            </a:endParaRPr>
          </a:p>
          <a:p>
            <a:pPr marL="151765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EXTRACT(YEAR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order_date)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2024</a:t>
            </a:r>
            <a:endParaRPr sz="1000">
              <a:latin typeface="Courier New"/>
              <a:cs typeface="Courier New"/>
            </a:endParaRPr>
          </a:p>
          <a:p>
            <a:pPr marL="151765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GROUP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cust_id</a:t>
            </a:r>
            <a:endParaRPr sz="1000">
              <a:latin typeface="Courier New"/>
              <a:cs typeface="Courier New"/>
            </a:endParaRPr>
          </a:p>
          <a:p>
            <a:pPr marL="151765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HAVING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SUM(net_total)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&gt;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10000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  <a:p>
            <a:pPr marR="1134745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c.first_name,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hs.total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high_spenders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hs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JOIN</a:t>
            </a:r>
            <a:r>
              <a:rPr sz="1000" spc="-6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customers.customers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c</a:t>
            </a:r>
            <a:endParaRPr sz="1000">
              <a:latin typeface="Courier New"/>
              <a:cs typeface="Courier New"/>
            </a:endParaRPr>
          </a:p>
          <a:p>
            <a:pPr marR="906780" indent="151765">
              <a:lnSpc>
                <a:spcPct val="114999"/>
              </a:lnSpc>
              <a:spcBef>
                <a:spcPts val="5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ON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hs.cust_id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c.customer_id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hs.total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DESC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LIMIT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10;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66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dirty="0"/>
              <a:t>Challenge</a:t>
            </a:r>
            <a:r>
              <a:rPr spc="-50" dirty="0"/>
              <a:t> </a:t>
            </a:r>
            <a:r>
              <a:rPr dirty="0"/>
              <a:t>4:</a:t>
            </a:r>
            <a:r>
              <a:rPr spc="-45" dirty="0"/>
              <a:t> </a:t>
            </a:r>
            <a:r>
              <a:rPr spc="-10" dirty="0"/>
              <a:t>Recursive</a:t>
            </a:r>
            <a:r>
              <a:rPr spc="-50" dirty="0"/>
              <a:t> </a:t>
            </a:r>
            <a:r>
              <a:rPr dirty="0"/>
              <a:t>—</a:t>
            </a:r>
            <a:r>
              <a:rPr spc="-45" dirty="0"/>
              <a:t> </a:t>
            </a:r>
            <a:r>
              <a:rPr dirty="0"/>
              <a:t>Date</a:t>
            </a:r>
            <a:r>
              <a:rPr spc="-40" dirty="0"/>
              <a:t> </a:t>
            </a:r>
            <a:r>
              <a:rPr spc="-10" dirty="0"/>
              <a:t>Series</a:t>
            </a:r>
          </a:p>
        </p:txBody>
      </p:sp>
      <p:sp>
        <p:nvSpPr>
          <p:cNvPr id="5" name="object 5"/>
          <p:cNvSpPr/>
          <p:nvPr/>
        </p:nvSpPr>
        <p:spPr>
          <a:xfrm>
            <a:off x="273964" y="685446"/>
            <a:ext cx="8595360" cy="4114800"/>
          </a:xfrm>
          <a:custGeom>
            <a:avLst/>
            <a:gdLst/>
            <a:ahLst/>
            <a:cxnLst/>
            <a:rect l="l" t="t" r="r" b="b"/>
            <a:pathLst>
              <a:path w="8595360" h="4114800">
                <a:moveTo>
                  <a:pt x="8594991" y="0"/>
                </a:moveTo>
                <a:lnTo>
                  <a:pt x="0" y="0"/>
                </a:lnTo>
                <a:lnTo>
                  <a:pt x="0" y="4114431"/>
                </a:lnTo>
                <a:lnTo>
                  <a:pt x="4297680" y="4114431"/>
                </a:lnTo>
                <a:lnTo>
                  <a:pt x="8594991" y="4114431"/>
                </a:lnTo>
                <a:lnTo>
                  <a:pt x="8594991" y="0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3956" y="717592"/>
            <a:ext cx="2743200" cy="1778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14999"/>
              </a:lnSpc>
              <a:spcBef>
                <a:spcPts val="10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Last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7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days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as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recursive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series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WITH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RECURSIVE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last_7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151765" marR="296545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CURRENT_DATE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6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day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UNION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ALL</a:t>
            </a:r>
            <a:endParaRPr sz="1000">
              <a:latin typeface="Courier New"/>
              <a:cs typeface="Courier New"/>
            </a:endParaRPr>
          </a:p>
          <a:p>
            <a:pPr marL="151765" marR="601345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day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+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1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last_7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day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&lt;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CURRENT_DATE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  <a:p>
            <a:pPr marL="151765" marR="372745" indent="-152400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day,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TO_CHAR(day,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'Day')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day_name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last_7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day;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BE36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7653" y="345505"/>
            <a:ext cx="10598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COMMON</a:t>
            </a:r>
            <a:r>
              <a:rPr sz="10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MISTAKE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3765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EXISTS</a:t>
            </a:r>
            <a:r>
              <a:rPr sz="2000" spc="-4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Without</a:t>
            </a:r>
            <a:r>
              <a:rPr sz="2000" spc="-4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Correlation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409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Mistake:</a:t>
            </a:r>
          </a:p>
          <a:p>
            <a:pPr marL="14604" marR="5080">
              <a:lnSpc>
                <a:spcPct val="120100"/>
              </a:lnSpc>
            </a:pPr>
            <a:r>
              <a:rPr dirty="0"/>
              <a:t>WHERE</a:t>
            </a:r>
            <a:r>
              <a:rPr spc="-40" dirty="0"/>
              <a:t> </a:t>
            </a:r>
            <a:r>
              <a:rPr dirty="0"/>
              <a:t>EXISTS</a:t>
            </a:r>
            <a:r>
              <a:rPr spc="-35" dirty="0"/>
              <a:t> </a:t>
            </a:r>
            <a:r>
              <a:rPr spc="-10" dirty="0"/>
              <a:t>(SELECT</a:t>
            </a:r>
            <a:r>
              <a:rPr spc="-40" dirty="0"/>
              <a:t> </a:t>
            </a:r>
            <a:r>
              <a:rPr dirty="0"/>
              <a:t>1</a:t>
            </a:r>
            <a:r>
              <a:rPr spc="-35" dirty="0"/>
              <a:t> </a:t>
            </a:r>
            <a:r>
              <a:rPr dirty="0"/>
              <a:t>FROM</a:t>
            </a:r>
            <a:r>
              <a:rPr spc="-45" dirty="0"/>
              <a:t> </a:t>
            </a:r>
            <a:r>
              <a:rPr spc="-10" dirty="0"/>
              <a:t>orders)</a:t>
            </a:r>
            <a:r>
              <a:rPr spc="-35" dirty="0"/>
              <a:t> </a:t>
            </a:r>
            <a:r>
              <a:rPr dirty="0"/>
              <a:t>—</a:t>
            </a:r>
            <a:r>
              <a:rPr spc="-35" dirty="0"/>
              <a:t> </a:t>
            </a:r>
            <a:r>
              <a:rPr dirty="0"/>
              <a:t>no</a:t>
            </a:r>
            <a:r>
              <a:rPr spc="-40" dirty="0"/>
              <a:t> </a:t>
            </a:r>
            <a:r>
              <a:rPr spc="-10" dirty="0"/>
              <a:t>reference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outer</a:t>
            </a:r>
            <a:r>
              <a:rPr spc="-35" dirty="0"/>
              <a:t> </a:t>
            </a:r>
            <a:r>
              <a:rPr spc="-25" dirty="0"/>
              <a:t>customer.</a:t>
            </a:r>
            <a:r>
              <a:rPr spc="-35" dirty="0"/>
              <a:t> </a:t>
            </a:r>
            <a:r>
              <a:rPr dirty="0"/>
              <a:t>EXISTS</a:t>
            </a:r>
            <a:r>
              <a:rPr spc="-40" dirty="0"/>
              <a:t> </a:t>
            </a:r>
            <a:r>
              <a:rPr spc="-10" dirty="0"/>
              <a:t>returns</a:t>
            </a:r>
            <a:r>
              <a:rPr spc="-35" dirty="0"/>
              <a:t> </a:t>
            </a:r>
            <a:r>
              <a:rPr dirty="0"/>
              <a:t>TRUE</a:t>
            </a:r>
            <a:r>
              <a:rPr spc="-40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dirty="0"/>
              <a:t>every</a:t>
            </a:r>
            <a:r>
              <a:rPr spc="-40" dirty="0"/>
              <a:t> </a:t>
            </a:r>
            <a:r>
              <a:rPr dirty="0"/>
              <a:t>row</a:t>
            </a:r>
            <a:r>
              <a:rPr spc="-35" dirty="0"/>
              <a:t> </a:t>
            </a:r>
            <a:r>
              <a:rPr spc="-10" dirty="0"/>
              <a:t>(because orders</a:t>
            </a:r>
            <a:r>
              <a:rPr spc="-40" dirty="0"/>
              <a:t> </a:t>
            </a:r>
            <a:r>
              <a:rPr dirty="0"/>
              <a:t>has</a:t>
            </a:r>
            <a:r>
              <a:rPr spc="-40" dirty="0"/>
              <a:t> </a:t>
            </a:r>
            <a:r>
              <a:rPr spc="-10" dirty="0"/>
              <a:t>data).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filter</a:t>
            </a:r>
            <a:r>
              <a:rPr spc="-35" dirty="0"/>
              <a:t> </a:t>
            </a:r>
            <a:r>
              <a:rPr dirty="0"/>
              <a:t>does</a:t>
            </a:r>
            <a:r>
              <a:rPr spc="-40" dirty="0"/>
              <a:t> </a:t>
            </a:r>
            <a:r>
              <a:rPr spc="-10" dirty="0"/>
              <a:t>nothing.</a:t>
            </a:r>
          </a:p>
          <a:p>
            <a:pPr marL="14604">
              <a:lnSpc>
                <a:spcPct val="100000"/>
              </a:lnSpc>
              <a:spcBef>
                <a:spcPts val="890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spc="-20" dirty="0"/>
              <a:t>Fix:</a:t>
            </a:r>
          </a:p>
          <a:p>
            <a:pPr marL="14604" marR="24765">
              <a:lnSpc>
                <a:spcPct val="120100"/>
              </a:lnSpc>
            </a:pPr>
            <a:r>
              <a:rPr dirty="0"/>
              <a:t>EXISTS</a:t>
            </a:r>
            <a:r>
              <a:rPr spc="-35" dirty="0"/>
              <a:t> </a:t>
            </a:r>
            <a:r>
              <a:rPr spc="-10" dirty="0"/>
              <a:t>requires</a:t>
            </a:r>
            <a:r>
              <a:rPr spc="-35" dirty="0"/>
              <a:t> </a:t>
            </a:r>
            <a:r>
              <a:rPr spc="-10" dirty="0"/>
              <a:t>correlation</a:t>
            </a:r>
            <a:r>
              <a:rPr spc="-35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inner</a:t>
            </a:r>
            <a:r>
              <a:rPr spc="-35" dirty="0"/>
              <a:t> </a:t>
            </a:r>
            <a:r>
              <a:rPr dirty="0"/>
              <a:t>WHERE:</a:t>
            </a:r>
            <a:r>
              <a:rPr spc="-35" dirty="0"/>
              <a:t> </a:t>
            </a:r>
            <a:r>
              <a:rPr dirty="0"/>
              <a:t>WHERE</a:t>
            </a:r>
            <a:r>
              <a:rPr spc="-35" dirty="0"/>
              <a:t> </a:t>
            </a:r>
            <a:r>
              <a:rPr spc="-10" dirty="0"/>
              <a:t>o.cust_id</a:t>
            </a:r>
            <a:r>
              <a:rPr spc="-35" dirty="0"/>
              <a:t> </a:t>
            </a:r>
            <a:r>
              <a:rPr dirty="0"/>
              <a:t>=</a:t>
            </a:r>
            <a:r>
              <a:rPr spc="-35" dirty="0"/>
              <a:t> </a:t>
            </a:r>
            <a:r>
              <a:rPr spc="-10" dirty="0"/>
              <a:t>c.customer_id.</a:t>
            </a:r>
            <a:r>
              <a:rPr spc="-35" dirty="0"/>
              <a:t> </a:t>
            </a:r>
            <a:r>
              <a:rPr spc="-10" dirty="0"/>
              <a:t>Without</a:t>
            </a:r>
            <a:r>
              <a:rPr spc="-35" dirty="0"/>
              <a:t> </a:t>
            </a:r>
            <a:r>
              <a:rPr dirty="0"/>
              <a:t>it,</a:t>
            </a:r>
            <a:r>
              <a:rPr spc="-35" dirty="0"/>
              <a:t> </a:t>
            </a:r>
            <a:r>
              <a:rPr dirty="0"/>
              <a:t>EXISTS</a:t>
            </a:r>
            <a:r>
              <a:rPr spc="-35" dirty="0"/>
              <a:t> </a:t>
            </a:r>
            <a:r>
              <a:rPr dirty="0"/>
              <a:t>just</a:t>
            </a:r>
            <a:r>
              <a:rPr spc="-35" dirty="0"/>
              <a:t> </a:t>
            </a:r>
            <a:r>
              <a:rPr dirty="0"/>
              <a:t>checks</a:t>
            </a:r>
            <a:r>
              <a:rPr spc="-35" dirty="0"/>
              <a:t> </a:t>
            </a:r>
            <a:r>
              <a:rPr spc="-10" dirty="0"/>
              <a:t>'does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table</a:t>
            </a:r>
            <a:r>
              <a:rPr spc="-45" dirty="0"/>
              <a:t> </a:t>
            </a:r>
            <a:r>
              <a:rPr dirty="0"/>
              <a:t>have</a:t>
            </a:r>
            <a:r>
              <a:rPr spc="-45" dirty="0"/>
              <a:t> </a:t>
            </a:r>
            <a:r>
              <a:rPr spc="-10" dirty="0"/>
              <a:t>rows',</a:t>
            </a:r>
            <a:r>
              <a:rPr spc="-45" dirty="0"/>
              <a:t> </a:t>
            </a:r>
            <a:r>
              <a:rPr dirty="0"/>
              <a:t>not</a:t>
            </a:r>
            <a:r>
              <a:rPr spc="-45" dirty="0"/>
              <a:t> </a:t>
            </a:r>
            <a:r>
              <a:rPr dirty="0"/>
              <a:t>'does</a:t>
            </a:r>
            <a:r>
              <a:rPr spc="-45" dirty="0"/>
              <a:t> </a:t>
            </a:r>
            <a:r>
              <a:rPr dirty="0"/>
              <a:t>THIS</a:t>
            </a:r>
            <a:r>
              <a:rPr spc="-45" dirty="0"/>
              <a:t> </a:t>
            </a:r>
            <a:r>
              <a:rPr spc="-10" dirty="0"/>
              <a:t>customer</a:t>
            </a:r>
            <a:r>
              <a:rPr spc="-45" dirty="0"/>
              <a:t> </a:t>
            </a:r>
            <a:r>
              <a:rPr dirty="0"/>
              <a:t>have</a:t>
            </a:r>
            <a:r>
              <a:rPr spc="-45" dirty="0"/>
              <a:t> </a:t>
            </a:r>
            <a:r>
              <a:rPr spc="-10" dirty="0"/>
              <a:t>orders'.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BE36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7653" y="345505"/>
            <a:ext cx="10598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COMMON</a:t>
            </a:r>
            <a:r>
              <a:rPr sz="10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MISTAKE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45364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Correlated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Subquery</a:t>
            </a:r>
            <a:r>
              <a:rPr sz="2000" spc="-1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Performance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892415" cy="176403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09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Mistake:</a:t>
            </a:r>
            <a:endParaRPr sz="1300">
              <a:latin typeface="Calibri"/>
              <a:cs typeface="Calibri"/>
            </a:endParaRPr>
          </a:p>
          <a:p>
            <a:pPr marL="12700" marR="5080" algn="just">
              <a:lnSpc>
                <a:spcPct val="120100"/>
              </a:lnSpc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Putting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same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expensive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correlated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both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SELECT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database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run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twice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row.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100K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customers,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that's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200K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executions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already-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slow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subquery.</a:t>
            </a:r>
            <a:endParaRPr sz="13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89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Fix:</a:t>
            </a:r>
            <a:endParaRPr sz="1300">
              <a:latin typeface="Calibri"/>
              <a:cs typeface="Calibri"/>
            </a:endParaRPr>
          </a:p>
          <a:p>
            <a:pPr marL="12700" marR="235585" algn="just">
              <a:lnSpc>
                <a:spcPct val="120100"/>
              </a:lnSpc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Promote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correlated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runs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once,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reference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result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twice.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window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functions (Database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Concepts)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per-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group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aggregations.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Always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EXPLAIN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ANALYZE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before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assuming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correlation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right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tool.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BE36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7653" y="345505"/>
            <a:ext cx="10598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COMMON</a:t>
            </a:r>
            <a:r>
              <a:rPr sz="10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MISTAKE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38487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CTE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Referenced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Out</a:t>
            </a:r>
            <a:r>
              <a:rPr sz="20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of</a:t>
            </a:r>
            <a:r>
              <a:rPr sz="2000" spc="-2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Order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409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Mistake:</a:t>
            </a:r>
          </a:p>
          <a:p>
            <a:pPr marL="14604" marR="5080">
              <a:lnSpc>
                <a:spcPct val="120100"/>
              </a:lnSpc>
            </a:pPr>
            <a:r>
              <a:rPr spc="-10" dirty="0"/>
              <a:t>Defining</a:t>
            </a:r>
            <a:r>
              <a:rPr spc="-35" dirty="0"/>
              <a:t> </a:t>
            </a:r>
            <a:r>
              <a:rPr dirty="0"/>
              <a:t>CTE</a:t>
            </a:r>
            <a:r>
              <a:rPr spc="-30" dirty="0"/>
              <a:t> </a:t>
            </a:r>
            <a:r>
              <a:rPr dirty="0"/>
              <a:t>B</a:t>
            </a:r>
            <a:r>
              <a:rPr spc="-30" dirty="0"/>
              <a:t> </a:t>
            </a:r>
            <a:r>
              <a:rPr dirty="0"/>
              <a:t>that</a:t>
            </a:r>
            <a:r>
              <a:rPr spc="-35" dirty="0"/>
              <a:t> </a:t>
            </a:r>
            <a:r>
              <a:rPr spc="-10" dirty="0"/>
              <a:t>references</a:t>
            </a:r>
            <a:r>
              <a:rPr spc="-30" dirty="0"/>
              <a:t> </a:t>
            </a:r>
            <a:r>
              <a:rPr dirty="0"/>
              <a:t>CTE</a:t>
            </a:r>
            <a:r>
              <a:rPr spc="-30" dirty="0"/>
              <a:t> </a:t>
            </a:r>
            <a:r>
              <a:rPr dirty="0"/>
              <a:t>A,</a:t>
            </a:r>
            <a:r>
              <a:rPr spc="-30" dirty="0"/>
              <a:t> </a:t>
            </a:r>
            <a:r>
              <a:rPr dirty="0"/>
              <a:t>but</a:t>
            </a:r>
            <a:r>
              <a:rPr spc="-35" dirty="0"/>
              <a:t> </a:t>
            </a:r>
            <a:r>
              <a:rPr dirty="0"/>
              <a:t>writing</a:t>
            </a:r>
            <a:r>
              <a:rPr spc="-30" dirty="0"/>
              <a:t> </a:t>
            </a:r>
            <a:r>
              <a:rPr dirty="0"/>
              <a:t>them</a:t>
            </a:r>
            <a:r>
              <a:rPr spc="-3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wrong</a:t>
            </a:r>
            <a:r>
              <a:rPr spc="-30" dirty="0"/>
              <a:t> </a:t>
            </a:r>
            <a:r>
              <a:rPr dirty="0"/>
              <a:t>order:</a:t>
            </a:r>
            <a:r>
              <a:rPr spc="-30" dirty="0"/>
              <a:t> </a:t>
            </a:r>
            <a:r>
              <a:rPr dirty="0"/>
              <a:t>WITH</a:t>
            </a:r>
            <a:r>
              <a:rPr spc="-30" dirty="0"/>
              <a:t> </a:t>
            </a:r>
            <a:r>
              <a:rPr dirty="0"/>
              <a:t>B</a:t>
            </a:r>
            <a:r>
              <a:rPr spc="-35" dirty="0"/>
              <a:t> </a:t>
            </a:r>
            <a:r>
              <a:rPr dirty="0"/>
              <a:t>AS</a:t>
            </a:r>
            <a:r>
              <a:rPr spc="-30" dirty="0"/>
              <a:t> </a:t>
            </a:r>
            <a:r>
              <a:rPr dirty="0"/>
              <a:t>(...</a:t>
            </a:r>
            <a:r>
              <a:rPr spc="-30" dirty="0"/>
              <a:t> </a:t>
            </a:r>
            <a:r>
              <a:rPr dirty="0"/>
              <a:t>FROM</a:t>
            </a:r>
            <a:r>
              <a:rPr spc="-40" dirty="0"/>
              <a:t> </a:t>
            </a:r>
            <a:r>
              <a:rPr dirty="0"/>
              <a:t>A),</a:t>
            </a:r>
            <a:r>
              <a:rPr spc="-3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AS</a:t>
            </a:r>
            <a:r>
              <a:rPr spc="-30" dirty="0"/>
              <a:t> </a:t>
            </a:r>
            <a:r>
              <a:rPr dirty="0"/>
              <a:t>(...).</a:t>
            </a:r>
            <a:r>
              <a:rPr spc="-30" dirty="0"/>
              <a:t> </a:t>
            </a:r>
            <a:r>
              <a:rPr spc="-10" dirty="0"/>
              <a:t>PostgreSQL errors:</a:t>
            </a:r>
            <a:r>
              <a:rPr spc="-25" dirty="0"/>
              <a:t> </a:t>
            </a:r>
            <a:r>
              <a:rPr spc="-10" dirty="0"/>
              <a:t>'relation</a:t>
            </a:r>
            <a:r>
              <a:rPr spc="-2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does</a:t>
            </a:r>
            <a:r>
              <a:rPr spc="-25" dirty="0"/>
              <a:t> </a:t>
            </a:r>
            <a:r>
              <a:rPr dirty="0"/>
              <a:t>not</a:t>
            </a:r>
            <a:r>
              <a:rPr spc="-25" dirty="0"/>
              <a:t> </a:t>
            </a:r>
            <a:r>
              <a:rPr spc="-10" dirty="0"/>
              <a:t>exist'.</a:t>
            </a:r>
          </a:p>
          <a:p>
            <a:pPr marL="14604">
              <a:lnSpc>
                <a:spcPct val="100000"/>
              </a:lnSpc>
              <a:spcBef>
                <a:spcPts val="890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spc="-20" dirty="0"/>
              <a:t>Fix:</a:t>
            </a:r>
          </a:p>
          <a:p>
            <a:pPr marL="14604" marR="99060">
              <a:lnSpc>
                <a:spcPct val="120100"/>
              </a:lnSpc>
            </a:pPr>
            <a:r>
              <a:rPr dirty="0"/>
              <a:t>CTEs</a:t>
            </a:r>
            <a:r>
              <a:rPr spc="-40" dirty="0"/>
              <a:t> </a:t>
            </a:r>
            <a:r>
              <a:rPr dirty="0"/>
              <a:t>must</a:t>
            </a:r>
            <a:r>
              <a:rPr spc="-35" dirty="0"/>
              <a:t> </a:t>
            </a:r>
            <a:r>
              <a:rPr dirty="0"/>
              <a:t>be</a:t>
            </a:r>
            <a:r>
              <a:rPr spc="-40" dirty="0"/>
              <a:t> </a:t>
            </a:r>
            <a:r>
              <a:rPr spc="-10" dirty="0"/>
              <a:t>defined</a:t>
            </a:r>
            <a:r>
              <a:rPr spc="-35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order</a:t>
            </a:r>
            <a:r>
              <a:rPr spc="-35" dirty="0"/>
              <a:t> </a:t>
            </a:r>
            <a:r>
              <a:rPr dirty="0"/>
              <a:t>—</a:t>
            </a:r>
            <a:r>
              <a:rPr spc="-4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CTE</a:t>
            </a:r>
            <a:r>
              <a:rPr spc="-40" dirty="0"/>
              <a:t> </a:t>
            </a:r>
            <a:r>
              <a:rPr dirty="0"/>
              <a:t>can</a:t>
            </a:r>
            <a:r>
              <a:rPr spc="-35" dirty="0"/>
              <a:t> </a:t>
            </a:r>
            <a:r>
              <a:rPr spc="-10" dirty="0"/>
              <a:t>reference</a:t>
            </a:r>
            <a:r>
              <a:rPr spc="-35" dirty="0"/>
              <a:t> </a:t>
            </a:r>
            <a:r>
              <a:rPr dirty="0"/>
              <a:t>earlier</a:t>
            </a:r>
            <a:r>
              <a:rPr spc="-40" dirty="0"/>
              <a:t> </a:t>
            </a:r>
            <a:r>
              <a:rPr dirty="0"/>
              <a:t>CTEs</a:t>
            </a:r>
            <a:r>
              <a:rPr spc="-35" dirty="0"/>
              <a:t> </a:t>
            </a:r>
            <a:r>
              <a:rPr dirty="0"/>
              <a:t>but</a:t>
            </a:r>
            <a:r>
              <a:rPr spc="-40" dirty="0"/>
              <a:t> </a:t>
            </a:r>
            <a:r>
              <a:rPr dirty="0"/>
              <a:t>not</a:t>
            </a:r>
            <a:r>
              <a:rPr spc="-35" dirty="0"/>
              <a:t> </a:t>
            </a:r>
            <a:r>
              <a:rPr dirty="0"/>
              <a:t>later</a:t>
            </a:r>
            <a:r>
              <a:rPr spc="-40" dirty="0"/>
              <a:t> </a:t>
            </a:r>
            <a:r>
              <a:rPr dirty="0"/>
              <a:t>ones.</a:t>
            </a:r>
            <a:r>
              <a:rPr spc="-35" dirty="0"/>
              <a:t> </a:t>
            </a:r>
            <a:r>
              <a:rPr spc="-10" dirty="0"/>
              <a:t>Write</a:t>
            </a:r>
            <a:r>
              <a:rPr spc="-40" dirty="0"/>
              <a:t> </a:t>
            </a:r>
            <a:r>
              <a:rPr dirty="0"/>
              <a:t>your</a:t>
            </a:r>
            <a:r>
              <a:rPr spc="-35" dirty="0"/>
              <a:t> </a:t>
            </a:r>
            <a:r>
              <a:rPr dirty="0"/>
              <a:t>CTE</a:t>
            </a:r>
            <a:r>
              <a:rPr spc="-40" dirty="0"/>
              <a:t> </a:t>
            </a:r>
            <a:r>
              <a:rPr dirty="0"/>
              <a:t>chain</a:t>
            </a:r>
            <a:r>
              <a:rPr spc="-35" dirty="0"/>
              <a:t> </a:t>
            </a:r>
            <a:r>
              <a:rPr dirty="0"/>
              <a:t>from</a:t>
            </a:r>
            <a:r>
              <a:rPr spc="-40" dirty="0"/>
              <a:t> </a:t>
            </a:r>
            <a:r>
              <a:rPr spc="-25" dirty="0"/>
              <a:t>the </a:t>
            </a:r>
            <a:r>
              <a:rPr dirty="0"/>
              <a:t>BASE</a:t>
            </a:r>
            <a:r>
              <a:rPr spc="-40" dirty="0"/>
              <a:t> </a:t>
            </a:r>
            <a:r>
              <a:rPr dirty="0"/>
              <a:t>up:</a:t>
            </a:r>
            <a:r>
              <a:rPr spc="-35" dirty="0"/>
              <a:t> </a:t>
            </a:r>
            <a:r>
              <a:rPr spc="-10" dirty="0"/>
              <a:t>foundation</a:t>
            </a:r>
            <a:r>
              <a:rPr spc="-40" dirty="0"/>
              <a:t> </a:t>
            </a:r>
            <a:r>
              <a:rPr dirty="0"/>
              <a:t>CTE</a:t>
            </a:r>
            <a:r>
              <a:rPr spc="-35" dirty="0"/>
              <a:t> </a:t>
            </a:r>
            <a:r>
              <a:rPr spc="-10" dirty="0"/>
              <a:t>first,</a:t>
            </a:r>
            <a:r>
              <a:rPr spc="-40" dirty="0"/>
              <a:t> </a:t>
            </a:r>
            <a:r>
              <a:rPr dirty="0"/>
              <a:t>then</a:t>
            </a:r>
            <a:r>
              <a:rPr spc="-35" dirty="0"/>
              <a:t> </a:t>
            </a:r>
            <a:r>
              <a:rPr dirty="0"/>
              <a:t>ones</a:t>
            </a:r>
            <a:r>
              <a:rPr spc="-40" dirty="0"/>
              <a:t> </a:t>
            </a:r>
            <a:r>
              <a:rPr dirty="0"/>
              <a:t>that</a:t>
            </a:r>
            <a:r>
              <a:rPr spc="-35" dirty="0"/>
              <a:t> </a:t>
            </a:r>
            <a:r>
              <a:rPr dirty="0"/>
              <a:t>build</a:t>
            </a:r>
            <a:r>
              <a:rPr spc="-40" dirty="0"/>
              <a:t> </a:t>
            </a:r>
            <a:r>
              <a:rPr dirty="0"/>
              <a:t>on</a:t>
            </a:r>
            <a:r>
              <a:rPr spc="-35" dirty="0"/>
              <a:t> </a:t>
            </a:r>
            <a:r>
              <a:rPr dirty="0"/>
              <a:t>it.</a:t>
            </a:r>
            <a:r>
              <a:rPr spc="-3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main</a:t>
            </a:r>
            <a:r>
              <a:rPr spc="-35" dirty="0"/>
              <a:t> </a:t>
            </a:r>
            <a:r>
              <a:rPr dirty="0"/>
              <a:t>SELECT</a:t>
            </a:r>
            <a:r>
              <a:rPr spc="-40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spc="-10" dirty="0"/>
              <a:t>always</a:t>
            </a:r>
            <a:r>
              <a:rPr spc="-40" dirty="0"/>
              <a:t> </a:t>
            </a:r>
            <a:r>
              <a:rPr spc="-10" dirty="0"/>
              <a:t>LAST.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BE36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7653" y="345505"/>
            <a:ext cx="10598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COMMON</a:t>
            </a:r>
            <a:r>
              <a:rPr sz="10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MISTAKE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51041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Recursive</a:t>
            </a:r>
            <a:r>
              <a:rPr sz="2000" spc="-4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CTE</a:t>
            </a:r>
            <a:r>
              <a:rPr sz="2000" spc="-4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Without</a:t>
            </a:r>
            <a:r>
              <a:rPr sz="2000" spc="-6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Stop</a:t>
            </a:r>
            <a:r>
              <a:rPr sz="2000" spc="-4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Condition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409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Mistake:</a:t>
            </a:r>
          </a:p>
          <a:p>
            <a:pPr marL="14604" marR="143510">
              <a:lnSpc>
                <a:spcPct val="120100"/>
              </a:lnSpc>
            </a:pPr>
            <a:r>
              <a:rPr spc="-10" dirty="0"/>
              <a:t>Recursive</a:t>
            </a:r>
            <a:r>
              <a:rPr spc="-40" dirty="0"/>
              <a:t> </a:t>
            </a:r>
            <a:r>
              <a:rPr dirty="0"/>
              <a:t>step</a:t>
            </a:r>
            <a:r>
              <a:rPr spc="-40" dirty="0"/>
              <a:t> </a:t>
            </a:r>
            <a:r>
              <a:rPr dirty="0"/>
              <a:t>that</a:t>
            </a:r>
            <a:r>
              <a:rPr spc="-40" dirty="0"/>
              <a:t> </a:t>
            </a:r>
            <a:r>
              <a:rPr dirty="0"/>
              <a:t>never</a:t>
            </a:r>
            <a:r>
              <a:rPr spc="-40" dirty="0"/>
              <a:t> </a:t>
            </a:r>
            <a:r>
              <a:rPr spc="-10" dirty="0"/>
              <a:t>returns</a:t>
            </a:r>
            <a:r>
              <a:rPr spc="-40" dirty="0"/>
              <a:t> </a:t>
            </a:r>
            <a:r>
              <a:rPr spc="-10" dirty="0"/>
              <a:t>zero</a:t>
            </a:r>
            <a:r>
              <a:rPr spc="-40" dirty="0"/>
              <a:t> </a:t>
            </a:r>
            <a:r>
              <a:rPr dirty="0"/>
              <a:t>rows</a:t>
            </a:r>
            <a:r>
              <a:rPr spc="-40" dirty="0"/>
              <a:t> </a:t>
            </a:r>
            <a:r>
              <a:rPr dirty="0"/>
              <a:t>—</a:t>
            </a:r>
            <a:r>
              <a:rPr spc="-40" dirty="0"/>
              <a:t> </a:t>
            </a:r>
            <a:r>
              <a:rPr spc="-10" dirty="0"/>
              <a:t>infinite</a:t>
            </a:r>
            <a:r>
              <a:rPr spc="-40" dirty="0"/>
              <a:t> </a:t>
            </a:r>
            <a:r>
              <a:rPr spc="-10" dirty="0"/>
              <a:t>recursion.</a:t>
            </a:r>
            <a:r>
              <a:rPr spc="-40" dirty="0"/>
              <a:t> </a:t>
            </a:r>
            <a:r>
              <a:rPr spc="-10" dirty="0"/>
              <a:t>PostgreSQL</a:t>
            </a:r>
            <a:r>
              <a:rPr spc="-40" dirty="0"/>
              <a:t> </a:t>
            </a:r>
            <a:r>
              <a:rPr spc="-10" dirty="0"/>
              <a:t>eventually</a:t>
            </a:r>
            <a:r>
              <a:rPr spc="-40" dirty="0"/>
              <a:t> </a:t>
            </a:r>
            <a:r>
              <a:rPr spc="-10" dirty="0"/>
              <a:t>errors</a:t>
            </a:r>
            <a:r>
              <a:rPr spc="-40" dirty="0"/>
              <a:t> </a:t>
            </a:r>
            <a:r>
              <a:rPr dirty="0"/>
              <a:t>out,</a:t>
            </a:r>
            <a:r>
              <a:rPr spc="-40" dirty="0"/>
              <a:t> </a:t>
            </a:r>
            <a:r>
              <a:rPr dirty="0"/>
              <a:t>but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query</a:t>
            </a:r>
            <a:r>
              <a:rPr spc="-40" dirty="0"/>
              <a:t> </a:t>
            </a:r>
            <a:r>
              <a:rPr spc="-25" dirty="0"/>
              <a:t>can </a:t>
            </a:r>
            <a:r>
              <a:rPr dirty="0"/>
              <a:t>hang</a:t>
            </a:r>
            <a:r>
              <a:rPr spc="-40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while</a:t>
            </a:r>
            <a:r>
              <a:rPr spc="-40" dirty="0"/>
              <a:t> </a:t>
            </a:r>
            <a:r>
              <a:rPr spc="-10" dirty="0"/>
              <a:t>first.</a:t>
            </a:r>
          </a:p>
          <a:p>
            <a:pPr marL="14604">
              <a:lnSpc>
                <a:spcPct val="100000"/>
              </a:lnSpc>
              <a:spcBef>
                <a:spcPts val="890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spc="-20" dirty="0"/>
              <a:t>Fix:</a:t>
            </a:r>
          </a:p>
          <a:p>
            <a:pPr marL="14604" marR="5080">
              <a:lnSpc>
                <a:spcPct val="120100"/>
              </a:lnSpc>
            </a:pPr>
            <a:r>
              <a:rPr spc="-45" dirty="0"/>
              <a:t>ALWAYS</a:t>
            </a:r>
            <a:r>
              <a:rPr spc="-30" dirty="0"/>
              <a:t> </a:t>
            </a:r>
            <a:r>
              <a:rPr dirty="0"/>
              <a:t>include</a:t>
            </a:r>
            <a:r>
              <a:rPr spc="-3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WHERE</a:t>
            </a:r>
            <a:r>
              <a:rPr spc="-30" dirty="0"/>
              <a:t> </a:t>
            </a:r>
            <a:r>
              <a:rPr dirty="0"/>
              <a:t>clause</a:t>
            </a:r>
            <a:r>
              <a:rPr spc="-30" dirty="0"/>
              <a:t> </a:t>
            </a:r>
            <a:r>
              <a:rPr dirty="0"/>
              <a:t>that</a:t>
            </a:r>
            <a:r>
              <a:rPr spc="-35" dirty="0"/>
              <a:t> </a:t>
            </a:r>
            <a:r>
              <a:rPr spc="-10" dirty="0"/>
              <a:t>eventually</a:t>
            </a:r>
            <a:r>
              <a:rPr spc="-30" dirty="0"/>
              <a:t> </a:t>
            </a:r>
            <a:r>
              <a:rPr spc="-10" dirty="0"/>
              <a:t>becomes</a:t>
            </a:r>
            <a:r>
              <a:rPr spc="-30" dirty="0"/>
              <a:t> </a:t>
            </a:r>
            <a:r>
              <a:rPr spc="-20" dirty="0"/>
              <a:t>FALSE:</a:t>
            </a:r>
            <a:r>
              <a:rPr spc="-30" dirty="0"/>
              <a:t> </a:t>
            </a:r>
            <a:r>
              <a:rPr dirty="0"/>
              <a:t>WHERE</a:t>
            </a:r>
            <a:r>
              <a:rPr spc="-30" dirty="0"/>
              <a:t> </a:t>
            </a:r>
            <a:r>
              <a:rPr dirty="0"/>
              <a:t>n</a:t>
            </a:r>
            <a:r>
              <a:rPr spc="-35" dirty="0"/>
              <a:t> </a:t>
            </a:r>
            <a:r>
              <a:rPr dirty="0"/>
              <a:t>&lt;</a:t>
            </a:r>
            <a:r>
              <a:rPr spc="-30" dirty="0"/>
              <a:t> </a:t>
            </a:r>
            <a:r>
              <a:rPr dirty="0"/>
              <a:t>100,</a:t>
            </a:r>
            <a:r>
              <a:rPr spc="-30" dirty="0"/>
              <a:t> </a:t>
            </a:r>
            <a:r>
              <a:rPr dirty="0"/>
              <a:t>WHERE</a:t>
            </a:r>
            <a:r>
              <a:rPr spc="-30" dirty="0"/>
              <a:t> </a:t>
            </a:r>
            <a:r>
              <a:rPr dirty="0"/>
              <a:t>day</a:t>
            </a:r>
            <a:r>
              <a:rPr spc="-30" dirty="0"/>
              <a:t> </a:t>
            </a:r>
            <a:r>
              <a:rPr dirty="0"/>
              <a:t>&lt;</a:t>
            </a:r>
            <a:r>
              <a:rPr spc="-30" dirty="0"/>
              <a:t> </a:t>
            </a:r>
            <a:r>
              <a:rPr spc="-20" dirty="0"/>
              <a:t>CURRENT_DATE.</a:t>
            </a:r>
            <a:r>
              <a:rPr spc="-35" dirty="0"/>
              <a:t> </a:t>
            </a:r>
            <a:r>
              <a:rPr dirty="0"/>
              <a:t>Add</a:t>
            </a:r>
            <a:r>
              <a:rPr spc="-30" dirty="0"/>
              <a:t> </a:t>
            </a:r>
            <a:r>
              <a:rPr spc="-50" dirty="0"/>
              <a:t>a </a:t>
            </a:r>
            <a:r>
              <a:rPr spc="-10" dirty="0"/>
              <a:t>safety</a:t>
            </a:r>
            <a:r>
              <a:rPr spc="-40" dirty="0"/>
              <a:t> </a:t>
            </a:r>
            <a:r>
              <a:rPr spc="-10" dirty="0"/>
              <a:t>counter</a:t>
            </a:r>
            <a:r>
              <a:rPr spc="-35" dirty="0"/>
              <a:t> </a:t>
            </a:r>
            <a:r>
              <a:rPr dirty="0"/>
              <a:t>(depth</a:t>
            </a:r>
            <a:r>
              <a:rPr spc="-40" dirty="0"/>
              <a:t> </a:t>
            </a:r>
            <a:r>
              <a:rPr dirty="0"/>
              <a:t>&lt;</a:t>
            </a:r>
            <a:r>
              <a:rPr spc="-35" dirty="0"/>
              <a:t> </a:t>
            </a:r>
            <a:r>
              <a:rPr dirty="0"/>
              <a:t>50)</a:t>
            </a:r>
            <a:r>
              <a:rPr spc="-40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spc="-10" dirty="0"/>
              <a:t>hierarchies</a:t>
            </a:r>
            <a:r>
              <a:rPr spc="-4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case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unexpected</a:t>
            </a:r>
            <a:r>
              <a:rPr spc="-40" dirty="0"/>
              <a:t> </a:t>
            </a:r>
            <a:r>
              <a:rPr dirty="0"/>
              <a:t>cycles</a:t>
            </a:r>
            <a:r>
              <a:rPr spc="-3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data.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28602"/>
            <a:ext cx="1645920" cy="320040"/>
          </a:xfrm>
          <a:custGeom>
            <a:avLst/>
            <a:gdLst/>
            <a:ahLst/>
            <a:cxnLst/>
            <a:rect l="l" t="t" r="r" b="b"/>
            <a:pathLst>
              <a:path w="1645920" h="320040">
                <a:moveTo>
                  <a:pt x="1645551" y="0"/>
                </a:moveTo>
                <a:lnTo>
                  <a:pt x="0" y="0"/>
                </a:lnTo>
                <a:lnTo>
                  <a:pt x="0" y="319684"/>
                </a:lnTo>
                <a:lnTo>
                  <a:pt x="822960" y="319684"/>
                </a:lnTo>
                <a:lnTo>
                  <a:pt x="1645551" y="319684"/>
                </a:lnTo>
                <a:lnTo>
                  <a:pt x="1645551" y="0"/>
                </a:lnTo>
                <a:close/>
              </a:path>
            </a:pathLst>
          </a:custGeom>
          <a:solidFill>
            <a:srgbClr val="283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378" y="299785"/>
            <a:ext cx="622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INTERVIEW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34136" y="672022"/>
            <a:ext cx="299466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Correlated</a:t>
            </a:r>
            <a:r>
              <a:rPr sz="1700" spc="-45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vs</a:t>
            </a:r>
            <a:r>
              <a:rPr sz="1700" spc="-40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spc="-10" dirty="0">
                <a:solidFill>
                  <a:srgbClr val="1D3A5E"/>
                </a:solidFill>
                <a:latin typeface="Georgia"/>
                <a:cs typeface="Georgia"/>
              </a:rPr>
              <a:t>Independent</a:t>
            </a:r>
            <a:endParaRPr sz="17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136" y="1462940"/>
            <a:ext cx="8041005" cy="1076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Q: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'What's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correlated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subquery?'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30100"/>
              </a:lnSpc>
              <a:spcBef>
                <a:spcPts val="62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whose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inner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clause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references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query.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logically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runs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ONCE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OUTER 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ROW.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Independent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subqueries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run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once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substitute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their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result.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Modern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optimizers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often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rewrite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correlated subqueries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JOINs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performance.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28602"/>
            <a:ext cx="1645920" cy="320040"/>
          </a:xfrm>
          <a:custGeom>
            <a:avLst/>
            <a:gdLst/>
            <a:ahLst/>
            <a:cxnLst/>
            <a:rect l="l" t="t" r="r" b="b"/>
            <a:pathLst>
              <a:path w="1645920" h="320040">
                <a:moveTo>
                  <a:pt x="1645551" y="0"/>
                </a:moveTo>
                <a:lnTo>
                  <a:pt x="0" y="0"/>
                </a:lnTo>
                <a:lnTo>
                  <a:pt x="0" y="319684"/>
                </a:lnTo>
                <a:lnTo>
                  <a:pt x="822960" y="319684"/>
                </a:lnTo>
                <a:lnTo>
                  <a:pt x="1645551" y="319684"/>
                </a:lnTo>
                <a:lnTo>
                  <a:pt x="1645551" y="0"/>
                </a:lnTo>
                <a:close/>
              </a:path>
            </a:pathLst>
          </a:custGeom>
          <a:solidFill>
            <a:srgbClr val="283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378" y="299785"/>
            <a:ext cx="622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INTERVIEW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34136" y="672022"/>
            <a:ext cx="150114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EXISTS</a:t>
            </a:r>
            <a:r>
              <a:rPr sz="1700" spc="-15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vs</a:t>
            </a:r>
            <a:r>
              <a:rPr sz="1700" spc="-15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spc="-25" dirty="0">
                <a:solidFill>
                  <a:srgbClr val="1D3A5E"/>
                </a:solidFill>
                <a:latin typeface="Georgia"/>
                <a:cs typeface="Georgia"/>
              </a:rPr>
              <a:t>IN</a:t>
            </a:r>
            <a:endParaRPr sz="17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136" y="1462940"/>
            <a:ext cx="7939405" cy="1076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Q: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'When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EXISTS,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when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IN?'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30100"/>
              </a:lnSpc>
              <a:spcBef>
                <a:spcPts val="62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(1)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existence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checks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large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inner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stops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first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match.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(2)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instead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NOT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avoid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NULL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trap.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(3)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inner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small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static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list.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optimizer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often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picks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same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plan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either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way;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choose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based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clarity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NULL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safety.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28602"/>
            <a:ext cx="1645920" cy="320040"/>
          </a:xfrm>
          <a:custGeom>
            <a:avLst/>
            <a:gdLst/>
            <a:ahLst/>
            <a:cxnLst/>
            <a:rect l="l" t="t" r="r" b="b"/>
            <a:pathLst>
              <a:path w="1645920" h="320040">
                <a:moveTo>
                  <a:pt x="1645551" y="0"/>
                </a:moveTo>
                <a:lnTo>
                  <a:pt x="0" y="0"/>
                </a:lnTo>
                <a:lnTo>
                  <a:pt x="0" y="319684"/>
                </a:lnTo>
                <a:lnTo>
                  <a:pt x="822960" y="319684"/>
                </a:lnTo>
                <a:lnTo>
                  <a:pt x="1645551" y="319684"/>
                </a:lnTo>
                <a:lnTo>
                  <a:pt x="1645551" y="0"/>
                </a:lnTo>
                <a:close/>
              </a:path>
            </a:pathLst>
          </a:custGeom>
          <a:solidFill>
            <a:srgbClr val="283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378" y="299785"/>
            <a:ext cx="622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INTERVIEW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34136" y="672022"/>
            <a:ext cx="318516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Why</a:t>
            </a:r>
            <a:r>
              <a:rPr sz="1700" spc="-25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CTEs</a:t>
            </a:r>
            <a:r>
              <a:rPr sz="1700" spc="-20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Over</a:t>
            </a:r>
            <a:r>
              <a:rPr sz="1700" spc="-20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spc="-10" dirty="0">
                <a:solidFill>
                  <a:srgbClr val="1D3A5E"/>
                </a:solidFill>
                <a:latin typeface="Georgia"/>
                <a:cs typeface="Georgia"/>
              </a:rPr>
              <a:t>Subqueries?</a:t>
            </a:r>
            <a:endParaRPr sz="17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136" y="1462940"/>
            <a:ext cx="7934959" cy="1076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'When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would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prefer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nested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subquery?'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30100"/>
              </a:lnSpc>
              <a:spcBef>
                <a:spcPts val="62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has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3+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logical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steps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build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other.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let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name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step,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read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top-to-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bottom,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and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reference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earlier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results.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Nested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subqueries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read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inside-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are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unreadable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past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2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levels.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PostgreSQL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12+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inlines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CTEs,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so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there's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performance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penalty.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28602"/>
            <a:ext cx="1645920" cy="320040"/>
          </a:xfrm>
          <a:custGeom>
            <a:avLst/>
            <a:gdLst/>
            <a:ahLst/>
            <a:cxnLst/>
            <a:rect l="l" t="t" r="r" b="b"/>
            <a:pathLst>
              <a:path w="1645920" h="320040">
                <a:moveTo>
                  <a:pt x="1645551" y="0"/>
                </a:moveTo>
                <a:lnTo>
                  <a:pt x="0" y="0"/>
                </a:lnTo>
                <a:lnTo>
                  <a:pt x="0" y="319684"/>
                </a:lnTo>
                <a:lnTo>
                  <a:pt x="822960" y="319684"/>
                </a:lnTo>
                <a:lnTo>
                  <a:pt x="1645551" y="319684"/>
                </a:lnTo>
                <a:lnTo>
                  <a:pt x="1645551" y="0"/>
                </a:lnTo>
                <a:close/>
              </a:path>
            </a:pathLst>
          </a:custGeom>
          <a:solidFill>
            <a:srgbClr val="283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378" y="299785"/>
            <a:ext cx="622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INTERVIEW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34136" y="672022"/>
            <a:ext cx="31635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Anatomy</a:t>
            </a:r>
            <a:r>
              <a:rPr sz="1700" spc="-25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of</a:t>
            </a:r>
            <a:r>
              <a:rPr sz="1700" spc="-20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a</a:t>
            </a:r>
            <a:r>
              <a:rPr sz="1700" spc="-20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Recursive</a:t>
            </a:r>
            <a:r>
              <a:rPr sz="1700" spc="-25" dirty="0">
                <a:solidFill>
                  <a:srgbClr val="1D3A5E"/>
                </a:solidFill>
                <a:latin typeface="Georgia"/>
                <a:cs typeface="Georgia"/>
              </a:rPr>
              <a:t> CTE</a:t>
            </a:r>
            <a:endParaRPr sz="17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136" y="1462940"/>
            <a:ext cx="7657465" cy="1076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Q: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'Walk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through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structure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recursive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CTE.'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30100"/>
              </a:lnSpc>
              <a:spcBef>
                <a:spcPts val="62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Three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parts.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(1)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ANCHOR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SELECT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'starting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point').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(2)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UNION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connecting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anchor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recursive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part.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(3)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RECURSIVE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SELECT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references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itself,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next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generation. PostgreSQL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repeats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recursive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step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until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zero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rows.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28602"/>
            <a:ext cx="1645920" cy="320040"/>
          </a:xfrm>
          <a:custGeom>
            <a:avLst/>
            <a:gdLst/>
            <a:ahLst/>
            <a:cxnLst/>
            <a:rect l="l" t="t" r="r" b="b"/>
            <a:pathLst>
              <a:path w="1645920" h="320040">
                <a:moveTo>
                  <a:pt x="1645551" y="0"/>
                </a:moveTo>
                <a:lnTo>
                  <a:pt x="0" y="0"/>
                </a:lnTo>
                <a:lnTo>
                  <a:pt x="0" y="319684"/>
                </a:lnTo>
                <a:lnTo>
                  <a:pt x="822960" y="319684"/>
                </a:lnTo>
                <a:lnTo>
                  <a:pt x="1645551" y="319684"/>
                </a:lnTo>
                <a:lnTo>
                  <a:pt x="1645551" y="0"/>
                </a:lnTo>
                <a:close/>
              </a:path>
            </a:pathLst>
          </a:custGeom>
          <a:solidFill>
            <a:srgbClr val="283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378" y="299785"/>
            <a:ext cx="622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INTERVIEW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34136" y="672022"/>
            <a:ext cx="66643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Real</a:t>
            </a:r>
            <a:r>
              <a:rPr sz="1700" spc="-45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Interview:</a:t>
            </a:r>
            <a:r>
              <a:rPr sz="1700" spc="-35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Find</a:t>
            </a:r>
            <a:r>
              <a:rPr sz="1700" spc="-35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Customers</a:t>
            </a:r>
            <a:r>
              <a:rPr sz="1700" spc="-40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Above</a:t>
            </a:r>
            <a:r>
              <a:rPr sz="1700" spc="-35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Department</a:t>
            </a:r>
            <a:r>
              <a:rPr sz="1700" spc="-40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spc="-10" dirty="0">
                <a:solidFill>
                  <a:srgbClr val="1D3A5E"/>
                </a:solidFill>
                <a:latin typeface="Georgia"/>
                <a:cs typeface="Georgia"/>
              </a:rPr>
              <a:t>Average</a:t>
            </a:r>
            <a:endParaRPr sz="17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136" y="1462940"/>
            <a:ext cx="7736840" cy="1076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Q: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'How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many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ways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can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write: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employees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earning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above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their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department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average?'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30100"/>
              </a:lnSpc>
              <a:spcBef>
                <a:spcPts val="62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least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three.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(1)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Correlated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inner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outer.dept_id.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(2)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+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JOIN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pre-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aggregate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dept,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JOIN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compare.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(3)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Window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function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(Database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Concepts)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AVG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OVER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(PARTITION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BY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dept_id)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SELECT,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filter.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three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same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result;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performance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varies.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28602"/>
            <a:ext cx="1645920" cy="320040"/>
          </a:xfrm>
          <a:custGeom>
            <a:avLst/>
            <a:gdLst/>
            <a:ahLst/>
            <a:cxnLst/>
            <a:rect l="l" t="t" r="r" b="b"/>
            <a:pathLst>
              <a:path w="1645920" h="320040">
                <a:moveTo>
                  <a:pt x="1645551" y="0"/>
                </a:moveTo>
                <a:lnTo>
                  <a:pt x="0" y="0"/>
                </a:lnTo>
                <a:lnTo>
                  <a:pt x="0" y="319684"/>
                </a:lnTo>
                <a:lnTo>
                  <a:pt x="822960" y="319684"/>
                </a:lnTo>
                <a:lnTo>
                  <a:pt x="1645551" y="319684"/>
                </a:lnTo>
                <a:lnTo>
                  <a:pt x="1645551" y="0"/>
                </a:lnTo>
                <a:close/>
              </a:path>
            </a:pathLst>
          </a:custGeom>
          <a:solidFill>
            <a:srgbClr val="283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378" y="299785"/>
            <a:ext cx="622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INTERVIEW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34136" y="672022"/>
            <a:ext cx="322580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When</a:t>
            </a:r>
            <a:r>
              <a:rPr sz="1700" spc="-25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to</a:t>
            </a:r>
            <a:r>
              <a:rPr sz="1700" spc="-20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Use</a:t>
            </a:r>
            <a:r>
              <a:rPr sz="1700" spc="-25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Recursive</a:t>
            </a:r>
            <a:r>
              <a:rPr sz="1700" spc="-20" dirty="0">
                <a:solidFill>
                  <a:srgbClr val="1D3A5E"/>
                </a:solidFill>
                <a:latin typeface="Georgia"/>
                <a:cs typeface="Georgia"/>
              </a:rPr>
              <a:t> CTE?</a:t>
            </a:r>
            <a:endParaRPr sz="17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136" y="1462940"/>
            <a:ext cx="7781925" cy="1076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'Give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real-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world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case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recursive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CTEs.'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30100"/>
              </a:lnSpc>
              <a:spcBef>
                <a:spcPts val="62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A: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(1)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Org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chart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traversal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walk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up/down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employee-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manager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hierarchy.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(2)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Category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tree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root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category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→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subcategories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→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leaf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categories.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(3)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Bill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materials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assembled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product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→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components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→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raw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materials.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(4)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Date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series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gap-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filling.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(5)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Path-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finding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graph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data.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'walk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through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connected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data'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problem.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28602"/>
            <a:ext cx="1645920" cy="320040"/>
          </a:xfrm>
          <a:custGeom>
            <a:avLst/>
            <a:gdLst/>
            <a:ahLst/>
            <a:cxnLst/>
            <a:rect l="l" t="t" r="r" b="b"/>
            <a:pathLst>
              <a:path w="1645920" h="320040">
                <a:moveTo>
                  <a:pt x="1645551" y="0"/>
                </a:moveTo>
                <a:lnTo>
                  <a:pt x="0" y="0"/>
                </a:lnTo>
                <a:lnTo>
                  <a:pt x="0" y="319684"/>
                </a:lnTo>
                <a:lnTo>
                  <a:pt x="822960" y="319684"/>
                </a:lnTo>
                <a:lnTo>
                  <a:pt x="1645551" y="319684"/>
                </a:lnTo>
                <a:lnTo>
                  <a:pt x="1645551" y="0"/>
                </a:lnTo>
                <a:close/>
              </a:path>
            </a:pathLst>
          </a:custGeom>
          <a:solidFill>
            <a:srgbClr val="283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378" y="299785"/>
            <a:ext cx="622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INTERVIEW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34136" y="672022"/>
            <a:ext cx="43827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Spot</a:t>
            </a:r>
            <a:r>
              <a:rPr sz="1700" spc="-15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the</a:t>
            </a:r>
            <a:r>
              <a:rPr sz="1700" spc="-10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Bug</a:t>
            </a:r>
            <a:r>
              <a:rPr sz="1700" spc="-15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—</a:t>
            </a:r>
            <a:r>
              <a:rPr sz="1700" spc="-10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Multiple</a:t>
            </a:r>
            <a:r>
              <a:rPr sz="1700" spc="-10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Rows</a:t>
            </a:r>
            <a:r>
              <a:rPr sz="1700" spc="-10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in</a:t>
            </a:r>
            <a:r>
              <a:rPr sz="1700" spc="-10" dirty="0">
                <a:solidFill>
                  <a:srgbClr val="1D3A5E"/>
                </a:solidFill>
                <a:latin typeface="Georgia"/>
                <a:cs typeface="Georgia"/>
              </a:rPr>
              <a:t> Scalar</a:t>
            </a:r>
            <a:endParaRPr sz="17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136" y="1462940"/>
            <a:ext cx="7987665" cy="1076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junior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wrote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salary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&gt;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(SELECT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salary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employees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dept=5).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fails.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What's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wrong?'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30100"/>
              </a:lnSpc>
              <a:spcBef>
                <a:spcPts val="62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A: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multiple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(dept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5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has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multiple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employees),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&gt;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operator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expects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scalar.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PostgreSQL throws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'more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returned'.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Fix: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aggregate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(SELECT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MAX(salary))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change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choice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depends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on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intent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&gt;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MAX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=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strictly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greater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dept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5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salary;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=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matches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any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dept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5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salary.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1A5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77303" y="345505"/>
            <a:ext cx="880744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30" dirty="0">
                <a:solidFill>
                  <a:srgbClr val="FFFFFF"/>
                </a:solidFill>
                <a:latin typeface="Calibri"/>
                <a:cs typeface="Calibri"/>
              </a:rPr>
              <a:t>TAKEAWAYS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24491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KEY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TAKEAWAYS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5126990" cy="357505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Correlated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Subqueries:</a:t>
            </a:r>
            <a:endParaRPr sz="1300">
              <a:latin typeface="Calibri"/>
              <a:cs typeface="Calibri"/>
            </a:endParaRPr>
          </a:p>
          <a:p>
            <a:pPr marL="174625" indent="-161925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174625" algn="l"/>
              </a:tabLst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Inner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references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runs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per-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(logically).</a:t>
            </a:r>
            <a:endParaRPr sz="1300">
              <a:latin typeface="Calibri"/>
              <a:cs typeface="Calibri"/>
            </a:endParaRPr>
          </a:p>
          <a:p>
            <a:pPr marL="174625" indent="-161925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174625" algn="l"/>
              </a:tabLst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Used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per-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dynamic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benchmarks.</a:t>
            </a:r>
            <a:endParaRPr sz="1300">
              <a:latin typeface="Calibri"/>
              <a:cs typeface="Calibri"/>
            </a:endParaRPr>
          </a:p>
          <a:p>
            <a:pPr marL="174625" indent="-161925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174625" algn="l"/>
              </a:tabLst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Can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slow;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modern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optimizers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often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rewrite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JOINs.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/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EXISTS:</a:t>
            </a:r>
            <a:endParaRPr sz="1300">
              <a:latin typeface="Calibri"/>
              <a:cs typeface="Calibri"/>
            </a:endParaRPr>
          </a:p>
          <a:p>
            <a:pPr marL="174625" indent="-161925">
              <a:lnSpc>
                <a:spcPct val="100000"/>
              </a:lnSpc>
              <a:spcBef>
                <a:spcPts val="315"/>
              </a:spcBef>
              <a:buAutoNum type="arabicPeriod" startAt="4"/>
              <a:tabLst>
                <a:tab pos="174625" algn="l"/>
              </a:tabLst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stops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first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match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faster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large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data.</a:t>
            </a:r>
            <a:endParaRPr sz="1300">
              <a:latin typeface="Calibri"/>
              <a:cs typeface="Calibri"/>
            </a:endParaRPr>
          </a:p>
          <a:p>
            <a:pPr marL="174625" indent="-161925">
              <a:lnSpc>
                <a:spcPct val="100000"/>
              </a:lnSpc>
              <a:spcBef>
                <a:spcPts val="310"/>
              </a:spcBef>
              <a:buAutoNum type="arabicPeriod" startAt="4"/>
              <a:tabLst>
                <a:tab pos="174625" algn="l"/>
              </a:tabLst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safer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anti-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join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handles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NULLs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correctly.</a:t>
            </a:r>
            <a:endParaRPr sz="1300">
              <a:latin typeface="Calibri"/>
              <a:cs typeface="Calibri"/>
            </a:endParaRPr>
          </a:p>
          <a:p>
            <a:pPr marL="174625" indent="-161925">
              <a:lnSpc>
                <a:spcPct val="100000"/>
              </a:lnSpc>
              <a:spcBef>
                <a:spcPts val="315"/>
              </a:spcBef>
              <a:buAutoNum type="arabicPeriod" startAt="4"/>
              <a:tabLst>
                <a:tab pos="174625" algn="l"/>
              </a:tabLst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SELECT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1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inside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convention;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value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ignored.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CTEs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(WITH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clause):</a:t>
            </a:r>
            <a:endParaRPr sz="1300">
              <a:latin typeface="Calibri"/>
              <a:cs typeface="Calibri"/>
            </a:endParaRPr>
          </a:p>
          <a:p>
            <a:pPr marL="174625" indent="-161925">
              <a:lnSpc>
                <a:spcPct val="100000"/>
              </a:lnSpc>
              <a:spcBef>
                <a:spcPts val="315"/>
              </a:spcBef>
              <a:buAutoNum type="arabicPeriod" startAt="7"/>
              <a:tabLst>
                <a:tab pos="174625" algn="l"/>
              </a:tabLst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Named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subqueries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readable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top-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to-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bottom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like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recipe.</a:t>
            </a:r>
            <a:endParaRPr sz="1300">
              <a:latin typeface="Calibri"/>
              <a:cs typeface="Calibri"/>
            </a:endParaRPr>
          </a:p>
          <a:p>
            <a:pPr marL="174625" indent="-161925">
              <a:lnSpc>
                <a:spcPct val="100000"/>
              </a:lnSpc>
              <a:spcBef>
                <a:spcPts val="315"/>
              </a:spcBef>
              <a:buAutoNum type="arabicPeriod" startAt="7"/>
              <a:tabLst>
                <a:tab pos="174625" algn="l"/>
              </a:tabLst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Multiple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chain;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later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reference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earlier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ones.</a:t>
            </a:r>
            <a:endParaRPr sz="1300">
              <a:latin typeface="Calibri"/>
              <a:cs typeface="Calibri"/>
            </a:endParaRPr>
          </a:p>
          <a:p>
            <a:pPr marL="174625" indent="-161925">
              <a:lnSpc>
                <a:spcPct val="100000"/>
              </a:lnSpc>
              <a:spcBef>
                <a:spcPts val="315"/>
              </a:spcBef>
              <a:buAutoNum type="arabicPeriod" startAt="7"/>
              <a:tabLst>
                <a:tab pos="174625" algn="l"/>
              </a:tabLst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Modern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replacement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nested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subqueries.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dbt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BI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tools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them.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Recursive</a:t>
            </a:r>
            <a:r>
              <a:rPr sz="1300" spc="-6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CTEs:</a:t>
            </a:r>
            <a:endParaRPr sz="13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315"/>
              </a:spcBef>
              <a:buAutoNum type="arabicPeriod" startAt="10"/>
              <a:tabLst>
                <a:tab pos="257810" algn="l"/>
              </a:tabLst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Anchor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+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UNION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+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recursive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step.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55" dirty="0">
                <a:solidFill>
                  <a:srgbClr val="202020"/>
                </a:solidFill>
                <a:latin typeface="Calibri"/>
                <a:cs typeface="Calibri"/>
              </a:rPr>
              <a:t>ALWAYS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add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stop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condition.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4C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57935" y="345505"/>
            <a:ext cx="7194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REAL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WORLD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34429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What</a:t>
            </a:r>
            <a:r>
              <a:rPr sz="20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You</a:t>
            </a:r>
            <a:r>
              <a:rPr sz="20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Achieved</a:t>
            </a:r>
            <a:r>
              <a:rPr sz="2000" spc="-2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Today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 marR="258445">
              <a:lnSpc>
                <a:spcPct val="120100"/>
              </a:lnSpc>
              <a:spcBef>
                <a:spcPts val="100"/>
              </a:spcBef>
            </a:pPr>
            <a:r>
              <a:rPr spc="-40" dirty="0"/>
              <a:t>You</a:t>
            </a:r>
            <a:r>
              <a:rPr spc="-25" dirty="0"/>
              <a:t> </a:t>
            </a:r>
            <a:r>
              <a:rPr spc="-10" dirty="0"/>
              <a:t>learned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four</a:t>
            </a:r>
            <a:r>
              <a:rPr spc="-25" dirty="0"/>
              <a:t> </a:t>
            </a:r>
            <a:r>
              <a:rPr spc="-20" dirty="0"/>
              <a:t>senior-</a:t>
            </a:r>
            <a:r>
              <a:rPr spc="-10" dirty="0"/>
              <a:t>analyst</a:t>
            </a:r>
            <a:r>
              <a:rPr spc="-25" dirty="0"/>
              <a:t> </a:t>
            </a:r>
            <a:r>
              <a:rPr spc="-20" dirty="0"/>
              <a:t>patterns:</a:t>
            </a:r>
            <a:r>
              <a:rPr spc="-25" dirty="0"/>
              <a:t> </a:t>
            </a:r>
            <a:r>
              <a:rPr spc="-10" dirty="0"/>
              <a:t>correlated</a:t>
            </a:r>
            <a:r>
              <a:rPr spc="-25" dirty="0"/>
              <a:t> </a:t>
            </a:r>
            <a:r>
              <a:rPr spc="-10" dirty="0"/>
              <a:t>subqueries</a:t>
            </a:r>
            <a:r>
              <a:rPr spc="-25" dirty="0"/>
              <a:t> </a:t>
            </a:r>
            <a:r>
              <a:rPr spc="-15" dirty="0"/>
              <a:t>(per-</a:t>
            </a:r>
            <a:r>
              <a:rPr dirty="0"/>
              <a:t>row</a:t>
            </a:r>
            <a:r>
              <a:rPr spc="-25" dirty="0"/>
              <a:t> </a:t>
            </a:r>
            <a:r>
              <a:rPr dirty="0"/>
              <a:t>dynamic</a:t>
            </a:r>
            <a:r>
              <a:rPr spc="-25" dirty="0"/>
              <a:t> </a:t>
            </a:r>
            <a:r>
              <a:rPr spc="-10" dirty="0"/>
              <a:t>comparison),</a:t>
            </a:r>
            <a:r>
              <a:rPr spc="-25" dirty="0"/>
              <a:t> </a:t>
            </a:r>
            <a:r>
              <a:rPr dirty="0"/>
              <a:t>EXISTS</a:t>
            </a:r>
            <a:r>
              <a:rPr spc="-25" dirty="0"/>
              <a:t> </a:t>
            </a:r>
            <a:r>
              <a:rPr spc="-10" dirty="0"/>
              <a:t>(efficient existence</a:t>
            </a:r>
            <a:r>
              <a:rPr spc="-30" dirty="0"/>
              <a:t> </a:t>
            </a:r>
            <a:r>
              <a:rPr spc="-10" dirty="0"/>
              <a:t>checks),</a:t>
            </a:r>
            <a:r>
              <a:rPr spc="-30" dirty="0"/>
              <a:t> </a:t>
            </a:r>
            <a:r>
              <a:rPr dirty="0"/>
              <a:t>CTEs</a:t>
            </a:r>
            <a:r>
              <a:rPr spc="-25" dirty="0"/>
              <a:t> </a:t>
            </a:r>
            <a:r>
              <a:rPr spc="-10" dirty="0"/>
              <a:t>(composable</a:t>
            </a:r>
            <a:r>
              <a:rPr spc="-30" dirty="0"/>
              <a:t> </a:t>
            </a:r>
            <a:r>
              <a:rPr spc="-20" dirty="0"/>
              <a:t>multi-</a:t>
            </a:r>
            <a:r>
              <a:rPr dirty="0"/>
              <a:t>step</a:t>
            </a:r>
            <a:r>
              <a:rPr spc="-30" dirty="0"/>
              <a:t> </a:t>
            </a:r>
            <a:r>
              <a:rPr spc="-10" dirty="0"/>
              <a:t>queries),</a:t>
            </a:r>
            <a:r>
              <a:rPr spc="-2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recursive</a:t>
            </a:r>
            <a:r>
              <a:rPr spc="-25" dirty="0"/>
              <a:t> </a:t>
            </a:r>
            <a:r>
              <a:rPr dirty="0"/>
              <a:t>CTEs</a:t>
            </a:r>
            <a:r>
              <a:rPr spc="-30" dirty="0"/>
              <a:t> </a:t>
            </a:r>
            <a:r>
              <a:rPr spc="-10" dirty="0"/>
              <a:t>(hierarchies</a:t>
            </a:r>
            <a:r>
              <a:rPr spc="-3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series).</a:t>
            </a:r>
          </a:p>
          <a:p>
            <a:pPr marL="14604" marR="5080">
              <a:lnSpc>
                <a:spcPct val="120100"/>
              </a:lnSpc>
              <a:spcBef>
                <a:spcPts val="570"/>
              </a:spcBef>
            </a:pPr>
            <a:r>
              <a:rPr dirty="0"/>
              <a:t>This</a:t>
            </a:r>
            <a:r>
              <a:rPr spc="-40" dirty="0"/>
              <a:t> </a:t>
            </a:r>
            <a:r>
              <a:rPr spc="-10" dirty="0"/>
              <a:t>concludes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'building</a:t>
            </a:r>
            <a:r>
              <a:rPr spc="-40" dirty="0"/>
              <a:t> </a:t>
            </a:r>
            <a:r>
              <a:rPr dirty="0"/>
              <a:t>blocks'</a:t>
            </a:r>
            <a:r>
              <a:rPr spc="-40" dirty="0"/>
              <a:t> </a:t>
            </a:r>
            <a:r>
              <a:rPr dirty="0"/>
              <a:t>phase.</a:t>
            </a:r>
            <a:r>
              <a:rPr spc="-40" dirty="0"/>
              <a:t> </a:t>
            </a:r>
            <a:r>
              <a:rPr dirty="0"/>
              <a:t>With</a:t>
            </a:r>
            <a:r>
              <a:rPr spc="-40" dirty="0"/>
              <a:t> </a:t>
            </a:r>
            <a:r>
              <a:rPr dirty="0"/>
              <a:t>earlier</a:t>
            </a:r>
            <a:r>
              <a:rPr spc="-40" dirty="0"/>
              <a:t> </a:t>
            </a:r>
            <a:r>
              <a:rPr spc="-10" dirty="0"/>
              <a:t>sessions,</a:t>
            </a:r>
            <a:r>
              <a:rPr spc="-40" dirty="0"/>
              <a:t> </a:t>
            </a:r>
            <a:r>
              <a:rPr dirty="0"/>
              <a:t>you</a:t>
            </a:r>
            <a:r>
              <a:rPr spc="-40" dirty="0"/>
              <a:t> </a:t>
            </a:r>
            <a:r>
              <a:rPr dirty="0"/>
              <a:t>have</a:t>
            </a:r>
            <a:r>
              <a:rPr spc="-40" dirty="0"/>
              <a:t> </a:t>
            </a:r>
            <a:r>
              <a:rPr dirty="0"/>
              <a:t>every</a:t>
            </a:r>
            <a:r>
              <a:rPr spc="-40" dirty="0"/>
              <a:t> </a:t>
            </a:r>
            <a:r>
              <a:rPr spc="-10" dirty="0"/>
              <a:t>fundamental</a:t>
            </a:r>
            <a:r>
              <a:rPr spc="-40" dirty="0"/>
              <a:t> </a:t>
            </a:r>
            <a:r>
              <a:rPr dirty="0"/>
              <a:t>SQL</a:t>
            </a:r>
            <a:r>
              <a:rPr spc="-40" dirty="0"/>
              <a:t> </a:t>
            </a:r>
            <a:r>
              <a:rPr dirty="0"/>
              <a:t>tool.</a:t>
            </a:r>
            <a:r>
              <a:rPr spc="-40" dirty="0"/>
              <a:t> </a:t>
            </a:r>
            <a:r>
              <a:rPr spc="-20" dirty="0"/>
              <a:t>From</a:t>
            </a:r>
            <a:r>
              <a:rPr spc="500" dirty="0"/>
              <a:t>  </a:t>
            </a:r>
            <a:r>
              <a:rPr spc="-25" dirty="0"/>
              <a:t>tomorrow,</a:t>
            </a:r>
            <a:r>
              <a:rPr spc="-35" dirty="0"/>
              <a:t> </a:t>
            </a:r>
            <a:r>
              <a:rPr dirty="0"/>
              <a:t>we</a:t>
            </a:r>
            <a:r>
              <a:rPr spc="-30" dirty="0"/>
              <a:t> </a:t>
            </a:r>
            <a:r>
              <a:rPr spc="-10" dirty="0"/>
              <a:t>explore</a:t>
            </a:r>
            <a:r>
              <a:rPr spc="-30" dirty="0"/>
              <a:t> </a:t>
            </a:r>
            <a:r>
              <a:rPr spc="-10" dirty="0"/>
              <a:t>database</a:t>
            </a:r>
            <a:r>
              <a:rPr spc="-30" dirty="0"/>
              <a:t> </a:t>
            </a:r>
            <a:r>
              <a:rPr spc="-10" dirty="0"/>
              <a:t>CONCEPTS</a:t>
            </a:r>
            <a:r>
              <a:rPr spc="-30" dirty="0"/>
              <a:t> </a:t>
            </a:r>
            <a:r>
              <a:rPr dirty="0"/>
              <a:t>that</a:t>
            </a:r>
            <a:r>
              <a:rPr spc="-30" dirty="0"/>
              <a:t> </a:t>
            </a:r>
            <a:r>
              <a:rPr spc="-10" dirty="0"/>
              <a:t>analysts</a:t>
            </a:r>
            <a:r>
              <a:rPr spc="-30" dirty="0"/>
              <a:t> </a:t>
            </a:r>
            <a:r>
              <a:rPr dirty="0"/>
              <a:t>need</a:t>
            </a:r>
            <a:r>
              <a:rPr spc="-3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know</a:t>
            </a:r>
            <a:r>
              <a:rPr spc="-30" dirty="0"/>
              <a:t> </a:t>
            </a:r>
            <a:r>
              <a:rPr spc="-10" dirty="0"/>
              <a:t>(normalization,</a:t>
            </a:r>
            <a:r>
              <a:rPr spc="-30" dirty="0"/>
              <a:t> </a:t>
            </a:r>
            <a:r>
              <a:rPr dirty="0"/>
              <a:t>ACID,</a:t>
            </a:r>
            <a:r>
              <a:rPr spc="-30" dirty="0"/>
              <a:t> </a:t>
            </a:r>
            <a:r>
              <a:rPr spc="-10" dirty="0"/>
              <a:t>transactions),</a:t>
            </a:r>
            <a:r>
              <a:rPr spc="-30" dirty="0"/>
              <a:t> </a:t>
            </a:r>
            <a:r>
              <a:rPr dirty="0"/>
              <a:t>then</a:t>
            </a:r>
            <a:r>
              <a:rPr spc="-30" dirty="0"/>
              <a:t> </a:t>
            </a:r>
            <a:r>
              <a:rPr spc="-10" dirty="0"/>
              <a:t>review, </a:t>
            </a:r>
            <a:r>
              <a:rPr dirty="0"/>
              <a:t>then</a:t>
            </a:r>
            <a:r>
              <a:rPr spc="-40" dirty="0"/>
              <a:t> </a:t>
            </a:r>
            <a:r>
              <a:rPr dirty="0"/>
              <a:t>window</a:t>
            </a:r>
            <a:r>
              <a:rPr spc="-35" dirty="0"/>
              <a:t> </a:t>
            </a:r>
            <a:r>
              <a:rPr spc="-10" dirty="0"/>
              <a:t>functions</a:t>
            </a:r>
            <a:r>
              <a:rPr spc="-35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spc="-10" dirty="0"/>
              <a:t>advanced</a:t>
            </a:r>
            <a:r>
              <a:rPr spc="-40" dirty="0"/>
              <a:t> </a:t>
            </a:r>
            <a:r>
              <a:rPr spc="-10" dirty="0"/>
              <a:t>analytics.</a:t>
            </a:r>
          </a:p>
          <a:p>
            <a:pPr marL="14604" marR="278765">
              <a:lnSpc>
                <a:spcPct val="120100"/>
              </a:lnSpc>
              <a:spcBef>
                <a:spcPts val="575"/>
              </a:spcBef>
            </a:pPr>
            <a:r>
              <a:rPr spc="-25" dirty="0"/>
              <a:t>Tomorrow:</a:t>
            </a:r>
            <a:r>
              <a:rPr spc="-30" dirty="0"/>
              <a:t> </a:t>
            </a:r>
            <a:r>
              <a:rPr dirty="0"/>
              <a:t>DB</a:t>
            </a:r>
            <a:r>
              <a:rPr spc="-25" dirty="0"/>
              <a:t> </a:t>
            </a:r>
            <a:r>
              <a:rPr spc="-10" dirty="0"/>
              <a:t>Concepts</a:t>
            </a:r>
            <a:r>
              <a:rPr spc="-25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spc="-10" dirty="0"/>
              <a:t>Analysts</a:t>
            </a:r>
            <a:r>
              <a:rPr spc="-30" dirty="0"/>
              <a:t> </a:t>
            </a:r>
            <a:r>
              <a:rPr dirty="0"/>
              <a:t>—</a:t>
            </a:r>
            <a:r>
              <a:rPr spc="-25" dirty="0"/>
              <a:t> </a:t>
            </a:r>
            <a:r>
              <a:rPr spc="-10" dirty="0"/>
              <a:t>normalization,</a:t>
            </a:r>
            <a:r>
              <a:rPr spc="-25" dirty="0"/>
              <a:t> </a:t>
            </a:r>
            <a:r>
              <a:rPr dirty="0"/>
              <a:t>ACID,</a:t>
            </a:r>
            <a:r>
              <a:rPr spc="-25" dirty="0"/>
              <a:t> </a:t>
            </a:r>
            <a:r>
              <a:rPr spc="-10" dirty="0"/>
              <a:t>transactions.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theory</a:t>
            </a:r>
            <a:r>
              <a:rPr spc="-25" dirty="0"/>
              <a:t> </a:t>
            </a:r>
            <a:r>
              <a:rPr spc="-10" dirty="0"/>
              <a:t>layer</a:t>
            </a:r>
            <a:r>
              <a:rPr spc="-25" dirty="0"/>
              <a:t> </a:t>
            </a:r>
            <a:r>
              <a:rPr dirty="0"/>
              <a:t>that</a:t>
            </a:r>
            <a:r>
              <a:rPr spc="-30" dirty="0"/>
              <a:t> </a:t>
            </a:r>
            <a:r>
              <a:rPr spc="-10" dirty="0"/>
              <a:t>grounds</a:t>
            </a:r>
            <a:r>
              <a:rPr spc="-25" dirty="0"/>
              <a:t> </a:t>
            </a:r>
            <a:r>
              <a:rPr spc="-10" dirty="0"/>
              <a:t>everything you've</a:t>
            </a:r>
            <a:r>
              <a:rPr spc="-30" dirty="0"/>
              <a:t> </a:t>
            </a:r>
            <a:r>
              <a:rPr spc="-10" dirty="0"/>
              <a:t>learned.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66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Subqueries</a:t>
            </a:r>
            <a:r>
              <a:rPr spc="-25" dirty="0"/>
              <a:t> </a:t>
            </a:r>
            <a:r>
              <a:rPr dirty="0"/>
              <a:t>Part</a:t>
            </a:r>
            <a:r>
              <a:rPr spc="-25" dirty="0"/>
              <a:t> </a:t>
            </a:r>
            <a:r>
              <a:rPr dirty="0"/>
              <a:t>2</a:t>
            </a:r>
            <a:r>
              <a:rPr spc="-20" dirty="0"/>
              <a:t> </a:t>
            </a:r>
            <a:r>
              <a:rPr dirty="0"/>
              <a:t>+</a:t>
            </a:r>
            <a:r>
              <a:rPr spc="-25" dirty="0"/>
              <a:t> </a:t>
            </a:r>
            <a:r>
              <a:rPr spc="-20" dirty="0"/>
              <a:t>CTEs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4144" y="771743"/>
            <a:ext cx="2322195" cy="314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spc="-40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Correlated</a:t>
            </a:r>
            <a:r>
              <a:rPr sz="1100" b="1" spc="-40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FFB200"/>
                </a:solidFill>
                <a:latin typeface="Courier New"/>
                <a:cs typeface="Courier New"/>
              </a:rPr>
              <a:t>Subquery</a:t>
            </a:r>
            <a:endParaRPr sz="11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885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WHERE col &gt; (SELECT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AVG(x)</a:t>
            </a:r>
            <a:endParaRPr sz="900">
              <a:latin typeface="Courier New"/>
              <a:cs typeface="Courier New"/>
            </a:endParaRPr>
          </a:p>
          <a:p>
            <a:pPr marL="240029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FROM t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inner_t</a:t>
            </a:r>
            <a:endParaRPr sz="900">
              <a:latin typeface="Courier New"/>
              <a:cs typeface="Courier New"/>
            </a:endParaRPr>
          </a:p>
          <a:p>
            <a:pPr marL="89535" algn="ctr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WHERE inner_t.k =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outer_t.k)</a:t>
            </a:r>
            <a:endParaRPr sz="900">
              <a:latin typeface="Courier New"/>
              <a:cs typeface="Courier New"/>
            </a:endParaRPr>
          </a:p>
          <a:p>
            <a:pPr marL="89535" algn="ctr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-- Inner references OUTER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column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spc="5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FFB200"/>
                </a:solidFill>
                <a:latin typeface="Courier New"/>
                <a:cs typeface="Courier New"/>
              </a:rPr>
              <a:t>EXISTS</a:t>
            </a:r>
            <a:endParaRPr sz="1100">
              <a:latin typeface="Courier New"/>
              <a:cs typeface="Courier New"/>
            </a:endParaRPr>
          </a:p>
          <a:p>
            <a:pPr marL="240029" marR="1038860" indent="-138430">
              <a:lnSpc>
                <a:spcPct val="110200"/>
              </a:lnSpc>
              <a:spcBef>
                <a:spcPts val="775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WHERE EXISTS </a:t>
            </a:r>
            <a:r>
              <a:rPr sz="900" spc="-50" dirty="0">
                <a:solidFill>
                  <a:srgbClr val="D3D3D3"/>
                </a:solidFill>
                <a:latin typeface="Courier New"/>
                <a:cs typeface="Courier New"/>
              </a:rPr>
              <a:t>( </a:t>
            </a: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SELECT 1 FROM </a:t>
            </a:r>
            <a:r>
              <a:rPr sz="900" spc="-50" dirty="0">
                <a:solidFill>
                  <a:srgbClr val="D3D3D3"/>
                </a:solidFill>
                <a:latin typeface="Courier New"/>
                <a:cs typeface="Courier New"/>
              </a:rPr>
              <a:t>t</a:t>
            </a:r>
            <a:endParaRPr sz="900">
              <a:latin typeface="Courier New"/>
              <a:cs typeface="Courier New"/>
            </a:endParaRPr>
          </a:p>
          <a:p>
            <a:pPr marL="240029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WHERE t.id =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outer.id</a:t>
            </a:r>
            <a:endParaRPr sz="9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)  -- fast existence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check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NOT</a:t>
            </a: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EXISTS</a:t>
            </a: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FFB200"/>
                </a:solidFill>
                <a:latin typeface="Courier New"/>
                <a:cs typeface="Courier New"/>
              </a:rPr>
              <a:t>(NULL-</a:t>
            </a: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safe)</a:t>
            </a:r>
            <a:endParaRPr sz="1100">
              <a:latin typeface="Courier New"/>
              <a:cs typeface="Courier New"/>
            </a:endParaRPr>
          </a:p>
          <a:p>
            <a:pPr marL="240029" marR="970280" indent="-138430">
              <a:lnSpc>
                <a:spcPct val="110200"/>
              </a:lnSpc>
              <a:spcBef>
                <a:spcPts val="775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WHERE NOT EXISTS </a:t>
            </a:r>
            <a:r>
              <a:rPr sz="900" spc="-50" dirty="0">
                <a:solidFill>
                  <a:srgbClr val="D3D3D3"/>
                </a:solidFill>
                <a:latin typeface="Courier New"/>
                <a:cs typeface="Courier New"/>
              </a:rPr>
              <a:t>( </a:t>
            </a: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SELECT 1 FROM </a:t>
            </a:r>
            <a:r>
              <a:rPr sz="900" spc="-50" dirty="0">
                <a:solidFill>
                  <a:srgbClr val="D3D3D3"/>
                </a:solidFill>
                <a:latin typeface="Courier New"/>
                <a:cs typeface="Courier New"/>
              </a:rPr>
              <a:t>t</a:t>
            </a:r>
            <a:endParaRPr sz="900">
              <a:latin typeface="Courier New"/>
              <a:cs typeface="Courier New"/>
            </a:endParaRPr>
          </a:p>
          <a:p>
            <a:pPr marR="625475" algn="r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WHERE t.id =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outer.id</a:t>
            </a:r>
            <a:endParaRPr sz="900">
              <a:latin typeface="Courier New"/>
              <a:cs typeface="Courier New"/>
            </a:endParaRPr>
          </a:p>
          <a:p>
            <a:pPr marR="625475" algn="r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)  -- safer than NOT </a:t>
            </a:r>
            <a:r>
              <a:rPr sz="900" spc="-25" dirty="0">
                <a:solidFill>
                  <a:srgbClr val="D3D3D3"/>
                </a:solidFill>
                <a:latin typeface="Courier New"/>
                <a:cs typeface="Courier New"/>
              </a:rPr>
              <a:t>IN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66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Subqueries</a:t>
            </a:r>
            <a:r>
              <a:rPr spc="-25" dirty="0"/>
              <a:t> </a:t>
            </a:r>
            <a:r>
              <a:rPr dirty="0"/>
              <a:t>Part</a:t>
            </a:r>
            <a:r>
              <a:rPr spc="-25" dirty="0"/>
              <a:t> </a:t>
            </a:r>
            <a:r>
              <a:rPr dirty="0"/>
              <a:t>2</a:t>
            </a:r>
            <a:r>
              <a:rPr spc="-20" dirty="0"/>
              <a:t> </a:t>
            </a:r>
            <a:r>
              <a:rPr dirty="0"/>
              <a:t>+</a:t>
            </a:r>
            <a:r>
              <a:rPr spc="-25" dirty="0"/>
              <a:t> </a:t>
            </a:r>
            <a:r>
              <a:rPr spc="-20" dirty="0"/>
              <a:t>CTEs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4144" y="771743"/>
            <a:ext cx="2597785" cy="3141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spc="-25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Single</a:t>
            </a: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spc="-25" dirty="0">
                <a:solidFill>
                  <a:srgbClr val="FFB200"/>
                </a:solidFill>
                <a:latin typeface="Courier New"/>
                <a:cs typeface="Courier New"/>
              </a:rPr>
              <a:t>CTE</a:t>
            </a:r>
            <a:endParaRPr sz="1100">
              <a:latin typeface="Courier New"/>
              <a:cs typeface="Courier New"/>
            </a:endParaRPr>
          </a:p>
          <a:p>
            <a:pPr marL="102235" marR="211454">
              <a:lnSpc>
                <a:spcPct val="110200"/>
              </a:lnSpc>
              <a:spcBef>
                <a:spcPts val="775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WITH cte AS (SELECT ... FROM </a:t>
            </a:r>
            <a:r>
              <a:rPr sz="900" spc="-20" dirty="0">
                <a:solidFill>
                  <a:srgbClr val="D3D3D3"/>
                </a:solidFill>
                <a:latin typeface="Courier New"/>
                <a:cs typeface="Courier New"/>
              </a:rPr>
              <a:t>...) </a:t>
            </a: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SELECT * FROM </a:t>
            </a:r>
            <a:r>
              <a:rPr sz="900" spc="-25" dirty="0">
                <a:solidFill>
                  <a:srgbClr val="D3D3D3"/>
                </a:solidFill>
                <a:latin typeface="Courier New"/>
                <a:cs typeface="Courier New"/>
              </a:rPr>
              <a:t>cte</a:t>
            </a:r>
            <a:endParaRPr sz="9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JOIN other ON </a:t>
            </a:r>
            <a:r>
              <a:rPr sz="900" spc="-25" dirty="0">
                <a:solidFill>
                  <a:srgbClr val="D3D3D3"/>
                </a:solidFill>
                <a:latin typeface="Courier New"/>
                <a:cs typeface="Courier New"/>
              </a:rPr>
              <a:t>...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spc="-35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Multiple</a:t>
            </a:r>
            <a:r>
              <a:rPr sz="1100" b="1" spc="-30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CTEs</a:t>
            </a:r>
            <a:endParaRPr sz="11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885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WITH a AS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(...),</a:t>
            </a:r>
            <a:endParaRPr sz="900">
              <a:latin typeface="Courier New"/>
              <a:cs typeface="Courier New"/>
            </a:endParaRPr>
          </a:p>
          <a:p>
            <a:pPr marL="377190" indent="-137160">
              <a:lnSpc>
                <a:spcPct val="100000"/>
              </a:lnSpc>
              <a:spcBef>
                <a:spcPts val="110"/>
              </a:spcBef>
              <a:buAutoNum type="alphaLcPeriod" startAt="2"/>
              <a:tabLst>
                <a:tab pos="377190" algn="l"/>
              </a:tabLst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AS (SELECT ... FROM a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...),</a:t>
            </a:r>
            <a:endParaRPr sz="900">
              <a:latin typeface="Courier New"/>
              <a:cs typeface="Courier New"/>
            </a:endParaRPr>
          </a:p>
          <a:p>
            <a:pPr marL="102235" marR="418465" indent="274955">
              <a:lnSpc>
                <a:spcPct val="110200"/>
              </a:lnSpc>
              <a:buAutoNum type="alphaLcPeriod" startAt="2"/>
              <a:tabLst>
                <a:tab pos="377190" algn="l"/>
              </a:tabLst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AS (SELECT ... FROM b </a:t>
            </a:r>
            <a:r>
              <a:rPr sz="900" spc="-20" dirty="0">
                <a:solidFill>
                  <a:srgbClr val="D3D3D3"/>
                </a:solidFill>
                <a:latin typeface="Courier New"/>
                <a:cs typeface="Courier New"/>
              </a:rPr>
              <a:t>...) </a:t>
            </a: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SELECT * FROM </a:t>
            </a:r>
            <a:r>
              <a:rPr sz="900" spc="-25" dirty="0">
                <a:solidFill>
                  <a:srgbClr val="D3D3D3"/>
                </a:solidFill>
                <a:latin typeface="Courier New"/>
                <a:cs typeface="Courier New"/>
              </a:rPr>
              <a:t>c;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spc="-35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Recursive</a:t>
            </a:r>
            <a:r>
              <a:rPr sz="1100" b="1" spc="-35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spc="-25" dirty="0">
                <a:solidFill>
                  <a:srgbClr val="FFB200"/>
                </a:solidFill>
                <a:latin typeface="Courier New"/>
                <a:cs typeface="Courier New"/>
              </a:rPr>
              <a:t>CTE</a:t>
            </a:r>
            <a:endParaRPr sz="11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89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WITH RECURSIVE cte AS </a:t>
            </a:r>
            <a:r>
              <a:rPr sz="9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900">
              <a:latin typeface="Courier New"/>
              <a:cs typeface="Courier New"/>
            </a:endParaRPr>
          </a:p>
          <a:p>
            <a:pPr marL="240029" marR="1522095">
              <a:lnSpc>
                <a:spcPct val="110200"/>
              </a:lnSpc>
            </a:pP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anchor_query </a:t>
            </a: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UNION </a:t>
            </a:r>
            <a:r>
              <a:rPr sz="900" spc="-25" dirty="0">
                <a:solidFill>
                  <a:srgbClr val="D3D3D3"/>
                </a:solidFill>
                <a:latin typeface="Courier New"/>
                <a:cs typeface="Courier New"/>
              </a:rPr>
              <a:t>ALL</a:t>
            </a:r>
            <a:endParaRPr sz="900">
              <a:latin typeface="Courier New"/>
              <a:cs typeface="Courier New"/>
            </a:endParaRPr>
          </a:p>
          <a:p>
            <a:pPr marL="240029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recursive_query  -- references </a:t>
            </a:r>
            <a:r>
              <a:rPr sz="900" spc="-25" dirty="0">
                <a:solidFill>
                  <a:srgbClr val="D3D3D3"/>
                </a:solidFill>
                <a:latin typeface="Courier New"/>
                <a:cs typeface="Courier New"/>
              </a:rPr>
              <a:t>cte</a:t>
            </a:r>
            <a:endParaRPr sz="9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) SELECT * FROM </a:t>
            </a:r>
            <a:r>
              <a:rPr sz="900" spc="-20" dirty="0">
                <a:solidFill>
                  <a:srgbClr val="D3D3D3"/>
                </a:solidFill>
                <a:latin typeface="Courier New"/>
                <a:cs typeface="Courier New"/>
              </a:rPr>
              <a:t>cte;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4913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5375" y="345505"/>
            <a:ext cx="64389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CHALLENGE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43383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CTEs</a:t>
            </a:r>
            <a:r>
              <a:rPr sz="2000" spc="-1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Take-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Home</a:t>
            </a:r>
            <a:r>
              <a:rPr sz="2000" spc="-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Challenge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 (1/3)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147869"/>
            <a:ext cx="4919345" cy="1122680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Build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these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queries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RetailMart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V3: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Easy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(EXISTS):</a:t>
            </a:r>
            <a:endParaRPr sz="1300">
              <a:latin typeface="Calibri"/>
              <a:cs typeface="Calibri"/>
            </a:endParaRPr>
          </a:p>
          <a:p>
            <a:pPr marL="139065" indent="-132080">
              <a:lnSpc>
                <a:spcPct val="100000"/>
              </a:lnSpc>
              <a:spcBef>
                <a:spcPts val="315"/>
              </a:spcBef>
              <a:buSzPct val="92307"/>
              <a:buAutoNum type="arabicPeriod"/>
              <a:tabLst>
                <a:tab pos="1390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Customers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least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(EXISTS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through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→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orders).</a:t>
            </a:r>
            <a:endParaRPr sz="1300">
              <a:latin typeface="Calibri"/>
              <a:cs typeface="Calibri"/>
            </a:endParaRPr>
          </a:p>
          <a:p>
            <a:pPr marL="139065" indent="-132080">
              <a:lnSpc>
                <a:spcPct val="100000"/>
              </a:lnSpc>
              <a:spcBef>
                <a:spcPts val="315"/>
              </a:spcBef>
              <a:buSzPct val="92307"/>
              <a:buAutoNum type="arabicPeriod"/>
              <a:tabLst>
                <a:tab pos="1390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Products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never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bought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(NOT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NULL-safe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anti-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join).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4913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5375" y="345505"/>
            <a:ext cx="64389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CHALLENGE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4373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CTEs</a:t>
            </a:r>
            <a:r>
              <a:rPr sz="2000" spc="-1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Take-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Home</a:t>
            </a:r>
            <a:r>
              <a:rPr sz="2000" spc="-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Challenge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 (2/3)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833995" cy="255079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Medium</a:t>
            </a:r>
            <a:r>
              <a:rPr sz="1300" spc="-7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(CTEs):</a:t>
            </a:r>
            <a:endParaRPr sz="1300">
              <a:latin typeface="Calibri"/>
              <a:cs typeface="Calibri"/>
            </a:endParaRPr>
          </a:p>
          <a:p>
            <a:pPr marL="139065" indent="-132080">
              <a:lnSpc>
                <a:spcPct val="100000"/>
              </a:lnSpc>
              <a:spcBef>
                <a:spcPts val="315"/>
              </a:spcBef>
              <a:buSzPct val="92307"/>
              <a:buAutoNum type="arabicPeriod" startAt="3"/>
              <a:tabLst>
                <a:tab pos="1390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Churn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analysis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customers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order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6+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months.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Show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name,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last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order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date,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days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since.</a:t>
            </a:r>
            <a:endParaRPr sz="1300">
              <a:latin typeface="Calibri"/>
              <a:cs typeface="Calibri"/>
            </a:endParaRPr>
          </a:p>
          <a:p>
            <a:pPr marL="139065" indent="-132080">
              <a:lnSpc>
                <a:spcPct val="100000"/>
              </a:lnSpc>
              <a:spcBef>
                <a:spcPts val="315"/>
              </a:spcBef>
              <a:buSzPct val="92307"/>
              <a:buAutoNum type="arabicPeriod" startAt="3"/>
              <a:tabLst>
                <a:tab pos="1390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4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Two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chained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CTEs: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top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10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stores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by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revenue,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their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employee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count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joined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in.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Hard</a:t>
            </a:r>
            <a:r>
              <a:rPr sz="1300" spc="-6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(Refactoring):</a:t>
            </a:r>
            <a:endParaRPr sz="1300">
              <a:latin typeface="Calibri"/>
              <a:cs typeface="Calibri"/>
            </a:endParaRPr>
          </a:p>
          <a:p>
            <a:pPr marL="139065" indent="-132080">
              <a:lnSpc>
                <a:spcPct val="100000"/>
              </a:lnSpc>
              <a:spcBef>
                <a:spcPts val="315"/>
              </a:spcBef>
              <a:buSzPct val="92307"/>
              <a:buAutoNum type="arabicPeriod" startAt="5"/>
              <a:tabLst>
                <a:tab pos="1390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Refactor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3-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level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nested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chained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CTEs.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Same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result,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more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readable.</a:t>
            </a:r>
            <a:endParaRPr sz="1300">
              <a:latin typeface="Calibri"/>
              <a:cs typeface="Calibri"/>
            </a:endParaRPr>
          </a:p>
          <a:p>
            <a:pPr marL="12700" marR="5080" indent="-5715">
              <a:lnSpc>
                <a:spcPct val="120100"/>
              </a:lnSpc>
              <a:buSzPct val="92307"/>
              <a:buAutoNum type="arabicPeriod" startAt="5"/>
              <a:tabLst>
                <a:tab pos="1390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	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employees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above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their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department's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average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TWO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approaches: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correlated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table. Compare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counts.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Crazy</a:t>
            </a:r>
            <a:r>
              <a:rPr sz="1300" spc="-7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(Recursive):</a:t>
            </a:r>
            <a:endParaRPr sz="1300">
              <a:latin typeface="Calibri"/>
              <a:cs typeface="Calibri"/>
            </a:endParaRPr>
          </a:p>
          <a:p>
            <a:pPr marL="12700" marR="89535" indent="-5715">
              <a:lnSpc>
                <a:spcPct val="120100"/>
              </a:lnSpc>
              <a:buSzPct val="92307"/>
              <a:buAutoNum type="arabicPeriod" startAt="7"/>
              <a:tabLst>
                <a:tab pos="1390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	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Recursive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walk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synthetic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4-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level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org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chart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(use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VALUES)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show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employee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their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level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path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5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CEO.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4913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5375" y="345505"/>
            <a:ext cx="64389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CHALLENGE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4373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CTEs</a:t>
            </a:r>
            <a:r>
              <a:rPr sz="2000" spc="-1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Take-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Home</a:t>
            </a:r>
            <a:r>
              <a:rPr sz="2000" spc="-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Challenge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 (3/3)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3117850" cy="50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Push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SQL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file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GitHub!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  <a:hlinkClick r:id="rId2"/>
              </a:rPr>
              <a:t>https://github.com/starlordali4444/postgresql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156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35417" y="345505"/>
            <a:ext cx="3638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STORY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25050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Coming</a:t>
            </a:r>
            <a:r>
              <a:rPr sz="2000" spc="-4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Tomorrow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936865" cy="1288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Normalization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(1NF,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2NF,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3NF)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why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source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schemas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look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way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they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do.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Denormalization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tradeoffs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stored aggregates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are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intentional.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ACID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(Atomicity,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Consistency,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Isolation,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Durability)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what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means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plain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English.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Transactions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BEGIN,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COMMIT,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ROLLBACK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concept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level.</a:t>
            </a:r>
            <a:endParaRPr sz="1300">
              <a:latin typeface="Calibri"/>
              <a:cs typeface="Calibri"/>
            </a:endParaRPr>
          </a:p>
          <a:p>
            <a:pPr marL="12700" marR="69850">
              <a:lnSpc>
                <a:spcPct val="120100"/>
              </a:lnSpc>
              <a:spcBef>
                <a:spcPts val="575"/>
              </a:spcBef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Database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Concepts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theory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grounding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everything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we've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built.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Concept-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only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procedural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code,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hands-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locking.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Just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principles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analyst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needs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understand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data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query.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0202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Words>7446</Words>
  <Application>Microsoft Office PowerPoint</Application>
  <PresentationFormat>Custom</PresentationFormat>
  <Paragraphs>585</Paragraphs>
  <Slides>76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1" baseType="lpstr">
      <vt:lpstr>Calibri</vt:lpstr>
      <vt:lpstr>Courier New</vt:lpstr>
      <vt:lpstr>Georgia</vt:lpstr>
      <vt:lpstr>Segoe UI Symbol</vt:lpstr>
      <vt:lpstr>Office Theme</vt:lpstr>
      <vt:lpstr>The Per-Row Benchmark</vt:lpstr>
      <vt:lpstr>From Story to SQL!</vt:lpstr>
      <vt:lpstr>The Personalized Average</vt:lpstr>
      <vt:lpstr>Correlated Subquery</vt:lpstr>
      <vt:lpstr>SYNTAX: Correlated Subqueries</vt:lpstr>
      <vt:lpstr>Step-by-Step: Correlated Execution</vt:lpstr>
      <vt:lpstr>Easy: Employees Above Their Department's Average</vt:lpstr>
      <vt:lpstr>Answer</vt:lpstr>
      <vt:lpstr>Correlated Subqueries</vt:lpstr>
      <vt:lpstr>Correlated vs Independent — Easy to Confuse</vt:lpstr>
      <vt:lpstr>The Border Checkpoint</vt:lpstr>
      <vt:lpstr>EXISTS / NOT EXISTS</vt:lpstr>
      <vt:lpstr>SYNTAX: EXISTS / NOT EXISTS</vt:lpstr>
      <vt:lpstr>EXISTS vs IN — Differences</vt:lpstr>
      <vt:lpstr>Easy: Products Never Bought (NOT EXISTS)</vt:lpstr>
      <vt:lpstr>Answer</vt:lpstr>
      <vt:lpstr>Hard: EXISTS vs IN — Performance and Correctness</vt:lpstr>
      <vt:lpstr>Answer (1/2)</vt:lpstr>
      <vt:lpstr>Answer (2/2)</vt:lpstr>
      <vt:lpstr>Crazy: Stores Where NO One Earns Above Average</vt:lpstr>
      <vt:lpstr>Answer (1/2)</vt:lpstr>
      <vt:lpstr>PowerPoint Presentation</vt:lpstr>
      <vt:lpstr>EXISTS / NOT EXISTS</vt:lpstr>
      <vt:lpstr>Forgetting the Correlation</vt:lpstr>
      <vt:lpstr>The Recipe Steps</vt:lpstr>
      <vt:lpstr>Common Table Expression (CTE)</vt:lpstr>
      <vt:lpstr>SYNTAX: CTEs (WITH clause)</vt:lpstr>
      <vt:lpstr>Easy: Top Stores by Revenue (CTE refactor)</vt:lpstr>
      <vt:lpstr>Answer</vt:lpstr>
      <vt:lpstr>Crazy: VIP Engagement Score — Multi-Step CTE Chain</vt:lpstr>
      <vt:lpstr>Answer (1/3)</vt:lpstr>
      <vt:lpstr>Answer (2/3)</vt:lpstr>
      <vt:lpstr>Answer (3/3)</vt:lpstr>
      <vt:lpstr>CTEs</vt:lpstr>
      <vt:lpstr>CTEs in Production</vt:lpstr>
      <vt:lpstr>PRO TIP</vt:lpstr>
      <vt:lpstr>Walking Up a Family Tree</vt:lpstr>
      <vt:lpstr>Recursive CTE</vt:lpstr>
      <vt:lpstr>SYNTAX: Recursive CTE</vt:lpstr>
      <vt:lpstr>Step-by-Step: Recursive Execution</vt:lpstr>
      <vt:lpstr>Easy: Generate a Number Series 1 to 100</vt:lpstr>
      <vt:lpstr>Answer</vt:lpstr>
      <vt:lpstr>Medium: Date Series for a Calendar Table</vt:lpstr>
      <vt:lpstr>Answer</vt:lpstr>
      <vt:lpstr>Hard: Cumulative Order Days Per Customer</vt:lpstr>
      <vt:lpstr>Answer (1/2)</vt:lpstr>
      <vt:lpstr>Answer (2/2)</vt:lpstr>
      <vt:lpstr>Crazy: Walk a Synthetic Org Chart</vt:lpstr>
      <vt:lpstr>Answer (1/2)</vt:lpstr>
      <vt:lpstr>Answer (2/2)</vt:lpstr>
      <vt:lpstr>Recursive CTEs</vt:lpstr>
      <vt:lpstr>Infinite Recursion</vt:lpstr>
      <vt:lpstr>Try It Live!</vt:lpstr>
      <vt:lpstr>Challenge 1: EXISTS Speed Demo</vt:lpstr>
      <vt:lpstr>Challenge 2: Correlated Per-Customer Count</vt:lpstr>
      <vt:lpstr>Challenge 3: Two-Step CTE Pattern</vt:lpstr>
      <vt:lpstr>Challenge 4: Recursive — Date Series</vt:lpstr>
      <vt:lpstr>EXISTS Without Correlation</vt:lpstr>
      <vt:lpstr>Correlated Subquery Performance</vt:lpstr>
      <vt:lpstr>CTE Referenced Out of Order</vt:lpstr>
      <vt:lpstr>Recursive CTE Without Stop Condition</vt:lpstr>
      <vt:lpstr>Correlated vs Independent</vt:lpstr>
      <vt:lpstr>EXISTS vs IN</vt:lpstr>
      <vt:lpstr>Why CTEs Over Subqueries?</vt:lpstr>
      <vt:lpstr>Anatomy of a Recursive CTE</vt:lpstr>
      <vt:lpstr>Real Interview: Find Customers Above Department Average</vt:lpstr>
      <vt:lpstr>When to Use Recursive CTE?</vt:lpstr>
      <vt:lpstr>Spot the Bug — Multiple Rows in Scalar</vt:lpstr>
      <vt:lpstr>KEY TAKEAWAYS</vt:lpstr>
      <vt:lpstr>What You Achieved Today</vt:lpstr>
      <vt:lpstr>Subqueries Part 2 + CTEs</vt:lpstr>
      <vt:lpstr>Subqueries Part 2 + CTEs</vt:lpstr>
      <vt:lpstr>CTEs Take-Home Challenge (1/3)</vt:lpstr>
      <vt:lpstr>CTEs Take-Home Challenge (2/3)</vt:lpstr>
      <vt:lpstr>CTEs Take-Home Challenge (3/3)</vt:lpstr>
      <vt:lpstr>Coming Tomorrow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Subqueries Part 2 + CTEs — RetailMart V3 SQL</dc:title>
  <dc:subject>SQL Masterclass — RetailMart V3</dc:subject>
  <dc:creator>AccioJob — Siraj Sir</dc:creator>
  <cp:lastModifiedBy>Ankit Kumar</cp:lastModifiedBy>
  <cp:revision>1</cp:revision>
  <dcterms:created xsi:type="dcterms:W3CDTF">2026-10-03T12:33:41Z</dcterms:created>
  <dcterms:modified xsi:type="dcterms:W3CDTF">2026-10-03T17:22:38Z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2026-07-06T00:00:00Z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26.2.3.2 (AARCH64)</vt:lpwstr>
  </property>
  <property fmtid="{D5CDD505-2E9C-101B-9397-08002B2CF9AE}" pid="6" name="LastSaved">
    <vt:filetime>2026-07-06T00:00:00Z</vt:filetime>
  </property>
</Properties>
</file>