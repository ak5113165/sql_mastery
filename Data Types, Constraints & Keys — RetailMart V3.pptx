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310" r:id="rId19"/>
    <p:sldId id="311" r:id="rId20"/>
    <p:sldId id="273" r:id="rId21"/>
    <p:sldId id="274" r:id="rId22"/>
    <p:sldId id="275" r:id="rId23"/>
    <p:sldId id="276" r:id="rId24"/>
    <p:sldId id="277" r:id="rId25"/>
    <p:sldId id="278" r:id="rId26"/>
    <p:sldId id="279" r:id="rId27"/>
    <p:sldId id="280" r:id="rId28"/>
    <p:sldId id="281" r:id="rId29"/>
    <p:sldId id="312" r:id="rId30"/>
    <p:sldId id="283" r:id="rId31"/>
    <p:sldId id="284" r:id="rId32"/>
    <p:sldId id="285" r:id="rId33"/>
    <p:sldId id="286" r:id="rId34"/>
    <p:sldId id="287" r:id="rId35"/>
    <p:sldId id="288" r:id="rId36"/>
    <p:sldId id="289" r:id="rId37"/>
    <p:sldId id="290" r:id="rId38"/>
    <p:sldId id="292" r:id="rId39"/>
    <p:sldId id="293" r:id="rId40"/>
    <p:sldId id="294" r:id="rId41"/>
    <p:sldId id="295" r:id="rId42"/>
    <p:sldId id="296" r:id="rId43"/>
    <p:sldId id="297" r:id="rId44"/>
    <p:sldId id="298" r:id="rId45"/>
    <p:sldId id="299" r:id="rId46"/>
    <p:sldId id="300" r:id="rId47"/>
    <p:sldId id="313" r:id="rId48"/>
    <p:sldId id="314" r:id="rId4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5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8256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to Day 4 of the SQL masterclass. Remind them that yesterday they built TEXT-everything tables; today they will give each column a proper type and add RULES that make bad data impossible. Frame the day as 'defense in depth' — types defend first, constraints defend second. Promise that by the end they will be able to look at any column and pick the correct PostgreSQL type in under ten seconds. Set the mood: this is the lesson where their databases stop being toys.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central promise: data should be CORRECT and SAFE. Contrast with yesterday — TEXT-only was fine for learning, but a fintech would lose money that way. Tell them today fixes two problems at once: wrong types (math that breaks, sorts that lie) and missing rules (any garbage inserts). Emphasize the 'first line of defense' framing — types reject bad data at the gate, constraints reject bad rows at the door. End with: by tonight, you will look at any column and know its type in ten seconds.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anchors quickly so the class sees the whole arc before diving in. Tell them: Topic 1 (Data Types) is about 40 minutes; Topic 2 (Constraints &amp; Keys) is about 45 minutes; in between there are two practice blocks. Promise: every concept here will be immediately followed by practice — EASY, MEDIUM, HARD, CRAZY — so the muscle memory actually forms. End by promising: by the recap, you'll know the golden rules: money → NUMERIC, phone → VARCHAR, every table needs a PK, financial FKs → RESTRICT.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class the full two-hour shape so they know what to expect. Tell them the 5-minute recap is fast because they already lived the pain yesterday. The 40-minute Topic 1 is the densest segment — types are non-negotiable. Practice Block 1 (25 mins) is solo work — you'll pair-debug at the end. Topic 2 is concept-heavy but shorter per idea. Practice Block 2 is more solo work. Wrap-up is short: recap, self-check (12 questions), homework challenge, then tomorrow's preview. Promise: we will end on time.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Refresh yesterday fast: they wrote CREATE SCHEMA / CREATE TABLE, INSERT, UPDATE, DELETE, TRUNCATE — and they left every column as TEXT. Ask them: who tried to multiply amount * 1.1 yesterday? It broke. Who tried WHERE total &gt; '900' and missed '1000'? That's character-by-character string sort. Tell them: today both pains get fixed in the same lesson. Types fix the math and the sorting. Constraints fix the garbage-in problem. End with: 'Today is the day your databases grow up.'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this like a campfire story — the class should feel the dread. A real Bengaluru fintech did exactly what they did yesterday: stored amounts as TEXT. It worked for months. Then a frontend bug sent 'Rs.15,000' and 'fifteen thousand' — and TEXT accepted them all silently. Nobody noticed for eight months. Ask: how would they have found this? Answer: only when they tried to SUM. Tease: tomorrow's slide reveals what the quarter-end report did. End with: 'TEXT never rejects anything. That is its superpower and its curse.'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the punchline hard. The quarter-end report failed with one error: 'invalid input syntax for type numeric'. Eight months of dirty data, surfaced in one query. The fix is one ALTER TABLE line — change amount to NUMERIC(12,2) and PostgreSQL immediately starts rejecting 'Rs.15,000' at INSERT time, not at SUM time. Tell them: types are a defense, not a label. They are the FIRST line. Constraints (tomorrow's topic) are the second. End with the rule they should tattoo: never leave a column as TEXT in a real system — pick the type that defends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top-to-bottom. SMALLINT covers ages and ratings. INT is the default for IDs and counts. BIGINT is for things that genuinely grow past 2.1 billion — view counts on viral videos, like counts on a global social network. SERIAL is the magic — it auto-increments so you never type an id. Stress the deleted-id rule: if row 2 is deleted, the next id is 3, never 2 again. That's intentional — id reuse causes referential nightmares. End with the rule: smallest type that fits.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most-asked interview question in fintech: why not FLOAT for money? Answer: binary floating point cannot represent 0.1 exactly. 0.1 + 0.2 in REAL gives 0.30000001 — wrong on every row. Over ten million transactions, that drift becomes real rupees lost. NUMERIC stores exact decimals — p total digits, s after the point. NUMERIC(10,2) for prices, NUMERIC(9,6) for GPS lat/long. The rule is absolute: money → NUMERIC, never FLOAT. End with: this single rule has saved startups from accounting scandals.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VARCHAR is the workhorse — names, emails, codes. TEXT is for unbounded content — reviews, descriptions. CHAR is almost never used because it pads short values with spaces. Stress the storage fact: VARCHAR(100) and VARCHAR(50) take the SAME bytes for a 30-char value — the limit is just a rejection rule, so set it generously. Then hit the trap: phone numbers, pincodes, aadhaar — they LOOK like numbers but they aren't, because you never SUM them and they lose leading zeros or contain + and dashes. Test: would you ever SUM or AVG this column? If no → it's text. End with: 'phone is VARCHAR, pincode is VARCHAR, aadhaar is VARCHAR.'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DATE is the calendar day — birthday, order_date. TIMESTAMP is the exact moment — created_at, login. TIMESTAMPTZ adds timezone — for any global app. TIME is clock-only — shifts, schedules. INTERVAL is a duration — useful for SLAs. BOOLEAN is the yes/no flag. Stress the format rule: PostgreSQL expects YYYY-MM-DD, never 16/05/2025. And the day-vs-moment test: 'which DAY matters → DATE; the exact MOMENT matters → TIMESTAMP.' End with: 'order_date is DATE, page_view_at is TIMESTAMP — never the other way around.'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are powerful but you should not reach for them yet. UUID is for unguessable ids — public URLs, security tokens. JSONB is for flexible nested documents — event payloads, settings, API responses. ARRAY is for many values in one cell — tags, role lists — though a junction table is usually cleaner. Tell the class: covered in depth on the JSON day. The real win for today is the 8 core types: SERIAL, INT, NUMERIC, VARCHAR, TEXT, DATE, TIMESTAMP, BOOLEAN. Master those and 95% of columns are decided. End with: 'these eight are your toolkit.'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useful slide of the day. Tell the class: when you stare at a column and don't know the type, ask these nine questions in order. The first one that's 'yes' wins. Auto-incrementing id? SERIAL. Math on it? INT. Money? NUMERIC. Short text? VARCHAR. Long text? TEXT. Day? DATE. Moment? TIMESTAMP. Yes/no? BOOLEAN. Looks like a number but you never SUM it (phone, pin)? VARCHAR. End with the safety net: still unsure? Default VARCHAR and ALTER later — exactly what they will do in the next section with yesterday's TEXT columns.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slide. ALTER TABLE ALTER COLUMN TYPE USING is the move that saves yesterday's tables. You don't DROP and recreate — you convert in place. The USING clause is the cast recipe: it tells PostgreSQL how to read each existing TEXT value as the new type. If even one value can't cast, the whole ALTER fails — which is the type defending itself, refusing to silently corrupt data. Walk the example: student_id TEXT → INT, USING student_id::int. Tease: next slide shows DATE, BOOLEAN, NUMERIC versions.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four classic conversions the class will write today. TEXT → DATE for any date column. TEXT → BOOLEAN for is_active, is_paid, has_X flags. TEXT → NUMERIC(10,2) for any money column. And the three side-kicks: ADD COLUMN, RENAME COLUMN, DROP COLUMN — useful throughout their career. Drive home: USING is the cast recipe. A failed cast is the type defending itself — it forces you to clean the dirty data before allowing the conversion. End with: 'PostgreSQL will never silently corrupt your data with a bad cast.'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class a real orders table from RetailMart. Every column has a deliberate type. order_id is SERIAL — auto-counter. cust_id is INT — references customers (it's a FK). order_date is DATE — only the day matters. order_status is VARCHAR(30) — short labels. gross_total and net_total are NUMERIC(12,2) — money MUST be exact. payment_mode_id is INT — references the finance schema. Patterns to internalize: ids are SERIAL/INT, money is NUMERIC, day-only is DATE, status is VARCHAR. Tell them: 'Every type choice you make should feel this deliberate.' End: 'Now you try — practice block one.'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Practice Block 1 starts now — four problems, ~25 minutes, all in the accio_NN schema. Tell the class: choose the right type for each column, fix wrong types others wrote, and convert TEXT columns in place. Promise: you'll pair-debug at the end of the block. Stress the framing — every wrong type is a future bug. EASY is a warmup. MEDIUM is finding nine wrong types in someone else's CREATE TABLE. HARD is designing Zomato tables from scratch. CRAZY is a real migration: convert a loaded TEXT table in place. End: 'open your IDE — EASY first.'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598" b="1" i="0">
                <a:solidFill>
                  <a:srgbClr val="FFB20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298" b="1" i="0">
                <a:solidFill>
                  <a:srgbClr val="202020"/>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388895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598" b="1" i="0">
                <a:solidFill>
                  <a:srgbClr val="FFB2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9/19/2026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026601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3"/>
            <a:ext cx="9144000" cy="5137792"/>
          </a:xfrm>
          <a:custGeom>
            <a:avLst/>
            <a:gdLst/>
            <a:ahLst/>
            <a:cxnLst/>
            <a:rect l="l" t="t" r="r" b="b"/>
            <a:pathLst>
              <a:path w="9144000" h="5144135">
                <a:moveTo>
                  <a:pt x="9144000" y="0"/>
                </a:moveTo>
                <a:lnTo>
                  <a:pt x="0" y="0"/>
                </a:lnTo>
                <a:lnTo>
                  <a:pt x="0" y="5143677"/>
                </a:lnTo>
                <a:lnTo>
                  <a:pt x="9144000" y="5143677"/>
                </a:lnTo>
                <a:lnTo>
                  <a:pt x="9144000" y="0"/>
                </a:lnTo>
                <a:close/>
              </a:path>
            </a:pathLst>
          </a:custGeom>
          <a:solidFill>
            <a:srgbClr val="1D1D1D"/>
          </a:solidFill>
        </p:spPr>
        <p:txBody>
          <a:bodyPr wrap="square" lIns="0" tIns="0" rIns="0" bIns="0" rtlCol="0"/>
          <a:lstStyle/>
          <a:p>
            <a:endParaRPr sz="1798"/>
          </a:p>
        </p:txBody>
      </p:sp>
      <p:sp>
        <p:nvSpPr>
          <p:cNvPr id="17" name="bg object 17"/>
          <p:cNvSpPr/>
          <p:nvPr/>
        </p:nvSpPr>
        <p:spPr>
          <a:xfrm>
            <a:off x="-355" y="4839990"/>
            <a:ext cx="9144000" cy="296814"/>
          </a:xfrm>
          <a:custGeom>
            <a:avLst/>
            <a:gdLst/>
            <a:ahLst/>
            <a:cxnLst/>
            <a:rect l="l" t="t" r="r" b="b"/>
            <a:pathLst>
              <a:path w="9144000" h="297179">
                <a:moveTo>
                  <a:pt x="9143631" y="0"/>
                </a:moveTo>
                <a:lnTo>
                  <a:pt x="0" y="0"/>
                </a:lnTo>
                <a:lnTo>
                  <a:pt x="0" y="296989"/>
                </a:lnTo>
                <a:lnTo>
                  <a:pt x="4572000" y="296989"/>
                </a:lnTo>
                <a:lnTo>
                  <a:pt x="9143631" y="296989"/>
                </a:lnTo>
                <a:lnTo>
                  <a:pt x="9143631" y="0"/>
                </a:lnTo>
                <a:close/>
              </a:path>
            </a:pathLst>
          </a:custGeom>
          <a:solidFill>
            <a:srgbClr val="333333"/>
          </a:solidFill>
        </p:spPr>
        <p:txBody>
          <a:bodyPr wrap="square" lIns="0" tIns="0" rIns="0" bIns="0" rtlCol="0"/>
          <a:lstStyle/>
          <a:p>
            <a:endParaRPr sz="1798"/>
          </a:p>
        </p:txBody>
      </p:sp>
      <p:sp>
        <p:nvSpPr>
          <p:cNvPr id="18" name="bg object 18"/>
          <p:cNvSpPr/>
          <p:nvPr/>
        </p:nvSpPr>
        <p:spPr>
          <a:xfrm>
            <a:off x="-355" y="-353"/>
            <a:ext cx="9144000" cy="54543"/>
          </a:xfrm>
          <a:custGeom>
            <a:avLst/>
            <a:gdLst/>
            <a:ahLst/>
            <a:cxnLst/>
            <a:rect l="l" t="t" r="r" b="b"/>
            <a:pathLst>
              <a:path w="9144000" h="54610">
                <a:moveTo>
                  <a:pt x="9143631" y="0"/>
                </a:moveTo>
                <a:lnTo>
                  <a:pt x="0" y="0"/>
                </a:lnTo>
                <a:lnTo>
                  <a:pt x="0" y="54355"/>
                </a:lnTo>
                <a:lnTo>
                  <a:pt x="4572000" y="54355"/>
                </a:lnTo>
                <a:lnTo>
                  <a:pt x="9143631" y="54355"/>
                </a:lnTo>
                <a:lnTo>
                  <a:pt x="9143631" y="0"/>
                </a:lnTo>
                <a:close/>
              </a:path>
            </a:pathLst>
          </a:custGeom>
          <a:solidFill>
            <a:srgbClr val="9C27AF"/>
          </a:solidFill>
        </p:spPr>
        <p:txBody>
          <a:bodyPr wrap="square" lIns="0" tIns="0" rIns="0" bIns="0" rtlCol="0"/>
          <a:lstStyle/>
          <a:p>
            <a:endParaRPr sz="1798"/>
          </a:p>
        </p:txBody>
      </p:sp>
      <p:sp>
        <p:nvSpPr>
          <p:cNvPr id="19" name="bg object 19"/>
          <p:cNvSpPr/>
          <p:nvPr/>
        </p:nvSpPr>
        <p:spPr>
          <a:xfrm>
            <a:off x="7314844" y="136637"/>
            <a:ext cx="1463040" cy="365309"/>
          </a:xfrm>
          <a:custGeom>
            <a:avLst/>
            <a:gdLst/>
            <a:ahLst/>
            <a:cxnLst/>
            <a:rect l="l" t="t" r="r" b="b"/>
            <a:pathLst>
              <a:path w="1463040" h="365759">
                <a:moveTo>
                  <a:pt x="1462671" y="0"/>
                </a:moveTo>
                <a:lnTo>
                  <a:pt x="0" y="0"/>
                </a:lnTo>
                <a:lnTo>
                  <a:pt x="0" y="365391"/>
                </a:lnTo>
                <a:lnTo>
                  <a:pt x="731520" y="365391"/>
                </a:lnTo>
                <a:lnTo>
                  <a:pt x="1462671" y="365391"/>
                </a:lnTo>
                <a:lnTo>
                  <a:pt x="1462671" y="0"/>
                </a:lnTo>
                <a:close/>
              </a:path>
            </a:pathLst>
          </a:custGeom>
          <a:solidFill>
            <a:srgbClr val="9C27AF"/>
          </a:solidFill>
        </p:spPr>
        <p:txBody>
          <a:bodyPr wrap="square" lIns="0" tIns="0" rIns="0" bIns="0" rtlCol="0"/>
          <a:lstStyle/>
          <a:p>
            <a:endParaRPr sz="1798"/>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88033746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mailto:%27aarav@college.edu"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hyperlink" Target="mailto:%27priya@gmail.com"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mailto:%27meera@gmail.com"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mailto:%27a@shop.com"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mailto:%27X%27%2C%27meera@gmail.com" TargetMode="External"/><Relationship Id="rId2" Type="http://schemas.openxmlformats.org/officeDocument/2006/relationships/hyperlink" Target="mailto:%27meera@gmail.com"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5715000" y="0"/>
            <a:ext cx="3429000" cy="5143500"/>
          </a:xfrm>
          <a:prstGeom prst="rect">
            <a:avLst/>
          </a:prstGeom>
          <a:solidFill>
            <a:srgbClr val="1E2A78"/>
          </a:solidFill>
          <a:ln/>
        </p:spPr>
        <p:txBody>
          <a:bodyPr wrap="square" rtlCol="0" anchor="ctr"/>
          <a:lstStyle/>
          <a:p>
            <a:pPr marL="0" indent="0">
              <a:buNone/>
            </a:pPr>
            <a:endParaRPr lang="en-US" dirty="0"/>
          </a:p>
        </p:txBody>
      </p:sp>
      <p:sp>
        <p:nvSpPr>
          <p:cNvPr id="3" name="Text 1"/>
          <p:cNvSpPr/>
          <p:nvPr/>
        </p:nvSpPr>
        <p:spPr>
          <a:xfrm>
            <a:off x="457200" y="257175"/>
            <a:ext cx="1004680" cy="164592"/>
          </a:xfrm>
          <a:prstGeom prst="rect">
            <a:avLst/>
          </a:prstGeom>
          <a:noFill/>
          <a:ln/>
        </p:spPr>
        <p:txBody>
          <a:bodyPr wrap="none" lIns="0" tIns="0" rIns="0" bIns="0" rtlCol="0" anchor="t"/>
          <a:lstStyle/>
          <a:p>
            <a:pPr marL="0" indent="0" algn="l">
              <a:lnSpc>
                <a:spcPts val="928"/>
              </a:lnSpc>
              <a:buNone/>
            </a:pPr>
            <a:r>
              <a:rPr lang="en-US" sz="800" b="1" kern="0" spc="198" dirty="0">
                <a:solidFill>
                  <a:srgbClr val="5A6485"/>
                </a:solidFill>
                <a:latin typeface="Carlito" pitchFamily="34" charset="0"/>
                <a:ea typeface="Carlito" pitchFamily="34" charset="-122"/>
                <a:cs typeface="Carlito" pitchFamily="34" charset="-120"/>
              </a:rPr>
              <a:t>RETAILMART</a:t>
            </a:r>
            <a:endParaRPr lang="en-US" sz="800" dirty="0"/>
          </a:p>
        </p:txBody>
      </p:sp>
      <p:sp>
        <p:nvSpPr>
          <p:cNvPr id="4" name="Text 2"/>
          <p:cNvSpPr/>
          <p:nvPr/>
        </p:nvSpPr>
        <p:spPr>
          <a:xfrm>
            <a:off x="1197806" y="257175"/>
            <a:ext cx="226278" cy="164592"/>
          </a:xfrm>
          <a:prstGeom prst="rect">
            <a:avLst/>
          </a:prstGeom>
          <a:noFill/>
          <a:ln/>
        </p:spPr>
        <p:txBody>
          <a:bodyPr wrap="none" lIns="0" tIns="0" rIns="0" bIns="0" rtlCol="0" anchor="t"/>
          <a:lstStyle/>
          <a:p>
            <a:pPr marL="0" indent="0" algn="l">
              <a:lnSpc>
                <a:spcPts val="928"/>
              </a:lnSpc>
              <a:buNone/>
            </a:pPr>
            <a:r>
              <a:rPr lang="en-US" sz="800" b="1" kern="0" spc="198" dirty="0">
                <a:solidFill>
                  <a:srgbClr val="3243A8"/>
                </a:solidFill>
                <a:latin typeface="Liberation Sans Narrow" pitchFamily="34" charset="0"/>
                <a:ea typeface="Liberation Sans Narrow" pitchFamily="34" charset="-122"/>
                <a:cs typeface="Liberation Sans Narrow" pitchFamily="34" charset="-120"/>
              </a:rPr>
              <a:t>V3</a:t>
            </a:r>
            <a:endParaRPr lang="en-US" sz="800" dirty="0"/>
          </a:p>
        </p:txBody>
      </p:sp>
      <p:sp>
        <p:nvSpPr>
          <p:cNvPr id="5" name="Text 3"/>
          <p:cNvSpPr/>
          <p:nvPr/>
        </p:nvSpPr>
        <p:spPr>
          <a:xfrm>
            <a:off x="1396380" y="287536"/>
            <a:ext cx="57150" cy="57150"/>
          </a:xfrm>
          <a:prstGeom prst="roundRect">
            <a:avLst>
              <a:gd name="adj" fmla="val 166650000"/>
            </a:avLst>
          </a:prstGeom>
          <a:solidFill>
            <a:srgbClr val="F59E0B"/>
          </a:solidFill>
          <a:ln/>
        </p:spPr>
        <p:txBody>
          <a:bodyPr wrap="square" rtlCol="0" anchor="ctr"/>
          <a:lstStyle/>
          <a:p>
            <a:pPr marL="0" indent="0">
              <a:buNone/>
            </a:pPr>
            <a:endParaRPr lang="en-US" dirty="0"/>
          </a:p>
        </p:txBody>
      </p:sp>
      <p:sp>
        <p:nvSpPr>
          <p:cNvPr id="6" name="Text 4"/>
          <p:cNvSpPr/>
          <p:nvPr/>
        </p:nvSpPr>
        <p:spPr>
          <a:xfrm>
            <a:off x="6286500" y="1503759"/>
            <a:ext cx="2857500" cy="164592"/>
          </a:xfrm>
          <a:prstGeom prst="rect">
            <a:avLst/>
          </a:prstGeom>
          <a:noFill/>
          <a:ln/>
        </p:spPr>
        <p:txBody>
          <a:bodyPr wrap="none" lIns="0" tIns="0" rIns="0" bIns="0" rtlCol="0" anchor="t"/>
          <a:lstStyle/>
          <a:p>
            <a:pPr marL="0" indent="0" algn="l">
              <a:lnSpc>
                <a:spcPts val="844"/>
              </a:lnSpc>
              <a:buNone/>
            </a:pPr>
            <a:r>
              <a:rPr lang="en-US" sz="800" b="1" kern="0" spc="135" dirty="0">
                <a:solidFill>
                  <a:srgbClr val="FFFFFF">
                    <a:alpha val="55000"/>
                  </a:srgbClr>
                </a:solidFill>
                <a:latin typeface="Carlito" pitchFamily="34" charset="0"/>
                <a:ea typeface="Carlito" pitchFamily="34" charset="-122"/>
                <a:cs typeface="Carlito" pitchFamily="34" charset="-120"/>
              </a:rPr>
              <a:t>POSTGRES TYPES</a:t>
            </a:r>
            <a:endParaRPr lang="en-US" sz="800" dirty="0"/>
          </a:p>
        </p:txBody>
      </p:sp>
      <p:sp>
        <p:nvSpPr>
          <p:cNvPr id="7" name="Text 5"/>
          <p:cNvSpPr/>
          <p:nvPr/>
        </p:nvSpPr>
        <p:spPr>
          <a:xfrm>
            <a:off x="6290072" y="1743075"/>
            <a:ext cx="2193131" cy="442913"/>
          </a:xfrm>
          <a:prstGeom prst="roundRect">
            <a:avLst>
              <a:gd name="adj" fmla="val 21505"/>
            </a:avLst>
          </a:prstGeom>
          <a:solidFill>
            <a:srgbClr val="FFFFFF">
              <a:alpha val="6000"/>
            </a:srgbClr>
          </a:solidFill>
          <a:ln w="7144">
            <a:solidFill>
              <a:srgbClr val="FFFFFF"/>
            </a:solidFill>
            <a:prstDash val="solid"/>
          </a:ln>
        </p:spPr>
        <p:txBody>
          <a:bodyPr wrap="square" rtlCol="0" anchor="ctr"/>
          <a:lstStyle/>
          <a:p>
            <a:pPr marL="0" indent="0">
              <a:buNone/>
            </a:pPr>
            <a:endParaRPr lang="en-US" dirty="0"/>
          </a:p>
        </p:txBody>
      </p:sp>
      <p:sp>
        <p:nvSpPr>
          <p:cNvPr id="8" name="Text 6"/>
          <p:cNvSpPr/>
          <p:nvPr/>
        </p:nvSpPr>
        <p:spPr>
          <a:xfrm>
            <a:off x="6351540" y="1860947"/>
            <a:ext cx="744887" cy="216027"/>
          </a:xfrm>
          <a:prstGeom prst="rect">
            <a:avLst/>
          </a:prstGeom>
          <a:noFill/>
          <a:ln/>
        </p:spPr>
        <p:txBody>
          <a:bodyPr wrap="square" lIns="0" tIns="0" rIns="0" bIns="0" rtlCol="0" anchor="t"/>
          <a:lstStyle/>
          <a:p>
            <a:pPr marL="0" indent="0" algn="l">
              <a:lnSpc>
                <a:spcPts val="1856"/>
              </a:lnSpc>
              <a:buNone/>
            </a:pPr>
            <a:r>
              <a:rPr lang="en-US" sz="1238" dirty="0">
                <a:solidFill>
                  <a:srgbClr val="F472B6"/>
                </a:solidFill>
                <a:latin typeface="Courier New" pitchFamily="34" charset="0"/>
                <a:ea typeface="Courier New" pitchFamily="34" charset="-122"/>
                <a:cs typeface="Courier New" pitchFamily="34" charset="-120"/>
              </a:rPr>
              <a:t>SERIAL</a:t>
            </a:r>
            <a:endParaRPr lang="en-US" sz="1238" dirty="0"/>
          </a:p>
        </p:txBody>
      </p:sp>
      <p:sp>
        <p:nvSpPr>
          <p:cNvPr id="9" name="Text 7"/>
          <p:cNvSpPr/>
          <p:nvPr/>
        </p:nvSpPr>
        <p:spPr>
          <a:xfrm>
            <a:off x="6290072" y="2321719"/>
            <a:ext cx="2193131" cy="442913"/>
          </a:xfrm>
          <a:prstGeom prst="roundRect">
            <a:avLst>
              <a:gd name="adj" fmla="val 21505"/>
            </a:avLst>
          </a:prstGeom>
          <a:solidFill>
            <a:srgbClr val="FFFFFF">
              <a:alpha val="6000"/>
            </a:srgbClr>
          </a:solidFill>
          <a:ln w="7144">
            <a:solidFill>
              <a:srgbClr val="FFFFFF"/>
            </a:solidFill>
            <a:prstDash val="solid"/>
          </a:ln>
        </p:spPr>
        <p:txBody>
          <a:bodyPr wrap="square" rtlCol="0" anchor="ctr"/>
          <a:lstStyle/>
          <a:p>
            <a:pPr marL="0" indent="0">
              <a:buNone/>
            </a:pPr>
            <a:endParaRPr lang="en-US" dirty="0"/>
          </a:p>
        </p:txBody>
      </p:sp>
      <p:sp>
        <p:nvSpPr>
          <p:cNvPr id="10" name="Text 8"/>
          <p:cNvSpPr/>
          <p:nvPr/>
        </p:nvSpPr>
        <p:spPr>
          <a:xfrm>
            <a:off x="6286500" y="2318147"/>
            <a:ext cx="2200275" cy="486061"/>
          </a:xfrm>
          <a:prstGeom prst="rect">
            <a:avLst/>
          </a:prstGeom>
          <a:noFill/>
          <a:ln/>
        </p:spPr>
        <p:txBody>
          <a:bodyPr wrap="none" lIns="128588" tIns="100013" rIns="128588" bIns="100013" rtlCol="0" anchor="t"/>
          <a:lstStyle/>
          <a:p>
            <a:pPr marL="0" indent="0" algn="l">
              <a:lnSpc>
                <a:spcPts val="1856"/>
              </a:lnSpc>
              <a:buNone/>
            </a:pPr>
            <a:r>
              <a:rPr lang="en-US" sz="1238" dirty="0">
                <a:solidFill>
                  <a:srgbClr val="F472B6"/>
                </a:solidFill>
                <a:latin typeface="Courier New" pitchFamily="34" charset="0"/>
                <a:ea typeface="Courier New" pitchFamily="34" charset="-122"/>
                <a:cs typeface="Courier New" pitchFamily="34" charset="-120"/>
              </a:rPr>
              <a:t>NUMERIC</a:t>
            </a:r>
            <a:r>
              <a:rPr lang="en-US" sz="1238" dirty="0">
                <a:solidFill>
                  <a:srgbClr val="E2E8F0"/>
                </a:solidFill>
                <a:latin typeface="Courier New" pitchFamily="34" charset="0"/>
                <a:ea typeface="Courier New" pitchFamily="34" charset="-122"/>
                <a:cs typeface="Courier New" pitchFamily="34" charset="-120"/>
              </a:rPr>
              <a:t>(</a:t>
            </a:r>
            <a:r>
              <a:rPr lang="en-US" sz="1238" dirty="0">
                <a:solidFill>
                  <a:srgbClr val="FBBF24"/>
                </a:solidFill>
                <a:latin typeface="Liberation Sans Narrow" pitchFamily="34" charset="0"/>
                <a:ea typeface="Liberation Sans Narrow" pitchFamily="34" charset="-122"/>
                <a:cs typeface="Liberation Sans Narrow" pitchFamily="34" charset="-120"/>
              </a:rPr>
              <a:t>12</a:t>
            </a:r>
            <a:r>
              <a:rPr lang="en-US" sz="1238" dirty="0">
                <a:solidFill>
                  <a:srgbClr val="E2E8F0"/>
                </a:solidFill>
                <a:latin typeface="Courier New" pitchFamily="34" charset="0"/>
                <a:ea typeface="Courier New" pitchFamily="34" charset="-122"/>
                <a:cs typeface="Courier New" pitchFamily="34" charset="-120"/>
              </a:rPr>
              <a:t>,</a:t>
            </a:r>
            <a:r>
              <a:rPr lang="en-US" sz="1238" dirty="0">
                <a:solidFill>
                  <a:srgbClr val="FBBF24"/>
                </a:solidFill>
                <a:latin typeface="Liberation Sans Narrow" pitchFamily="34" charset="0"/>
                <a:ea typeface="Liberation Sans Narrow" pitchFamily="34" charset="-122"/>
                <a:cs typeface="Liberation Sans Narrow" pitchFamily="34" charset="-120"/>
              </a:rPr>
              <a:t>2</a:t>
            </a:r>
            <a:r>
              <a:rPr lang="en-US" sz="1238" dirty="0">
                <a:solidFill>
                  <a:srgbClr val="E2E8F0"/>
                </a:solidFill>
                <a:latin typeface="Courier New" pitchFamily="34" charset="0"/>
                <a:ea typeface="Courier New" pitchFamily="34" charset="-122"/>
                <a:cs typeface="Courier New" pitchFamily="34" charset="-120"/>
              </a:rPr>
              <a:t>)</a:t>
            </a:r>
            <a:endParaRPr lang="en-US" sz="1238" dirty="0"/>
          </a:p>
        </p:txBody>
      </p:sp>
      <p:sp>
        <p:nvSpPr>
          <p:cNvPr id="11" name="Text 9"/>
          <p:cNvSpPr/>
          <p:nvPr/>
        </p:nvSpPr>
        <p:spPr>
          <a:xfrm>
            <a:off x="6290072" y="2900363"/>
            <a:ext cx="2193131" cy="442913"/>
          </a:xfrm>
          <a:prstGeom prst="roundRect">
            <a:avLst>
              <a:gd name="adj" fmla="val 21505"/>
            </a:avLst>
          </a:prstGeom>
          <a:solidFill>
            <a:srgbClr val="FFFFFF">
              <a:alpha val="6000"/>
            </a:srgbClr>
          </a:solidFill>
          <a:ln w="7144">
            <a:solidFill>
              <a:srgbClr val="FFFFFF"/>
            </a:solidFill>
            <a:prstDash val="solid"/>
          </a:ln>
        </p:spPr>
        <p:txBody>
          <a:bodyPr wrap="square" rtlCol="0" anchor="ctr"/>
          <a:lstStyle/>
          <a:p>
            <a:pPr marL="0" indent="0">
              <a:buNone/>
            </a:pPr>
            <a:endParaRPr lang="en-US" dirty="0"/>
          </a:p>
        </p:txBody>
      </p:sp>
      <p:sp>
        <p:nvSpPr>
          <p:cNvPr id="12" name="Text 10"/>
          <p:cNvSpPr/>
          <p:nvPr/>
        </p:nvSpPr>
        <p:spPr>
          <a:xfrm>
            <a:off x="7236619" y="3046809"/>
            <a:ext cx="14288" cy="157163"/>
          </a:xfrm>
          <a:prstGeom prst="rect">
            <a:avLst/>
          </a:prstGeom>
          <a:solidFill>
            <a:srgbClr val="F59E0B"/>
          </a:solidFill>
          <a:ln/>
        </p:spPr>
        <p:txBody>
          <a:bodyPr wrap="square" rtlCol="0" anchor="ctr"/>
          <a:lstStyle/>
          <a:p>
            <a:pPr marL="0" indent="0">
              <a:buNone/>
            </a:pPr>
            <a:endParaRPr lang="en-US" dirty="0"/>
          </a:p>
        </p:txBody>
      </p:sp>
      <p:sp>
        <p:nvSpPr>
          <p:cNvPr id="13" name="Text 11"/>
          <p:cNvSpPr/>
          <p:nvPr/>
        </p:nvSpPr>
        <p:spPr>
          <a:xfrm>
            <a:off x="6286500" y="2896791"/>
            <a:ext cx="2200275" cy="486061"/>
          </a:xfrm>
          <a:prstGeom prst="rect">
            <a:avLst/>
          </a:prstGeom>
          <a:noFill/>
          <a:ln/>
        </p:spPr>
        <p:txBody>
          <a:bodyPr wrap="none" lIns="128588" tIns="100013" rIns="128588" bIns="100013" rtlCol="0" anchor="t"/>
          <a:lstStyle/>
          <a:p>
            <a:pPr marL="0" indent="0" algn="l">
              <a:lnSpc>
                <a:spcPts val="1856"/>
              </a:lnSpc>
              <a:buNone/>
            </a:pPr>
            <a:r>
              <a:rPr lang="en-US" sz="1238" dirty="0">
                <a:solidFill>
                  <a:srgbClr val="F472B6"/>
                </a:solidFill>
                <a:latin typeface="Courier New" pitchFamily="34" charset="0"/>
                <a:ea typeface="Courier New" pitchFamily="34" charset="-122"/>
                <a:cs typeface="Courier New" pitchFamily="34" charset="-120"/>
              </a:rPr>
              <a:t>VARCHAR</a:t>
            </a:r>
            <a:r>
              <a:rPr lang="en-US" sz="1238" dirty="0">
                <a:solidFill>
                  <a:srgbClr val="E2E8F0"/>
                </a:solidFill>
                <a:latin typeface="Courier New" pitchFamily="34" charset="0"/>
                <a:ea typeface="Courier New" pitchFamily="34" charset="-122"/>
                <a:cs typeface="Courier New" pitchFamily="34" charset="-120"/>
              </a:rPr>
              <a:t>(n)</a:t>
            </a:r>
            <a:endParaRPr lang="en-US" sz="1238" dirty="0"/>
          </a:p>
        </p:txBody>
      </p:sp>
      <p:sp>
        <p:nvSpPr>
          <p:cNvPr id="14" name="Text 12"/>
          <p:cNvSpPr/>
          <p:nvPr/>
        </p:nvSpPr>
        <p:spPr>
          <a:xfrm>
            <a:off x="6286500" y="3532584"/>
            <a:ext cx="2562289" cy="164592"/>
          </a:xfrm>
          <a:prstGeom prst="rect">
            <a:avLst/>
          </a:prstGeom>
          <a:noFill/>
          <a:ln/>
        </p:spPr>
        <p:txBody>
          <a:bodyPr wrap="square" lIns="0" tIns="0" rIns="0" bIns="0" rtlCol="0" anchor="t"/>
          <a:lstStyle/>
          <a:p>
            <a:pPr marL="0" indent="0" algn="l">
              <a:lnSpc>
                <a:spcPts val="844"/>
              </a:lnSpc>
              <a:buNone/>
            </a:pPr>
            <a:r>
              <a:rPr lang="en-US" sz="800" kern="0" spc="113" dirty="0">
                <a:solidFill>
                  <a:srgbClr val="FFFFFF">
                    <a:alpha val="45000"/>
                  </a:srgbClr>
                </a:solidFill>
                <a:latin typeface="Carlito" pitchFamily="34" charset="0"/>
                <a:ea typeface="Carlito" pitchFamily="34" charset="-122"/>
                <a:cs typeface="Carlito" pitchFamily="34" charset="-120"/>
              </a:rPr>
              <a:t>— THREE COLUMNS, THREE DEFENSES —</a:t>
            </a:r>
            <a:endParaRPr lang="en-US" sz="800" dirty="0"/>
          </a:p>
        </p:txBody>
      </p:sp>
      <p:sp>
        <p:nvSpPr>
          <p:cNvPr id="15" name="Text 13"/>
          <p:cNvSpPr/>
          <p:nvPr/>
        </p:nvSpPr>
        <p:spPr>
          <a:xfrm>
            <a:off x="4999025" y="3429000"/>
            <a:ext cx="4144975" cy="1714500"/>
          </a:xfrm>
          <a:prstGeom prst="rect">
            <a:avLst/>
          </a:prstGeom>
          <a:noFill/>
          <a:ln/>
        </p:spPr>
        <p:txBody>
          <a:bodyPr wrap="square" lIns="0" tIns="0" rIns="0" bIns="0" rtlCol="0" anchor="t"/>
          <a:lstStyle/>
          <a:p>
            <a:pPr marL="0" indent="0" algn="l">
              <a:lnSpc>
                <a:spcPts val="18000"/>
              </a:lnSpc>
              <a:buNone/>
            </a:pPr>
            <a:r>
              <a:rPr lang="en-US" sz="18000" b="1" dirty="0">
                <a:solidFill>
                  <a:srgbClr val="E3E6F4">
                    <a:alpha val="55000"/>
                  </a:srgbClr>
                </a:solidFill>
                <a:latin typeface="Liberation Sans Narrow" pitchFamily="34" charset="0"/>
                <a:ea typeface="Liberation Sans Narrow" pitchFamily="34" charset="-122"/>
                <a:cs typeface="Liberation Sans Narrow" pitchFamily="34" charset="-120"/>
              </a:rPr>
              <a:t>04</a:t>
            </a:r>
            <a:endParaRPr lang="en-US" sz="18000" dirty="0"/>
          </a:p>
        </p:txBody>
      </p:sp>
      <p:sp>
        <p:nvSpPr>
          <p:cNvPr id="16" name="Text 14"/>
          <p:cNvSpPr/>
          <p:nvPr/>
        </p:nvSpPr>
        <p:spPr>
          <a:xfrm>
            <a:off x="457200" y="1428750"/>
            <a:ext cx="4776018" cy="164592"/>
          </a:xfrm>
          <a:prstGeom prst="rect">
            <a:avLst/>
          </a:prstGeom>
          <a:noFill/>
          <a:ln/>
        </p:spPr>
        <p:txBody>
          <a:bodyPr wrap="none" lIns="0" tIns="0" rIns="0" bIns="0" rtlCol="0" anchor="t"/>
          <a:lstStyle/>
          <a:p>
            <a:pPr marL="0" indent="0" algn="l">
              <a:lnSpc>
                <a:spcPts val="1097"/>
              </a:lnSpc>
              <a:buNone/>
            </a:pPr>
            <a:r>
              <a:rPr lang="en-US" sz="800" kern="0" spc="161" dirty="0">
                <a:solidFill>
                  <a:srgbClr val="1E2A78"/>
                </a:solidFill>
                <a:latin typeface="Carlito" pitchFamily="34" charset="0"/>
                <a:ea typeface="Carlito" pitchFamily="34" charset="-122"/>
                <a:cs typeface="Carlito" pitchFamily="34" charset="-120"/>
              </a:rPr>
              <a:t>ACCIOJOB SQL MASTERCLASS</a:t>
            </a:r>
            <a:endParaRPr lang="en-US" sz="800" dirty="0"/>
          </a:p>
        </p:txBody>
      </p:sp>
      <p:sp>
        <p:nvSpPr>
          <p:cNvPr id="17" name="Text 15"/>
          <p:cNvSpPr/>
          <p:nvPr/>
        </p:nvSpPr>
        <p:spPr>
          <a:xfrm>
            <a:off x="457200" y="1653778"/>
            <a:ext cx="4037848" cy="1026852"/>
          </a:xfrm>
          <a:prstGeom prst="rect">
            <a:avLst/>
          </a:prstGeom>
          <a:noFill/>
          <a:ln/>
        </p:spPr>
        <p:txBody>
          <a:bodyPr wrap="square" lIns="0" tIns="0" rIns="0" bIns="0" rtlCol="0" anchor="t"/>
          <a:lstStyle/>
          <a:p>
            <a:pPr marL="0" indent="0" algn="l">
              <a:lnSpc>
                <a:spcPts val="3744"/>
              </a:lnSpc>
              <a:buNone/>
            </a:pPr>
            <a:r>
              <a:rPr lang="en-US" sz="3600" b="1" kern="0" spc="-72" dirty="0">
                <a:solidFill>
                  <a:srgbClr val="0B1736"/>
                </a:solidFill>
                <a:latin typeface="Carlito" pitchFamily="34" charset="0"/>
                <a:ea typeface="Carlito" pitchFamily="34" charset="-122"/>
                <a:cs typeface="Carlito" pitchFamily="34" charset="-120"/>
              </a:rPr>
              <a:t>Data Types,</a:t>
            </a:r>
            <a:endParaRPr lang="en-US" sz="3600" dirty="0"/>
          </a:p>
          <a:p>
            <a:pPr marL="0" indent="0" algn="l">
              <a:lnSpc>
                <a:spcPts val="3744"/>
              </a:lnSpc>
              <a:buNone/>
            </a:pPr>
            <a:r>
              <a:rPr lang="en-US" sz="3600" b="1" kern="0" spc="-72" dirty="0">
                <a:solidFill>
                  <a:srgbClr val="0B1736"/>
                </a:solidFill>
                <a:latin typeface="Carlito" pitchFamily="34" charset="0"/>
                <a:ea typeface="Carlito" pitchFamily="34" charset="-122"/>
                <a:cs typeface="Carlito" pitchFamily="34" charset="-120"/>
              </a:rPr>
              <a:t>Constraints &amp; Keys</a:t>
            </a:r>
            <a:endParaRPr lang="en-US" sz="3600" dirty="0"/>
          </a:p>
        </p:txBody>
      </p:sp>
      <p:sp>
        <p:nvSpPr>
          <p:cNvPr id="18" name="Text 16"/>
          <p:cNvSpPr/>
          <p:nvPr/>
        </p:nvSpPr>
        <p:spPr>
          <a:xfrm>
            <a:off x="457200" y="2718867"/>
            <a:ext cx="3854310" cy="259184"/>
          </a:xfrm>
          <a:prstGeom prst="rect">
            <a:avLst/>
          </a:prstGeom>
          <a:noFill/>
          <a:ln/>
        </p:spPr>
        <p:txBody>
          <a:bodyPr wrap="none" lIns="0" tIns="0" rIns="0" bIns="0" rtlCol="0" anchor="t"/>
          <a:lstStyle/>
          <a:p>
            <a:pPr marL="0" indent="0" algn="l">
              <a:lnSpc>
                <a:spcPts val="1890"/>
              </a:lnSpc>
              <a:buNone/>
            </a:pPr>
            <a:r>
              <a:rPr lang="en-US" sz="1575" dirty="0">
                <a:solidFill>
                  <a:srgbClr val="3243A8"/>
                </a:solidFill>
                <a:latin typeface="Liberation Sans Narrow" pitchFamily="34" charset="0"/>
                <a:ea typeface="Liberation Sans Narrow" pitchFamily="34" charset="-122"/>
                <a:cs typeface="Liberation Sans Narrow" pitchFamily="34" charset="-120"/>
              </a:rPr>
              <a:t>RetailMart V3 — Day 4</a:t>
            </a:r>
            <a:endParaRPr lang="en-US" sz="1575" dirty="0"/>
          </a:p>
        </p:txBody>
      </p:sp>
      <p:sp>
        <p:nvSpPr>
          <p:cNvPr id="19" name="Text 17"/>
          <p:cNvSpPr/>
          <p:nvPr/>
        </p:nvSpPr>
        <p:spPr>
          <a:xfrm>
            <a:off x="457200" y="3044577"/>
            <a:ext cx="3964433" cy="185166"/>
          </a:xfrm>
          <a:prstGeom prst="rect">
            <a:avLst/>
          </a:prstGeom>
          <a:noFill/>
          <a:ln/>
        </p:spPr>
        <p:txBody>
          <a:bodyPr wrap="square" lIns="0" tIns="0" rIns="0" bIns="0" rtlCol="0" anchor="t"/>
          <a:lstStyle/>
          <a:p>
            <a:pPr marL="0" indent="0" algn="l">
              <a:lnSpc>
                <a:spcPts val="1350"/>
              </a:lnSpc>
              <a:buNone/>
            </a:pPr>
            <a:r>
              <a:rPr lang="en-US" sz="900" dirty="0">
                <a:solidFill>
                  <a:srgbClr val="5A6485"/>
                </a:solidFill>
                <a:latin typeface="Carlito" pitchFamily="34" charset="0"/>
                <a:ea typeface="Carlito" pitchFamily="34" charset="-122"/>
                <a:cs typeface="Carlito" pitchFamily="34" charset="-120"/>
              </a:rPr>
              <a:t>Make Your Data Correct and Safe.</a:t>
            </a:r>
            <a:endParaRPr lang="en-US" sz="900" dirty="0"/>
          </a:p>
        </p:txBody>
      </p:sp>
      <p:sp>
        <p:nvSpPr>
          <p:cNvPr id="20" name="Text 18"/>
          <p:cNvSpPr/>
          <p:nvPr/>
        </p:nvSpPr>
        <p:spPr>
          <a:xfrm>
            <a:off x="457200" y="4811316"/>
            <a:ext cx="4500674"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5A6485"/>
                </a:solidFill>
                <a:latin typeface="Carlito" pitchFamily="34" charset="0"/>
                <a:ea typeface="Carlito" pitchFamily="34" charset="-122"/>
                <a:cs typeface="Carlito" pitchFamily="34" charset="-120"/>
              </a:rPr>
              <a:t>— SIRAJ SIR</a:t>
            </a:r>
            <a:endParaRPr lang="en-US" sz="800" dirty="0"/>
          </a:p>
        </p:txBody>
      </p:sp>
      <p:sp>
        <p:nvSpPr>
          <p:cNvPr id="21" name="Text 19"/>
          <p:cNvSpPr/>
          <p:nvPr/>
        </p:nvSpPr>
        <p:spPr>
          <a:xfrm>
            <a:off x="4972162" y="4811316"/>
            <a:ext cx="471075"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5A6485"/>
                </a:solidFill>
                <a:latin typeface="Liberation Sans Narrow" pitchFamily="34" charset="0"/>
                <a:ea typeface="Liberation Sans Narrow" pitchFamily="34" charset="-122"/>
                <a:cs typeface="Liberation Sans Narrow" pitchFamily="34" charset="-120"/>
              </a:rPr>
              <a:t>1 / 54</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8518364" y="257175"/>
            <a:ext cx="452378"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5A6485"/>
                </a:solidFill>
                <a:latin typeface="Carlito" pitchFamily="34" charset="0"/>
                <a:ea typeface="Carlito" pitchFamily="34" charset="-122"/>
                <a:cs typeface="Carlito" pitchFamily="34" charset="-120"/>
              </a:rPr>
              <a:t>INTRO</a:t>
            </a:r>
            <a:endParaRPr lang="en-US" sz="800" dirty="0"/>
          </a:p>
        </p:txBody>
      </p:sp>
      <p:sp>
        <p:nvSpPr>
          <p:cNvPr id="3" name="Text 1"/>
          <p:cNvSpPr/>
          <p:nvPr/>
        </p:nvSpPr>
        <p:spPr>
          <a:xfrm>
            <a:off x="457200" y="628650"/>
            <a:ext cx="8636000" cy="449293"/>
          </a:xfrm>
          <a:prstGeom prst="rect">
            <a:avLst/>
          </a:prstGeom>
          <a:noFill/>
          <a:ln/>
        </p:spPr>
        <p:txBody>
          <a:bodyPr wrap="square" lIns="0" tIns="0" rIns="0" bIns="0" rtlCol="0" anchor="t"/>
          <a:lstStyle/>
          <a:p>
            <a:pPr marL="0" indent="0" algn="l">
              <a:lnSpc>
                <a:spcPts val="3276"/>
              </a:lnSpc>
              <a:buNone/>
            </a:pPr>
            <a:r>
              <a:rPr lang="en-US" sz="3150" b="1" kern="0" spc="-63" dirty="0">
                <a:solidFill>
                  <a:srgbClr val="0B1736"/>
                </a:solidFill>
                <a:latin typeface="Carlito" pitchFamily="34" charset="0"/>
                <a:ea typeface="Carlito" pitchFamily="34" charset="-122"/>
                <a:cs typeface="Carlito" pitchFamily="34" charset="-120"/>
              </a:rPr>
              <a:t>DATA TYPES + CONSTRAINTS &amp; KEYS</a:t>
            </a:r>
            <a:endParaRPr lang="en-US" sz="3150" dirty="0"/>
          </a:p>
        </p:txBody>
      </p:sp>
      <p:sp>
        <p:nvSpPr>
          <p:cNvPr id="4" name="Text 2"/>
          <p:cNvSpPr/>
          <p:nvPr/>
        </p:nvSpPr>
        <p:spPr>
          <a:xfrm>
            <a:off x="457200" y="1130387"/>
            <a:ext cx="8636000" cy="236641"/>
          </a:xfrm>
          <a:prstGeom prst="rect">
            <a:avLst/>
          </a:prstGeom>
          <a:noFill/>
          <a:ln/>
        </p:spPr>
        <p:txBody>
          <a:bodyPr wrap="square" lIns="0" tIns="0" rIns="0" bIns="0" rtlCol="0" anchor="t"/>
          <a:lstStyle/>
          <a:p>
            <a:pPr marL="0" indent="0" algn="l">
              <a:lnSpc>
                <a:spcPts val="1726"/>
              </a:lnSpc>
              <a:buNone/>
            </a:pPr>
            <a:r>
              <a:rPr lang="en-US" sz="1463" dirty="0">
                <a:solidFill>
                  <a:srgbClr val="3243A8"/>
                </a:solidFill>
                <a:latin typeface="Carlito" pitchFamily="34" charset="0"/>
                <a:ea typeface="Carlito" pitchFamily="34" charset="-122"/>
                <a:cs typeface="Carlito" pitchFamily="34" charset="-120"/>
              </a:rPr>
              <a:t>Make Your Data Correct and Safe!</a:t>
            </a:r>
            <a:endParaRPr lang="en-US" sz="1463" dirty="0"/>
          </a:p>
        </p:txBody>
      </p:sp>
      <p:sp>
        <p:nvSpPr>
          <p:cNvPr id="5" name="Text 3"/>
          <p:cNvSpPr/>
          <p:nvPr/>
        </p:nvSpPr>
        <p:spPr>
          <a:xfrm>
            <a:off x="457200" y="1914525"/>
            <a:ext cx="5886450" cy="197462"/>
          </a:xfrm>
          <a:prstGeom prst="rect">
            <a:avLst/>
          </a:prstGeom>
          <a:noFill/>
          <a:ln/>
        </p:spPr>
        <p:txBody>
          <a:bodyPr wrap="square" lIns="0" tIns="0" rIns="0" bIns="0" rtlCol="0" anchor="t"/>
          <a:lstStyle/>
          <a:p>
            <a:pPr marL="0" indent="0" algn="l">
              <a:lnSpc>
                <a:spcPts val="1440"/>
              </a:lnSpc>
              <a:buNone/>
            </a:pPr>
            <a:r>
              <a:rPr lang="en-US" sz="900" dirty="0">
                <a:solidFill>
                  <a:srgbClr val="2B3361"/>
                </a:solidFill>
                <a:latin typeface="Carlito" pitchFamily="34" charset="0"/>
                <a:ea typeface="Carlito" pitchFamily="34" charset="-122"/>
                <a:cs typeface="Carlito" pitchFamily="34" charset="-120"/>
              </a:rPr>
              <a:t>Yesterday every column was </a:t>
            </a:r>
            <a:r>
              <a:rPr lang="en-US" sz="900" dirty="0">
                <a:solidFill>
                  <a:srgbClr val="1E2A78"/>
                </a:solidFill>
                <a:latin typeface="Courier New" pitchFamily="34" charset="0"/>
                <a:ea typeface="Courier New" pitchFamily="34" charset="-122"/>
                <a:cs typeface="Courier New" pitchFamily="34" charset="-120"/>
              </a:rPr>
              <a:t>TEXT</a:t>
            </a:r>
            <a:r>
              <a:rPr lang="en-US" sz="900" dirty="0">
                <a:solidFill>
                  <a:srgbClr val="2B3361"/>
                </a:solidFill>
                <a:latin typeface="Carlito" pitchFamily="34" charset="0"/>
                <a:ea typeface="Carlito" pitchFamily="34" charset="-122"/>
                <a:cs typeface="Carlito" pitchFamily="34" charset="-120"/>
              </a:rPr>
              <a:t> — great for learning structure, dangerous in real life.</a:t>
            </a:r>
            <a:endParaRPr lang="en-US" sz="900" dirty="0"/>
          </a:p>
        </p:txBody>
      </p:sp>
      <p:sp>
        <p:nvSpPr>
          <p:cNvPr id="6" name="Text 4"/>
          <p:cNvSpPr/>
          <p:nvPr/>
        </p:nvSpPr>
        <p:spPr>
          <a:xfrm>
            <a:off x="457200" y="2211660"/>
            <a:ext cx="5886450" cy="394924"/>
          </a:xfrm>
          <a:prstGeom prst="rect">
            <a:avLst/>
          </a:prstGeom>
          <a:noFill/>
          <a:ln/>
        </p:spPr>
        <p:txBody>
          <a:bodyPr wrap="square" lIns="0" tIns="0" rIns="0" bIns="0" rtlCol="0" anchor="t"/>
          <a:lstStyle/>
          <a:p>
            <a:pPr marL="0" indent="0" algn="l">
              <a:lnSpc>
                <a:spcPts val="1440"/>
              </a:lnSpc>
              <a:buNone/>
            </a:pPr>
            <a:r>
              <a:rPr lang="en-US" sz="900" dirty="0">
                <a:solidFill>
                  <a:srgbClr val="2B3361"/>
                </a:solidFill>
                <a:latin typeface="Carlito" pitchFamily="34" charset="0"/>
                <a:ea typeface="Carlito" pitchFamily="34" charset="-122"/>
                <a:cs typeface="Carlito" pitchFamily="34" charset="-120"/>
              </a:rPr>
              <a:t>Today you give each column its </a:t>
            </a:r>
            <a:r>
              <a:rPr lang="en-US" sz="900" b="1" dirty="0">
                <a:solidFill>
                  <a:srgbClr val="D97706"/>
                </a:solidFill>
                <a:latin typeface="Carlito" pitchFamily="34" charset="0"/>
                <a:ea typeface="Carlito" pitchFamily="34" charset="-122"/>
                <a:cs typeface="Carlito" pitchFamily="34" charset="-120"/>
              </a:rPr>
              <a:t>PROPER</a:t>
            </a:r>
            <a:r>
              <a:rPr lang="en-US" sz="900" dirty="0">
                <a:solidFill>
                  <a:srgbClr val="2B3361"/>
                </a:solidFill>
                <a:latin typeface="Carlito" pitchFamily="34" charset="0"/>
                <a:ea typeface="Carlito" pitchFamily="34" charset="-122"/>
                <a:cs typeface="Carlito" pitchFamily="34" charset="-120"/>
              </a:rPr>
              <a:t> type (and </a:t>
            </a:r>
            <a:r>
              <a:rPr lang="en-US" sz="900" dirty="0">
                <a:solidFill>
                  <a:srgbClr val="1E2A78"/>
                </a:solidFill>
                <a:latin typeface="Courier New" pitchFamily="34" charset="0"/>
                <a:ea typeface="Courier New" pitchFamily="34" charset="-122"/>
                <a:cs typeface="Courier New" pitchFamily="34" charset="-120"/>
              </a:rPr>
              <a:t>ALTER</a:t>
            </a:r>
            <a:r>
              <a:rPr lang="en-US" sz="900" dirty="0">
                <a:solidFill>
                  <a:srgbClr val="2B3361"/>
                </a:solidFill>
                <a:latin typeface="Carlito" pitchFamily="34" charset="0"/>
                <a:ea typeface="Carlito" pitchFamily="34" charset="-122"/>
                <a:cs typeface="Carlito" pitchFamily="34" charset="-120"/>
              </a:rPr>
              <a:t> yesterday's </a:t>
            </a:r>
            <a:r>
              <a:rPr lang="en-US" sz="900" dirty="0">
                <a:solidFill>
                  <a:srgbClr val="1E2A78"/>
                </a:solidFill>
                <a:latin typeface="Courier New" pitchFamily="34" charset="0"/>
                <a:ea typeface="Courier New" pitchFamily="34" charset="-122"/>
                <a:cs typeface="Courier New" pitchFamily="34" charset="-120"/>
              </a:rPr>
              <a:t>TEXT</a:t>
            </a:r>
            <a:r>
              <a:rPr lang="en-US" sz="900" dirty="0">
                <a:solidFill>
                  <a:srgbClr val="2B3361"/>
                </a:solidFill>
                <a:latin typeface="Carlito" pitchFamily="34" charset="0"/>
                <a:ea typeface="Carlito" pitchFamily="34" charset="-122"/>
                <a:cs typeface="Carlito" pitchFamily="34" charset="-120"/>
              </a:rPr>
              <a:t> columns into them), then add </a:t>
            </a:r>
            <a:r>
              <a:rPr lang="en-US" sz="900" b="1" dirty="0">
                <a:solidFill>
                  <a:srgbClr val="D97706"/>
                </a:solidFill>
                <a:latin typeface="Carlito" pitchFamily="34" charset="0"/>
                <a:ea typeface="Carlito" pitchFamily="34" charset="-122"/>
                <a:cs typeface="Carlito" pitchFamily="34" charset="-120"/>
              </a:rPr>
              <a:t>RULES</a:t>
            </a:r>
            <a:r>
              <a:rPr lang="en-US" sz="900" dirty="0">
                <a:solidFill>
                  <a:srgbClr val="2B3361"/>
                </a:solidFill>
                <a:latin typeface="Carlito" pitchFamily="34" charset="0"/>
                <a:ea typeface="Carlito" pitchFamily="34" charset="-122"/>
                <a:cs typeface="Carlito" pitchFamily="34" charset="-120"/>
              </a:rPr>
              <a:t> that make bad data impossible.</a:t>
            </a:r>
            <a:endParaRPr lang="en-US" sz="900" dirty="0"/>
          </a:p>
        </p:txBody>
      </p:sp>
      <p:sp>
        <p:nvSpPr>
          <p:cNvPr id="7" name="Text 5"/>
          <p:cNvSpPr/>
          <p:nvPr/>
        </p:nvSpPr>
        <p:spPr>
          <a:xfrm>
            <a:off x="6686550" y="1914525"/>
            <a:ext cx="2000250" cy="932259"/>
          </a:xfrm>
          <a:prstGeom prst="roundRect">
            <a:avLst>
              <a:gd name="adj" fmla="val 14304"/>
            </a:avLst>
          </a:prstGeom>
          <a:solidFill>
            <a:srgbClr val="1E2A78"/>
          </a:solidFill>
          <a:ln/>
          <a:effectLst>
            <a:outerShdw blurRad="171450" dist="57150" dir="5400000" algn="bl" rotWithShape="0">
              <a:srgbClr val="0F172A">
                <a:alpha val="10000"/>
              </a:srgbClr>
            </a:outerShdw>
          </a:effectLst>
        </p:spPr>
        <p:txBody>
          <a:bodyPr wrap="square" rtlCol="0" anchor="ctr"/>
          <a:lstStyle/>
          <a:p>
            <a:pPr marL="0" indent="0">
              <a:buNone/>
            </a:pPr>
            <a:endParaRPr lang="en-US" dirty="0"/>
          </a:p>
        </p:txBody>
      </p:sp>
      <p:sp>
        <p:nvSpPr>
          <p:cNvPr id="8" name="Text 6"/>
          <p:cNvSpPr/>
          <p:nvPr/>
        </p:nvSpPr>
        <p:spPr>
          <a:xfrm>
            <a:off x="6872288" y="2071688"/>
            <a:ext cx="1628775" cy="119015"/>
          </a:xfrm>
          <a:prstGeom prst="rect">
            <a:avLst/>
          </a:prstGeom>
          <a:noFill/>
          <a:ln/>
        </p:spPr>
        <p:txBody>
          <a:bodyPr wrap="none" lIns="0" tIns="0" rIns="0" bIns="0" rtlCol="0" anchor="t">
            <a:normAutofit/>
          </a:bodyPr>
          <a:lstStyle/>
          <a:p>
            <a:pPr marL="0" indent="0" algn="l">
              <a:lnSpc>
                <a:spcPts val="928"/>
              </a:lnSpc>
              <a:buNone/>
            </a:pPr>
            <a:r>
              <a:rPr lang="en-US" sz="800" b="1" kern="0" spc="124" dirty="0">
                <a:solidFill>
                  <a:srgbClr val="FFFFFF">
                    <a:alpha val="75000"/>
                  </a:srgbClr>
                </a:solidFill>
                <a:latin typeface="Carlito" pitchFamily="34" charset="0"/>
                <a:ea typeface="Carlito" pitchFamily="34" charset="-122"/>
                <a:cs typeface="Carlito" pitchFamily="34" charset="-120"/>
              </a:rPr>
              <a:t>TODAY'S FIRST HALF</a:t>
            </a:r>
            <a:endParaRPr lang="en-US" sz="800" dirty="0"/>
          </a:p>
        </p:txBody>
      </p:sp>
      <p:sp>
        <p:nvSpPr>
          <p:cNvPr id="9" name="Text 7"/>
          <p:cNvSpPr/>
          <p:nvPr/>
        </p:nvSpPr>
        <p:spPr>
          <a:xfrm>
            <a:off x="6872288" y="2218134"/>
            <a:ext cx="1628775" cy="471488"/>
          </a:xfrm>
          <a:prstGeom prst="rect">
            <a:avLst/>
          </a:prstGeom>
          <a:noFill/>
          <a:ln/>
        </p:spPr>
        <p:txBody>
          <a:bodyPr wrap="none" lIns="0" tIns="0" rIns="0" bIns="0" rtlCol="0" anchor="t"/>
          <a:lstStyle/>
          <a:p>
            <a:pPr marL="0" indent="0" algn="l">
              <a:lnSpc>
                <a:spcPts val="1856"/>
              </a:lnSpc>
              <a:buNone/>
            </a:pPr>
            <a:r>
              <a:rPr lang="en-US" sz="1238" b="1" kern="0" spc="50" dirty="0">
                <a:solidFill>
                  <a:srgbClr val="FFFFFF">
                    <a:alpha val="85000"/>
                  </a:srgbClr>
                </a:solidFill>
                <a:latin typeface="Liberation Sans Narrow" pitchFamily="34" charset="0"/>
                <a:ea typeface="Liberation Sans Narrow" pitchFamily="34" charset="-122"/>
                <a:cs typeface="Liberation Sans Narrow" pitchFamily="34" charset="-120"/>
              </a:rPr>
              <a:t>TOPIC 1</a:t>
            </a:r>
            <a:r>
              <a:rPr lang="en-US" sz="1238" b="1" kern="0" spc="50" dirty="0">
                <a:solidFill>
                  <a:srgbClr val="FFFFFF"/>
                </a:solidFill>
                <a:latin typeface="Carlito" pitchFamily="34" charset="0"/>
                <a:ea typeface="Carlito" pitchFamily="34" charset="-122"/>
                <a:cs typeface="Carlito" pitchFamily="34" charset="-120"/>
              </a:rPr>
              <a:t> → DATA TYPES</a:t>
            </a:r>
            <a:endParaRPr lang="en-US" sz="1238" dirty="0"/>
          </a:p>
        </p:txBody>
      </p:sp>
      <p:sp>
        <p:nvSpPr>
          <p:cNvPr id="10" name="Text 8"/>
          <p:cNvSpPr/>
          <p:nvPr/>
        </p:nvSpPr>
        <p:spPr>
          <a:xfrm>
            <a:off x="6686550" y="2975372"/>
            <a:ext cx="2000250" cy="1168003"/>
          </a:xfrm>
          <a:prstGeom prst="roundRect">
            <a:avLst>
              <a:gd name="adj" fmla="val 11417"/>
            </a:avLst>
          </a:prstGeom>
          <a:solidFill>
            <a:srgbClr val="F59E0B"/>
          </a:solidFill>
          <a:ln/>
          <a:effectLst>
            <a:outerShdw blurRad="171450" dist="57150" dir="5400000" algn="bl" rotWithShape="0">
              <a:srgbClr val="0F172A">
                <a:alpha val="10000"/>
              </a:srgbClr>
            </a:outerShdw>
          </a:effectLst>
        </p:spPr>
        <p:txBody>
          <a:bodyPr wrap="square" rtlCol="0" anchor="ctr"/>
          <a:lstStyle/>
          <a:p>
            <a:pPr marL="0" indent="0">
              <a:buNone/>
            </a:pPr>
            <a:endParaRPr lang="en-US" dirty="0"/>
          </a:p>
        </p:txBody>
      </p:sp>
      <p:sp>
        <p:nvSpPr>
          <p:cNvPr id="11" name="Text 9"/>
          <p:cNvSpPr/>
          <p:nvPr/>
        </p:nvSpPr>
        <p:spPr>
          <a:xfrm>
            <a:off x="6872288" y="3132534"/>
            <a:ext cx="1628775" cy="119015"/>
          </a:xfrm>
          <a:prstGeom prst="rect">
            <a:avLst/>
          </a:prstGeom>
          <a:noFill/>
          <a:ln/>
        </p:spPr>
        <p:txBody>
          <a:bodyPr wrap="none" lIns="0" tIns="0" rIns="0" bIns="0" rtlCol="0" anchor="t">
            <a:normAutofit/>
          </a:bodyPr>
          <a:lstStyle/>
          <a:p>
            <a:pPr marL="0" indent="0" algn="l">
              <a:lnSpc>
                <a:spcPts val="928"/>
              </a:lnSpc>
              <a:buNone/>
            </a:pPr>
            <a:r>
              <a:rPr lang="en-US" sz="800" b="1" kern="0" spc="124" dirty="0">
                <a:solidFill>
                  <a:srgbClr val="FFFFFF">
                    <a:alpha val="85000"/>
                  </a:srgbClr>
                </a:solidFill>
                <a:latin typeface="Carlito" pitchFamily="34" charset="0"/>
                <a:ea typeface="Carlito" pitchFamily="34" charset="-122"/>
                <a:cs typeface="Carlito" pitchFamily="34" charset="-120"/>
              </a:rPr>
              <a:t>TODAY'S SECOND HALF</a:t>
            </a:r>
            <a:endParaRPr lang="en-US" sz="800" dirty="0"/>
          </a:p>
        </p:txBody>
      </p:sp>
      <p:sp>
        <p:nvSpPr>
          <p:cNvPr id="12" name="Text 10"/>
          <p:cNvSpPr/>
          <p:nvPr/>
        </p:nvSpPr>
        <p:spPr>
          <a:xfrm>
            <a:off x="6872288" y="3278981"/>
            <a:ext cx="1628775" cy="707231"/>
          </a:xfrm>
          <a:prstGeom prst="rect">
            <a:avLst/>
          </a:prstGeom>
          <a:noFill/>
          <a:ln/>
        </p:spPr>
        <p:txBody>
          <a:bodyPr wrap="square" lIns="0" tIns="0" rIns="0" bIns="0" rtlCol="0" anchor="t"/>
          <a:lstStyle/>
          <a:p>
            <a:pPr marL="0" indent="0" algn="l">
              <a:lnSpc>
                <a:spcPts val="1856"/>
              </a:lnSpc>
              <a:buNone/>
            </a:pPr>
            <a:r>
              <a:rPr lang="en-US" sz="1238" b="1" kern="0" spc="50" dirty="0">
                <a:solidFill>
                  <a:srgbClr val="FFFFFF">
                    <a:alpha val="85000"/>
                  </a:srgbClr>
                </a:solidFill>
                <a:latin typeface="Liberation Sans Narrow" pitchFamily="34" charset="0"/>
                <a:ea typeface="Liberation Sans Narrow" pitchFamily="34" charset="-122"/>
                <a:cs typeface="Liberation Sans Narrow" pitchFamily="34" charset="-120"/>
              </a:rPr>
              <a:t>TOPIC 2</a:t>
            </a:r>
            <a:r>
              <a:rPr lang="en-US" sz="1238" b="1" kern="0" spc="50" dirty="0">
                <a:solidFill>
                  <a:srgbClr val="FFFFFF"/>
                </a:solidFill>
                <a:latin typeface="Carlito" pitchFamily="34" charset="0"/>
                <a:ea typeface="Carlito" pitchFamily="34" charset="-122"/>
                <a:cs typeface="Carlito" pitchFamily="34" charset="-120"/>
              </a:rPr>
              <a:t> → CONSTRAINTS &amp; KEYS</a:t>
            </a:r>
            <a:endParaRPr lang="en-US" sz="1238" dirty="0"/>
          </a:p>
        </p:txBody>
      </p:sp>
      <p:sp>
        <p:nvSpPr>
          <p:cNvPr id="13" name="Text 11"/>
          <p:cNvSpPr/>
          <p:nvPr/>
        </p:nvSpPr>
        <p:spPr>
          <a:xfrm>
            <a:off x="457200" y="4897041"/>
            <a:ext cx="8062503" cy="164592"/>
          </a:xfrm>
          <a:prstGeom prst="rect">
            <a:avLst/>
          </a:prstGeom>
          <a:noFill/>
          <a:ln/>
        </p:spPr>
        <p:txBody>
          <a:bodyPr wrap="square" lIns="0" tIns="0" rIns="0" bIns="0" rtlCol="0" anchor="t"/>
          <a:lstStyle/>
          <a:p>
            <a:pPr marL="0" indent="0" algn="l">
              <a:lnSpc>
                <a:spcPts val="928"/>
              </a:lnSpc>
              <a:buNone/>
            </a:pPr>
            <a:r>
              <a:rPr lang="en-US" sz="800" kern="0" spc="50" dirty="0">
                <a:solidFill>
                  <a:srgbClr val="5A6485"/>
                </a:solidFill>
                <a:latin typeface="Carlito" pitchFamily="34" charset="0"/>
                <a:ea typeface="Carlito" pitchFamily="34" charset="-122"/>
                <a:cs typeface="Carlito" pitchFamily="34" charset="-120"/>
              </a:rPr>
              <a:t>DATA TYPES, CONSTRAINTS &amp; KEYS · RETAILMART V3</a:t>
            </a:r>
            <a:endParaRPr lang="en-US" sz="800" dirty="0"/>
          </a:p>
        </p:txBody>
      </p:sp>
      <p:sp>
        <p:nvSpPr>
          <p:cNvPr id="14" name="Text 12"/>
          <p:cNvSpPr/>
          <p:nvPr/>
        </p:nvSpPr>
        <p:spPr>
          <a:xfrm>
            <a:off x="8533991" y="4897041"/>
            <a:ext cx="379796" cy="164592"/>
          </a:xfrm>
          <a:prstGeom prst="rect">
            <a:avLst/>
          </a:prstGeom>
          <a:noFill/>
          <a:ln/>
        </p:spPr>
        <p:txBody>
          <a:bodyPr wrap="none" lIns="0" tIns="0" rIns="0" bIns="0" rtlCol="0" anchor="t"/>
          <a:lstStyle/>
          <a:p>
            <a:pPr marL="0" indent="0" algn="l">
              <a:lnSpc>
                <a:spcPts val="928"/>
              </a:lnSpc>
              <a:buNone/>
            </a:pPr>
            <a:r>
              <a:rPr lang="en-US" sz="800" kern="0" spc="50" dirty="0">
                <a:solidFill>
                  <a:srgbClr val="5A6485"/>
                </a:solidFill>
                <a:latin typeface="Liberation Sans Narrow" pitchFamily="34" charset="0"/>
                <a:ea typeface="Liberation Sans Narrow" pitchFamily="34" charset="-122"/>
                <a:cs typeface="Liberation Sans Narrow" pitchFamily="34" charset="-120"/>
              </a:rPr>
              <a:t>2 / 54</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8493249" y="257175"/>
            <a:ext cx="492562"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5A6485"/>
                </a:solidFill>
                <a:latin typeface="Carlito" pitchFamily="34" charset="0"/>
                <a:ea typeface="Carlito" pitchFamily="34" charset="-122"/>
                <a:cs typeface="Carlito" pitchFamily="34" charset="-120"/>
              </a:rPr>
              <a:t>FOCUS</a:t>
            </a:r>
            <a:endParaRPr lang="en-US" sz="800" dirty="0"/>
          </a:p>
        </p:txBody>
      </p:sp>
      <p:sp>
        <p:nvSpPr>
          <p:cNvPr id="3" name="Text 1"/>
          <p:cNvSpPr/>
          <p:nvPr/>
        </p:nvSpPr>
        <p:spPr>
          <a:xfrm>
            <a:off x="457200" y="428625"/>
            <a:ext cx="8636000" cy="339471"/>
          </a:xfrm>
          <a:prstGeom prst="rect">
            <a:avLst/>
          </a:prstGeom>
          <a:noFill/>
          <a:ln/>
        </p:spPr>
        <p:txBody>
          <a:bodyPr wrap="none" lIns="0" tIns="0" rIns="0" bIns="0" rtlCol="0" anchor="t"/>
          <a:lstStyle/>
          <a:p>
            <a:pPr marL="0" indent="0" algn="l">
              <a:lnSpc>
                <a:spcPts val="2475"/>
              </a:lnSpc>
              <a:buNone/>
            </a:pPr>
            <a:r>
              <a:rPr lang="en-US" sz="2250" b="1" kern="0" spc="-34" dirty="0">
                <a:solidFill>
                  <a:srgbClr val="0B1736"/>
                </a:solidFill>
                <a:latin typeface="Carlito" pitchFamily="34" charset="0"/>
                <a:ea typeface="Carlito" pitchFamily="34" charset="-122"/>
                <a:cs typeface="Carlito" pitchFamily="34" charset="-120"/>
              </a:rPr>
              <a:t>Today's Focus</a:t>
            </a:r>
            <a:endParaRPr lang="en-US" sz="2250" dirty="0"/>
          </a:p>
        </p:txBody>
      </p:sp>
      <p:sp>
        <p:nvSpPr>
          <p:cNvPr id="4" name="Text 2"/>
          <p:cNvSpPr/>
          <p:nvPr/>
        </p:nvSpPr>
        <p:spPr>
          <a:xfrm>
            <a:off x="457200" y="800100"/>
            <a:ext cx="8229600" cy="196739"/>
          </a:xfrm>
          <a:prstGeom prst="rect">
            <a:avLst/>
          </a:prstGeom>
          <a:noFill/>
          <a:ln/>
        </p:spPr>
        <p:txBody>
          <a:bodyPr wrap="square" lIns="0" tIns="0" rIns="0" bIns="0" rtlCol="0" anchor="t"/>
          <a:lstStyle/>
          <a:p>
            <a:pPr marL="0" indent="0" algn="l">
              <a:lnSpc>
                <a:spcPts val="1434"/>
              </a:lnSpc>
              <a:buNone/>
            </a:pPr>
            <a:r>
              <a:rPr lang="en-US" sz="956" dirty="0">
                <a:solidFill>
                  <a:srgbClr val="5A6485"/>
                </a:solidFill>
                <a:latin typeface="Carlito" pitchFamily="34" charset="0"/>
                <a:ea typeface="Carlito" pitchFamily="34" charset="-122"/>
                <a:cs typeface="Carlito" pitchFamily="34" charset="-120"/>
              </a:rPr>
              <a:t>Five anchors that turn </a:t>
            </a:r>
            <a:r>
              <a:rPr lang="en-US" sz="956" dirty="0">
                <a:solidFill>
                  <a:srgbClr val="1E2A78"/>
                </a:solidFill>
                <a:latin typeface="Courier New" pitchFamily="34" charset="0"/>
                <a:ea typeface="Courier New" pitchFamily="34" charset="-122"/>
                <a:cs typeface="Courier New" pitchFamily="34" charset="-120"/>
              </a:rPr>
              <a:t>TEXT</a:t>
            </a:r>
            <a:r>
              <a:rPr lang="en-US" sz="956" dirty="0">
                <a:solidFill>
                  <a:srgbClr val="5A6485"/>
                </a:solidFill>
                <a:latin typeface="Carlito" pitchFamily="34" charset="0"/>
                <a:ea typeface="Carlito" pitchFamily="34" charset="-122"/>
                <a:cs typeface="Carlito" pitchFamily="34" charset="-120"/>
              </a:rPr>
              <a:t>-only tables into a real, safe schema.</a:t>
            </a:r>
            <a:endParaRPr lang="en-US" sz="956" dirty="0"/>
          </a:p>
        </p:txBody>
      </p:sp>
      <p:sp>
        <p:nvSpPr>
          <p:cNvPr id="5" name="Text 3"/>
          <p:cNvSpPr/>
          <p:nvPr/>
        </p:nvSpPr>
        <p:spPr>
          <a:xfrm>
            <a:off x="460772" y="1275159"/>
            <a:ext cx="1558677" cy="2293144"/>
          </a:xfrm>
          <a:prstGeom prst="roundRect">
            <a:avLst>
              <a:gd name="adj" fmla="val 8555"/>
            </a:avLst>
          </a:prstGeom>
          <a:solidFill>
            <a:srgbClr val="FFFFFF"/>
          </a:solidFill>
          <a:ln w="7144">
            <a:solidFill>
              <a:srgbClr val="DDE2F0"/>
            </a:solidFill>
            <a:prstDash val="solid"/>
          </a:ln>
          <a:effectLst>
            <a:outerShdw blurRad="133350" dist="38100" dir="5400000" algn="bl" rotWithShape="0">
              <a:srgbClr val="0F172A">
                <a:alpha val="6000"/>
              </a:srgbClr>
            </a:outerShdw>
          </a:effectLst>
        </p:spPr>
        <p:txBody>
          <a:bodyPr wrap="square" rtlCol="0" anchor="ctr"/>
          <a:lstStyle/>
          <a:p>
            <a:pPr marL="0" indent="0">
              <a:buNone/>
            </a:pPr>
            <a:endParaRPr lang="en-US" dirty="0"/>
          </a:p>
        </p:txBody>
      </p:sp>
      <p:sp>
        <p:nvSpPr>
          <p:cNvPr id="6" name="Text 4"/>
          <p:cNvSpPr/>
          <p:nvPr/>
        </p:nvSpPr>
        <p:spPr>
          <a:xfrm>
            <a:off x="592931" y="1407319"/>
            <a:ext cx="1294358" cy="147590"/>
          </a:xfrm>
          <a:prstGeom prst="rect">
            <a:avLst/>
          </a:prstGeom>
          <a:noFill/>
          <a:ln/>
        </p:spPr>
        <p:txBody>
          <a:bodyPr wrap="none" lIns="0" tIns="0" rIns="0" bIns="0" rtlCol="0" anchor="t">
            <a:normAutofit/>
          </a:bodyPr>
          <a:lstStyle/>
          <a:p>
            <a:pPr marL="0" indent="0" algn="l">
              <a:lnSpc>
                <a:spcPts val="928"/>
              </a:lnSpc>
              <a:buNone/>
            </a:pPr>
            <a:r>
              <a:rPr lang="en-US" sz="800" b="1" kern="0" spc="62" dirty="0">
                <a:solidFill>
                  <a:srgbClr val="D97706"/>
                </a:solidFill>
                <a:latin typeface="Liberation Sans Narrow" pitchFamily="34" charset="0"/>
                <a:ea typeface="Liberation Sans Narrow" pitchFamily="34" charset="-122"/>
                <a:cs typeface="Liberation Sans Narrow" pitchFamily="34" charset="-120"/>
              </a:rPr>
              <a:t>01</a:t>
            </a:r>
            <a:endParaRPr lang="en-US" sz="800" dirty="0"/>
          </a:p>
        </p:txBody>
      </p:sp>
      <p:sp>
        <p:nvSpPr>
          <p:cNvPr id="7" name="Text 5"/>
          <p:cNvSpPr/>
          <p:nvPr/>
        </p:nvSpPr>
        <p:spPr>
          <a:xfrm>
            <a:off x="592931" y="1582341"/>
            <a:ext cx="285750" cy="285750"/>
          </a:xfrm>
          <a:prstGeom prst="roundRect">
            <a:avLst>
              <a:gd name="adj" fmla="val 33333"/>
            </a:avLst>
          </a:prstGeom>
          <a:solidFill>
            <a:srgbClr val="E3E6F4"/>
          </a:solidFill>
          <a:ln/>
        </p:spPr>
        <p:txBody>
          <a:bodyPr wrap="square" rtlCol="0" anchor="ctr"/>
          <a:lstStyle/>
          <a:p>
            <a:pPr marL="0" indent="0">
              <a:buNone/>
            </a:pPr>
            <a:endParaRPr lang="en-US" dirty="0"/>
          </a:p>
        </p:txBody>
      </p:sp>
      <p:sp>
        <p:nvSpPr>
          <p:cNvPr id="8" name="Text 6"/>
          <p:cNvSpPr/>
          <p:nvPr/>
        </p:nvSpPr>
        <p:spPr>
          <a:xfrm>
            <a:off x="611505" y="1600914"/>
            <a:ext cx="248602" cy="248602"/>
          </a:xfrm>
          <a:prstGeom prst="rect">
            <a:avLst/>
          </a:prstGeom>
          <a:noFill/>
          <a:ln/>
        </p:spPr>
        <p:txBody>
          <a:bodyPr wrap="none" lIns="0" tIns="0" rIns="0" bIns="0" rtlCol="0" anchor="ctr"/>
          <a:lstStyle/>
          <a:p>
            <a:pPr marL="0" indent="0" algn="ctr">
              <a:buNone/>
            </a:pPr>
            <a:r>
              <a:rPr lang="en-US" sz="1688" dirty="0">
                <a:solidFill>
                  <a:srgbClr val="1E2A78"/>
                </a:solidFill>
                <a:latin typeface="Segoe UI Symbol" pitchFamily="34" charset="0"/>
                <a:ea typeface="Segoe UI Symbol" pitchFamily="34" charset="-122"/>
                <a:cs typeface="Segoe UI Symbol" pitchFamily="34" charset="-120"/>
              </a:rPr>
              <a:t>✦</a:t>
            </a:r>
            <a:endParaRPr lang="en-US" sz="1688" dirty="0"/>
          </a:p>
        </p:txBody>
      </p:sp>
      <p:sp>
        <p:nvSpPr>
          <p:cNvPr id="9" name="Text 7"/>
          <p:cNvSpPr/>
          <p:nvPr/>
        </p:nvSpPr>
        <p:spPr>
          <a:xfrm>
            <a:off x="592931" y="1925241"/>
            <a:ext cx="1294358" cy="196739"/>
          </a:xfrm>
          <a:prstGeom prst="rect">
            <a:avLst/>
          </a:prstGeom>
          <a:noFill/>
          <a:ln/>
        </p:spPr>
        <p:txBody>
          <a:bodyPr wrap="none" lIns="0" tIns="0" rIns="0" bIns="0" rtlCol="0" anchor="t"/>
          <a:lstStyle/>
          <a:p>
            <a:pPr marL="0" indent="0" algn="l">
              <a:lnSpc>
                <a:spcPts val="1434"/>
              </a:lnSpc>
              <a:buNone/>
            </a:pPr>
            <a:r>
              <a:rPr lang="en-US" sz="956" b="1" kern="0" spc="-10" dirty="0">
                <a:solidFill>
                  <a:srgbClr val="0B1736"/>
                </a:solidFill>
                <a:latin typeface="Carlito" pitchFamily="34" charset="0"/>
                <a:ea typeface="Carlito" pitchFamily="34" charset="-122"/>
                <a:cs typeface="Carlito" pitchFamily="34" charset="-120"/>
              </a:rPr>
              <a:t>Data Types</a:t>
            </a:r>
            <a:endParaRPr lang="en-US" sz="956" dirty="0"/>
          </a:p>
        </p:txBody>
      </p:sp>
      <p:sp>
        <p:nvSpPr>
          <p:cNvPr id="10" name="Text 8"/>
          <p:cNvSpPr/>
          <p:nvPr/>
        </p:nvSpPr>
        <p:spPr>
          <a:xfrm>
            <a:off x="592931" y="2164556"/>
            <a:ext cx="1372020" cy="1048484"/>
          </a:xfrm>
          <a:prstGeom prst="rect">
            <a:avLst/>
          </a:prstGeom>
          <a:noFill/>
          <a:ln/>
        </p:spPr>
        <p:txBody>
          <a:bodyPr wrap="square" lIns="0" tIns="0" rIns="0" bIns="0" rtlCol="0" anchor="t">
            <a:normAutofit/>
          </a:bodyPr>
          <a:lstStyle/>
          <a:p>
            <a:pPr marL="0" indent="0" algn="l">
              <a:lnSpc>
                <a:spcPts val="1020"/>
              </a:lnSpc>
              <a:buNone/>
            </a:pPr>
            <a:r>
              <a:rPr lang="en-US" sz="800" dirty="0">
                <a:solidFill>
                  <a:srgbClr val="5A6485"/>
                </a:solidFill>
                <a:latin typeface="Courier New" pitchFamily="34" charset="0"/>
                <a:ea typeface="Courier New" pitchFamily="34" charset="-122"/>
                <a:cs typeface="Courier New" pitchFamily="34" charset="-120"/>
              </a:rPr>
              <a:t>INT, NUMERIC, DATE, TIMESTAMP, BOOLEAN</a:t>
            </a:r>
            <a:r>
              <a:rPr lang="en-US" sz="800" dirty="0">
                <a:solidFill>
                  <a:srgbClr val="5A6485"/>
                </a:solidFill>
                <a:latin typeface="Carlito" pitchFamily="34" charset="0"/>
                <a:ea typeface="Carlito" pitchFamily="34" charset="-122"/>
                <a:cs typeface="Carlito" pitchFamily="34" charset="-120"/>
              </a:rPr>
              <a:t> + the type decision framework</a:t>
            </a:r>
            <a:endParaRPr lang="en-US" sz="800" dirty="0"/>
          </a:p>
        </p:txBody>
      </p:sp>
      <p:sp>
        <p:nvSpPr>
          <p:cNvPr id="11" name="Text 9"/>
          <p:cNvSpPr/>
          <p:nvPr/>
        </p:nvSpPr>
        <p:spPr>
          <a:xfrm>
            <a:off x="570071" y="3021522"/>
            <a:ext cx="1340078" cy="344826"/>
          </a:xfrm>
          <a:prstGeom prst="roundRect">
            <a:avLst>
              <a:gd name="adj" fmla="val 22874"/>
            </a:avLst>
          </a:prstGeom>
          <a:solidFill>
            <a:srgbClr val="0F172A"/>
          </a:solidFill>
          <a:ln w="7144">
            <a:solidFill>
              <a:srgbClr val="1E293B"/>
            </a:solidFill>
            <a:prstDash val="solid"/>
          </a:ln>
        </p:spPr>
        <p:txBody>
          <a:bodyPr wrap="square" rtlCol="0" anchor="ctr"/>
          <a:lstStyle/>
          <a:p>
            <a:pPr marL="0" indent="0">
              <a:buNone/>
            </a:pPr>
            <a:endParaRPr lang="en-US" dirty="0"/>
          </a:p>
        </p:txBody>
      </p:sp>
      <p:sp>
        <p:nvSpPr>
          <p:cNvPr id="12" name="Text 10"/>
          <p:cNvSpPr/>
          <p:nvPr/>
        </p:nvSpPr>
        <p:spPr>
          <a:xfrm>
            <a:off x="592931" y="3011378"/>
            <a:ext cx="1294358" cy="453341"/>
          </a:xfrm>
          <a:prstGeom prst="rect">
            <a:avLst/>
          </a:prstGeom>
          <a:noFill/>
          <a:ln/>
        </p:spPr>
        <p:txBody>
          <a:bodyPr wrap="none" lIns="0" tIns="0" rIns="0" bIns="0" rtlCol="0" anchor="t"/>
          <a:lstStyle/>
          <a:p>
            <a:pPr marL="0" indent="0" algn="l">
              <a:lnSpc>
                <a:spcPts val="866"/>
              </a:lnSpc>
              <a:buNone/>
            </a:pPr>
            <a:r>
              <a:rPr lang="en-US" sz="800" dirty="0">
                <a:solidFill>
                  <a:srgbClr val="F472B6"/>
                </a:solidFill>
                <a:latin typeface="Courier New" pitchFamily="34" charset="0"/>
                <a:ea typeface="Courier New" pitchFamily="34" charset="-122"/>
                <a:cs typeface="Courier New" pitchFamily="34" charset="-120"/>
              </a:rPr>
              <a:t>amount</a:t>
            </a:r>
            <a:r>
              <a:rPr lang="en-US" sz="800" dirty="0">
                <a:solidFill>
                  <a:srgbClr val="E2E8F0"/>
                </a:solidFill>
                <a:latin typeface="Courier New" pitchFamily="34" charset="0"/>
                <a:ea typeface="Courier New" pitchFamily="34" charset="-122"/>
                <a:cs typeface="Courier New" pitchFamily="34" charset="-120"/>
              </a:rPr>
              <a:t> </a:t>
            </a:r>
            <a:r>
              <a:rPr lang="en-US" sz="800" dirty="0">
                <a:solidFill>
                  <a:srgbClr val="F472B6"/>
                </a:solidFill>
                <a:latin typeface="Courier New" pitchFamily="34" charset="0"/>
                <a:ea typeface="Courier New" pitchFamily="34" charset="-122"/>
                <a:cs typeface="Courier New" pitchFamily="34" charset="-120"/>
              </a:rPr>
              <a:t>NUMERIC</a:t>
            </a:r>
            <a:r>
              <a:rPr lang="en-US" sz="800" dirty="0">
                <a:solidFill>
                  <a:srgbClr val="E2E8F0"/>
                </a:solidFill>
                <a:latin typeface="Courier New" pitchFamily="34" charset="0"/>
                <a:ea typeface="Courier New" pitchFamily="34" charset="-122"/>
                <a:cs typeface="Courier New" pitchFamily="34" charset="-120"/>
              </a:rPr>
              <a:t>(</a:t>
            </a:r>
            <a:r>
              <a:rPr lang="en-US" sz="800" dirty="0">
                <a:solidFill>
                  <a:srgbClr val="FBBF24"/>
                </a:solidFill>
                <a:latin typeface="Liberation Sans Narrow" pitchFamily="34" charset="0"/>
                <a:ea typeface="Liberation Sans Narrow" pitchFamily="34" charset="-122"/>
                <a:cs typeface="Liberation Sans Narrow" pitchFamily="34" charset="-120"/>
              </a:rPr>
              <a:t>12</a:t>
            </a:r>
            <a:r>
              <a:rPr lang="en-US" sz="800" dirty="0">
                <a:solidFill>
                  <a:srgbClr val="E2E8F0"/>
                </a:solidFill>
                <a:latin typeface="Courier New" pitchFamily="34" charset="0"/>
                <a:ea typeface="Courier New" pitchFamily="34" charset="-122"/>
                <a:cs typeface="Courier New" pitchFamily="34" charset="-120"/>
              </a:rPr>
              <a:t>,</a:t>
            </a:r>
            <a:r>
              <a:rPr lang="en-US" sz="800" dirty="0">
                <a:solidFill>
                  <a:srgbClr val="FBBF24"/>
                </a:solidFill>
                <a:latin typeface="Liberation Sans Narrow" pitchFamily="34" charset="0"/>
                <a:ea typeface="Liberation Sans Narrow" pitchFamily="34" charset="-122"/>
                <a:cs typeface="Liberation Sans Narrow" pitchFamily="34" charset="-120"/>
              </a:rPr>
              <a:t>2</a:t>
            </a:r>
            <a:r>
              <a:rPr lang="en-US" sz="800" dirty="0">
                <a:solidFill>
                  <a:srgbClr val="E2E8F0"/>
                </a:solidFill>
                <a:latin typeface="Courier New" pitchFamily="34" charset="0"/>
                <a:ea typeface="Courier New" pitchFamily="34" charset="-122"/>
                <a:cs typeface="Courier New" pitchFamily="34" charset="-120"/>
              </a:rPr>
              <a:t>)</a:t>
            </a:r>
            <a:endParaRPr lang="en-US" sz="800" dirty="0"/>
          </a:p>
        </p:txBody>
      </p:sp>
      <p:sp>
        <p:nvSpPr>
          <p:cNvPr id="13" name="Text 11"/>
          <p:cNvSpPr/>
          <p:nvPr/>
        </p:nvSpPr>
        <p:spPr>
          <a:xfrm>
            <a:off x="2126605" y="1275159"/>
            <a:ext cx="1558789" cy="2293144"/>
          </a:xfrm>
          <a:prstGeom prst="roundRect">
            <a:avLst>
              <a:gd name="adj" fmla="val 8555"/>
            </a:avLst>
          </a:prstGeom>
          <a:solidFill>
            <a:srgbClr val="FFFFFF"/>
          </a:solidFill>
          <a:ln w="7144">
            <a:solidFill>
              <a:srgbClr val="DDE2F0"/>
            </a:solidFill>
            <a:prstDash val="solid"/>
          </a:ln>
          <a:effectLst>
            <a:outerShdw blurRad="133350" dist="38100" dir="5400000" algn="bl" rotWithShape="0">
              <a:srgbClr val="0F172A">
                <a:alpha val="6000"/>
              </a:srgbClr>
            </a:outerShdw>
          </a:effectLst>
        </p:spPr>
        <p:txBody>
          <a:bodyPr wrap="square" rtlCol="0" anchor="ctr"/>
          <a:lstStyle/>
          <a:p>
            <a:pPr marL="0" indent="0">
              <a:buNone/>
            </a:pPr>
            <a:endParaRPr lang="en-US" dirty="0"/>
          </a:p>
        </p:txBody>
      </p:sp>
      <p:sp>
        <p:nvSpPr>
          <p:cNvPr id="14" name="Text 12"/>
          <p:cNvSpPr/>
          <p:nvPr/>
        </p:nvSpPr>
        <p:spPr>
          <a:xfrm>
            <a:off x="2258764" y="1407319"/>
            <a:ext cx="1294470" cy="147590"/>
          </a:xfrm>
          <a:prstGeom prst="rect">
            <a:avLst/>
          </a:prstGeom>
          <a:noFill/>
          <a:ln/>
        </p:spPr>
        <p:txBody>
          <a:bodyPr wrap="none" lIns="0" tIns="0" rIns="0" bIns="0" rtlCol="0" anchor="t">
            <a:normAutofit/>
          </a:bodyPr>
          <a:lstStyle/>
          <a:p>
            <a:pPr marL="0" indent="0" algn="l">
              <a:lnSpc>
                <a:spcPts val="928"/>
              </a:lnSpc>
              <a:buNone/>
            </a:pPr>
            <a:r>
              <a:rPr lang="en-US" sz="800" b="1" kern="0" spc="62" dirty="0">
                <a:solidFill>
                  <a:srgbClr val="D97706"/>
                </a:solidFill>
                <a:latin typeface="Liberation Sans Narrow" pitchFamily="34" charset="0"/>
                <a:ea typeface="Liberation Sans Narrow" pitchFamily="34" charset="-122"/>
                <a:cs typeface="Liberation Sans Narrow" pitchFamily="34" charset="-120"/>
              </a:rPr>
              <a:t>02</a:t>
            </a:r>
            <a:endParaRPr lang="en-US" sz="800" dirty="0"/>
          </a:p>
        </p:txBody>
      </p:sp>
      <p:sp>
        <p:nvSpPr>
          <p:cNvPr id="15" name="Text 13"/>
          <p:cNvSpPr/>
          <p:nvPr/>
        </p:nvSpPr>
        <p:spPr>
          <a:xfrm>
            <a:off x="2258764" y="1582341"/>
            <a:ext cx="285750" cy="285750"/>
          </a:xfrm>
          <a:prstGeom prst="roundRect">
            <a:avLst>
              <a:gd name="adj" fmla="val 33333"/>
            </a:avLst>
          </a:prstGeom>
          <a:solidFill>
            <a:srgbClr val="E3E6F4"/>
          </a:solidFill>
          <a:ln/>
        </p:spPr>
        <p:txBody>
          <a:bodyPr wrap="square" rtlCol="0" anchor="ctr"/>
          <a:lstStyle/>
          <a:p>
            <a:pPr marL="0" indent="0">
              <a:buNone/>
            </a:pPr>
            <a:endParaRPr lang="en-US" dirty="0"/>
          </a:p>
        </p:txBody>
      </p:sp>
      <p:sp>
        <p:nvSpPr>
          <p:cNvPr id="16" name="Text 14"/>
          <p:cNvSpPr/>
          <p:nvPr/>
        </p:nvSpPr>
        <p:spPr>
          <a:xfrm>
            <a:off x="2277338" y="1600914"/>
            <a:ext cx="248602" cy="248602"/>
          </a:xfrm>
          <a:prstGeom prst="rect">
            <a:avLst/>
          </a:prstGeom>
          <a:noFill/>
          <a:ln/>
        </p:spPr>
        <p:txBody>
          <a:bodyPr wrap="none" lIns="0" tIns="0" rIns="0" bIns="0" rtlCol="0" anchor="ctr"/>
          <a:lstStyle/>
          <a:p>
            <a:pPr marL="0" indent="0" algn="ctr">
              <a:buNone/>
            </a:pPr>
            <a:r>
              <a:rPr lang="en-US" sz="1688" dirty="0">
                <a:solidFill>
                  <a:srgbClr val="1E2A78"/>
                </a:solidFill>
                <a:latin typeface="Segoe UI Symbol" pitchFamily="34" charset="0"/>
                <a:ea typeface="Segoe UI Symbol" pitchFamily="34" charset="-122"/>
                <a:cs typeface="Segoe UI Symbol" pitchFamily="34" charset="-120"/>
              </a:rPr>
              <a:t>⇄</a:t>
            </a:r>
            <a:endParaRPr lang="en-US" sz="1688" dirty="0"/>
          </a:p>
        </p:txBody>
      </p:sp>
      <p:sp>
        <p:nvSpPr>
          <p:cNvPr id="17" name="Text 15"/>
          <p:cNvSpPr/>
          <p:nvPr/>
        </p:nvSpPr>
        <p:spPr>
          <a:xfrm>
            <a:off x="2258764" y="1925241"/>
            <a:ext cx="1294470" cy="196739"/>
          </a:xfrm>
          <a:prstGeom prst="rect">
            <a:avLst/>
          </a:prstGeom>
          <a:noFill/>
          <a:ln/>
        </p:spPr>
        <p:txBody>
          <a:bodyPr wrap="none" lIns="0" tIns="0" rIns="0" bIns="0" rtlCol="0" anchor="t"/>
          <a:lstStyle/>
          <a:p>
            <a:pPr marL="0" indent="0" algn="l">
              <a:lnSpc>
                <a:spcPts val="1434"/>
              </a:lnSpc>
              <a:buNone/>
            </a:pPr>
            <a:r>
              <a:rPr lang="en-US" sz="956" b="1" kern="0" spc="-10" dirty="0">
                <a:solidFill>
                  <a:srgbClr val="0B1736"/>
                </a:solidFill>
                <a:latin typeface="Carlito" pitchFamily="34" charset="0"/>
                <a:ea typeface="Carlito" pitchFamily="34" charset="-122"/>
                <a:cs typeface="Carlito" pitchFamily="34" charset="-120"/>
              </a:rPr>
              <a:t>ALTER TABLE</a:t>
            </a:r>
            <a:endParaRPr lang="en-US" sz="956" dirty="0"/>
          </a:p>
        </p:txBody>
      </p:sp>
      <p:sp>
        <p:nvSpPr>
          <p:cNvPr id="18" name="Text 16"/>
          <p:cNvSpPr/>
          <p:nvPr/>
        </p:nvSpPr>
        <p:spPr>
          <a:xfrm>
            <a:off x="2258764" y="2164556"/>
            <a:ext cx="1372138" cy="938537"/>
          </a:xfrm>
          <a:prstGeom prst="rect">
            <a:avLst/>
          </a:prstGeom>
          <a:noFill/>
          <a:ln/>
        </p:spPr>
        <p:txBody>
          <a:bodyPr wrap="square" lIns="0" tIns="0" rIns="0" bIns="0" rtlCol="0" anchor="t">
            <a:normAutofit/>
          </a:bodyPr>
          <a:lstStyle/>
          <a:p>
            <a:pPr marL="0" indent="0" algn="l">
              <a:lnSpc>
                <a:spcPts val="1020"/>
              </a:lnSpc>
              <a:buNone/>
            </a:pPr>
            <a:r>
              <a:rPr lang="en-US" sz="800" dirty="0">
                <a:solidFill>
                  <a:srgbClr val="5A6485"/>
                </a:solidFill>
                <a:latin typeface="Carlito" pitchFamily="34" charset="0"/>
                <a:ea typeface="Carlito" pitchFamily="34" charset="-122"/>
                <a:cs typeface="Carlito" pitchFamily="34" charset="-120"/>
              </a:rPr>
              <a:t>Convert yesterday's </a:t>
            </a:r>
            <a:r>
              <a:rPr lang="en-US" sz="800" dirty="0">
                <a:solidFill>
                  <a:srgbClr val="5A6485"/>
                </a:solidFill>
                <a:latin typeface="Courier New" pitchFamily="34" charset="0"/>
                <a:ea typeface="Courier New" pitchFamily="34" charset="-122"/>
                <a:cs typeface="Courier New" pitchFamily="34" charset="-120"/>
              </a:rPr>
              <a:t>TEXT</a:t>
            </a:r>
            <a:r>
              <a:rPr lang="en-US" sz="800" dirty="0">
                <a:solidFill>
                  <a:srgbClr val="5A6485"/>
                </a:solidFill>
                <a:latin typeface="Carlito" pitchFamily="34" charset="0"/>
                <a:ea typeface="Carlito" pitchFamily="34" charset="-122"/>
                <a:cs typeface="Carlito" pitchFamily="34" charset="-120"/>
              </a:rPr>
              <a:t> columns to real types with </a:t>
            </a:r>
            <a:r>
              <a:rPr lang="en-US" sz="800" dirty="0">
                <a:solidFill>
                  <a:srgbClr val="5A6485"/>
                </a:solidFill>
                <a:latin typeface="Courier New" pitchFamily="34" charset="0"/>
                <a:ea typeface="Courier New" pitchFamily="34" charset="-122"/>
                <a:cs typeface="Courier New" pitchFamily="34" charset="-120"/>
              </a:rPr>
              <a:t>USING</a:t>
            </a:r>
            <a:endParaRPr lang="en-US" sz="800" dirty="0"/>
          </a:p>
        </p:txBody>
      </p:sp>
      <p:sp>
        <p:nvSpPr>
          <p:cNvPr id="19" name="Text 17"/>
          <p:cNvSpPr/>
          <p:nvPr/>
        </p:nvSpPr>
        <p:spPr>
          <a:xfrm>
            <a:off x="2262336" y="3011378"/>
            <a:ext cx="1287326" cy="354969"/>
          </a:xfrm>
          <a:prstGeom prst="roundRect">
            <a:avLst>
              <a:gd name="adj" fmla="val 17474"/>
            </a:avLst>
          </a:prstGeom>
          <a:solidFill>
            <a:srgbClr val="0F172A"/>
          </a:solidFill>
          <a:ln w="7144">
            <a:solidFill>
              <a:srgbClr val="1E293B"/>
            </a:solidFill>
            <a:prstDash val="solid"/>
          </a:ln>
        </p:spPr>
        <p:txBody>
          <a:bodyPr wrap="square" rtlCol="0" anchor="ctr"/>
          <a:lstStyle/>
          <a:p>
            <a:pPr marL="0" indent="0">
              <a:buNone/>
            </a:pPr>
            <a:endParaRPr lang="en-US" dirty="0"/>
          </a:p>
        </p:txBody>
      </p:sp>
      <p:sp>
        <p:nvSpPr>
          <p:cNvPr id="20" name="Text 18"/>
          <p:cNvSpPr/>
          <p:nvPr/>
        </p:nvSpPr>
        <p:spPr>
          <a:xfrm>
            <a:off x="2258764" y="3011378"/>
            <a:ext cx="1294470" cy="453341"/>
          </a:xfrm>
          <a:prstGeom prst="rect">
            <a:avLst/>
          </a:prstGeom>
          <a:noFill/>
          <a:ln/>
        </p:spPr>
        <p:txBody>
          <a:bodyPr wrap="square" lIns="64294" tIns="50006" rIns="64294" bIns="50006" rtlCol="0" anchor="t"/>
          <a:lstStyle/>
          <a:p>
            <a:pPr marL="0" indent="0" algn="l">
              <a:lnSpc>
                <a:spcPts val="866"/>
              </a:lnSpc>
              <a:buNone/>
            </a:pPr>
            <a:r>
              <a:rPr lang="en-US" sz="800" dirty="0">
                <a:solidFill>
                  <a:srgbClr val="F472B6"/>
                </a:solidFill>
                <a:latin typeface="Courier New" pitchFamily="34" charset="0"/>
                <a:ea typeface="Courier New" pitchFamily="34" charset="-122"/>
                <a:cs typeface="Courier New" pitchFamily="34" charset="-120"/>
              </a:rPr>
              <a:t>ALTER COLUMN</a:t>
            </a:r>
            <a:r>
              <a:rPr lang="en-US" sz="800" dirty="0">
                <a:solidFill>
                  <a:srgbClr val="E2E8F0"/>
                </a:solidFill>
                <a:latin typeface="Courier New" pitchFamily="34" charset="0"/>
                <a:ea typeface="Courier New" pitchFamily="34" charset="-122"/>
                <a:cs typeface="Courier New" pitchFamily="34" charset="-120"/>
              </a:rPr>
              <a:t> c </a:t>
            </a:r>
            <a:r>
              <a:rPr lang="en-US" sz="800" dirty="0">
                <a:solidFill>
                  <a:srgbClr val="F472B6"/>
                </a:solidFill>
                <a:latin typeface="Courier New" pitchFamily="34" charset="0"/>
                <a:ea typeface="Courier New" pitchFamily="34" charset="-122"/>
                <a:cs typeface="Courier New" pitchFamily="34" charset="-120"/>
              </a:rPr>
              <a:t>TYPE INT USING</a:t>
            </a:r>
            <a:r>
              <a:rPr lang="en-US" sz="800" dirty="0">
                <a:solidFill>
                  <a:srgbClr val="E2E8F0"/>
                </a:solidFill>
                <a:latin typeface="Courier New" pitchFamily="34" charset="0"/>
                <a:ea typeface="Courier New" pitchFamily="34" charset="-122"/>
                <a:cs typeface="Courier New" pitchFamily="34" charset="-120"/>
              </a:rPr>
              <a:t> c::int</a:t>
            </a:r>
            <a:endParaRPr lang="en-US" sz="800" dirty="0"/>
          </a:p>
        </p:txBody>
      </p:sp>
      <p:sp>
        <p:nvSpPr>
          <p:cNvPr id="21" name="Text 19"/>
          <p:cNvSpPr/>
          <p:nvPr/>
        </p:nvSpPr>
        <p:spPr>
          <a:xfrm>
            <a:off x="3792550" y="1275159"/>
            <a:ext cx="1558789" cy="2293144"/>
          </a:xfrm>
          <a:prstGeom prst="roundRect">
            <a:avLst>
              <a:gd name="adj" fmla="val 8555"/>
            </a:avLst>
          </a:prstGeom>
          <a:solidFill>
            <a:srgbClr val="FFFFFF"/>
          </a:solidFill>
          <a:ln w="7144">
            <a:solidFill>
              <a:srgbClr val="DDE2F0"/>
            </a:solidFill>
            <a:prstDash val="solid"/>
          </a:ln>
          <a:effectLst>
            <a:outerShdw blurRad="133350" dist="38100" dir="5400000" algn="bl" rotWithShape="0">
              <a:srgbClr val="0F172A">
                <a:alpha val="6000"/>
              </a:srgbClr>
            </a:outerShdw>
          </a:effectLst>
        </p:spPr>
        <p:txBody>
          <a:bodyPr wrap="square" rtlCol="0" anchor="ctr"/>
          <a:lstStyle/>
          <a:p>
            <a:pPr marL="0" indent="0">
              <a:buNone/>
            </a:pPr>
            <a:endParaRPr lang="en-US" dirty="0"/>
          </a:p>
        </p:txBody>
      </p:sp>
      <p:sp>
        <p:nvSpPr>
          <p:cNvPr id="22" name="Text 20"/>
          <p:cNvSpPr/>
          <p:nvPr/>
        </p:nvSpPr>
        <p:spPr>
          <a:xfrm>
            <a:off x="3924709" y="1407319"/>
            <a:ext cx="1294470" cy="147590"/>
          </a:xfrm>
          <a:prstGeom prst="rect">
            <a:avLst/>
          </a:prstGeom>
          <a:noFill/>
          <a:ln/>
        </p:spPr>
        <p:txBody>
          <a:bodyPr wrap="none" lIns="0" tIns="0" rIns="0" bIns="0" rtlCol="0" anchor="t">
            <a:normAutofit/>
          </a:bodyPr>
          <a:lstStyle/>
          <a:p>
            <a:pPr marL="0" indent="0" algn="l">
              <a:lnSpc>
                <a:spcPts val="928"/>
              </a:lnSpc>
              <a:buNone/>
            </a:pPr>
            <a:r>
              <a:rPr lang="en-US" sz="800" b="1" kern="0" spc="62" dirty="0">
                <a:solidFill>
                  <a:srgbClr val="D97706"/>
                </a:solidFill>
                <a:latin typeface="Liberation Sans Narrow" pitchFamily="34" charset="0"/>
                <a:ea typeface="Liberation Sans Narrow" pitchFamily="34" charset="-122"/>
                <a:cs typeface="Liberation Sans Narrow" pitchFamily="34" charset="-120"/>
              </a:rPr>
              <a:t>03</a:t>
            </a:r>
            <a:endParaRPr lang="en-US" sz="800" dirty="0"/>
          </a:p>
        </p:txBody>
      </p:sp>
      <p:sp>
        <p:nvSpPr>
          <p:cNvPr id="23" name="Text 21"/>
          <p:cNvSpPr/>
          <p:nvPr/>
        </p:nvSpPr>
        <p:spPr>
          <a:xfrm>
            <a:off x="3924709" y="1582341"/>
            <a:ext cx="285750" cy="285750"/>
          </a:xfrm>
          <a:prstGeom prst="roundRect">
            <a:avLst>
              <a:gd name="adj" fmla="val 33333"/>
            </a:avLst>
          </a:prstGeom>
          <a:solidFill>
            <a:srgbClr val="E3E6F4"/>
          </a:solidFill>
          <a:ln/>
        </p:spPr>
        <p:txBody>
          <a:bodyPr wrap="square" rtlCol="0" anchor="ctr"/>
          <a:lstStyle/>
          <a:p>
            <a:pPr marL="0" indent="0">
              <a:buNone/>
            </a:pPr>
            <a:endParaRPr lang="en-US" dirty="0"/>
          </a:p>
        </p:txBody>
      </p:sp>
      <p:sp>
        <p:nvSpPr>
          <p:cNvPr id="24" name="Text 22"/>
          <p:cNvSpPr/>
          <p:nvPr/>
        </p:nvSpPr>
        <p:spPr>
          <a:xfrm>
            <a:off x="3943283" y="1600914"/>
            <a:ext cx="248602" cy="248602"/>
          </a:xfrm>
          <a:prstGeom prst="rect">
            <a:avLst/>
          </a:prstGeom>
          <a:noFill/>
          <a:ln/>
        </p:spPr>
        <p:txBody>
          <a:bodyPr wrap="none" lIns="0" tIns="0" rIns="0" bIns="0" rtlCol="0" anchor="ctr"/>
          <a:lstStyle/>
          <a:p>
            <a:pPr marL="0" indent="0" algn="ctr">
              <a:buNone/>
            </a:pPr>
            <a:r>
              <a:rPr lang="en-US" sz="1688" dirty="0">
                <a:solidFill>
                  <a:srgbClr val="1E2A78"/>
                </a:solidFill>
                <a:latin typeface="Segoe UI Symbol" pitchFamily="34" charset="0"/>
                <a:ea typeface="Segoe UI Symbol" pitchFamily="34" charset="-122"/>
                <a:cs typeface="Segoe UI Symbol" pitchFamily="34" charset="-120"/>
              </a:rPr>
              <a:t>⚿</a:t>
            </a:r>
            <a:endParaRPr lang="en-US" sz="1688" dirty="0"/>
          </a:p>
        </p:txBody>
      </p:sp>
      <p:sp>
        <p:nvSpPr>
          <p:cNvPr id="25" name="Text 23"/>
          <p:cNvSpPr/>
          <p:nvPr/>
        </p:nvSpPr>
        <p:spPr>
          <a:xfrm>
            <a:off x="3924709" y="1925241"/>
            <a:ext cx="1294470" cy="196739"/>
          </a:xfrm>
          <a:prstGeom prst="rect">
            <a:avLst/>
          </a:prstGeom>
          <a:noFill/>
          <a:ln/>
        </p:spPr>
        <p:txBody>
          <a:bodyPr wrap="none" lIns="0" tIns="0" rIns="0" bIns="0" rtlCol="0" anchor="t"/>
          <a:lstStyle/>
          <a:p>
            <a:pPr marL="0" indent="0" algn="l">
              <a:lnSpc>
                <a:spcPts val="1434"/>
              </a:lnSpc>
              <a:buNone/>
            </a:pPr>
            <a:r>
              <a:rPr lang="en-US" sz="956" b="1" kern="0" spc="-10" dirty="0">
                <a:solidFill>
                  <a:srgbClr val="0B1736"/>
                </a:solidFill>
                <a:latin typeface="Carlito" pitchFamily="34" charset="0"/>
                <a:ea typeface="Carlito" pitchFamily="34" charset="-122"/>
                <a:cs typeface="Carlito" pitchFamily="34" charset="-120"/>
              </a:rPr>
              <a:t>NOT NULL / DEFAULT</a:t>
            </a:r>
            <a:endParaRPr lang="en-US" sz="956" dirty="0"/>
          </a:p>
        </p:txBody>
      </p:sp>
      <p:sp>
        <p:nvSpPr>
          <p:cNvPr id="26" name="Text 24"/>
          <p:cNvSpPr/>
          <p:nvPr/>
        </p:nvSpPr>
        <p:spPr>
          <a:xfrm>
            <a:off x="3924709" y="2164556"/>
            <a:ext cx="1372138" cy="938537"/>
          </a:xfrm>
          <a:prstGeom prst="rect">
            <a:avLst/>
          </a:prstGeom>
          <a:noFill/>
          <a:ln/>
        </p:spPr>
        <p:txBody>
          <a:bodyPr wrap="square" lIns="0" tIns="0" rIns="0" bIns="0" rtlCol="0" anchor="t">
            <a:normAutofit/>
          </a:bodyPr>
          <a:lstStyle/>
          <a:p>
            <a:pPr marL="0" indent="0" algn="l">
              <a:lnSpc>
                <a:spcPts val="1020"/>
              </a:lnSpc>
              <a:buNone/>
            </a:pPr>
            <a:r>
              <a:rPr lang="en-US" sz="800" dirty="0">
                <a:solidFill>
                  <a:srgbClr val="5A6485"/>
                </a:solidFill>
                <a:latin typeface="Carlito" pitchFamily="34" charset="0"/>
                <a:ea typeface="Carlito" pitchFamily="34" charset="-122"/>
                <a:cs typeface="Carlito" pitchFamily="34" charset="-120"/>
              </a:rPr>
              <a:t>Force columns to always have a sensible value</a:t>
            </a:r>
            <a:endParaRPr lang="en-US" sz="800" dirty="0"/>
          </a:p>
        </p:txBody>
      </p:sp>
      <p:sp>
        <p:nvSpPr>
          <p:cNvPr id="27" name="Text 25"/>
          <p:cNvSpPr/>
          <p:nvPr/>
        </p:nvSpPr>
        <p:spPr>
          <a:xfrm>
            <a:off x="3928281" y="3011378"/>
            <a:ext cx="1287326" cy="354969"/>
          </a:xfrm>
          <a:prstGeom prst="roundRect">
            <a:avLst>
              <a:gd name="adj" fmla="val 17474"/>
            </a:avLst>
          </a:prstGeom>
          <a:solidFill>
            <a:srgbClr val="0F172A"/>
          </a:solidFill>
          <a:ln w="7144">
            <a:solidFill>
              <a:srgbClr val="1E293B"/>
            </a:solidFill>
            <a:prstDash val="solid"/>
          </a:ln>
        </p:spPr>
        <p:txBody>
          <a:bodyPr wrap="square" rtlCol="0" anchor="ctr"/>
          <a:lstStyle/>
          <a:p>
            <a:pPr marL="0" indent="0">
              <a:buNone/>
            </a:pPr>
            <a:endParaRPr lang="en-US" dirty="0"/>
          </a:p>
        </p:txBody>
      </p:sp>
      <p:sp>
        <p:nvSpPr>
          <p:cNvPr id="28" name="Text 26"/>
          <p:cNvSpPr/>
          <p:nvPr/>
        </p:nvSpPr>
        <p:spPr>
          <a:xfrm>
            <a:off x="3924709" y="3011378"/>
            <a:ext cx="1294470" cy="453341"/>
          </a:xfrm>
          <a:prstGeom prst="rect">
            <a:avLst/>
          </a:prstGeom>
          <a:noFill/>
          <a:ln/>
        </p:spPr>
        <p:txBody>
          <a:bodyPr wrap="square" lIns="64294" tIns="50006" rIns="64294" bIns="50006" rtlCol="0" anchor="t"/>
          <a:lstStyle/>
          <a:p>
            <a:pPr marL="0" indent="0" algn="l">
              <a:lnSpc>
                <a:spcPts val="866"/>
              </a:lnSpc>
              <a:buNone/>
            </a:pPr>
            <a:r>
              <a:rPr lang="en-US" sz="800" dirty="0">
                <a:solidFill>
                  <a:srgbClr val="E2E8F0"/>
                </a:solidFill>
                <a:latin typeface="Courier New" pitchFamily="34" charset="0"/>
                <a:ea typeface="Courier New" pitchFamily="34" charset="-122"/>
                <a:cs typeface="Courier New" pitchFamily="34" charset="-120"/>
              </a:rPr>
              <a:t>customer_name </a:t>
            </a:r>
            <a:r>
              <a:rPr lang="en-US" sz="800" dirty="0">
                <a:solidFill>
                  <a:srgbClr val="F472B6"/>
                </a:solidFill>
                <a:latin typeface="Courier New" pitchFamily="34" charset="0"/>
                <a:ea typeface="Courier New" pitchFamily="34" charset="-122"/>
                <a:cs typeface="Courier New" pitchFamily="34" charset="-120"/>
              </a:rPr>
              <a:t>VARCHAR</a:t>
            </a:r>
            <a:r>
              <a:rPr lang="en-US" sz="800" dirty="0">
                <a:solidFill>
                  <a:srgbClr val="E2E8F0"/>
                </a:solidFill>
                <a:latin typeface="Courier New" pitchFamily="34" charset="0"/>
                <a:ea typeface="Courier New" pitchFamily="34" charset="-122"/>
                <a:cs typeface="Courier New" pitchFamily="34" charset="-120"/>
              </a:rPr>
              <a:t>(</a:t>
            </a:r>
            <a:r>
              <a:rPr lang="en-US" sz="800" dirty="0">
                <a:solidFill>
                  <a:srgbClr val="FBBF24"/>
                </a:solidFill>
                <a:latin typeface="Liberation Sans Narrow" pitchFamily="34" charset="0"/>
                <a:ea typeface="Liberation Sans Narrow" pitchFamily="34" charset="-122"/>
                <a:cs typeface="Liberation Sans Narrow" pitchFamily="34" charset="-120"/>
              </a:rPr>
              <a:t>100</a:t>
            </a:r>
            <a:r>
              <a:rPr lang="en-US" sz="800" dirty="0">
                <a:solidFill>
                  <a:srgbClr val="E2E8F0"/>
                </a:solidFill>
                <a:latin typeface="Courier New" pitchFamily="34" charset="0"/>
                <a:ea typeface="Courier New" pitchFamily="34" charset="-122"/>
                <a:cs typeface="Courier New" pitchFamily="34" charset="-120"/>
              </a:rPr>
              <a:t>) </a:t>
            </a:r>
            <a:r>
              <a:rPr lang="en-US" sz="800" dirty="0">
                <a:solidFill>
                  <a:srgbClr val="F472B6"/>
                </a:solidFill>
                <a:latin typeface="Courier New" pitchFamily="34" charset="0"/>
                <a:ea typeface="Courier New" pitchFamily="34" charset="-122"/>
                <a:cs typeface="Courier New" pitchFamily="34" charset="-120"/>
              </a:rPr>
              <a:t>NOT NULL</a:t>
            </a:r>
            <a:endParaRPr lang="en-US" sz="800" dirty="0"/>
          </a:p>
        </p:txBody>
      </p:sp>
      <p:sp>
        <p:nvSpPr>
          <p:cNvPr id="29" name="Text 27"/>
          <p:cNvSpPr/>
          <p:nvPr/>
        </p:nvSpPr>
        <p:spPr>
          <a:xfrm>
            <a:off x="5458495" y="1275159"/>
            <a:ext cx="1558789" cy="2293144"/>
          </a:xfrm>
          <a:prstGeom prst="roundRect">
            <a:avLst>
              <a:gd name="adj" fmla="val 8555"/>
            </a:avLst>
          </a:prstGeom>
          <a:solidFill>
            <a:srgbClr val="FFFFFF"/>
          </a:solidFill>
          <a:ln w="7144">
            <a:solidFill>
              <a:srgbClr val="DDE2F0"/>
            </a:solidFill>
            <a:prstDash val="solid"/>
          </a:ln>
          <a:effectLst>
            <a:outerShdw blurRad="133350" dist="38100" dir="5400000" algn="bl" rotWithShape="0">
              <a:srgbClr val="0F172A">
                <a:alpha val="6000"/>
              </a:srgbClr>
            </a:outerShdw>
          </a:effectLst>
        </p:spPr>
        <p:txBody>
          <a:bodyPr wrap="square" rtlCol="0" anchor="ctr"/>
          <a:lstStyle/>
          <a:p>
            <a:pPr marL="0" indent="0">
              <a:buNone/>
            </a:pPr>
            <a:endParaRPr lang="en-US" dirty="0"/>
          </a:p>
        </p:txBody>
      </p:sp>
      <p:sp>
        <p:nvSpPr>
          <p:cNvPr id="30" name="Text 28"/>
          <p:cNvSpPr/>
          <p:nvPr/>
        </p:nvSpPr>
        <p:spPr>
          <a:xfrm>
            <a:off x="5590654" y="1407319"/>
            <a:ext cx="1294470" cy="147590"/>
          </a:xfrm>
          <a:prstGeom prst="rect">
            <a:avLst/>
          </a:prstGeom>
          <a:noFill/>
          <a:ln/>
        </p:spPr>
        <p:txBody>
          <a:bodyPr wrap="none" lIns="0" tIns="0" rIns="0" bIns="0" rtlCol="0" anchor="t">
            <a:normAutofit/>
          </a:bodyPr>
          <a:lstStyle/>
          <a:p>
            <a:pPr marL="0" indent="0" algn="l">
              <a:lnSpc>
                <a:spcPts val="928"/>
              </a:lnSpc>
              <a:buNone/>
            </a:pPr>
            <a:r>
              <a:rPr lang="en-US" sz="800" b="1" kern="0" spc="62" dirty="0">
                <a:solidFill>
                  <a:srgbClr val="D97706"/>
                </a:solidFill>
                <a:latin typeface="Liberation Sans Narrow" pitchFamily="34" charset="0"/>
                <a:ea typeface="Liberation Sans Narrow" pitchFamily="34" charset="-122"/>
                <a:cs typeface="Liberation Sans Narrow" pitchFamily="34" charset="-120"/>
              </a:rPr>
              <a:t>04</a:t>
            </a:r>
            <a:endParaRPr lang="en-US" sz="800" dirty="0"/>
          </a:p>
        </p:txBody>
      </p:sp>
      <p:sp>
        <p:nvSpPr>
          <p:cNvPr id="31" name="Text 29"/>
          <p:cNvSpPr/>
          <p:nvPr/>
        </p:nvSpPr>
        <p:spPr>
          <a:xfrm>
            <a:off x="5590654" y="1582341"/>
            <a:ext cx="285750" cy="285750"/>
          </a:xfrm>
          <a:prstGeom prst="roundRect">
            <a:avLst>
              <a:gd name="adj" fmla="val 33333"/>
            </a:avLst>
          </a:prstGeom>
          <a:solidFill>
            <a:srgbClr val="E3E6F4"/>
          </a:solidFill>
          <a:ln/>
        </p:spPr>
        <p:txBody>
          <a:bodyPr wrap="square" rtlCol="0" anchor="ctr"/>
          <a:lstStyle/>
          <a:p>
            <a:pPr marL="0" indent="0">
              <a:buNone/>
            </a:pPr>
            <a:endParaRPr lang="en-US" dirty="0"/>
          </a:p>
        </p:txBody>
      </p:sp>
      <p:sp>
        <p:nvSpPr>
          <p:cNvPr id="32" name="Text 30"/>
          <p:cNvSpPr/>
          <p:nvPr/>
        </p:nvSpPr>
        <p:spPr>
          <a:xfrm>
            <a:off x="5609228" y="1600914"/>
            <a:ext cx="248602" cy="248602"/>
          </a:xfrm>
          <a:prstGeom prst="rect">
            <a:avLst/>
          </a:prstGeom>
          <a:noFill/>
          <a:ln/>
        </p:spPr>
        <p:txBody>
          <a:bodyPr wrap="none" lIns="0" tIns="0" rIns="0" bIns="0" rtlCol="0" anchor="ctr"/>
          <a:lstStyle/>
          <a:p>
            <a:pPr marL="0" indent="0" algn="ctr">
              <a:buNone/>
            </a:pPr>
            <a:r>
              <a:rPr lang="en-US" sz="1688" dirty="0">
                <a:solidFill>
                  <a:srgbClr val="1E2A78"/>
                </a:solidFill>
                <a:latin typeface="Segoe UI Symbol" pitchFamily="34" charset="0"/>
                <a:ea typeface="Segoe UI Symbol" pitchFamily="34" charset="-122"/>
                <a:cs typeface="Segoe UI Symbol" pitchFamily="34" charset="-120"/>
              </a:rPr>
              <a:t>⎙</a:t>
            </a:r>
            <a:endParaRPr lang="en-US" sz="1688" dirty="0"/>
          </a:p>
        </p:txBody>
      </p:sp>
      <p:sp>
        <p:nvSpPr>
          <p:cNvPr id="33" name="Text 31"/>
          <p:cNvSpPr/>
          <p:nvPr/>
        </p:nvSpPr>
        <p:spPr>
          <a:xfrm>
            <a:off x="5590654" y="1925241"/>
            <a:ext cx="1294470" cy="196739"/>
          </a:xfrm>
          <a:prstGeom prst="rect">
            <a:avLst/>
          </a:prstGeom>
          <a:noFill/>
          <a:ln/>
        </p:spPr>
        <p:txBody>
          <a:bodyPr wrap="none" lIns="0" tIns="0" rIns="0" bIns="0" rtlCol="0" anchor="t"/>
          <a:lstStyle/>
          <a:p>
            <a:pPr marL="0" indent="0" algn="l">
              <a:lnSpc>
                <a:spcPts val="1434"/>
              </a:lnSpc>
              <a:buNone/>
            </a:pPr>
            <a:r>
              <a:rPr lang="en-US" sz="956" b="1" kern="0" spc="-10" dirty="0">
                <a:solidFill>
                  <a:srgbClr val="0B1736"/>
                </a:solidFill>
                <a:latin typeface="Carlito" pitchFamily="34" charset="0"/>
                <a:ea typeface="Carlito" pitchFamily="34" charset="-122"/>
                <a:cs typeface="Carlito" pitchFamily="34" charset="-120"/>
              </a:rPr>
              <a:t>UNIQUE + CHECK</a:t>
            </a:r>
            <a:endParaRPr lang="en-US" sz="956" dirty="0"/>
          </a:p>
        </p:txBody>
      </p:sp>
      <p:sp>
        <p:nvSpPr>
          <p:cNvPr id="34" name="Text 32"/>
          <p:cNvSpPr/>
          <p:nvPr/>
        </p:nvSpPr>
        <p:spPr>
          <a:xfrm>
            <a:off x="5590654" y="2164556"/>
            <a:ext cx="1372138" cy="1048484"/>
          </a:xfrm>
          <a:prstGeom prst="rect">
            <a:avLst/>
          </a:prstGeom>
          <a:noFill/>
          <a:ln/>
        </p:spPr>
        <p:txBody>
          <a:bodyPr wrap="square" lIns="0" tIns="0" rIns="0" bIns="0" rtlCol="0" anchor="t">
            <a:normAutofit/>
          </a:bodyPr>
          <a:lstStyle/>
          <a:p>
            <a:pPr marL="0" indent="0" algn="l">
              <a:lnSpc>
                <a:spcPts val="1020"/>
              </a:lnSpc>
              <a:buNone/>
            </a:pPr>
            <a:r>
              <a:rPr lang="en-US" sz="800" dirty="0">
                <a:solidFill>
                  <a:srgbClr val="5A6485"/>
                </a:solidFill>
                <a:latin typeface="Carlito" pitchFamily="34" charset="0"/>
                <a:ea typeface="Carlito" pitchFamily="34" charset="-122"/>
                <a:cs typeface="Carlito" pitchFamily="34" charset="-120"/>
              </a:rPr>
              <a:t>Reject duplicates and custom rule violations</a:t>
            </a:r>
            <a:endParaRPr lang="en-US" sz="800" dirty="0"/>
          </a:p>
        </p:txBody>
      </p:sp>
      <p:sp>
        <p:nvSpPr>
          <p:cNvPr id="35" name="Text 33"/>
          <p:cNvSpPr/>
          <p:nvPr/>
        </p:nvSpPr>
        <p:spPr>
          <a:xfrm>
            <a:off x="5594226" y="3011378"/>
            <a:ext cx="1287326" cy="354969"/>
          </a:xfrm>
          <a:prstGeom prst="roundRect">
            <a:avLst>
              <a:gd name="adj" fmla="val 26324"/>
            </a:avLst>
          </a:prstGeom>
          <a:solidFill>
            <a:srgbClr val="0F172A"/>
          </a:solidFill>
          <a:ln w="7144">
            <a:solidFill>
              <a:srgbClr val="1E293B"/>
            </a:solidFill>
            <a:prstDash val="solid"/>
          </a:ln>
        </p:spPr>
        <p:txBody>
          <a:bodyPr wrap="square" rtlCol="0" anchor="ctr"/>
          <a:lstStyle/>
          <a:p>
            <a:pPr marL="0" indent="0">
              <a:buNone/>
            </a:pPr>
            <a:endParaRPr lang="en-US" dirty="0"/>
          </a:p>
        </p:txBody>
      </p:sp>
      <p:sp>
        <p:nvSpPr>
          <p:cNvPr id="36" name="Text 34"/>
          <p:cNvSpPr/>
          <p:nvPr/>
        </p:nvSpPr>
        <p:spPr>
          <a:xfrm>
            <a:off x="5590654" y="3011378"/>
            <a:ext cx="1294470" cy="556926"/>
          </a:xfrm>
          <a:prstGeom prst="rect">
            <a:avLst/>
          </a:prstGeom>
          <a:noFill/>
          <a:ln/>
        </p:spPr>
        <p:txBody>
          <a:bodyPr wrap="square" lIns="64294" tIns="50006" rIns="64294" bIns="50006" rtlCol="0" anchor="t"/>
          <a:lstStyle/>
          <a:p>
            <a:pPr marL="0" indent="0" algn="l">
              <a:lnSpc>
                <a:spcPts val="866"/>
              </a:lnSpc>
              <a:buNone/>
            </a:pPr>
            <a:r>
              <a:rPr lang="en-US" sz="800" dirty="0">
                <a:solidFill>
                  <a:srgbClr val="E2E8F0"/>
                </a:solidFill>
                <a:latin typeface="Courier New" pitchFamily="34" charset="0"/>
                <a:ea typeface="Courier New" pitchFamily="34" charset="-122"/>
                <a:cs typeface="Courier New" pitchFamily="34" charset="-120"/>
              </a:rPr>
              <a:t>email </a:t>
            </a:r>
            <a:r>
              <a:rPr lang="en-US" sz="800" dirty="0">
                <a:solidFill>
                  <a:srgbClr val="F472B6"/>
                </a:solidFill>
                <a:latin typeface="Courier New" pitchFamily="34" charset="0"/>
                <a:ea typeface="Courier New" pitchFamily="34" charset="-122"/>
                <a:cs typeface="Courier New" pitchFamily="34" charset="-120"/>
              </a:rPr>
              <a:t>VARCHAR</a:t>
            </a:r>
            <a:r>
              <a:rPr lang="en-US" sz="800" dirty="0">
                <a:solidFill>
                  <a:srgbClr val="E2E8F0"/>
                </a:solidFill>
                <a:latin typeface="Courier New" pitchFamily="34" charset="0"/>
                <a:ea typeface="Courier New" pitchFamily="34" charset="-122"/>
                <a:cs typeface="Courier New" pitchFamily="34" charset="-120"/>
              </a:rPr>
              <a:t>(</a:t>
            </a:r>
            <a:r>
              <a:rPr lang="en-US" sz="800" dirty="0">
                <a:solidFill>
                  <a:srgbClr val="FBBF24"/>
                </a:solidFill>
                <a:latin typeface="Liberation Sans Narrow" pitchFamily="34" charset="0"/>
                <a:ea typeface="Liberation Sans Narrow" pitchFamily="34" charset="-122"/>
                <a:cs typeface="Liberation Sans Narrow" pitchFamily="34" charset="-120"/>
              </a:rPr>
              <a:t>150</a:t>
            </a:r>
            <a:r>
              <a:rPr lang="en-US" sz="800" dirty="0">
                <a:solidFill>
                  <a:srgbClr val="E2E8F0"/>
                </a:solidFill>
                <a:latin typeface="Courier New" pitchFamily="34" charset="0"/>
                <a:ea typeface="Courier New" pitchFamily="34" charset="-122"/>
                <a:cs typeface="Courier New" pitchFamily="34" charset="-120"/>
              </a:rPr>
              <a:t>) </a:t>
            </a:r>
            <a:r>
              <a:rPr lang="en-US" sz="800" dirty="0">
                <a:solidFill>
                  <a:srgbClr val="F472B6"/>
                </a:solidFill>
                <a:latin typeface="Courier New" pitchFamily="34" charset="0"/>
                <a:ea typeface="Courier New" pitchFamily="34" charset="-122"/>
                <a:cs typeface="Courier New" pitchFamily="34" charset="-120"/>
              </a:rPr>
              <a:t>UNIQUE</a:t>
            </a:r>
            <a:endParaRPr lang="en-US" sz="800" dirty="0"/>
          </a:p>
        </p:txBody>
      </p:sp>
      <p:sp>
        <p:nvSpPr>
          <p:cNvPr id="37" name="Text 35"/>
          <p:cNvSpPr/>
          <p:nvPr/>
        </p:nvSpPr>
        <p:spPr>
          <a:xfrm>
            <a:off x="7124440" y="1275159"/>
            <a:ext cx="1558677" cy="2293144"/>
          </a:xfrm>
          <a:prstGeom prst="roundRect">
            <a:avLst>
              <a:gd name="adj" fmla="val 8555"/>
            </a:avLst>
          </a:prstGeom>
          <a:solidFill>
            <a:srgbClr val="FFFFFF"/>
          </a:solidFill>
          <a:ln w="7144">
            <a:solidFill>
              <a:srgbClr val="DDE2F0"/>
            </a:solidFill>
            <a:prstDash val="solid"/>
          </a:ln>
          <a:effectLst>
            <a:outerShdw blurRad="133350" dist="38100" dir="5400000" algn="bl" rotWithShape="0">
              <a:srgbClr val="0F172A">
                <a:alpha val="6000"/>
              </a:srgbClr>
            </a:outerShdw>
          </a:effectLst>
        </p:spPr>
        <p:txBody>
          <a:bodyPr wrap="square" rtlCol="0" anchor="ctr"/>
          <a:lstStyle/>
          <a:p>
            <a:pPr marL="0" indent="0">
              <a:buNone/>
            </a:pPr>
            <a:endParaRPr lang="en-US" dirty="0"/>
          </a:p>
        </p:txBody>
      </p:sp>
      <p:sp>
        <p:nvSpPr>
          <p:cNvPr id="38" name="Text 36"/>
          <p:cNvSpPr/>
          <p:nvPr/>
        </p:nvSpPr>
        <p:spPr>
          <a:xfrm>
            <a:off x="7256599" y="1407319"/>
            <a:ext cx="1294358" cy="147590"/>
          </a:xfrm>
          <a:prstGeom prst="rect">
            <a:avLst/>
          </a:prstGeom>
          <a:noFill/>
          <a:ln/>
        </p:spPr>
        <p:txBody>
          <a:bodyPr wrap="none" lIns="0" tIns="0" rIns="0" bIns="0" rtlCol="0" anchor="t">
            <a:normAutofit/>
          </a:bodyPr>
          <a:lstStyle/>
          <a:p>
            <a:pPr marL="0" indent="0" algn="l">
              <a:lnSpc>
                <a:spcPts val="928"/>
              </a:lnSpc>
              <a:buNone/>
            </a:pPr>
            <a:r>
              <a:rPr lang="en-US" sz="800" b="1" kern="0" spc="62" dirty="0">
                <a:solidFill>
                  <a:srgbClr val="D97706"/>
                </a:solidFill>
                <a:latin typeface="Liberation Sans Narrow" pitchFamily="34" charset="0"/>
                <a:ea typeface="Liberation Sans Narrow" pitchFamily="34" charset="-122"/>
                <a:cs typeface="Liberation Sans Narrow" pitchFamily="34" charset="-120"/>
              </a:rPr>
              <a:t>05</a:t>
            </a:r>
            <a:endParaRPr lang="en-US" sz="800" dirty="0"/>
          </a:p>
        </p:txBody>
      </p:sp>
      <p:sp>
        <p:nvSpPr>
          <p:cNvPr id="39" name="Text 37"/>
          <p:cNvSpPr/>
          <p:nvPr/>
        </p:nvSpPr>
        <p:spPr>
          <a:xfrm>
            <a:off x="7256599" y="1582341"/>
            <a:ext cx="285750" cy="285750"/>
          </a:xfrm>
          <a:prstGeom prst="roundRect">
            <a:avLst>
              <a:gd name="adj" fmla="val 33333"/>
            </a:avLst>
          </a:prstGeom>
          <a:solidFill>
            <a:srgbClr val="E3E6F4"/>
          </a:solidFill>
          <a:ln/>
        </p:spPr>
        <p:txBody>
          <a:bodyPr wrap="square" rtlCol="0" anchor="ctr"/>
          <a:lstStyle/>
          <a:p>
            <a:pPr marL="0" indent="0">
              <a:buNone/>
            </a:pPr>
            <a:endParaRPr lang="en-US" dirty="0"/>
          </a:p>
        </p:txBody>
      </p:sp>
      <p:sp>
        <p:nvSpPr>
          <p:cNvPr id="40" name="Text 38"/>
          <p:cNvSpPr/>
          <p:nvPr/>
        </p:nvSpPr>
        <p:spPr>
          <a:xfrm>
            <a:off x="7275173" y="1600914"/>
            <a:ext cx="248602" cy="248602"/>
          </a:xfrm>
          <a:prstGeom prst="rect">
            <a:avLst/>
          </a:prstGeom>
          <a:noFill/>
          <a:ln/>
        </p:spPr>
        <p:txBody>
          <a:bodyPr wrap="none" lIns="0" tIns="0" rIns="0" bIns="0" rtlCol="0" anchor="ctr"/>
          <a:lstStyle/>
          <a:p>
            <a:pPr marL="0" indent="0" algn="ctr">
              <a:buNone/>
            </a:pPr>
            <a:r>
              <a:rPr lang="en-US" sz="1688" dirty="0">
                <a:solidFill>
                  <a:srgbClr val="1E2A78"/>
                </a:solidFill>
                <a:latin typeface="Segoe UI Symbol" pitchFamily="34" charset="0"/>
                <a:ea typeface="Segoe UI Symbol" pitchFamily="34" charset="-122"/>
                <a:cs typeface="Segoe UI Symbol" pitchFamily="34" charset="-120"/>
              </a:rPr>
              <a:t>⚿</a:t>
            </a:r>
            <a:endParaRPr lang="en-US" sz="1688" dirty="0"/>
          </a:p>
        </p:txBody>
      </p:sp>
      <p:sp>
        <p:nvSpPr>
          <p:cNvPr id="41" name="Text 39"/>
          <p:cNvSpPr/>
          <p:nvPr/>
        </p:nvSpPr>
        <p:spPr>
          <a:xfrm>
            <a:off x="7256599" y="1925241"/>
            <a:ext cx="1294358" cy="393478"/>
          </a:xfrm>
          <a:prstGeom prst="rect">
            <a:avLst/>
          </a:prstGeom>
          <a:noFill/>
          <a:ln/>
        </p:spPr>
        <p:txBody>
          <a:bodyPr wrap="none" lIns="0" tIns="0" rIns="0" bIns="0" rtlCol="0" anchor="t"/>
          <a:lstStyle/>
          <a:p>
            <a:pPr marL="0" indent="0" algn="l">
              <a:lnSpc>
                <a:spcPts val="1434"/>
              </a:lnSpc>
              <a:buNone/>
            </a:pPr>
            <a:r>
              <a:rPr lang="en-US" sz="956" b="1" kern="0" spc="-10" dirty="0">
                <a:solidFill>
                  <a:srgbClr val="0B1736"/>
                </a:solidFill>
                <a:latin typeface="Carlito" pitchFamily="34" charset="0"/>
                <a:ea typeface="Carlito" pitchFamily="34" charset="-122"/>
                <a:cs typeface="Carlito" pitchFamily="34" charset="-120"/>
              </a:rPr>
              <a:t>PRIMARY / FOREIGN KEY</a:t>
            </a:r>
            <a:endParaRPr lang="en-US" sz="956" dirty="0"/>
          </a:p>
        </p:txBody>
      </p:sp>
      <p:sp>
        <p:nvSpPr>
          <p:cNvPr id="42" name="Text 40"/>
          <p:cNvSpPr/>
          <p:nvPr/>
        </p:nvSpPr>
        <p:spPr>
          <a:xfrm>
            <a:off x="7256599" y="2346722"/>
            <a:ext cx="1372020" cy="756371"/>
          </a:xfrm>
          <a:prstGeom prst="rect">
            <a:avLst/>
          </a:prstGeom>
          <a:noFill/>
          <a:ln/>
        </p:spPr>
        <p:txBody>
          <a:bodyPr wrap="square" lIns="0" tIns="0" rIns="0" bIns="0" rtlCol="0" anchor="t">
            <a:normAutofit/>
          </a:bodyPr>
          <a:lstStyle/>
          <a:p>
            <a:pPr marL="0" indent="0" algn="l">
              <a:lnSpc>
                <a:spcPts val="1020"/>
              </a:lnSpc>
              <a:buNone/>
            </a:pPr>
            <a:r>
              <a:rPr lang="en-US" sz="800" dirty="0">
                <a:solidFill>
                  <a:srgbClr val="5A6485"/>
                </a:solidFill>
                <a:latin typeface="Carlito" pitchFamily="34" charset="0"/>
                <a:ea typeface="Carlito" pitchFamily="34" charset="-122"/>
                <a:cs typeface="Carlito" pitchFamily="34" charset="-120"/>
              </a:rPr>
              <a:t>Identify rows and link tables — </a:t>
            </a:r>
            <a:r>
              <a:rPr lang="en-US" sz="800" dirty="0">
                <a:solidFill>
                  <a:srgbClr val="5A6485"/>
                </a:solidFill>
                <a:latin typeface="Courier New" pitchFamily="34" charset="0"/>
                <a:ea typeface="Courier New" pitchFamily="34" charset="-122"/>
                <a:cs typeface="Courier New" pitchFamily="34" charset="-120"/>
              </a:rPr>
              <a:t>ON DELETE</a:t>
            </a:r>
            <a:r>
              <a:rPr lang="en-US" sz="800" dirty="0">
                <a:solidFill>
                  <a:srgbClr val="5A6485"/>
                </a:solidFill>
                <a:latin typeface="Carlito" pitchFamily="34" charset="0"/>
                <a:ea typeface="Carlito" pitchFamily="34" charset="-122"/>
                <a:cs typeface="Carlito" pitchFamily="34" charset="-120"/>
              </a:rPr>
              <a:t> actions</a:t>
            </a:r>
            <a:endParaRPr lang="en-US" sz="800" dirty="0"/>
          </a:p>
        </p:txBody>
      </p:sp>
      <p:sp>
        <p:nvSpPr>
          <p:cNvPr id="43" name="Text 41"/>
          <p:cNvSpPr/>
          <p:nvPr/>
        </p:nvSpPr>
        <p:spPr>
          <a:xfrm>
            <a:off x="7260171" y="3011378"/>
            <a:ext cx="1287214" cy="354969"/>
          </a:xfrm>
          <a:prstGeom prst="roundRect">
            <a:avLst>
              <a:gd name="adj" fmla="val 17474"/>
            </a:avLst>
          </a:prstGeom>
          <a:solidFill>
            <a:srgbClr val="0F172A"/>
          </a:solidFill>
          <a:ln w="7144">
            <a:solidFill>
              <a:srgbClr val="1E293B"/>
            </a:solidFill>
            <a:prstDash val="solid"/>
          </a:ln>
        </p:spPr>
        <p:txBody>
          <a:bodyPr wrap="square" rtlCol="0" anchor="ctr"/>
          <a:lstStyle/>
          <a:p>
            <a:pPr marL="0" indent="0">
              <a:buNone/>
            </a:pPr>
            <a:endParaRPr lang="en-US" dirty="0"/>
          </a:p>
        </p:txBody>
      </p:sp>
      <p:sp>
        <p:nvSpPr>
          <p:cNvPr id="44" name="Text 42"/>
          <p:cNvSpPr/>
          <p:nvPr/>
        </p:nvSpPr>
        <p:spPr>
          <a:xfrm>
            <a:off x="7256599" y="3011378"/>
            <a:ext cx="1294358" cy="370035"/>
          </a:xfrm>
          <a:prstGeom prst="rect">
            <a:avLst/>
          </a:prstGeom>
          <a:noFill/>
          <a:ln/>
        </p:spPr>
        <p:txBody>
          <a:bodyPr wrap="square" lIns="64294" tIns="50006" rIns="64294" bIns="50006" rtlCol="0" anchor="t"/>
          <a:lstStyle/>
          <a:p>
            <a:pPr marL="0" indent="0" algn="l">
              <a:lnSpc>
                <a:spcPts val="866"/>
              </a:lnSpc>
              <a:buNone/>
            </a:pPr>
            <a:r>
              <a:rPr lang="en-US" sz="800" dirty="0">
                <a:solidFill>
                  <a:srgbClr val="F472B6"/>
                </a:solidFill>
                <a:latin typeface="Courier New" pitchFamily="34" charset="0"/>
                <a:ea typeface="Courier New" pitchFamily="34" charset="-122"/>
                <a:cs typeface="Courier New" pitchFamily="34" charset="-120"/>
              </a:rPr>
              <a:t>REFERENCES</a:t>
            </a:r>
            <a:r>
              <a:rPr lang="en-US" sz="800" dirty="0">
                <a:solidFill>
                  <a:srgbClr val="E2E8F0"/>
                </a:solidFill>
                <a:latin typeface="Courier New" pitchFamily="34" charset="0"/>
                <a:ea typeface="Courier New" pitchFamily="34" charset="-122"/>
                <a:cs typeface="Courier New" pitchFamily="34" charset="-120"/>
              </a:rPr>
              <a:t> parent(id) </a:t>
            </a:r>
            <a:r>
              <a:rPr lang="en-US" sz="800" dirty="0">
                <a:solidFill>
                  <a:srgbClr val="F472B6"/>
                </a:solidFill>
                <a:latin typeface="Courier New" pitchFamily="34" charset="0"/>
                <a:ea typeface="Courier New" pitchFamily="34" charset="-122"/>
                <a:cs typeface="Courier New" pitchFamily="34" charset="-120"/>
              </a:rPr>
              <a:t>ON DELETE RESTRICT</a:t>
            </a:r>
            <a:endParaRPr lang="en-US" sz="800" dirty="0"/>
          </a:p>
        </p:txBody>
      </p:sp>
      <p:sp>
        <p:nvSpPr>
          <p:cNvPr id="45" name="Text 43"/>
          <p:cNvSpPr/>
          <p:nvPr/>
        </p:nvSpPr>
        <p:spPr>
          <a:xfrm>
            <a:off x="457200" y="4897041"/>
            <a:ext cx="8062503" cy="164592"/>
          </a:xfrm>
          <a:prstGeom prst="rect">
            <a:avLst/>
          </a:prstGeom>
          <a:noFill/>
          <a:ln/>
        </p:spPr>
        <p:txBody>
          <a:bodyPr wrap="square" lIns="0" tIns="0" rIns="0" bIns="0" rtlCol="0" anchor="t"/>
          <a:lstStyle/>
          <a:p>
            <a:pPr marL="0" indent="0" algn="l">
              <a:lnSpc>
                <a:spcPts val="928"/>
              </a:lnSpc>
              <a:buNone/>
            </a:pPr>
            <a:r>
              <a:rPr lang="en-US" sz="800" kern="0" spc="50" dirty="0">
                <a:solidFill>
                  <a:srgbClr val="5A6485"/>
                </a:solidFill>
                <a:latin typeface="Liberation Sans Narrow" pitchFamily="34" charset="0"/>
                <a:ea typeface="Liberation Sans Narrow" pitchFamily="34" charset="-122"/>
                <a:cs typeface="Liberation Sans Narrow" pitchFamily="34" charset="-120"/>
              </a:rPr>
              <a:t>RETAILMART V3 · DAY 4</a:t>
            </a:r>
            <a:endParaRPr lang="en-US" sz="800" dirty="0"/>
          </a:p>
        </p:txBody>
      </p:sp>
      <p:sp>
        <p:nvSpPr>
          <p:cNvPr id="46" name="Text 44"/>
          <p:cNvSpPr/>
          <p:nvPr/>
        </p:nvSpPr>
        <p:spPr>
          <a:xfrm>
            <a:off x="8533991" y="4897041"/>
            <a:ext cx="379796" cy="164592"/>
          </a:xfrm>
          <a:prstGeom prst="rect">
            <a:avLst/>
          </a:prstGeom>
          <a:noFill/>
          <a:ln/>
        </p:spPr>
        <p:txBody>
          <a:bodyPr wrap="none" lIns="0" tIns="0" rIns="0" bIns="0" rtlCol="0" anchor="t"/>
          <a:lstStyle/>
          <a:p>
            <a:pPr marL="0" indent="0" algn="l">
              <a:lnSpc>
                <a:spcPts val="928"/>
              </a:lnSpc>
              <a:buNone/>
            </a:pPr>
            <a:r>
              <a:rPr lang="en-US" sz="800" kern="0" spc="50" dirty="0">
                <a:solidFill>
                  <a:srgbClr val="5A6485"/>
                </a:solidFill>
                <a:latin typeface="Liberation Sans Narrow" pitchFamily="34" charset="0"/>
                <a:ea typeface="Liberation Sans Narrow" pitchFamily="34" charset="-122"/>
                <a:cs typeface="Liberation Sans Narrow" pitchFamily="34" charset="-120"/>
              </a:rPr>
              <a:t>3 / 54</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8428844" y="257175"/>
            <a:ext cx="528313"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5A6485"/>
                </a:solidFill>
                <a:latin typeface="Carlito" pitchFamily="34" charset="0"/>
                <a:ea typeface="Carlito" pitchFamily="34" charset="-122"/>
                <a:cs typeface="Carlito" pitchFamily="34" charset="-120"/>
              </a:rPr>
              <a:t>AGENDA</a:t>
            </a:r>
            <a:endParaRPr lang="en-US" sz="800" dirty="0"/>
          </a:p>
        </p:txBody>
      </p:sp>
      <p:sp>
        <p:nvSpPr>
          <p:cNvPr id="3" name="Text 1"/>
          <p:cNvSpPr/>
          <p:nvPr/>
        </p:nvSpPr>
        <p:spPr>
          <a:xfrm>
            <a:off x="457200" y="428625"/>
            <a:ext cx="8636000" cy="315468"/>
          </a:xfrm>
          <a:prstGeom prst="rect">
            <a:avLst/>
          </a:prstGeom>
          <a:noFill/>
          <a:ln/>
        </p:spPr>
        <p:txBody>
          <a:bodyPr wrap="none" lIns="0" tIns="0" rIns="0" bIns="0" rtlCol="0" anchor="t">
            <a:normAutofit fontScale="85000" lnSpcReduction="10000"/>
          </a:bodyPr>
          <a:lstStyle/>
          <a:p>
            <a:pPr marL="0" indent="0" algn="l">
              <a:lnSpc>
                <a:spcPts val="2475"/>
              </a:lnSpc>
              <a:buNone/>
            </a:pPr>
            <a:r>
              <a:rPr lang="en-US" sz="2250" b="1" kern="0" spc="-34" dirty="0">
                <a:solidFill>
                  <a:srgbClr val="0B1736"/>
                </a:solidFill>
                <a:latin typeface="Carlito" pitchFamily="34" charset="0"/>
                <a:ea typeface="Carlito" pitchFamily="34" charset="-122"/>
                <a:cs typeface="Carlito" pitchFamily="34" charset="-120"/>
              </a:rPr>
              <a:t>Today's Agenda</a:t>
            </a:r>
            <a:endParaRPr lang="en-US" sz="2250" dirty="0"/>
          </a:p>
        </p:txBody>
      </p:sp>
      <p:sp>
        <p:nvSpPr>
          <p:cNvPr id="4" name="Text 2"/>
          <p:cNvSpPr/>
          <p:nvPr/>
        </p:nvSpPr>
        <p:spPr>
          <a:xfrm>
            <a:off x="457200" y="771525"/>
            <a:ext cx="8636000" cy="196739"/>
          </a:xfrm>
          <a:prstGeom prst="rect">
            <a:avLst/>
          </a:prstGeom>
          <a:noFill/>
          <a:ln/>
        </p:spPr>
        <p:txBody>
          <a:bodyPr wrap="square" lIns="0" tIns="0" rIns="0" bIns="0" rtlCol="0" anchor="t"/>
          <a:lstStyle/>
          <a:p>
            <a:pPr marL="0" indent="0" algn="l">
              <a:lnSpc>
                <a:spcPts val="1434"/>
              </a:lnSpc>
              <a:buNone/>
            </a:pPr>
            <a:r>
              <a:rPr lang="en-US" sz="956" dirty="0">
                <a:solidFill>
                  <a:srgbClr val="5A6485"/>
                </a:solidFill>
                <a:latin typeface="Carlito" pitchFamily="34" charset="0"/>
                <a:ea typeface="Carlito" pitchFamily="34" charset="-122"/>
                <a:cs typeface="Carlito" pitchFamily="34" charset="-120"/>
              </a:rPr>
              <a:t>2 hours · 6 sections · 2 practice blocks</a:t>
            </a:r>
            <a:endParaRPr lang="en-US" sz="956"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2519366"/>
        </p:xfrm>
        <a:graphic>
          <a:graphicData uri="http://schemas.openxmlformats.org/drawingml/2006/table">
            <a:tbl>
              <a:tblPr/>
              <a:tblGrid>
                <a:gridCol w="3127177">
                  <a:extLst>
                    <a:ext uri="{9D8B030D-6E8A-4147-A177-3AD203B41FA5}">
                      <a16:colId xmlns:a16="http://schemas.microsoft.com/office/drawing/2014/main" val="20000"/>
                    </a:ext>
                  </a:extLst>
                </a:gridCol>
                <a:gridCol w="1152041">
                  <a:extLst>
                    <a:ext uri="{9D8B030D-6E8A-4147-A177-3AD203B41FA5}">
                      <a16:colId xmlns:a16="http://schemas.microsoft.com/office/drawing/2014/main" val="20001"/>
                    </a:ext>
                  </a:extLst>
                </a:gridCol>
                <a:gridCol w="3950382">
                  <a:extLst>
                    <a:ext uri="{9D8B030D-6E8A-4147-A177-3AD203B41FA5}">
                      <a16:colId xmlns:a16="http://schemas.microsoft.com/office/drawing/2014/main" val="20002"/>
                    </a:ext>
                  </a:extLst>
                </a:gridCol>
              </a:tblGrid>
              <a:tr h="0">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Section</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A78"/>
                    </a:solidFill>
                  </a:tcPr>
                </a:tc>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Time</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A78"/>
                    </a:solidFill>
                  </a:tcPr>
                </a:tc>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Topics</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A78"/>
                    </a:solidFill>
                  </a:tcPr>
                </a:tc>
                <a:extLst>
                  <a:ext uri="{0D108BD9-81ED-4DB2-BD59-A6C34878D82A}">
                    <a16:rowId xmlns:a16="http://schemas.microsoft.com/office/drawing/2014/main" val="10000"/>
                  </a:ext>
                </a:extLst>
              </a:tr>
              <a:tr h="0">
                <a:tc>
                  <a:txBody>
                    <a:bodyPr/>
                    <a:lstStyle/>
                    <a:p>
                      <a:pPr marL="0" indent="0" algn="l">
                        <a:buNone/>
                      </a:pPr>
                      <a:r>
                        <a:rPr lang="en-US" sz="800" dirty="0">
                          <a:solidFill>
                            <a:srgbClr val="0B1736"/>
                          </a:solidFill>
                          <a:latin typeface="Carlito" pitchFamily="34" charset="0"/>
                          <a:ea typeface="Carlito" pitchFamily="34" charset="-122"/>
                          <a:cs typeface="Carlito" pitchFamily="34" charset="-120"/>
                        </a:rPr>
                        <a:t>Quick Recap — DDL + DML</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D97706"/>
                          </a:solidFill>
                          <a:latin typeface="Courier New" pitchFamily="34" charset="0"/>
                          <a:ea typeface="Courier New" pitchFamily="34" charset="-122"/>
                          <a:cs typeface="Courier New" pitchFamily="34" charset="-120"/>
                        </a:rPr>
                        <a:t>5 mins</a:t>
                      </a:r>
                      <a:endParaRPr lang="en-US" sz="800" dirty="0">
                        <a:latin typeface="Courier New" charset="0"/>
                        <a:ea typeface="Courier New" charset="0"/>
                        <a:cs typeface="Courier New"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You built TEXT-only tables, INSERT/UPDATE/DELETE/TRUNCATE, why all-TEXT hurt</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800" dirty="0">
                          <a:solidFill>
                            <a:srgbClr val="0B1736"/>
                          </a:solidFill>
                          <a:latin typeface="Carlito" pitchFamily="34" charset="0"/>
                          <a:ea typeface="Carlito" pitchFamily="34" charset="-122"/>
                          <a:cs typeface="Carlito" pitchFamily="34" charset="-120"/>
                        </a:rPr>
                        <a:t>Topic 1: Data Types</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D97706"/>
                          </a:solidFill>
                          <a:latin typeface="Courier New" pitchFamily="34" charset="0"/>
                          <a:ea typeface="Courier New" pitchFamily="34" charset="-122"/>
                          <a:cs typeface="Courier New" pitchFamily="34" charset="-120"/>
                        </a:rPr>
                        <a:t>40 mins</a:t>
                      </a:r>
                      <a:endParaRPr lang="en-US" sz="800" dirty="0">
                        <a:latin typeface="Courier New" charset="0"/>
                        <a:ea typeface="Courier New" charset="0"/>
                        <a:cs typeface="Courier New"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Numeric, Text, Date/Time, Boolean, Special, the Type Decision Framework, ALTER TEXT → proper types with USING</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800" dirty="0">
                          <a:solidFill>
                            <a:srgbClr val="0B1736"/>
                          </a:solidFill>
                          <a:latin typeface="Carlito" pitchFamily="34" charset="0"/>
                          <a:ea typeface="Carlito" pitchFamily="34" charset="-122"/>
                          <a:cs typeface="Carlito" pitchFamily="34" charset="-120"/>
                        </a:rPr>
                        <a:t>Practice Block 1 — Data Types</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D97706"/>
                          </a:solidFill>
                          <a:latin typeface="Courier New" pitchFamily="34" charset="0"/>
                          <a:ea typeface="Courier New" pitchFamily="34" charset="-122"/>
                          <a:cs typeface="Courier New" pitchFamily="34" charset="-120"/>
                        </a:rPr>
                        <a:t>25 mins</a:t>
                      </a:r>
                      <a:endParaRPr lang="en-US" sz="800" dirty="0">
                        <a:latin typeface="Courier New" charset="0"/>
                        <a:ea typeface="Courier New" charset="0"/>
                        <a:cs typeface="Courier New"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4 problems: pick types, fix wrong types, ALTER TEXT columns</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800" dirty="0">
                          <a:solidFill>
                            <a:srgbClr val="0B1736"/>
                          </a:solidFill>
                          <a:latin typeface="Carlito" pitchFamily="34" charset="0"/>
                          <a:ea typeface="Carlito" pitchFamily="34" charset="-122"/>
                          <a:cs typeface="Carlito" pitchFamily="34" charset="-120"/>
                        </a:rPr>
                        <a:t>Topic 2: Constraints &amp; Keys</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D97706"/>
                          </a:solidFill>
                          <a:latin typeface="Courier New" pitchFamily="34" charset="0"/>
                          <a:ea typeface="Courier New" pitchFamily="34" charset="-122"/>
                          <a:cs typeface="Courier New" pitchFamily="34" charset="-120"/>
                        </a:rPr>
                        <a:t>45 mins</a:t>
                      </a:r>
                      <a:endParaRPr lang="en-US" sz="800" dirty="0">
                        <a:latin typeface="Courier New" charset="0"/>
                        <a:ea typeface="Courier New" charset="0"/>
                        <a:cs typeface="Courier New"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NOT NULL, DEFAULT, UNIQUE, CHECK, PRIMARY KEY, FOREIGN KEY, ON DELETE RESTRICT / CASCADE / SET NULL</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lgn="l">
                        <a:buNone/>
                      </a:pPr>
                      <a:r>
                        <a:rPr lang="en-US" sz="800" dirty="0">
                          <a:solidFill>
                            <a:srgbClr val="0B1736"/>
                          </a:solidFill>
                          <a:latin typeface="Carlito" pitchFamily="34" charset="0"/>
                          <a:ea typeface="Carlito" pitchFamily="34" charset="-122"/>
                          <a:cs typeface="Carlito" pitchFamily="34" charset="-120"/>
                        </a:rPr>
                        <a:t>Practice Block 2 — Constraints</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D97706"/>
                          </a:solidFill>
                          <a:latin typeface="Courier New" pitchFamily="34" charset="0"/>
                          <a:ea typeface="Courier New" pitchFamily="34" charset="-122"/>
                          <a:cs typeface="Courier New" pitchFamily="34" charset="-120"/>
                        </a:rPr>
                        <a:t>25 mins</a:t>
                      </a:r>
                      <a:endParaRPr lang="en-US" sz="800" dirty="0">
                        <a:latin typeface="Courier New" charset="0"/>
                        <a:ea typeface="Courier New" charset="0"/>
                        <a:cs typeface="Courier New"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4 problems: enforce rules, link tables, demo violations</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lgn="l">
                        <a:buNone/>
                      </a:pPr>
                      <a:r>
                        <a:rPr lang="en-US" sz="800" dirty="0">
                          <a:solidFill>
                            <a:srgbClr val="0B1736"/>
                          </a:solidFill>
                          <a:latin typeface="Carlito" pitchFamily="34" charset="0"/>
                          <a:ea typeface="Carlito" pitchFamily="34" charset="-122"/>
                          <a:cs typeface="Carlito" pitchFamily="34" charset="-120"/>
                        </a:rPr>
                        <a:t>Wrap-up</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D97706"/>
                          </a:solidFill>
                          <a:latin typeface="Courier New" pitchFamily="34" charset="0"/>
                          <a:ea typeface="Courier New" pitchFamily="34" charset="-122"/>
                          <a:cs typeface="Courier New" pitchFamily="34" charset="-120"/>
                        </a:rPr>
                        <a:t>10 mins</a:t>
                      </a:r>
                      <a:endParaRPr lang="en-US" sz="800" dirty="0">
                        <a:latin typeface="Courier New" charset="0"/>
                        <a:ea typeface="Courier New" charset="0"/>
                        <a:cs typeface="Courier New"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Summary, self-check, homework, Filtering &amp; Sorting preview</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Text 3"/>
          <p:cNvSpPr/>
          <p:nvPr/>
        </p:nvSpPr>
        <p:spPr>
          <a:xfrm>
            <a:off x="457200" y="3907631"/>
            <a:ext cx="428625" cy="14288"/>
          </a:xfrm>
          <a:prstGeom prst="roundRect">
            <a:avLst>
              <a:gd name="adj" fmla="val 133329"/>
            </a:avLst>
          </a:prstGeom>
          <a:solidFill>
            <a:srgbClr val="F59E0B"/>
          </a:solidFill>
          <a:ln/>
        </p:spPr>
        <p:txBody>
          <a:bodyPr wrap="square" rtlCol="0" anchor="ctr"/>
          <a:lstStyle/>
          <a:p>
            <a:pPr marL="0" indent="0">
              <a:buNone/>
            </a:pPr>
            <a:endParaRPr lang="en-US" dirty="0"/>
          </a:p>
        </p:txBody>
      </p:sp>
      <p:sp>
        <p:nvSpPr>
          <p:cNvPr id="7" name="Text 4"/>
          <p:cNvSpPr/>
          <p:nvPr/>
        </p:nvSpPr>
        <p:spPr>
          <a:xfrm>
            <a:off x="971550" y="3850481"/>
            <a:ext cx="7715250" cy="164592"/>
          </a:xfrm>
          <a:prstGeom prst="rect">
            <a:avLst/>
          </a:prstGeom>
          <a:noFill/>
          <a:ln/>
        </p:spPr>
        <p:txBody>
          <a:bodyPr wrap="square" lIns="0" tIns="0" rIns="0" bIns="0" rtlCol="0" anchor="t"/>
          <a:lstStyle/>
          <a:p>
            <a:pPr marL="0" indent="0" algn="l">
              <a:lnSpc>
                <a:spcPts val="1013"/>
              </a:lnSpc>
              <a:buNone/>
            </a:pPr>
            <a:r>
              <a:rPr lang="en-US" sz="800" dirty="0">
                <a:solidFill>
                  <a:srgbClr val="5A6485"/>
                </a:solidFill>
                <a:latin typeface="Carlito" pitchFamily="34" charset="0"/>
                <a:ea typeface="Carlito" pitchFamily="34" charset="-122"/>
                <a:cs typeface="Carlito" pitchFamily="34" charset="-120"/>
              </a:rPr>
              <a:t>All practice in your </a:t>
            </a:r>
            <a:r>
              <a:rPr lang="en-US" sz="800" dirty="0">
                <a:solidFill>
                  <a:srgbClr val="1E2A78"/>
                </a:solidFill>
                <a:latin typeface="Courier New" pitchFamily="34" charset="0"/>
                <a:ea typeface="Courier New" pitchFamily="34" charset="-122"/>
                <a:cs typeface="Courier New" pitchFamily="34" charset="-120"/>
              </a:rPr>
              <a:t>accio_NN</a:t>
            </a:r>
            <a:r>
              <a:rPr lang="en-US" sz="800" dirty="0">
                <a:solidFill>
                  <a:srgbClr val="5A6485"/>
                </a:solidFill>
                <a:latin typeface="Carlito" pitchFamily="34" charset="0"/>
                <a:ea typeface="Carlito" pitchFamily="34" charset="-122"/>
                <a:cs typeface="Carlito" pitchFamily="34" charset="-120"/>
              </a:rPr>
              <a:t> schema — share your screen if you want a code review.</a:t>
            </a:r>
            <a:endParaRPr lang="en-US" sz="800" dirty="0"/>
          </a:p>
        </p:txBody>
      </p:sp>
      <p:sp>
        <p:nvSpPr>
          <p:cNvPr id="8" name="Text 5"/>
          <p:cNvSpPr/>
          <p:nvPr/>
        </p:nvSpPr>
        <p:spPr>
          <a:xfrm>
            <a:off x="457200" y="4897041"/>
            <a:ext cx="8062503" cy="164592"/>
          </a:xfrm>
          <a:prstGeom prst="rect">
            <a:avLst/>
          </a:prstGeom>
          <a:noFill/>
          <a:ln/>
        </p:spPr>
        <p:txBody>
          <a:bodyPr wrap="square" lIns="0" tIns="0" rIns="0" bIns="0" rtlCol="0" anchor="t"/>
          <a:lstStyle/>
          <a:p>
            <a:pPr marL="0" indent="0" algn="l">
              <a:lnSpc>
                <a:spcPts val="928"/>
              </a:lnSpc>
              <a:buNone/>
            </a:pPr>
            <a:r>
              <a:rPr lang="en-US" sz="800" kern="0" spc="50" dirty="0">
                <a:solidFill>
                  <a:srgbClr val="5A6485"/>
                </a:solidFill>
                <a:latin typeface="Liberation Sans Narrow" pitchFamily="34" charset="0"/>
                <a:ea typeface="Liberation Sans Narrow" pitchFamily="34" charset="-122"/>
                <a:cs typeface="Liberation Sans Narrow" pitchFamily="34" charset="-120"/>
              </a:rPr>
              <a:t>RETAILMART V3 · DAY 4</a:t>
            </a:r>
            <a:endParaRPr lang="en-US" sz="800" dirty="0"/>
          </a:p>
        </p:txBody>
      </p:sp>
      <p:sp>
        <p:nvSpPr>
          <p:cNvPr id="9" name="Text 6"/>
          <p:cNvSpPr/>
          <p:nvPr/>
        </p:nvSpPr>
        <p:spPr>
          <a:xfrm>
            <a:off x="8533991" y="4897041"/>
            <a:ext cx="379796" cy="164592"/>
          </a:xfrm>
          <a:prstGeom prst="rect">
            <a:avLst/>
          </a:prstGeom>
          <a:noFill/>
          <a:ln/>
        </p:spPr>
        <p:txBody>
          <a:bodyPr wrap="none" lIns="0" tIns="0" rIns="0" bIns="0" rtlCol="0" anchor="t"/>
          <a:lstStyle/>
          <a:p>
            <a:pPr marL="0" indent="0" algn="l">
              <a:lnSpc>
                <a:spcPts val="928"/>
              </a:lnSpc>
              <a:buNone/>
            </a:pPr>
            <a:r>
              <a:rPr lang="en-US" sz="800" kern="0" spc="50" dirty="0">
                <a:solidFill>
                  <a:srgbClr val="5A6485"/>
                </a:solidFill>
                <a:latin typeface="Liberation Sans Narrow" pitchFamily="34" charset="0"/>
                <a:ea typeface="Liberation Sans Narrow" pitchFamily="34" charset="-122"/>
                <a:cs typeface="Liberation Sans Narrow" pitchFamily="34" charset="-120"/>
              </a:rPr>
              <a:t>4 / 54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8501063" y="257175"/>
            <a:ext cx="480060"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5A6485"/>
                </a:solidFill>
                <a:latin typeface="Carlito" pitchFamily="34" charset="0"/>
                <a:ea typeface="Carlito" pitchFamily="34" charset="-122"/>
                <a:cs typeface="Carlito" pitchFamily="34" charset="-120"/>
              </a:rPr>
              <a:t>RECAP</a:t>
            </a:r>
            <a:endParaRPr lang="en-US" sz="800" dirty="0"/>
          </a:p>
        </p:txBody>
      </p:sp>
      <p:sp>
        <p:nvSpPr>
          <p:cNvPr id="3" name="Text 1"/>
          <p:cNvSpPr/>
          <p:nvPr/>
        </p:nvSpPr>
        <p:spPr>
          <a:xfrm>
            <a:off x="457200" y="428625"/>
            <a:ext cx="8636000" cy="315468"/>
          </a:xfrm>
          <a:prstGeom prst="rect">
            <a:avLst/>
          </a:prstGeom>
          <a:noFill/>
          <a:ln/>
        </p:spPr>
        <p:txBody>
          <a:bodyPr wrap="none" lIns="0" tIns="0" rIns="0" bIns="0" rtlCol="0" anchor="t">
            <a:normAutofit fontScale="85000" lnSpcReduction="10000"/>
          </a:bodyPr>
          <a:lstStyle/>
          <a:p>
            <a:pPr marL="0" indent="0" algn="l">
              <a:lnSpc>
                <a:spcPts val="2475"/>
              </a:lnSpc>
              <a:buNone/>
            </a:pPr>
            <a:r>
              <a:rPr lang="en-US" sz="2250" b="1" kern="0" spc="-34" dirty="0">
                <a:solidFill>
                  <a:srgbClr val="0B1736"/>
                </a:solidFill>
                <a:latin typeface="Carlito" pitchFamily="34" charset="0"/>
                <a:ea typeface="Carlito" pitchFamily="34" charset="-122"/>
                <a:cs typeface="Carlito" pitchFamily="34" charset="-120"/>
              </a:rPr>
              <a:t>Where We Left Off</a:t>
            </a:r>
            <a:endParaRPr lang="en-US" sz="2250" dirty="0"/>
          </a:p>
        </p:txBody>
      </p:sp>
      <p:sp>
        <p:nvSpPr>
          <p:cNvPr id="4" name="Text 2"/>
          <p:cNvSpPr/>
          <p:nvPr/>
        </p:nvSpPr>
        <p:spPr>
          <a:xfrm>
            <a:off x="457200" y="771525"/>
            <a:ext cx="8229600" cy="185166"/>
          </a:xfrm>
          <a:prstGeom prst="rect">
            <a:avLst/>
          </a:prstGeom>
          <a:noFill/>
          <a:ln/>
        </p:spPr>
        <p:txBody>
          <a:bodyPr wrap="square" lIns="0" tIns="0" rIns="0" bIns="0" rtlCol="0" anchor="t"/>
          <a:lstStyle/>
          <a:p>
            <a:pPr marL="0" indent="0" algn="l">
              <a:lnSpc>
                <a:spcPts val="1350"/>
              </a:lnSpc>
              <a:buNone/>
            </a:pPr>
            <a:r>
              <a:rPr lang="en-US" sz="900" dirty="0">
                <a:solidFill>
                  <a:srgbClr val="5A6485"/>
                </a:solidFill>
                <a:latin typeface="Carlito" pitchFamily="34" charset="0"/>
                <a:ea typeface="Carlito" pitchFamily="34" charset="-122"/>
                <a:cs typeface="Carlito" pitchFamily="34" charset="-120"/>
              </a:rPr>
              <a:t>Yesterday's DDL + DML foundation, and the pain of all-</a:t>
            </a:r>
            <a:r>
              <a:rPr lang="en-US" sz="900" dirty="0">
                <a:solidFill>
                  <a:srgbClr val="1E2A78"/>
                </a:solidFill>
                <a:latin typeface="Courier New" pitchFamily="34" charset="0"/>
                <a:ea typeface="Courier New" pitchFamily="34" charset="-122"/>
                <a:cs typeface="Courier New" pitchFamily="34" charset="-120"/>
              </a:rPr>
              <a:t>TEXT</a:t>
            </a:r>
            <a:r>
              <a:rPr lang="en-US" sz="900" dirty="0">
                <a:solidFill>
                  <a:srgbClr val="5A6485"/>
                </a:solidFill>
                <a:latin typeface="Carlito" pitchFamily="34" charset="0"/>
                <a:ea typeface="Carlito" pitchFamily="34" charset="-122"/>
                <a:cs typeface="Carlito" pitchFamily="34" charset="-120"/>
              </a:rPr>
              <a:t>.</a:t>
            </a:r>
            <a:endParaRPr lang="en-US" sz="900" dirty="0"/>
          </a:p>
        </p:txBody>
      </p:sp>
      <p:sp>
        <p:nvSpPr>
          <p:cNvPr id="5" name="Text 3"/>
          <p:cNvSpPr/>
          <p:nvPr/>
        </p:nvSpPr>
        <p:spPr>
          <a:xfrm>
            <a:off x="460772" y="1232297"/>
            <a:ext cx="4036219" cy="1237655"/>
          </a:xfrm>
          <a:prstGeom prst="roundRect">
            <a:avLst>
              <a:gd name="adj" fmla="val 10774"/>
            </a:avLst>
          </a:prstGeom>
          <a:solidFill>
            <a:srgbClr val="FFFFFF"/>
          </a:solidFill>
          <a:ln w="7144">
            <a:solidFill>
              <a:srgbClr val="DDE2F0"/>
            </a:solidFill>
            <a:prstDash val="solid"/>
          </a:ln>
          <a:effectLst>
            <a:outerShdw blurRad="133350" dist="38100" dir="5400000" algn="bl" rotWithShape="0">
              <a:srgbClr val="0F172A">
                <a:alpha val="6000"/>
              </a:srgbClr>
            </a:outerShdw>
          </a:effectLst>
        </p:spPr>
        <p:txBody>
          <a:bodyPr wrap="square" rtlCol="0" anchor="ctr"/>
          <a:lstStyle/>
          <a:p>
            <a:pPr marL="0" indent="0">
              <a:buNone/>
            </a:pPr>
            <a:endParaRPr lang="en-US" dirty="0"/>
          </a:p>
        </p:txBody>
      </p:sp>
      <p:sp>
        <p:nvSpPr>
          <p:cNvPr id="6" name="Text 4"/>
          <p:cNvSpPr/>
          <p:nvPr/>
        </p:nvSpPr>
        <p:spPr>
          <a:xfrm>
            <a:off x="650081" y="1393031"/>
            <a:ext cx="3657600" cy="164592"/>
          </a:xfrm>
          <a:prstGeom prst="rect">
            <a:avLst/>
          </a:prstGeom>
          <a:noFill/>
          <a:ln/>
        </p:spPr>
        <p:txBody>
          <a:bodyPr wrap="none" lIns="0" tIns="0" rIns="0" bIns="0" rtlCol="0" anchor="t"/>
          <a:lstStyle/>
          <a:p>
            <a:pPr marL="0" indent="0" algn="l">
              <a:lnSpc>
                <a:spcPts val="1097"/>
              </a:lnSpc>
              <a:buNone/>
            </a:pPr>
            <a:r>
              <a:rPr lang="en-US" sz="800" b="1" kern="0" spc="44" dirty="0">
                <a:solidFill>
                  <a:srgbClr val="1E2A78"/>
                </a:solidFill>
                <a:latin typeface="Carlito" pitchFamily="34" charset="0"/>
                <a:ea typeface="Carlito" pitchFamily="34" charset="-122"/>
                <a:cs typeface="Carlito" pitchFamily="34" charset="-120"/>
              </a:rPr>
              <a:t>YESTERDAY YOU:</a:t>
            </a:r>
            <a:endParaRPr lang="en-US" sz="800" dirty="0"/>
          </a:p>
        </p:txBody>
      </p:sp>
      <p:sp>
        <p:nvSpPr>
          <p:cNvPr id="7" name="Text 5"/>
          <p:cNvSpPr/>
          <p:nvPr/>
        </p:nvSpPr>
        <p:spPr>
          <a:xfrm>
            <a:off x="650081" y="1603772"/>
            <a:ext cx="3657600" cy="804922"/>
          </a:xfrm>
          <a:prstGeom prst="rect">
            <a:avLst/>
          </a:prstGeom>
          <a:noFill/>
          <a:ln/>
        </p:spPr>
        <p:txBody>
          <a:bodyPr wrap="square" lIns="71438" tIns="0" rIns="0" bIns="0" rtlCol="0" anchor="t"/>
          <a:lstStyle/>
          <a:p>
            <a:pPr marL="71438" indent="-71438" algn="l">
              <a:lnSpc>
                <a:spcPts val="1221"/>
              </a:lnSpc>
              <a:spcAft>
                <a:spcPts val="450"/>
              </a:spcAft>
              <a:buSzPct val="100000"/>
              <a:buChar char="•"/>
            </a:pPr>
            <a:r>
              <a:rPr lang="en-US" sz="800" dirty="0">
                <a:solidFill>
                  <a:srgbClr val="2B3361"/>
                </a:solidFill>
                <a:latin typeface="Carlito" pitchFamily="34" charset="0"/>
                <a:ea typeface="Carlito" pitchFamily="34" charset="-122"/>
                <a:cs typeface="Carlito" pitchFamily="34" charset="-120"/>
              </a:rPr>
              <a:t>Built tables with </a:t>
            </a:r>
            <a:r>
              <a:rPr lang="en-US" sz="800" dirty="0">
                <a:solidFill>
                  <a:srgbClr val="1E2A78"/>
                </a:solidFill>
                <a:latin typeface="Courier New" pitchFamily="34" charset="0"/>
                <a:ea typeface="Courier New" pitchFamily="34" charset="-122"/>
                <a:cs typeface="Courier New" pitchFamily="34" charset="-120"/>
              </a:rPr>
              <a:t>CREATE SCHEMA</a:t>
            </a:r>
            <a:r>
              <a:rPr lang="en-US" sz="800" dirty="0">
                <a:solidFill>
                  <a:srgbClr val="2B3361"/>
                </a:solidFill>
                <a:latin typeface="Carlito" pitchFamily="34" charset="0"/>
                <a:ea typeface="Carlito" pitchFamily="34" charset="-122"/>
                <a:cs typeface="Carlito" pitchFamily="34" charset="-120"/>
              </a:rPr>
              <a:t> / </a:t>
            </a:r>
            <a:r>
              <a:rPr lang="en-US" sz="800" dirty="0">
                <a:solidFill>
                  <a:srgbClr val="1E2A78"/>
                </a:solidFill>
                <a:latin typeface="Courier New" pitchFamily="34" charset="0"/>
                <a:ea typeface="Courier New" pitchFamily="34" charset="-122"/>
                <a:cs typeface="Courier New" pitchFamily="34" charset="-120"/>
              </a:rPr>
              <a:t>CREATE TABLE</a:t>
            </a:r>
            <a:r>
              <a:rPr lang="en-US" sz="800" dirty="0">
                <a:solidFill>
                  <a:srgbClr val="2B3361"/>
                </a:solidFill>
                <a:latin typeface="Carlito" pitchFamily="34" charset="0"/>
                <a:ea typeface="Carlito" pitchFamily="34" charset="-122"/>
                <a:cs typeface="Carlito" pitchFamily="34" charset="-120"/>
              </a:rPr>
              <a:t> (DDL)</a:t>
            </a:r>
            <a:endParaRPr lang="en-US" sz="800" dirty="0"/>
          </a:p>
          <a:p>
            <a:pPr marL="71438" indent="-71438" algn="l">
              <a:lnSpc>
                <a:spcPts val="1221"/>
              </a:lnSpc>
              <a:spcAft>
                <a:spcPts val="450"/>
              </a:spcAft>
              <a:buSzPct val="100000"/>
              <a:buChar char="•"/>
            </a:pPr>
            <a:r>
              <a:rPr lang="en-US" sz="800" dirty="0">
                <a:solidFill>
                  <a:srgbClr val="2B3361"/>
                </a:solidFill>
                <a:latin typeface="Carlito" pitchFamily="34" charset="0"/>
                <a:ea typeface="Carlito" pitchFamily="34" charset="-122"/>
                <a:cs typeface="Carlito" pitchFamily="34" charset="-120"/>
              </a:rPr>
              <a:t>Gave EVERY column the type </a:t>
            </a:r>
            <a:r>
              <a:rPr lang="en-US" sz="800" dirty="0">
                <a:solidFill>
                  <a:srgbClr val="1E2A78"/>
                </a:solidFill>
                <a:latin typeface="Courier New" pitchFamily="34" charset="0"/>
                <a:ea typeface="Courier New" pitchFamily="34" charset="-122"/>
                <a:cs typeface="Courier New" pitchFamily="34" charset="-120"/>
              </a:rPr>
              <a:t>TEXT</a:t>
            </a:r>
            <a:r>
              <a:rPr lang="en-US" sz="800" dirty="0">
                <a:solidFill>
                  <a:srgbClr val="2B3361"/>
                </a:solidFill>
                <a:latin typeface="Carlito" pitchFamily="34" charset="0"/>
                <a:ea typeface="Carlito" pitchFamily="34" charset="-122"/>
                <a:cs typeface="Carlito" pitchFamily="34" charset="-120"/>
              </a:rPr>
              <a:t> (focus on structure, not types)</a:t>
            </a:r>
            <a:endParaRPr lang="en-US" sz="800" dirty="0"/>
          </a:p>
          <a:p>
            <a:pPr marL="71438" indent="-71438" algn="l">
              <a:lnSpc>
                <a:spcPts val="1221"/>
              </a:lnSpc>
              <a:spcAft>
                <a:spcPts val="450"/>
              </a:spcAft>
              <a:buSzPct val="100000"/>
              <a:buChar char="•"/>
            </a:pPr>
            <a:r>
              <a:rPr lang="en-US" sz="800" dirty="0">
                <a:solidFill>
                  <a:srgbClr val="2B3361"/>
                </a:solidFill>
                <a:latin typeface="Carlito" pitchFamily="34" charset="0"/>
                <a:ea typeface="Carlito" pitchFamily="34" charset="-122"/>
                <a:cs typeface="Carlito" pitchFamily="34" charset="-120"/>
              </a:rPr>
              <a:t>Filled tables with </a:t>
            </a:r>
            <a:r>
              <a:rPr lang="en-US" sz="800" dirty="0">
                <a:solidFill>
                  <a:srgbClr val="1E2A78"/>
                </a:solidFill>
                <a:latin typeface="Courier New" pitchFamily="34" charset="0"/>
                <a:ea typeface="Courier New" pitchFamily="34" charset="-122"/>
                <a:cs typeface="Courier New" pitchFamily="34" charset="-120"/>
              </a:rPr>
              <a:t>INSERT</a:t>
            </a:r>
            <a:r>
              <a:rPr lang="en-US" sz="800" dirty="0">
                <a:solidFill>
                  <a:srgbClr val="2B3361"/>
                </a:solidFill>
                <a:latin typeface="Carlito" pitchFamily="34" charset="0"/>
                <a:ea typeface="Carlito" pitchFamily="34" charset="-122"/>
                <a:cs typeface="Carlito" pitchFamily="34" charset="-120"/>
              </a:rPr>
              <a:t>, changed rows with </a:t>
            </a:r>
            <a:r>
              <a:rPr lang="en-US" sz="800" dirty="0">
                <a:solidFill>
                  <a:srgbClr val="1E2A78"/>
                </a:solidFill>
                <a:latin typeface="Courier New" pitchFamily="34" charset="0"/>
                <a:ea typeface="Courier New" pitchFamily="34" charset="-122"/>
                <a:cs typeface="Courier New" pitchFamily="34" charset="-120"/>
              </a:rPr>
              <a:t>UPDATE</a:t>
            </a:r>
            <a:r>
              <a:rPr lang="en-US" sz="800" dirty="0">
                <a:solidFill>
                  <a:srgbClr val="2B3361"/>
                </a:solidFill>
                <a:latin typeface="Carlito" pitchFamily="34" charset="0"/>
                <a:ea typeface="Carlito" pitchFamily="34" charset="-122"/>
                <a:cs typeface="Carlito" pitchFamily="34" charset="-120"/>
              </a:rPr>
              <a:t>, removed rows with </a:t>
            </a:r>
            <a:r>
              <a:rPr lang="en-US" sz="800" dirty="0">
                <a:solidFill>
                  <a:srgbClr val="1E2A78"/>
                </a:solidFill>
                <a:latin typeface="Courier New" pitchFamily="34" charset="0"/>
                <a:ea typeface="Courier New" pitchFamily="34" charset="-122"/>
                <a:cs typeface="Courier New" pitchFamily="34" charset="-120"/>
              </a:rPr>
              <a:t>DELETE</a:t>
            </a:r>
            <a:r>
              <a:rPr lang="en-US" sz="800" dirty="0">
                <a:solidFill>
                  <a:srgbClr val="2B3361"/>
                </a:solidFill>
                <a:latin typeface="Carlito" pitchFamily="34" charset="0"/>
                <a:ea typeface="Carlito" pitchFamily="34" charset="-122"/>
                <a:cs typeface="Carlito" pitchFamily="34" charset="-120"/>
              </a:rPr>
              <a:t>, emptied tables with </a:t>
            </a:r>
            <a:r>
              <a:rPr lang="en-US" sz="800" dirty="0">
                <a:solidFill>
                  <a:srgbClr val="1E2A78"/>
                </a:solidFill>
                <a:latin typeface="Courier New" pitchFamily="34" charset="0"/>
                <a:ea typeface="Courier New" pitchFamily="34" charset="-122"/>
                <a:cs typeface="Courier New" pitchFamily="34" charset="-120"/>
              </a:rPr>
              <a:t>TRUNCATE</a:t>
            </a:r>
            <a:r>
              <a:rPr lang="en-US" sz="800" dirty="0">
                <a:solidFill>
                  <a:srgbClr val="2B3361"/>
                </a:solidFill>
                <a:latin typeface="Carlito" pitchFamily="34" charset="0"/>
                <a:ea typeface="Carlito" pitchFamily="34" charset="-122"/>
                <a:cs typeface="Carlito" pitchFamily="34" charset="-120"/>
              </a:rPr>
              <a:t> (DML)</a:t>
            </a:r>
            <a:endParaRPr lang="en-US" sz="800" dirty="0"/>
          </a:p>
        </p:txBody>
      </p:sp>
      <p:sp>
        <p:nvSpPr>
          <p:cNvPr id="8" name="Text 6"/>
          <p:cNvSpPr/>
          <p:nvPr/>
        </p:nvSpPr>
        <p:spPr>
          <a:xfrm>
            <a:off x="4643438" y="1228725"/>
            <a:ext cx="4043363" cy="1244798"/>
          </a:xfrm>
          <a:prstGeom prst="roundRect">
            <a:avLst>
              <a:gd name="adj" fmla="val 10713"/>
            </a:avLst>
          </a:prstGeom>
          <a:solidFill>
            <a:srgbClr val="FFFFFF"/>
          </a:solidFill>
          <a:ln/>
          <a:effectLst>
            <a:outerShdw blurRad="133350" dist="38100" dir="5400000" algn="bl" rotWithShape="0">
              <a:srgbClr val="0F172A">
                <a:alpha val="6000"/>
              </a:srgbClr>
            </a:outerShdw>
          </a:effectLst>
        </p:spPr>
        <p:txBody>
          <a:bodyPr wrap="square" rtlCol="0" anchor="ctr"/>
          <a:lstStyle/>
          <a:p>
            <a:pPr marL="0" indent="0">
              <a:buNone/>
            </a:pPr>
            <a:endParaRPr lang="en-US" dirty="0"/>
          </a:p>
        </p:txBody>
      </p:sp>
      <p:sp>
        <p:nvSpPr>
          <p:cNvPr id="9" name="Shape 7"/>
          <p:cNvSpPr/>
          <p:nvPr/>
        </p:nvSpPr>
        <p:spPr>
          <a:xfrm>
            <a:off x="4643438" y="1232297"/>
            <a:ext cx="4043363" cy="0"/>
          </a:xfrm>
          <a:prstGeom prst="line">
            <a:avLst/>
          </a:prstGeom>
          <a:noFill/>
          <a:ln w="7144">
            <a:solidFill>
              <a:srgbClr val="DDE2F0"/>
            </a:solidFill>
            <a:prstDash val="solid"/>
          </a:ln>
        </p:spPr>
      </p:sp>
      <p:sp>
        <p:nvSpPr>
          <p:cNvPr id="10" name="Shape 8"/>
          <p:cNvSpPr/>
          <p:nvPr/>
        </p:nvSpPr>
        <p:spPr>
          <a:xfrm>
            <a:off x="8683228" y="1228725"/>
            <a:ext cx="0" cy="1244798"/>
          </a:xfrm>
          <a:prstGeom prst="line">
            <a:avLst/>
          </a:prstGeom>
          <a:noFill/>
          <a:ln w="7144">
            <a:solidFill>
              <a:srgbClr val="DDE2F0"/>
            </a:solidFill>
            <a:prstDash val="solid"/>
          </a:ln>
        </p:spPr>
      </p:sp>
      <p:sp>
        <p:nvSpPr>
          <p:cNvPr id="11" name="Shape 9"/>
          <p:cNvSpPr/>
          <p:nvPr/>
        </p:nvSpPr>
        <p:spPr>
          <a:xfrm>
            <a:off x="4643438" y="2469952"/>
            <a:ext cx="4043363" cy="0"/>
          </a:xfrm>
          <a:prstGeom prst="line">
            <a:avLst/>
          </a:prstGeom>
          <a:noFill/>
          <a:ln w="7144">
            <a:solidFill>
              <a:srgbClr val="DDE2F0"/>
            </a:solidFill>
            <a:prstDash val="solid"/>
          </a:ln>
        </p:spPr>
      </p:sp>
      <p:sp>
        <p:nvSpPr>
          <p:cNvPr id="12" name="Shape 10"/>
          <p:cNvSpPr/>
          <p:nvPr/>
        </p:nvSpPr>
        <p:spPr>
          <a:xfrm>
            <a:off x="4661297" y="1228725"/>
            <a:ext cx="0" cy="1244798"/>
          </a:xfrm>
          <a:prstGeom prst="line">
            <a:avLst/>
          </a:prstGeom>
          <a:noFill/>
          <a:ln w="35719">
            <a:solidFill>
              <a:srgbClr val="F59E0B"/>
            </a:solidFill>
            <a:prstDash val="solid"/>
          </a:ln>
        </p:spPr>
      </p:sp>
      <p:sp>
        <p:nvSpPr>
          <p:cNvPr id="13" name="Text 11"/>
          <p:cNvSpPr/>
          <p:nvPr/>
        </p:nvSpPr>
        <p:spPr>
          <a:xfrm>
            <a:off x="4864894" y="1393031"/>
            <a:ext cx="3738753" cy="164592"/>
          </a:xfrm>
          <a:prstGeom prst="rect">
            <a:avLst/>
          </a:prstGeom>
          <a:noFill/>
          <a:ln/>
        </p:spPr>
        <p:txBody>
          <a:bodyPr wrap="square" lIns="0" tIns="0" rIns="0" bIns="0" rtlCol="0" anchor="t"/>
          <a:lstStyle/>
          <a:p>
            <a:pPr marL="0" indent="0" algn="l">
              <a:lnSpc>
                <a:spcPts val="1097"/>
              </a:lnSpc>
              <a:buNone/>
            </a:pPr>
            <a:r>
              <a:rPr lang="en-US" sz="800" b="1" kern="0" spc="44" dirty="0">
                <a:solidFill>
                  <a:srgbClr val="D97706"/>
                </a:solidFill>
                <a:latin typeface="Carlito" pitchFamily="34" charset="0"/>
                <a:ea typeface="Carlito" pitchFamily="34" charset="-122"/>
                <a:cs typeface="Carlito" pitchFamily="34" charset="-120"/>
              </a:rPr>
              <a:t>THE PAIN YOU FELT WITH ALL-TEXT COLUMNS:</a:t>
            </a:r>
            <a:endParaRPr lang="en-US" sz="800" dirty="0"/>
          </a:p>
        </p:txBody>
      </p:sp>
      <p:sp>
        <p:nvSpPr>
          <p:cNvPr id="14" name="Text 12"/>
          <p:cNvSpPr/>
          <p:nvPr/>
        </p:nvSpPr>
        <p:spPr>
          <a:xfrm>
            <a:off x="4864894" y="1603772"/>
            <a:ext cx="3629025" cy="610407"/>
          </a:xfrm>
          <a:prstGeom prst="rect">
            <a:avLst/>
          </a:prstGeom>
          <a:noFill/>
          <a:ln/>
        </p:spPr>
        <p:txBody>
          <a:bodyPr wrap="square" lIns="71438" tIns="0" rIns="0" bIns="0" rtlCol="0" anchor="t"/>
          <a:lstStyle/>
          <a:p>
            <a:pPr marL="71438" indent="-71438" algn="l">
              <a:lnSpc>
                <a:spcPts val="1221"/>
              </a:lnSpc>
              <a:spcAft>
                <a:spcPts val="450"/>
              </a:spcAft>
              <a:buSzPct val="100000"/>
              <a:buChar char="•"/>
            </a:pPr>
            <a:r>
              <a:rPr lang="en-US" sz="800" dirty="0">
                <a:solidFill>
                  <a:srgbClr val="2B3361"/>
                </a:solidFill>
                <a:latin typeface="Carlito" pitchFamily="34" charset="0"/>
                <a:ea typeface="Carlito" pitchFamily="34" charset="-122"/>
                <a:cs typeface="Carlito" pitchFamily="34" charset="-120"/>
              </a:rPr>
              <a:t>Math was clumsy: </a:t>
            </a:r>
            <a:r>
              <a:rPr lang="en-US" sz="800" dirty="0">
                <a:solidFill>
                  <a:srgbClr val="1E2A78"/>
                </a:solidFill>
                <a:latin typeface="Liberation Sans Narrow" pitchFamily="34" charset="0"/>
                <a:ea typeface="Liberation Sans Narrow" pitchFamily="34" charset="-122"/>
                <a:cs typeface="Liberation Sans Narrow" pitchFamily="34" charset="-120"/>
              </a:rPr>
              <a:t>amount * 1.1</a:t>
            </a:r>
            <a:r>
              <a:rPr lang="en-US" sz="800" dirty="0">
                <a:solidFill>
                  <a:srgbClr val="2B3361"/>
                </a:solidFill>
                <a:latin typeface="Carlito" pitchFamily="34" charset="0"/>
                <a:ea typeface="Carlito" pitchFamily="34" charset="-122"/>
                <a:cs typeface="Carlito" pitchFamily="34" charset="-120"/>
              </a:rPr>
              <a:t> fails (</a:t>
            </a:r>
            <a:r>
              <a:rPr lang="en-US" sz="800" dirty="0">
                <a:solidFill>
                  <a:srgbClr val="1E2A78"/>
                </a:solidFill>
                <a:latin typeface="Courier New" pitchFamily="34" charset="0"/>
                <a:ea typeface="Courier New" pitchFamily="34" charset="-122"/>
                <a:cs typeface="Courier New" pitchFamily="34" charset="-120"/>
              </a:rPr>
              <a:t>amount</a:t>
            </a:r>
            <a:r>
              <a:rPr lang="en-US" sz="800" dirty="0">
                <a:solidFill>
                  <a:srgbClr val="2B3361"/>
                </a:solidFill>
                <a:latin typeface="Carlito" pitchFamily="34" charset="0"/>
                <a:ea typeface="Carlito" pitchFamily="34" charset="-122"/>
                <a:cs typeface="Carlito" pitchFamily="34" charset="-120"/>
              </a:rPr>
              <a:t> is </a:t>
            </a:r>
            <a:r>
              <a:rPr lang="en-US" sz="800" dirty="0">
                <a:solidFill>
                  <a:srgbClr val="1E2A78"/>
                </a:solidFill>
                <a:latin typeface="Courier New" pitchFamily="34" charset="0"/>
                <a:ea typeface="Courier New" pitchFamily="34" charset="-122"/>
                <a:cs typeface="Courier New" pitchFamily="34" charset="-120"/>
              </a:rPr>
              <a:t>TEXT</a:t>
            </a:r>
            <a:r>
              <a:rPr lang="en-US" sz="800" dirty="0">
                <a:solidFill>
                  <a:srgbClr val="2B3361"/>
                </a:solidFill>
                <a:latin typeface="Carlito" pitchFamily="34" charset="0"/>
                <a:ea typeface="Carlito" pitchFamily="34" charset="-122"/>
                <a:cs typeface="Carlito" pitchFamily="34" charset="-120"/>
              </a:rPr>
              <a:t>)</a:t>
            </a:r>
            <a:endParaRPr lang="en-US" sz="800" dirty="0"/>
          </a:p>
          <a:p>
            <a:pPr marL="71438" indent="-71438" algn="l">
              <a:lnSpc>
                <a:spcPts val="1221"/>
              </a:lnSpc>
              <a:spcAft>
                <a:spcPts val="450"/>
              </a:spcAft>
              <a:buSzPct val="100000"/>
              <a:buChar char="•"/>
            </a:pPr>
            <a:r>
              <a:rPr lang="en-US" sz="800" dirty="0">
                <a:solidFill>
                  <a:srgbClr val="2B3361"/>
                </a:solidFill>
                <a:latin typeface="Carlito" pitchFamily="34" charset="0"/>
                <a:ea typeface="Carlito" pitchFamily="34" charset="-122"/>
                <a:cs typeface="Carlito" pitchFamily="34" charset="-120"/>
              </a:rPr>
              <a:t>Comparisons sorted like words: </a:t>
            </a:r>
            <a:r>
              <a:rPr lang="en-US" sz="800" dirty="0">
                <a:solidFill>
                  <a:srgbClr val="1E2A78"/>
                </a:solidFill>
                <a:latin typeface="Liberation Sans Narrow" pitchFamily="34" charset="0"/>
                <a:ea typeface="Liberation Sans Narrow" pitchFamily="34" charset="-122"/>
                <a:cs typeface="Liberation Sans Narrow" pitchFamily="34" charset="-120"/>
              </a:rPr>
              <a:t>WHERE total &gt; '900'</a:t>
            </a:r>
            <a:r>
              <a:rPr lang="en-US" sz="800" dirty="0">
                <a:solidFill>
                  <a:srgbClr val="2B3361"/>
                </a:solidFill>
                <a:latin typeface="Carlito" pitchFamily="34" charset="0"/>
                <a:ea typeface="Carlito" pitchFamily="34" charset="-122"/>
                <a:cs typeface="Carlito" pitchFamily="34" charset="-120"/>
              </a:rPr>
              <a:t> </a:t>
            </a:r>
            <a:r>
              <a:rPr lang="en-US" sz="800" dirty="0">
                <a:solidFill>
                  <a:srgbClr val="DC2626"/>
                </a:solidFill>
                <a:latin typeface="Courier New" pitchFamily="34" charset="0"/>
                <a:ea typeface="Courier New" pitchFamily="34" charset="-122"/>
                <a:cs typeface="Courier New" pitchFamily="34" charset="-120"/>
              </a:rPr>
              <a:t>MISSED</a:t>
            </a:r>
            <a:r>
              <a:rPr lang="en-US" sz="800" dirty="0">
                <a:solidFill>
                  <a:srgbClr val="2B3361"/>
                </a:solidFill>
                <a:latin typeface="Carlito" pitchFamily="34" charset="0"/>
                <a:ea typeface="Carlito" pitchFamily="34" charset="-122"/>
                <a:cs typeface="Carlito" pitchFamily="34" charset="-120"/>
              </a:rPr>
              <a:t> </a:t>
            </a:r>
            <a:r>
              <a:rPr lang="en-US" sz="800" dirty="0">
                <a:solidFill>
                  <a:srgbClr val="1E2A78"/>
                </a:solidFill>
                <a:latin typeface="Liberation Sans Narrow" pitchFamily="34" charset="0"/>
                <a:ea typeface="Liberation Sans Narrow" pitchFamily="34" charset="-122"/>
                <a:cs typeface="Liberation Sans Narrow" pitchFamily="34" charset="-120"/>
              </a:rPr>
              <a:t>'1000'</a:t>
            </a:r>
            <a:r>
              <a:rPr lang="en-US" sz="800" dirty="0">
                <a:solidFill>
                  <a:srgbClr val="2B3361"/>
                </a:solidFill>
                <a:latin typeface="Carlito" pitchFamily="34" charset="0"/>
                <a:ea typeface="Carlito" pitchFamily="34" charset="-122"/>
                <a:cs typeface="Carlito" pitchFamily="34" charset="-120"/>
              </a:rPr>
              <a:t> (</a:t>
            </a:r>
            <a:r>
              <a:rPr lang="en-US" sz="800" dirty="0">
                <a:solidFill>
                  <a:srgbClr val="1E2A78"/>
                </a:solidFill>
                <a:latin typeface="Courier New" pitchFamily="34" charset="0"/>
                <a:ea typeface="Courier New" pitchFamily="34" charset="-122"/>
                <a:cs typeface="Courier New" pitchFamily="34" charset="-120"/>
              </a:rPr>
              <a:t>'1000' &lt; '900'</a:t>
            </a:r>
            <a:r>
              <a:rPr lang="en-US" sz="800" dirty="0">
                <a:solidFill>
                  <a:srgbClr val="2B3361"/>
                </a:solidFill>
                <a:latin typeface="Carlito" pitchFamily="34" charset="0"/>
                <a:ea typeface="Carlito" pitchFamily="34" charset="-122"/>
                <a:cs typeface="Carlito" pitchFamily="34" charset="-120"/>
              </a:rPr>
              <a:t> character-by-character)</a:t>
            </a:r>
            <a:endParaRPr lang="en-US" sz="800" dirty="0"/>
          </a:p>
        </p:txBody>
      </p:sp>
      <p:sp>
        <p:nvSpPr>
          <p:cNvPr id="15" name="Text 13"/>
          <p:cNvSpPr/>
          <p:nvPr/>
        </p:nvSpPr>
        <p:spPr>
          <a:xfrm>
            <a:off x="457200" y="4302770"/>
            <a:ext cx="8229600" cy="383530"/>
          </a:xfrm>
          <a:prstGeom prst="roundRect">
            <a:avLst>
              <a:gd name="adj" fmla="val 29802"/>
            </a:avLst>
          </a:prstGeom>
          <a:solidFill>
            <a:srgbClr val="1E2A78"/>
          </a:solidFill>
          <a:ln/>
          <a:effectLst>
            <a:outerShdw blurRad="171450" dist="57150" dir="5400000" algn="bl" rotWithShape="0">
              <a:srgbClr val="1E2A78">
                <a:alpha val="18000"/>
              </a:srgbClr>
            </a:outerShdw>
          </a:effectLst>
        </p:spPr>
        <p:txBody>
          <a:bodyPr wrap="square" rtlCol="0" anchor="ctr"/>
          <a:lstStyle/>
          <a:p>
            <a:pPr marL="0" indent="0">
              <a:buNone/>
            </a:pPr>
            <a:endParaRPr lang="en-US" dirty="0"/>
          </a:p>
        </p:txBody>
      </p:sp>
      <p:sp>
        <p:nvSpPr>
          <p:cNvPr id="16" name="Text 14"/>
          <p:cNvSpPr/>
          <p:nvPr/>
        </p:nvSpPr>
        <p:spPr>
          <a:xfrm>
            <a:off x="457200" y="4302770"/>
            <a:ext cx="8229600" cy="420787"/>
          </a:xfrm>
          <a:prstGeom prst="rect">
            <a:avLst/>
          </a:prstGeom>
          <a:noFill/>
          <a:ln/>
        </p:spPr>
        <p:txBody>
          <a:bodyPr wrap="square" lIns="157163" tIns="114300" rIns="157163" bIns="114300" rtlCol="0" anchor="t"/>
          <a:lstStyle/>
          <a:p>
            <a:pPr marL="0" indent="0" algn="l">
              <a:lnSpc>
                <a:spcPts val="1221"/>
              </a:lnSpc>
              <a:buNone/>
            </a:pPr>
            <a:r>
              <a:rPr lang="en-US" sz="800" dirty="0">
                <a:solidFill>
                  <a:srgbClr val="FFFFFF"/>
                </a:solidFill>
                <a:latin typeface="Carlito" pitchFamily="34" charset="0"/>
                <a:ea typeface="Carlito" pitchFamily="34" charset="-122"/>
                <a:cs typeface="Carlito" pitchFamily="34" charset="-120"/>
              </a:rPr>
              <a:t>Today we fix BOTH problems → </a:t>
            </a:r>
            <a:r>
              <a:rPr lang="en-US" sz="800" b="1" dirty="0">
                <a:solidFill>
                  <a:srgbClr val="FBBF24"/>
                </a:solidFill>
                <a:latin typeface="Liberation Sans Narrow" pitchFamily="34" charset="0"/>
                <a:ea typeface="Liberation Sans Narrow" pitchFamily="34" charset="-122"/>
                <a:cs typeface="Liberation Sans Narrow" pitchFamily="34" charset="-120"/>
              </a:rPr>
              <a:t>Topic 1:</a:t>
            </a:r>
            <a:r>
              <a:rPr lang="en-US" sz="800" dirty="0">
                <a:solidFill>
                  <a:srgbClr val="FFFFFF"/>
                </a:solidFill>
                <a:latin typeface="Carlito" pitchFamily="34" charset="0"/>
                <a:ea typeface="Carlito" pitchFamily="34" charset="-122"/>
                <a:cs typeface="Carlito" pitchFamily="34" charset="-120"/>
              </a:rPr>
              <a:t> ALTER TEXT → proper types · </a:t>
            </a:r>
            <a:r>
              <a:rPr lang="en-US" sz="800" b="1" dirty="0">
                <a:solidFill>
                  <a:srgbClr val="FBBF24"/>
                </a:solidFill>
                <a:latin typeface="Liberation Sans Narrow" pitchFamily="34" charset="0"/>
                <a:ea typeface="Liberation Sans Narrow" pitchFamily="34" charset="-122"/>
                <a:cs typeface="Liberation Sans Narrow" pitchFamily="34" charset="-120"/>
              </a:rPr>
              <a:t>Topic 2:</a:t>
            </a:r>
            <a:r>
              <a:rPr lang="en-US" sz="800" dirty="0">
                <a:solidFill>
                  <a:srgbClr val="FFFFFF"/>
                </a:solidFill>
                <a:latin typeface="Carlito" pitchFamily="34" charset="0"/>
                <a:ea typeface="Carlito" pitchFamily="34" charset="-122"/>
                <a:cs typeface="Carlito" pitchFamily="34" charset="-120"/>
              </a:rPr>
              <a:t> add RULES so bad data never gets in.</a:t>
            </a:r>
            <a:endParaRPr lang="en-US" sz="800" dirty="0"/>
          </a:p>
        </p:txBody>
      </p:sp>
      <p:sp>
        <p:nvSpPr>
          <p:cNvPr id="17" name="Text 15"/>
          <p:cNvSpPr/>
          <p:nvPr/>
        </p:nvSpPr>
        <p:spPr>
          <a:xfrm>
            <a:off x="457200" y="4897041"/>
            <a:ext cx="8062503" cy="164592"/>
          </a:xfrm>
          <a:prstGeom prst="rect">
            <a:avLst/>
          </a:prstGeom>
          <a:noFill/>
          <a:ln/>
        </p:spPr>
        <p:txBody>
          <a:bodyPr wrap="square" lIns="0" tIns="0" rIns="0" bIns="0" rtlCol="0" anchor="t"/>
          <a:lstStyle/>
          <a:p>
            <a:pPr marL="0" indent="0" algn="l">
              <a:lnSpc>
                <a:spcPts val="928"/>
              </a:lnSpc>
              <a:buNone/>
            </a:pPr>
            <a:r>
              <a:rPr lang="en-US" sz="800" kern="0" spc="50" dirty="0">
                <a:solidFill>
                  <a:srgbClr val="5A6485"/>
                </a:solidFill>
                <a:latin typeface="Liberation Sans Narrow" pitchFamily="34" charset="0"/>
                <a:ea typeface="Liberation Sans Narrow" pitchFamily="34" charset="-122"/>
                <a:cs typeface="Liberation Sans Narrow" pitchFamily="34" charset="-120"/>
              </a:rPr>
              <a:t>RETAILMART V3 · DAY 4</a:t>
            </a:r>
            <a:endParaRPr lang="en-US" sz="800" dirty="0"/>
          </a:p>
        </p:txBody>
      </p:sp>
      <p:sp>
        <p:nvSpPr>
          <p:cNvPr id="18" name="Text 16"/>
          <p:cNvSpPr/>
          <p:nvPr/>
        </p:nvSpPr>
        <p:spPr>
          <a:xfrm>
            <a:off x="8533991" y="4897041"/>
            <a:ext cx="379796" cy="164592"/>
          </a:xfrm>
          <a:prstGeom prst="rect">
            <a:avLst/>
          </a:prstGeom>
          <a:noFill/>
          <a:ln/>
        </p:spPr>
        <p:txBody>
          <a:bodyPr wrap="none" lIns="0" tIns="0" rIns="0" bIns="0" rtlCol="0" anchor="t"/>
          <a:lstStyle/>
          <a:p>
            <a:pPr marL="0" indent="0" algn="l">
              <a:lnSpc>
                <a:spcPts val="928"/>
              </a:lnSpc>
              <a:buNone/>
            </a:pPr>
            <a:r>
              <a:rPr lang="en-US" sz="800" kern="0" spc="50" dirty="0">
                <a:solidFill>
                  <a:srgbClr val="5A6485"/>
                </a:solidFill>
                <a:latin typeface="Liberation Sans Narrow" pitchFamily="34" charset="0"/>
                <a:ea typeface="Liberation Sans Narrow" pitchFamily="34" charset="-122"/>
                <a:cs typeface="Liberation Sans Narrow" pitchFamily="34" charset="-120"/>
              </a:rPr>
              <a:t>5 / 54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440930" y="253817"/>
            <a:ext cx="439287" cy="196025"/>
          </a:xfrm>
          <a:prstGeom prst="roundRect">
            <a:avLst>
              <a:gd name="adj" fmla="val 4854215"/>
            </a:avLst>
          </a:prstGeom>
          <a:solidFill>
            <a:srgbClr val="FEF3C7"/>
          </a:solidFill>
          <a:ln/>
        </p:spPr>
        <p:txBody>
          <a:bodyPr wrap="square" rtlCol="0" anchor="ctr"/>
          <a:lstStyle/>
          <a:p>
            <a:pPr marL="0" indent="0">
              <a:buNone/>
            </a:pPr>
            <a:endParaRPr lang="en-US" dirty="0"/>
          </a:p>
        </p:txBody>
      </p:sp>
      <p:sp>
        <p:nvSpPr>
          <p:cNvPr id="3" name="Text 1"/>
          <p:cNvSpPr/>
          <p:nvPr/>
        </p:nvSpPr>
        <p:spPr>
          <a:xfrm>
            <a:off x="456967" y="264319"/>
            <a:ext cx="407213" cy="175022"/>
          </a:xfrm>
          <a:prstGeom prst="rect">
            <a:avLst/>
          </a:prstGeom>
          <a:noFill/>
          <a:ln/>
        </p:spPr>
        <p:txBody>
          <a:bodyPr wrap="none" lIns="0" tIns="0" rIns="0" bIns="0" rtlCol="0" anchor="ctr"/>
          <a:lstStyle/>
          <a:p>
            <a:pPr marL="0" indent="0" algn="ctr">
              <a:lnSpc>
                <a:spcPts val="928"/>
              </a:lnSpc>
              <a:buNone/>
            </a:pPr>
            <a:r>
              <a:rPr lang="en-US" sz="800" b="1" kern="0" spc="50" dirty="0">
                <a:solidFill>
                  <a:srgbClr val="D97706"/>
                </a:solidFill>
                <a:latin typeface="Carlito" pitchFamily="34" charset="0"/>
                <a:ea typeface="Carlito" pitchFamily="34" charset="-122"/>
                <a:cs typeface="Carlito" pitchFamily="34" charset="-120"/>
              </a:rPr>
              <a:t>STORY</a:t>
            </a:r>
            <a:endParaRPr lang="en-US" sz="800" dirty="0"/>
          </a:p>
        </p:txBody>
      </p:sp>
      <p:sp>
        <p:nvSpPr>
          <p:cNvPr id="4" name="Text 2"/>
          <p:cNvSpPr/>
          <p:nvPr/>
        </p:nvSpPr>
        <p:spPr>
          <a:xfrm>
            <a:off x="8136731" y="257175"/>
            <a:ext cx="871133"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5A6485"/>
                </a:solidFill>
                <a:latin typeface="Liberation Sans Narrow" pitchFamily="34" charset="0"/>
                <a:ea typeface="Liberation Sans Narrow" pitchFamily="34" charset="-122"/>
                <a:cs typeface="Liberation Sans Narrow" pitchFamily="34" charset="-120"/>
              </a:rPr>
              <a:t>STORY · 1 / 2</a:t>
            </a:r>
            <a:endParaRPr lang="en-US" sz="800" dirty="0"/>
          </a:p>
        </p:txBody>
      </p:sp>
      <p:sp>
        <p:nvSpPr>
          <p:cNvPr id="5" name="Text 3"/>
          <p:cNvSpPr/>
          <p:nvPr/>
        </p:nvSpPr>
        <p:spPr>
          <a:xfrm>
            <a:off x="457200" y="657225"/>
            <a:ext cx="8636000" cy="359724"/>
          </a:xfrm>
          <a:prstGeom prst="rect">
            <a:avLst/>
          </a:prstGeom>
          <a:noFill/>
          <a:ln/>
        </p:spPr>
        <p:txBody>
          <a:bodyPr wrap="none" lIns="0" tIns="0" rIns="0" bIns="0" rtlCol="0" anchor="t"/>
          <a:lstStyle/>
          <a:p>
            <a:pPr marL="0" indent="0" algn="l">
              <a:lnSpc>
                <a:spcPts val="2624"/>
              </a:lnSpc>
              <a:buNone/>
            </a:pPr>
            <a:r>
              <a:rPr lang="en-US" sz="2475" b="1" kern="0" spc="-45" dirty="0">
                <a:solidFill>
                  <a:srgbClr val="0B1736"/>
                </a:solidFill>
                <a:latin typeface="Liberation Sans Narrow" pitchFamily="34" charset="0"/>
                <a:ea typeface="Liberation Sans Narrow" pitchFamily="34" charset="-122"/>
                <a:cs typeface="Liberation Sans Narrow" pitchFamily="34" charset="-120"/>
              </a:rPr>
              <a:t>The Rs. 34 Lakh Bug</a:t>
            </a:r>
            <a:endParaRPr lang="en-US" sz="2475" dirty="0"/>
          </a:p>
        </p:txBody>
      </p:sp>
      <p:sp>
        <p:nvSpPr>
          <p:cNvPr id="6" name="Text 4"/>
          <p:cNvSpPr/>
          <p:nvPr/>
        </p:nvSpPr>
        <p:spPr>
          <a:xfrm>
            <a:off x="457200" y="1047452"/>
            <a:ext cx="8636000" cy="194328"/>
          </a:xfrm>
          <a:prstGeom prst="rect">
            <a:avLst/>
          </a:prstGeom>
          <a:noFill/>
          <a:ln/>
        </p:spPr>
        <p:txBody>
          <a:bodyPr wrap="square" lIns="0" tIns="0" rIns="0" bIns="0" rtlCol="0" anchor="t"/>
          <a:lstStyle/>
          <a:p>
            <a:pPr marL="0" indent="0" algn="l">
              <a:lnSpc>
                <a:spcPts val="1418"/>
              </a:lnSpc>
              <a:buNone/>
            </a:pPr>
            <a:r>
              <a:rPr lang="en-US" sz="1013" i="1" dirty="0">
                <a:solidFill>
                  <a:srgbClr val="5A6485"/>
                </a:solidFill>
                <a:latin typeface="Carlito" pitchFamily="34" charset="0"/>
                <a:ea typeface="Carlito" pitchFamily="34" charset="-122"/>
                <a:cs typeface="Carlito" pitchFamily="34" charset="-120"/>
              </a:rPr>
              <a:t>Why TEXT-for-everything is dangerous.</a:t>
            </a:r>
            <a:endParaRPr lang="en-US" sz="1013" dirty="0"/>
          </a:p>
        </p:txBody>
      </p:sp>
      <p:sp>
        <p:nvSpPr>
          <p:cNvPr id="7" name="Text 5"/>
          <p:cNvSpPr/>
          <p:nvPr/>
        </p:nvSpPr>
        <p:spPr>
          <a:xfrm>
            <a:off x="457200" y="1628775"/>
            <a:ext cx="3721001" cy="573942"/>
          </a:xfrm>
          <a:prstGeom prst="rect">
            <a:avLst/>
          </a:prstGeom>
          <a:noFill/>
          <a:ln/>
        </p:spPr>
        <p:txBody>
          <a:bodyPr wrap="square" lIns="0" tIns="0" rIns="0" bIns="0" rtlCol="0" anchor="t"/>
          <a:lstStyle/>
          <a:p>
            <a:pPr marL="0" indent="0" algn="l">
              <a:lnSpc>
                <a:spcPts val="1395"/>
              </a:lnSpc>
              <a:buNone/>
            </a:pPr>
            <a:r>
              <a:rPr lang="en-US" sz="872" dirty="0">
                <a:solidFill>
                  <a:srgbClr val="2B3361"/>
                </a:solidFill>
                <a:latin typeface="Carlito" pitchFamily="34" charset="0"/>
                <a:ea typeface="Carlito" pitchFamily="34" charset="-122"/>
                <a:cs typeface="Carlito" pitchFamily="34" charset="-120"/>
              </a:rPr>
              <a:t>A fintech startup in Bengaluru stored transaction amounts as </a:t>
            </a:r>
            <a:r>
              <a:rPr lang="en-US" sz="872" dirty="0">
                <a:solidFill>
                  <a:srgbClr val="1E2A78"/>
                </a:solidFill>
                <a:latin typeface="Courier New" pitchFamily="34" charset="0"/>
                <a:ea typeface="Courier New" pitchFamily="34" charset="-122"/>
                <a:cs typeface="Courier New" pitchFamily="34" charset="-120"/>
              </a:rPr>
              <a:t>TEXT</a:t>
            </a:r>
            <a:r>
              <a:rPr lang="en-US" sz="872" dirty="0">
                <a:solidFill>
                  <a:srgbClr val="2B3361"/>
                </a:solidFill>
                <a:latin typeface="Carlito" pitchFamily="34" charset="0"/>
                <a:ea typeface="Carlito" pitchFamily="34" charset="-122"/>
                <a:cs typeface="Carlito" pitchFamily="34" charset="-120"/>
              </a:rPr>
              <a:t> (exactly like yesterday's tables). Their reasoning: </a:t>
            </a:r>
            <a:r>
              <a:rPr lang="en-US" sz="872" i="1" dirty="0">
                <a:solidFill>
                  <a:srgbClr val="2B3361"/>
                </a:solidFill>
                <a:latin typeface="Carlito" pitchFamily="34" charset="0"/>
                <a:ea typeface="Carlito" pitchFamily="34" charset="-122"/>
                <a:cs typeface="Carlito" pitchFamily="34" charset="-120"/>
              </a:rPr>
              <a:t>"We will convert to numbers when we need to calculate."</a:t>
            </a:r>
            <a:r>
              <a:rPr lang="en-US" sz="872" dirty="0">
                <a:solidFill>
                  <a:srgbClr val="2B3361"/>
                </a:solidFill>
                <a:latin typeface="Carlito" pitchFamily="34" charset="0"/>
                <a:ea typeface="Carlito" pitchFamily="34" charset="-122"/>
                <a:cs typeface="Carlito" pitchFamily="34" charset="-120"/>
              </a:rPr>
              <a:t> Sound familiar?</a:t>
            </a:r>
            <a:endParaRPr lang="en-US" sz="872" dirty="0"/>
          </a:p>
        </p:txBody>
      </p:sp>
      <p:sp>
        <p:nvSpPr>
          <p:cNvPr id="8" name="Text 6"/>
          <p:cNvSpPr/>
          <p:nvPr/>
        </p:nvSpPr>
        <p:spPr>
          <a:xfrm>
            <a:off x="457200" y="2303078"/>
            <a:ext cx="4270116" cy="147590"/>
          </a:xfrm>
          <a:prstGeom prst="rect">
            <a:avLst/>
          </a:prstGeom>
          <a:noFill/>
          <a:ln/>
        </p:spPr>
        <p:txBody>
          <a:bodyPr wrap="square" lIns="0" tIns="0" rIns="0" bIns="0" rtlCol="0" anchor="t">
            <a:normAutofit/>
          </a:bodyPr>
          <a:lstStyle/>
          <a:p>
            <a:pPr marL="0" indent="0" algn="l">
              <a:lnSpc>
                <a:spcPts val="928"/>
              </a:lnSpc>
              <a:buNone/>
            </a:pPr>
            <a:r>
              <a:rPr lang="en-US" sz="800" b="1" kern="0" spc="99" dirty="0">
                <a:solidFill>
                  <a:srgbClr val="5A6485"/>
                </a:solidFill>
                <a:latin typeface="Carlito" pitchFamily="34" charset="0"/>
                <a:ea typeface="Carlito" pitchFamily="34" charset="-122"/>
                <a:cs typeface="Carlito" pitchFamily="34" charset="-120"/>
              </a:rPr>
              <a:t>HOW TEXT DESTROYED THEIR FINANCES</a:t>
            </a:r>
            <a:endParaRPr lang="en-US" sz="800" dirty="0"/>
          </a:p>
        </p:txBody>
      </p:sp>
      <p:sp>
        <p:nvSpPr>
          <p:cNvPr id="9" name="Text 7"/>
          <p:cNvSpPr/>
          <p:nvPr/>
        </p:nvSpPr>
        <p:spPr>
          <a:xfrm>
            <a:off x="457200" y="2478100"/>
            <a:ext cx="3721001" cy="598218"/>
          </a:xfrm>
          <a:prstGeom prst="rect">
            <a:avLst/>
          </a:prstGeom>
          <a:noFill/>
          <a:ln/>
        </p:spPr>
        <p:txBody>
          <a:bodyPr wrap="square" lIns="0" tIns="0" rIns="0" bIns="0" rtlCol="0" anchor="t"/>
          <a:lstStyle/>
          <a:p>
            <a:pPr marL="342900" indent="-342900" algn="l">
              <a:lnSpc>
                <a:spcPts val="1181"/>
              </a:lnSpc>
              <a:buSzPct val="100000"/>
              <a:buChar char="•"/>
            </a:pPr>
            <a:r>
              <a:rPr lang="en-US" sz="800" dirty="0">
                <a:solidFill>
                  <a:srgbClr val="2B3361"/>
                </a:solidFill>
                <a:latin typeface="Carlito" pitchFamily="34" charset="0"/>
                <a:ea typeface="Carlito" pitchFamily="34" charset="-122"/>
                <a:cs typeface="Carlito" pitchFamily="34" charset="-120"/>
              </a:rPr>
              <a:t>Frontend bug sent 'Rs.15,000' as amount — silently accepted.</a:t>
            </a:r>
            <a:endParaRPr lang="en-US" sz="800" dirty="0"/>
          </a:p>
          <a:p>
            <a:pPr marL="342900" indent="-342900" algn="l">
              <a:lnSpc>
                <a:spcPts val="1181"/>
              </a:lnSpc>
              <a:buSzPct val="100000"/>
              <a:buChar char="•"/>
            </a:pPr>
            <a:r>
              <a:rPr lang="en-US" sz="800" dirty="0">
                <a:solidFill>
                  <a:srgbClr val="2B3361"/>
                </a:solidFill>
                <a:latin typeface="Carlito" pitchFamily="34" charset="0"/>
                <a:ea typeface="Carlito" pitchFamily="34" charset="-122"/>
                <a:cs typeface="Carlito" pitchFamily="34" charset="-120"/>
              </a:rPr>
              <a:t>Another row held 'fifteen thousand' — also accepted.</a:t>
            </a:r>
            <a:endParaRPr lang="en-US" sz="800" dirty="0"/>
          </a:p>
          <a:p>
            <a:pPr marL="342900" indent="-342900" algn="l">
              <a:lnSpc>
                <a:spcPts val="1181"/>
              </a:lnSpc>
              <a:buSzPct val="100000"/>
              <a:buChar char="•"/>
            </a:pPr>
            <a:r>
              <a:rPr lang="en-US" sz="800" dirty="0">
                <a:solidFill>
                  <a:srgbClr val="2B3361"/>
                </a:solidFill>
                <a:latin typeface="Carlito" pitchFamily="34" charset="0"/>
                <a:ea typeface="Carlito" pitchFamily="34" charset="-122"/>
                <a:cs typeface="Carlito" pitchFamily="34" charset="-120"/>
              </a:rPr>
              <a:t>Nobody noticed for 8 months — until quarter-end SUM(amount::NUMERIC) failed.</a:t>
            </a:r>
            <a:endParaRPr lang="en-US" sz="800" dirty="0"/>
          </a:p>
        </p:txBody>
      </p:sp>
      <p:sp>
        <p:nvSpPr>
          <p:cNvPr id="10" name="Text 8"/>
          <p:cNvSpPr/>
          <p:nvPr/>
        </p:nvSpPr>
        <p:spPr>
          <a:xfrm>
            <a:off x="4378226" y="1628775"/>
            <a:ext cx="4308574" cy="1517935"/>
          </a:xfrm>
          <a:prstGeom prst="roundRect">
            <a:avLst>
              <a:gd name="adj" fmla="val 8785"/>
            </a:avLst>
          </a:prstGeom>
          <a:solidFill>
            <a:srgbClr val="FFFFFF"/>
          </a:solidFill>
          <a:ln/>
          <a:effectLst>
            <a:outerShdw blurRad="133350" dist="38100" dir="5400000" algn="bl" rotWithShape="0">
              <a:srgbClr val="0F172A">
                <a:alpha val="6000"/>
              </a:srgbClr>
            </a:outerShdw>
          </a:effectLst>
        </p:spPr>
        <p:txBody>
          <a:bodyPr wrap="square" rtlCol="0" anchor="ctr"/>
          <a:lstStyle/>
          <a:p>
            <a:pPr marL="0" indent="0">
              <a:buNone/>
            </a:pPr>
            <a:endParaRPr lang="en-US" dirty="0"/>
          </a:p>
        </p:txBody>
      </p:sp>
      <p:sp>
        <p:nvSpPr>
          <p:cNvPr id="11" name="Shape 9"/>
          <p:cNvSpPr/>
          <p:nvPr/>
        </p:nvSpPr>
        <p:spPr>
          <a:xfrm>
            <a:off x="4378226" y="1632347"/>
            <a:ext cx="4308574" cy="0"/>
          </a:xfrm>
          <a:prstGeom prst="line">
            <a:avLst/>
          </a:prstGeom>
          <a:noFill/>
          <a:ln w="7144">
            <a:solidFill>
              <a:srgbClr val="DDE2F0"/>
            </a:solidFill>
            <a:prstDash val="solid"/>
          </a:ln>
        </p:spPr>
      </p:sp>
      <p:sp>
        <p:nvSpPr>
          <p:cNvPr id="12" name="Shape 10"/>
          <p:cNvSpPr/>
          <p:nvPr/>
        </p:nvSpPr>
        <p:spPr>
          <a:xfrm>
            <a:off x="8683228" y="1628775"/>
            <a:ext cx="0" cy="1517935"/>
          </a:xfrm>
          <a:prstGeom prst="line">
            <a:avLst/>
          </a:prstGeom>
          <a:noFill/>
          <a:ln w="7144">
            <a:solidFill>
              <a:srgbClr val="DDE2F0"/>
            </a:solidFill>
            <a:prstDash val="solid"/>
          </a:ln>
        </p:spPr>
      </p:sp>
      <p:sp>
        <p:nvSpPr>
          <p:cNvPr id="13" name="Shape 11"/>
          <p:cNvSpPr/>
          <p:nvPr/>
        </p:nvSpPr>
        <p:spPr>
          <a:xfrm>
            <a:off x="4378226" y="3143138"/>
            <a:ext cx="4308574" cy="0"/>
          </a:xfrm>
          <a:prstGeom prst="line">
            <a:avLst/>
          </a:prstGeom>
          <a:noFill/>
          <a:ln w="7144">
            <a:solidFill>
              <a:srgbClr val="DDE2F0"/>
            </a:solidFill>
            <a:prstDash val="solid"/>
          </a:ln>
        </p:spPr>
      </p:sp>
      <p:sp>
        <p:nvSpPr>
          <p:cNvPr id="14" name="Shape 12"/>
          <p:cNvSpPr/>
          <p:nvPr/>
        </p:nvSpPr>
        <p:spPr>
          <a:xfrm>
            <a:off x="4396085" y="1628775"/>
            <a:ext cx="0" cy="1517935"/>
          </a:xfrm>
          <a:prstGeom prst="line">
            <a:avLst/>
          </a:prstGeom>
          <a:noFill/>
          <a:ln w="35719">
            <a:solidFill>
              <a:srgbClr val="F59E0B"/>
            </a:solidFill>
            <a:prstDash val="solid"/>
          </a:ln>
        </p:spPr>
      </p:sp>
      <p:sp>
        <p:nvSpPr>
          <p:cNvPr id="15" name="Text 13"/>
          <p:cNvSpPr/>
          <p:nvPr/>
        </p:nvSpPr>
        <p:spPr>
          <a:xfrm>
            <a:off x="4599682" y="1807369"/>
            <a:ext cx="3894237" cy="147590"/>
          </a:xfrm>
          <a:prstGeom prst="rect">
            <a:avLst/>
          </a:prstGeom>
          <a:noFill/>
          <a:ln/>
        </p:spPr>
        <p:txBody>
          <a:bodyPr wrap="none" lIns="0" tIns="0" rIns="0" bIns="0" rtlCol="0" anchor="t">
            <a:normAutofit/>
          </a:bodyPr>
          <a:lstStyle/>
          <a:p>
            <a:pPr marL="0" indent="0" algn="l">
              <a:lnSpc>
                <a:spcPts val="928"/>
              </a:lnSpc>
              <a:buNone/>
            </a:pPr>
            <a:r>
              <a:rPr lang="en-US" sz="800" b="1" kern="0" spc="99" dirty="0">
                <a:solidFill>
                  <a:srgbClr val="D97706"/>
                </a:solidFill>
                <a:latin typeface="Carlito" pitchFamily="34" charset="0"/>
                <a:ea typeface="Carlito" pitchFamily="34" charset="-122"/>
                <a:cs typeface="Carlito" pitchFamily="34" charset="-120"/>
              </a:rPr>
              <a:t>THE PAYMENT INSERTS</a:t>
            </a:r>
            <a:endParaRPr lang="en-US" sz="800" dirty="0"/>
          </a:p>
        </p:txBody>
      </p:sp>
      <p:sp>
        <p:nvSpPr>
          <p:cNvPr id="16" name="Text 14"/>
          <p:cNvSpPr/>
          <p:nvPr/>
        </p:nvSpPr>
        <p:spPr>
          <a:xfrm>
            <a:off x="4585395" y="2059758"/>
            <a:ext cx="3887093" cy="978582"/>
          </a:xfrm>
          <a:prstGeom prst="roundRect">
            <a:avLst>
              <a:gd name="adj" fmla="val 11680"/>
            </a:avLst>
          </a:prstGeom>
          <a:solidFill>
            <a:srgbClr val="0F172A"/>
          </a:solidFill>
          <a:ln w="7144">
            <a:solidFill>
              <a:srgbClr val="1E293B"/>
            </a:solidFill>
            <a:prstDash val="solid"/>
          </a:ln>
          <a:effectLst>
            <a:outerShdw blurRad="133350" dist="38100" dir="5400000" algn="bl" rotWithShape="0">
              <a:srgbClr val="0F172A">
                <a:alpha val="18000"/>
              </a:srgbClr>
            </a:outerShdw>
          </a:effectLst>
        </p:spPr>
        <p:txBody>
          <a:bodyPr wrap="square" rtlCol="0" anchor="ctr"/>
          <a:lstStyle/>
          <a:p>
            <a:pPr marL="0" indent="0">
              <a:buNone/>
            </a:pPr>
            <a:endParaRPr lang="en-US" dirty="0"/>
          </a:p>
        </p:txBody>
      </p:sp>
      <p:sp>
        <p:nvSpPr>
          <p:cNvPr id="17" name="Text 15"/>
          <p:cNvSpPr/>
          <p:nvPr/>
        </p:nvSpPr>
        <p:spPr>
          <a:xfrm>
            <a:off x="4599682" y="1982390"/>
            <a:ext cx="3894237" cy="1080109"/>
          </a:xfrm>
          <a:prstGeom prst="rect">
            <a:avLst/>
          </a:prstGeom>
          <a:noFill/>
          <a:ln/>
        </p:spPr>
        <p:txBody>
          <a:bodyPr wrap="square" lIns="128588" tIns="114300" rIns="128588" bIns="114300" rtlCol="0" anchor="t"/>
          <a:lstStyle/>
          <a:p>
            <a:pPr marL="171450" indent="-171450" algn="l">
              <a:lnSpc>
                <a:spcPts val="1170"/>
              </a:lnSpc>
              <a:buFont typeface="Wingdings" panose="05000000000000000000" pitchFamily="2" charset="2"/>
              <a:buChar char="n"/>
            </a:pPr>
            <a:r>
              <a:rPr lang="en-US" sz="800" i="1" dirty="0">
                <a:solidFill>
                  <a:srgbClr val="64748B"/>
                </a:solidFill>
                <a:latin typeface="Courier New" pitchFamily="34" charset="0"/>
                <a:ea typeface="Courier New" pitchFamily="34" charset="-122"/>
                <a:cs typeface="Courier New" pitchFamily="34" charset="-120"/>
              </a:rPr>
              <a:t>Their payment INSERTs looked fine (all TEXT):</a:t>
            </a:r>
            <a:r>
              <a:rPr lang="en-US" sz="800" dirty="0">
                <a:solidFill>
                  <a:srgbClr val="E2E8F0"/>
                </a:solidFill>
                <a:latin typeface="Courier New" pitchFamily="34" charset="0"/>
                <a:ea typeface="Courier New" pitchFamily="34" charset="-122"/>
                <a:cs typeface="Courier New" pitchFamily="34" charset="-120"/>
              </a:rPr>
              <a:t> </a:t>
            </a:r>
          </a:p>
          <a:p>
            <a:pPr marL="171450" indent="-171450" algn="l">
              <a:lnSpc>
                <a:spcPts val="1170"/>
              </a:lnSpc>
              <a:buFont typeface="Wingdings" panose="05000000000000000000" pitchFamily="2" charset="2"/>
              <a:buChar char="n"/>
            </a:pPr>
            <a:r>
              <a:rPr lang="en-US" sz="800" dirty="0">
                <a:solidFill>
                  <a:srgbClr val="F472B6"/>
                </a:solidFill>
                <a:latin typeface="Courier New" pitchFamily="34" charset="0"/>
                <a:ea typeface="Courier New" pitchFamily="34" charset="-122"/>
                <a:cs typeface="Courier New" pitchFamily="34" charset="-120"/>
              </a:rPr>
              <a:t>INSERT INTO</a:t>
            </a:r>
            <a:r>
              <a:rPr lang="en-US" sz="800" dirty="0">
                <a:solidFill>
                  <a:srgbClr val="E2E8F0"/>
                </a:solidFill>
                <a:latin typeface="Courier New" pitchFamily="34" charset="0"/>
                <a:ea typeface="Courier New" pitchFamily="34" charset="-122"/>
                <a:cs typeface="Courier New" pitchFamily="34" charset="-120"/>
              </a:rPr>
              <a:t> payments (user_id, amount) </a:t>
            </a:r>
            <a:r>
              <a:rPr lang="en-US" sz="800" dirty="0">
                <a:solidFill>
                  <a:srgbClr val="F472B6"/>
                </a:solidFill>
                <a:latin typeface="Courier New" pitchFamily="34" charset="0"/>
                <a:ea typeface="Courier New" pitchFamily="34" charset="-122"/>
                <a:cs typeface="Courier New" pitchFamily="34" charset="-120"/>
              </a:rPr>
              <a:t>VALUES</a:t>
            </a:r>
            <a:r>
              <a:rPr lang="en-US" sz="800" dirty="0">
                <a:solidFill>
                  <a:srgbClr val="E2E8F0"/>
                </a:solidFill>
                <a:latin typeface="Courier New" pitchFamily="34" charset="0"/>
                <a:ea typeface="Courier New" pitchFamily="34" charset="-122"/>
                <a:cs typeface="Courier New" pitchFamily="34" charset="-120"/>
              </a:rPr>
              <a:t> (</a:t>
            </a:r>
            <a:r>
              <a:rPr lang="en-US" sz="800" dirty="0">
                <a:solidFill>
                  <a:srgbClr val="A5F4BA"/>
                </a:solidFill>
                <a:latin typeface="Liberation Sans Narrow" pitchFamily="34" charset="0"/>
                <a:ea typeface="Liberation Sans Narrow" pitchFamily="34" charset="-122"/>
                <a:cs typeface="Liberation Sans Narrow" pitchFamily="34" charset="-120"/>
              </a:rPr>
              <a:t>'1001'</a:t>
            </a:r>
            <a:r>
              <a:rPr lang="en-US" sz="800" dirty="0">
                <a:solidFill>
                  <a:srgbClr val="E2E8F0"/>
                </a:solidFill>
                <a:latin typeface="Courier New" pitchFamily="34" charset="0"/>
                <a:ea typeface="Courier New" pitchFamily="34" charset="-122"/>
                <a:cs typeface="Courier New" pitchFamily="34" charset="-120"/>
              </a:rPr>
              <a:t>, </a:t>
            </a:r>
            <a:r>
              <a:rPr lang="en-US" sz="800" dirty="0">
                <a:solidFill>
                  <a:srgbClr val="A5F4BA"/>
                </a:solidFill>
                <a:latin typeface="Liberation Sans Narrow" pitchFamily="34" charset="0"/>
                <a:ea typeface="Liberation Sans Narrow" pitchFamily="34" charset="-122"/>
                <a:cs typeface="Liberation Sans Narrow" pitchFamily="34" charset="-120"/>
              </a:rPr>
              <a:t>'15000'</a:t>
            </a:r>
            <a:r>
              <a:rPr lang="en-US" sz="800" dirty="0">
                <a:solidFill>
                  <a:srgbClr val="E2E8F0"/>
                </a:solidFill>
                <a:latin typeface="Courier New" pitchFamily="34" charset="0"/>
                <a:ea typeface="Courier New" pitchFamily="34" charset="-122"/>
                <a:cs typeface="Courier New" pitchFamily="34" charset="-120"/>
              </a:rPr>
              <a:t>); </a:t>
            </a:r>
            <a:r>
              <a:rPr lang="en-US" sz="800" i="1" dirty="0">
                <a:solidFill>
                  <a:srgbClr val="64748B"/>
                </a:solidFill>
                <a:latin typeface="Courier New" pitchFamily="34" charset="0"/>
                <a:ea typeface="Courier New" pitchFamily="34" charset="-122"/>
                <a:cs typeface="Courier New" pitchFamily="34" charset="-120"/>
              </a:rPr>
              <a:t>-- But one day a frontend bug sent these — and TEXT ACCEPTED them all:</a:t>
            </a:r>
            <a:r>
              <a:rPr lang="en-US" sz="800" dirty="0">
                <a:solidFill>
                  <a:srgbClr val="E2E8F0"/>
                </a:solidFill>
                <a:latin typeface="Courier New" pitchFamily="34" charset="0"/>
                <a:ea typeface="Courier New" pitchFamily="34" charset="-122"/>
                <a:cs typeface="Courier New" pitchFamily="34" charset="-120"/>
              </a:rPr>
              <a:t> </a:t>
            </a:r>
          </a:p>
          <a:p>
            <a:pPr marL="171450" indent="-171450" algn="l">
              <a:lnSpc>
                <a:spcPts val="1170"/>
              </a:lnSpc>
              <a:buFont typeface="Wingdings" panose="05000000000000000000" pitchFamily="2" charset="2"/>
              <a:buChar char="n"/>
            </a:pPr>
            <a:r>
              <a:rPr lang="en-US" sz="800" dirty="0">
                <a:solidFill>
                  <a:srgbClr val="F472B6"/>
                </a:solidFill>
                <a:latin typeface="Courier New" pitchFamily="34" charset="0"/>
                <a:ea typeface="Courier New" pitchFamily="34" charset="-122"/>
                <a:cs typeface="Courier New" pitchFamily="34" charset="-120"/>
              </a:rPr>
              <a:t>INSERT INTO</a:t>
            </a:r>
            <a:r>
              <a:rPr lang="en-US" sz="800" dirty="0">
                <a:solidFill>
                  <a:srgbClr val="E2E8F0"/>
                </a:solidFill>
                <a:latin typeface="Courier New" pitchFamily="34" charset="0"/>
                <a:ea typeface="Courier New" pitchFamily="34" charset="-122"/>
                <a:cs typeface="Courier New" pitchFamily="34" charset="-120"/>
              </a:rPr>
              <a:t> payments (user_id, amount) </a:t>
            </a:r>
            <a:r>
              <a:rPr lang="en-US" sz="800" dirty="0">
                <a:solidFill>
                  <a:srgbClr val="F472B6"/>
                </a:solidFill>
                <a:latin typeface="Courier New" pitchFamily="34" charset="0"/>
                <a:ea typeface="Courier New" pitchFamily="34" charset="-122"/>
                <a:cs typeface="Courier New" pitchFamily="34" charset="-120"/>
              </a:rPr>
              <a:t>VALUES</a:t>
            </a:r>
            <a:r>
              <a:rPr lang="en-US" sz="800" dirty="0">
                <a:solidFill>
                  <a:srgbClr val="E2E8F0"/>
                </a:solidFill>
                <a:latin typeface="Courier New" pitchFamily="34" charset="0"/>
                <a:ea typeface="Courier New" pitchFamily="34" charset="-122"/>
                <a:cs typeface="Courier New" pitchFamily="34" charset="-120"/>
              </a:rPr>
              <a:t> (</a:t>
            </a:r>
            <a:r>
              <a:rPr lang="en-US" sz="800" dirty="0">
                <a:solidFill>
                  <a:srgbClr val="A5F4BA"/>
                </a:solidFill>
                <a:latin typeface="Liberation Sans Narrow" pitchFamily="34" charset="0"/>
                <a:ea typeface="Liberation Sans Narrow" pitchFamily="34" charset="-122"/>
                <a:cs typeface="Liberation Sans Narrow" pitchFamily="34" charset="-120"/>
              </a:rPr>
              <a:t>'1003'</a:t>
            </a:r>
            <a:r>
              <a:rPr lang="en-US" sz="800" dirty="0">
                <a:solidFill>
                  <a:srgbClr val="E2E8F0"/>
                </a:solidFill>
                <a:latin typeface="Courier New" pitchFamily="34" charset="0"/>
                <a:ea typeface="Courier New" pitchFamily="34" charset="-122"/>
                <a:cs typeface="Courier New" pitchFamily="34" charset="-120"/>
              </a:rPr>
              <a:t>, </a:t>
            </a:r>
            <a:r>
              <a:rPr lang="en-US" sz="800" dirty="0">
                <a:solidFill>
                  <a:srgbClr val="A5F4BA"/>
                </a:solidFill>
                <a:latin typeface="Liberation Sans Narrow" pitchFamily="34" charset="0"/>
                <a:ea typeface="Liberation Sans Narrow" pitchFamily="34" charset="-122"/>
                <a:cs typeface="Liberation Sans Narrow" pitchFamily="34" charset="-120"/>
              </a:rPr>
              <a:t>'Rs.15,000'</a:t>
            </a:r>
            <a:r>
              <a:rPr lang="en-US" sz="800" dirty="0">
                <a:solidFill>
                  <a:srgbClr val="E2E8F0"/>
                </a:solidFill>
                <a:latin typeface="Courier New" pitchFamily="34" charset="0"/>
                <a:ea typeface="Courier New" pitchFamily="34" charset="-122"/>
                <a:cs typeface="Courier New" pitchFamily="34" charset="-120"/>
              </a:rPr>
              <a:t>); </a:t>
            </a:r>
            <a:r>
              <a:rPr lang="en-US" sz="800" dirty="0">
                <a:solidFill>
                  <a:srgbClr val="F472B6"/>
                </a:solidFill>
                <a:latin typeface="Courier New" pitchFamily="34" charset="0"/>
                <a:ea typeface="Courier New" pitchFamily="34" charset="-122"/>
                <a:cs typeface="Courier New" pitchFamily="34" charset="-120"/>
              </a:rPr>
              <a:t>INSERT INTO</a:t>
            </a:r>
            <a:r>
              <a:rPr lang="en-US" sz="800" dirty="0">
                <a:solidFill>
                  <a:srgbClr val="E2E8F0"/>
                </a:solidFill>
                <a:latin typeface="Courier New" pitchFamily="34" charset="0"/>
                <a:ea typeface="Courier New" pitchFamily="34" charset="-122"/>
                <a:cs typeface="Courier New" pitchFamily="34" charset="-120"/>
              </a:rPr>
              <a:t> payments (user_id, amount) </a:t>
            </a:r>
            <a:r>
              <a:rPr lang="en-US" sz="800" dirty="0">
                <a:solidFill>
                  <a:srgbClr val="F472B6"/>
                </a:solidFill>
                <a:latin typeface="Courier New" pitchFamily="34" charset="0"/>
                <a:ea typeface="Courier New" pitchFamily="34" charset="-122"/>
                <a:cs typeface="Courier New" pitchFamily="34" charset="-120"/>
              </a:rPr>
              <a:t>VALUES</a:t>
            </a:r>
            <a:r>
              <a:rPr lang="en-US" sz="800" dirty="0">
                <a:solidFill>
                  <a:srgbClr val="E2E8F0"/>
                </a:solidFill>
                <a:latin typeface="Courier New" pitchFamily="34" charset="0"/>
                <a:ea typeface="Courier New" pitchFamily="34" charset="-122"/>
                <a:cs typeface="Courier New" pitchFamily="34" charset="-120"/>
              </a:rPr>
              <a:t> (</a:t>
            </a:r>
            <a:r>
              <a:rPr lang="en-US" sz="800" dirty="0">
                <a:solidFill>
                  <a:srgbClr val="A5F4BA"/>
                </a:solidFill>
                <a:latin typeface="Liberation Sans Narrow" pitchFamily="34" charset="0"/>
                <a:ea typeface="Liberation Sans Narrow" pitchFamily="34" charset="-122"/>
                <a:cs typeface="Liberation Sans Narrow" pitchFamily="34" charset="-120"/>
              </a:rPr>
              <a:t>'1004'</a:t>
            </a:r>
            <a:r>
              <a:rPr lang="en-US" sz="800" dirty="0">
                <a:solidFill>
                  <a:srgbClr val="E2E8F0"/>
                </a:solidFill>
                <a:latin typeface="Courier New" pitchFamily="34" charset="0"/>
                <a:ea typeface="Courier New" pitchFamily="34" charset="-122"/>
                <a:cs typeface="Courier New" pitchFamily="34" charset="-120"/>
              </a:rPr>
              <a:t>, </a:t>
            </a:r>
            <a:r>
              <a:rPr lang="en-US" sz="800" dirty="0">
                <a:solidFill>
                  <a:srgbClr val="A5F4BA"/>
                </a:solidFill>
                <a:latin typeface="Courier New" pitchFamily="34" charset="0"/>
                <a:ea typeface="Courier New" pitchFamily="34" charset="-122"/>
                <a:cs typeface="Courier New" pitchFamily="34" charset="-120"/>
              </a:rPr>
              <a:t>'fifteen thousand'</a:t>
            </a:r>
            <a:r>
              <a:rPr lang="en-US" sz="800" dirty="0">
                <a:solidFill>
                  <a:srgbClr val="E2E8F0"/>
                </a:solidFill>
                <a:latin typeface="Courier New" pitchFamily="34" charset="0"/>
                <a:ea typeface="Courier New" pitchFamily="34" charset="-122"/>
                <a:cs typeface="Courier New" pitchFamily="34" charset="-120"/>
              </a:rPr>
              <a:t>);</a:t>
            </a:r>
            <a:endParaRPr lang="en-US" sz="800" dirty="0"/>
          </a:p>
        </p:txBody>
      </p:sp>
      <p:sp>
        <p:nvSpPr>
          <p:cNvPr id="18" name="Text 16"/>
          <p:cNvSpPr/>
          <p:nvPr/>
        </p:nvSpPr>
        <p:spPr>
          <a:xfrm>
            <a:off x="457200" y="4897041"/>
            <a:ext cx="8062503" cy="164592"/>
          </a:xfrm>
          <a:prstGeom prst="rect">
            <a:avLst/>
          </a:prstGeom>
          <a:noFill/>
          <a:ln/>
        </p:spPr>
        <p:txBody>
          <a:bodyPr wrap="square" lIns="0" tIns="0" rIns="0" bIns="0" rtlCol="0" anchor="t"/>
          <a:lstStyle/>
          <a:p>
            <a:pPr marL="0" indent="0" algn="l">
              <a:lnSpc>
                <a:spcPts val="928"/>
              </a:lnSpc>
              <a:buNone/>
            </a:pPr>
            <a:r>
              <a:rPr lang="en-US" sz="800" kern="0" spc="50" dirty="0">
                <a:solidFill>
                  <a:srgbClr val="5A6485"/>
                </a:solidFill>
                <a:latin typeface="Liberation Sans Narrow" pitchFamily="34" charset="0"/>
                <a:ea typeface="Liberation Sans Narrow" pitchFamily="34" charset="-122"/>
                <a:cs typeface="Liberation Sans Narrow" pitchFamily="34" charset="-120"/>
              </a:rPr>
              <a:t>STORY · 1 OF 2</a:t>
            </a:r>
            <a:endParaRPr lang="en-US" sz="800" dirty="0"/>
          </a:p>
        </p:txBody>
      </p:sp>
      <p:sp>
        <p:nvSpPr>
          <p:cNvPr id="19" name="Text 17"/>
          <p:cNvSpPr/>
          <p:nvPr/>
        </p:nvSpPr>
        <p:spPr>
          <a:xfrm>
            <a:off x="8533991" y="4897041"/>
            <a:ext cx="379796" cy="164592"/>
          </a:xfrm>
          <a:prstGeom prst="rect">
            <a:avLst/>
          </a:prstGeom>
          <a:noFill/>
          <a:ln/>
        </p:spPr>
        <p:txBody>
          <a:bodyPr wrap="none" lIns="0" tIns="0" rIns="0" bIns="0" rtlCol="0" anchor="t"/>
          <a:lstStyle/>
          <a:p>
            <a:pPr marL="0" indent="0" algn="l">
              <a:lnSpc>
                <a:spcPts val="928"/>
              </a:lnSpc>
              <a:buNone/>
            </a:pPr>
            <a:r>
              <a:rPr lang="en-US" sz="800" kern="0" spc="50" dirty="0">
                <a:solidFill>
                  <a:srgbClr val="5A6485"/>
                </a:solidFill>
                <a:latin typeface="Liberation Sans Narrow" pitchFamily="34" charset="0"/>
                <a:ea typeface="Liberation Sans Narrow" pitchFamily="34" charset="-122"/>
                <a:cs typeface="Liberation Sans Narrow" pitchFamily="34" charset="-120"/>
              </a:rPr>
              <a:t>6 / 54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440930" y="253817"/>
            <a:ext cx="439287" cy="196025"/>
          </a:xfrm>
          <a:prstGeom prst="roundRect">
            <a:avLst>
              <a:gd name="adj" fmla="val 4854215"/>
            </a:avLst>
          </a:prstGeom>
          <a:solidFill>
            <a:srgbClr val="FEF3C7"/>
          </a:solidFill>
          <a:ln/>
        </p:spPr>
        <p:txBody>
          <a:bodyPr wrap="square" rtlCol="0" anchor="ctr"/>
          <a:lstStyle/>
          <a:p>
            <a:pPr marL="0" indent="0">
              <a:buNone/>
            </a:pPr>
            <a:endParaRPr lang="en-US" dirty="0"/>
          </a:p>
        </p:txBody>
      </p:sp>
      <p:sp>
        <p:nvSpPr>
          <p:cNvPr id="3" name="Text 1"/>
          <p:cNvSpPr/>
          <p:nvPr/>
        </p:nvSpPr>
        <p:spPr>
          <a:xfrm>
            <a:off x="456967" y="264319"/>
            <a:ext cx="407213" cy="175022"/>
          </a:xfrm>
          <a:prstGeom prst="rect">
            <a:avLst/>
          </a:prstGeom>
          <a:noFill/>
          <a:ln/>
        </p:spPr>
        <p:txBody>
          <a:bodyPr wrap="none" lIns="0" tIns="0" rIns="0" bIns="0" rtlCol="0" anchor="ctr"/>
          <a:lstStyle/>
          <a:p>
            <a:pPr marL="0" indent="0" algn="ctr">
              <a:lnSpc>
                <a:spcPts val="928"/>
              </a:lnSpc>
              <a:buNone/>
            </a:pPr>
            <a:r>
              <a:rPr lang="en-US" sz="800" b="1" kern="0" spc="50" dirty="0">
                <a:solidFill>
                  <a:srgbClr val="D97706"/>
                </a:solidFill>
                <a:latin typeface="Carlito" pitchFamily="34" charset="0"/>
                <a:ea typeface="Carlito" pitchFamily="34" charset="-122"/>
                <a:cs typeface="Carlito" pitchFamily="34" charset="-120"/>
              </a:rPr>
              <a:t>STORY</a:t>
            </a:r>
            <a:endParaRPr lang="en-US" sz="800" dirty="0"/>
          </a:p>
        </p:txBody>
      </p:sp>
      <p:sp>
        <p:nvSpPr>
          <p:cNvPr id="4" name="Text 2"/>
          <p:cNvSpPr/>
          <p:nvPr/>
        </p:nvSpPr>
        <p:spPr>
          <a:xfrm>
            <a:off x="8136731" y="257175"/>
            <a:ext cx="871133"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5A6485"/>
                </a:solidFill>
                <a:latin typeface="Liberation Sans Narrow" pitchFamily="34" charset="0"/>
                <a:ea typeface="Liberation Sans Narrow" pitchFamily="34" charset="-122"/>
                <a:cs typeface="Liberation Sans Narrow" pitchFamily="34" charset="-120"/>
              </a:rPr>
              <a:t>STORY · 2 / 2</a:t>
            </a:r>
            <a:endParaRPr lang="en-US" sz="800" dirty="0"/>
          </a:p>
        </p:txBody>
      </p:sp>
      <p:sp>
        <p:nvSpPr>
          <p:cNvPr id="5" name="Text 3"/>
          <p:cNvSpPr/>
          <p:nvPr/>
        </p:nvSpPr>
        <p:spPr>
          <a:xfrm>
            <a:off x="457200" y="628650"/>
            <a:ext cx="8636000" cy="294260"/>
          </a:xfrm>
          <a:prstGeom prst="rect">
            <a:avLst/>
          </a:prstGeom>
          <a:noFill/>
          <a:ln/>
        </p:spPr>
        <p:txBody>
          <a:bodyPr wrap="none" lIns="0" tIns="0" rIns="0" bIns="0" rtlCol="0" anchor="t">
            <a:normAutofit/>
          </a:bodyPr>
          <a:lstStyle/>
          <a:p>
            <a:pPr marL="0" indent="0" algn="l">
              <a:lnSpc>
                <a:spcPts val="2309"/>
              </a:lnSpc>
              <a:buNone/>
            </a:pPr>
            <a:r>
              <a:rPr lang="en-US" sz="2138" b="1" kern="0" spc="-38" dirty="0">
                <a:solidFill>
                  <a:srgbClr val="0B1736"/>
                </a:solidFill>
                <a:latin typeface="Liberation Sans Narrow" pitchFamily="34" charset="0"/>
                <a:ea typeface="Liberation Sans Narrow" pitchFamily="34" charset="-122"/>
                <a:cs typeface="Liberation Sans Narrow" pitchFamily="34" charset="-120"/>
              </a:rPr>
              <a:t>The Rs. 34 Lakh Bug — the fix</a:t>
            </a:r>
            <a:endParaRPr lang="en-US" sz="2138" dirty="0"/>
          </a:p>
        </p:txBody>
      </p:sp>
      <p:sp>
        <p:nvSpPr>
          <p:cNvPr id="6" name="Text 4"/>
          <p:cNvSpPr/>
          <p:nvPr/>
        </p:nvSpPr>
        <p:spPr>
          <a:xfrm>
            <a:off x="457200" y="950342"/>
            <a:ext cx="8636000" cy="183599"/>
          </a:xfrm>
          <a:prstGeom prst="rect">
            <a:avLst/>
          </a:prstGeom>
          <a:noFill/>
          <a:ln/>
        </p:spPr>
        <p:txBody>
          <a:bodyPr wrap="square" lIns="0" tIns="0" rIns="0" bIns="0" rtlCol="0" anchor="t"/>
          <a:lstStyle/>
          <a:p>
            <a:pPr marL="0" indent="0" algn="l">
              <a:lnSpc>
                <a:spcPts val="1339"/>
              </a:lnSpc>
              <a:buNone/>
            </a:pPr>
            <a:r>
              <a:rPr lang="en-US" sz="956" i="1" dirty="0">
                <a:solidFill>
                  <a:srgbClr val="5A6485"/>
                </a:solidFill>
                <a:latin typeface="Carlito" pitchFamily="34" charset="0"/>
                <a:ea typeface="Carlito" pitchFamily="34" charset="-122"/>
                <a:cs typeface="Carlito" pitchFamily="34" charset="-120"/>
              </a:rPr>
              <a:t>The fix was one line. The right TYPE.</a:t>
            </a:r>
            <a:endParaRPr lang="en-US" sz="956" dirty="0"/>
          </a:p>
        </p:txBody>
      </p:sp>
      <p:sp>
        <p:nvSpPr>
          <p:cNvPr id="7" name="Text 5"/>
          <p:cNvSpPr/>
          <p:nvPr/>
        </p:nvSpPr>
        <p:spPr>
          <a:xfrm>
            <a:off x="457200" y="1485900"/>
            <a:ext cx="5705339" cy="147590"/>
          </a:xfrm>
          <a:prstGeom prst="rect">
            <a:avLst/>
          </a:prstGeom>
          <a:noFill/>
          <a:ln/>
        </p:spPr>
        <p:txBody>
          <a:bodyPr wrap="none" lIns="0" tIns="0" rIns="0" bIns="0" rtlCol="0" anchor="t">
            <a:normAutofit/>
          </a:bodyPr>
          <a:lstStyle/>
          <a:p>
            <a:pPr marL="0" indent="0" algn="l">
              <a:lnSpc>
                <a:spcPts val="928"/>
              </a:lnSpc>
              <a:buNone/>
            </a:pPr>
            <a:r>
              <a:rPr lang="en-US" sz="800" b="1" kern="0" spc="99" dirty="0">
                <a:solidFill>
                  <a:srgbClr val="5A6485"/>
                </a:solidFill>
                <a:latin typeface="Carlito" pitchFamily="34" charset="0"/>
                <a:ea typeface="Carlito" pitchFamily="34" charset="-122"/>
                <a:cs typeface="Carlito" pitchFamily="34" charset="-120"/>
              </a:rPr>
              <a:t>THE FAILURE + THE FIX</a:t>
            </a:r>
            <a:endParaRPr lang="en-US" sz="800" dirty="0"/>
          </a:p>
        </p:txBody>
      </p:sp>
      <p:sp>
        <p:nvSpPr>
          <p:cNvPr id="8" name="Text 6"/>
          <p:cNvSpPr/>
          <p:nvPr/>
        </p:nvSpPr>
        <p:spPr>
          <a:xfrm>
            <a:off x="460772" y="1664494"/>
            <a:ext cx="4395974" cy="1281906"/>
          </a:xfrm>
          <a:prstGeom prst="roundRect">
            <a:avLst>
              <a:gd name="adj" fmla="val 14480"/>
            </a:avLst>
          </a:prstGeom>
          <a:solidFill>
            <a:srgbClr val="0F172A"/>
          </a:solidFill>
          <a:ln w="7144">
            <a:solidFill>
              <a:srgbClr val="1E293B"/>
            </a:solidFill>
            <a:prstDash val="solid"/>
          </a:ln>
          <a:effectLst>
            <a:outerShdw blurRad="133350" dist="38100" dir="5400000" algn="bl" rotWithShape="0">
              <a:srgbClr val="0F172A">
                <a:alpha val="18000"/>
              </a:srgbClr>
            </a:outerShdw>
          </a:effectLst>
        </p:spPr>
        <p:txBody>
          <a:bodyPr wrap="square" rtlCol="0" anchor="ctr"/>
          <a:lstStyle/>
          <a:p>
            <a:pPr marL="0" indent="0">
              <a:buNone/>
            </a:pPr>
            <a:endParaRPr lang="en-US" dirty="0"/>
          </a:p>
        </p:txBody>
      </p:sp>
      <p:sp>
        <p:nvSpPr>
          <p:cNvPr id="9" name="Text 7"/>
          <p:cNvSpPr/>
          <p:nvPr/>
        </p:nvSpPr>
        <p:spPr>
          <a:xfrm>
            <a:off x="414338" y="1783457"/>
            <a:ext cx="4403117" cy="978774"/>
          </a:xfrm>
          <a:prstGeom prst="rect">
            <a:avLst/>
          </a:prstGeom>
          <a:noFill/>
          <a:ln/>
        </p:spPr>
        <p:txBody>
          <a:bodyPr wrap="square" lIns="128588" tIns="114300" rIns="128588" bIns="114300" rtlCol="0" anchor="t"/>
          <a:lstStyle/>
          <a:p>
            <a:pPr marL="171450" indent="-171450" algn="l">
              <a:lnSpc>
                <a:spcPts val="1090"/>
              </a:lnSpc>
              <a:buFont typeface="Wingdings" panose="05000000000000000000" pitchFamily="2" charset="2"/>
              <a:buChar char="n"/>
            </a:pPr>
            <a:r>
              <a:rPr lang="en-US" sz="800" i="1" dirty="0">
                <a:solidFill>
                  <a:srgbClr val="64748B"/>
                </a:solidFill>
                <a:latin typeface="Courier New" pitchFamily="34" charset="0"/>
                <a:ea typeface="Courier New" pitchFamily="34" charset="-122"/>
                <a:cs typeface="Courier New" pitchFamily="34" charset="-120"/>
              </a:rPr>
              <a:t>Quarter-end report:</a:t>
            </a:r>
            <a:r>
              <a:rPr lang="en-US" sz="800" dirty="0">
                <a:solidFill>
                  <a:srgbClr val="E2E8F0"/>
                </a:solidFill>
                <a:latin typeface="Courier New" pitchFamily="34" charset="0"/>
                <a:ea typeface="Courier New" pitchFamily="34" charset="-122"/>
                <a:cs typeface="Courier New" pitchFamily="34" charset="-120"/>
              </a:rPr>
              <a:t> </a:t>
            </a:r>
            <a:r>
              <a:rPr lang="en-US" sz="800" dirty="0">
                <a:solidFill>
                  <a:srgbClr val="F472B6"/>
                </a:solidFill>
                <a:latin typeface="Courier New" pitchFamily="34" charset="0"/>
                <a:ea typeface="Courier New" pitchFamily="34" charset="-122"/>
                <a:cs typeface="Courier New" pitchFamily="34" charset="-120"/>
              </a:rPr>
              <a:t>SELECT SUM</a:t>
            </a:r>
            <a:r>
              <a:rPr lang="en-US" sz="800" dirty="0">
                <a:solidFill>
                  <a:srgbClr val="E2E8F0"/>
                </a:solidFill>
                <a:latin typeface="Courier New" pitchFamily="34" charset="0"/>
                <a:ea typeface="Courier New" pitchFamily="34" charset="-122"/>
                <a:cs typeface="Courier New" pitchFamily="34" charset="-120"/>
              </a:rPr>
              <a:t>(amount::</a:t>
            </a:r>
            <a:r>
              <a:rPr lang="en-US" sz="800" dirty="0">
                <a:solidFill>
                  <a:srgbClr val="F472B6"/>
                </a:solidFill>
                <a:latin typeface="Courier New" pitchFamily="34" charset="0"/>
                <a:ea typeface="Courier New" pitchFamily="34" charset="-122"/>
                <a:cs typeface="Courier New" pitchFamily="34" charset="-120"/>
              </a:rPr>
              <a:t>NUMERIC</a:t>
            </a:r>
            <a:r>
              <a:rPr lang="en-US" sz="800" dirty="0">
                <a:solidFill>
                  <a:srgbClr val="E2E8F0"/>
                </a:solidFill>
                <a:latin typeface="Courier New" pitchFamily="34" charset="0"/>
                <a:ea typeface="Courier New" pitchFamily="34" charset="-122"/>
                <a:cs typeface="Courier New" pitchFamily="34" charset="-120"/>
              </a:rPr>
              <a:t>) </a:t>
            </a:r>
            <a:r>
              <a:rPr lang="en-US" sz="800" dirty="0">
                <a:solidFill>
                  <a:srgbClr val="F472B6"/>
                </a:solidFill>
                <a:latin typeface="Courier New" pitchFamily="34" charset="0"/>
                <a:ea typeface="Courier New" pitchFamily="34" charset="-122"/>
                <a:cs typeface="Courier New" pitchFamily="34" charset="-120"/>
              </a:rPr>
              <a:t>FROM</a:t>
            </a:r>
            <a:r>
              <a:rPr lang="en-US" sz="800" dirty="0">
                <a:solidFill>
                  <a:srgbClr val="E2E8F0"/>
                </a:solidFill>
                <a:latin typeface="Courier New" pitchFamily="34" charset="0"/>
                <a:ea typeface="Courier New" pitchFamily="34" charset="-122"/>
                <a:cs typeface="Courier New" pitchFamily="34" charset="-120"/>
              </a:rPr>
              <a:t> payments; </a:t>
            </a:r>
            <a:r>
              <a:rPr lang="en-US" sz="800" i="1" dirty="0">
                <a:solidFill>
                  <a:srgbClr val="64748B"/>
                </a:solidFill>
                <a:latin typeface="Courier New" pitchFamily="34" charset="0"/>
                <a:ea typeface="Courier New" pitchFamily="34" charset="-122"/>
                <a:cs typeface="Courier New" pitchFamily="34" charset="-120"/>
              </a:rPr>
              <a:t>-- ERROR: invalid input syntax for type numeric: 'Rs.15,000'</a:t>
            </a:r>
            <a:r>
              <a:rPr lang="en-US" sz="800" dirty="0">
                <a:solidFill>
                  <a:srgbClr val="E2E8F0"/>
                </a:solidFill>
                <a:latin typeface="Courier New" pitchFamily="34" charset="0"/>
                <a:ea typeface="Courier New" pitchFamily="34" charset="-122"/>
                <a:cs typeface="Courier New" pitchFamily="34" charset="-120"/>
              </a:rPr>
              <a:t> </a:t>
            </a:r>
            <a:r>
              <a:rPr lang="en-US" sz="800" i="1" dirty="0">
                <a:solidFill>
                  <a:srgbClr val="64748B"/>
                </a:solidFill>
                <a:latin typeface="Courier New" pitchFamily="34" charset="0"/>
                <a:ea typeface="Courier New" pitchFamily="34" charset="-122"/>
                <a:cs typeface="Courier New" pitchFamily="34" charset="-120"/>
              </a:rPr>
              <a:t>-- The fix was one line — the RIGHT TYPE:</a:t>
            </a:r>
            <a:r>
              <a:rPr lang="en-US" sz="800" dirty="0">
                <a:solidFill>
                  <a:srgbClr val="E2E8F0"/>
                </a:solidFill>
                <a:latin typeface="Courier New" pitchFamily="34" charset="0"/>
                <a:ea typeface="Courier New" pitchFamily="34" charset="-122"/>
                <a:cs typeface="Courier New" pitchFamily="34" charset="-120"/>
              </a:rPr>
              <a:t> </a:t>
            </a:r>
          </a:p>
          <a:p>
            <a:pPr marL="171450" indent="-171450" algn="l">
              <a:lnSpc>
                <a:spcPts val="1090"/>
              </a:lnSpc>
              <a:buFont typeface="Wingdings" panose="05000000000000000000" pitchFamily="2" charset="2"/>
              <a:buChar char="n"/>
            </a:pPr>
            <a:r>
              <a:rPr lang="en-US" sz="800" dirty="0">
                <a:solidFill>
                  <a:srgbClr val="F472B6"/>
                </a:solidFill>
                <a:latin typeface="Courier New" pitchFamily="34" charset="0"/>
                <a:ea typeface="Courier New" pitchFamily="34" charset="-122"/>
                <a:cs typeface="Courier New" pitchFamily="34" charset="-120"/>
              </a:rPr>
              <a:t>ALTER TABLE</a:t>
            </a:r>
            <a:r>
              <a:rPr lang="en-US" sz="800" dirty="0">
                <a:solidFill>
                  <a:srgbClr val="E2E8F0"/>
                </a:solidFill>
                <a:latin typeface="Courier New" pitchFamily="34" charset="0"/>
                <a:ea typeface="Courier New" pitchFamily="34" charset="-122"/>
                <a:cs typeface="Courier New" pitchFamily="34" charset="-120"/>
              </a:rPr>
              <a:t> payments </a:t>
            </a:r>
            <a:r>
              <a:rPr lang="en-US" sz="800" dirty="0">
                <a:solidFill>
                  <a:srgbClr val="F472B6"/>
                </a:solidFill>
                <a:latin typeface="Courier New" pitchFamily="34" charset="0"/>
                <a:ea typeface="Courier New" pitchFamily="34" charset="-122"/>
                <a:cs typeface="Courier New" pitchFamily="34" charset="-120"/>
              </a:rPr>
              <a:t>ALTER COLUMN</a:t>
            </a:r>
            <a:r>
              <a:rPr lang="en-US" sz="800" dirty="0">
                <a:solidFill>
                  <a:srgbClr val="E2E8F0"/>
                </a:solidFill>
                <a:latin typeface="Courier New" pitchFamily="34" charset="0"/>
                <a:ea typeface="Courier New" pitchFamily="34" charset="-122"/>
                <a:cs typeface="Courier New" pitchFamily="34" charset="-120"/>
              </a:rPr>
              <a:t> amount </a:t>
            </a:r>
            <a:r>
              <a:rPr lang="en-US" sz="800" dirty="0">
                <a:solidFill>
                  <a:srgbClr val="F472B6"/>
                </a:solidFill>
                <a:latin typeface="Courier New" pitchFamily="34" charset="0"/>
                <a:ea typeface="Courier New" pitchFamily="34" charset="-122"/>
                <a:cs typeface="Courier New" pitchFamily="34" charset="-120"/>
              </a:rPr>
              <a:t>TYPE NUMERIC</a:t>
            </a:r>
            <a:r>
              <a:rPr lang="en-US" sz="800" dirty="0">
                <a:solidFill>
                  <a:srgbClr val="E2E8F0"/>
                </a:solidFill>
                <a:latin typeface="Courier New" pitchFamily="34" charset="0"/>
                <a:ea typeface="Courier New" pitchFamily="34" charset="-122"/>
                <a:cs typeface="Courier New" pitchFamily="34" charset="-120"/>
              </a:rPr>
              <a:t>(</a:t>
            </a:r>
            <a:r>
              <a:rPr lang="en-US" sz="800" dirty="0">
                <a:solidFill>
                  <a:srgbClr val="FBBF24"/>
                </a:solidFill>
                <a:latin typeface="Liberation Sans Narrow" pitchFamily="34" charset="0"/>
                <a:ea typeface="Liberation Sans Narrow" pitchFamily="34" charset="-122"/>
                <a:cs typeface="Liberation Sans Narrow" pitchFamily="34" charset="-120"/>
              </a:rPr>
              <a:t>12</a:t>
            </a:r>
            <a:r>
              <a:rPr lang="en-US" sz="800" dirty="0">
                <a:solidFill>
                  <a:srgbClr val="E2E8F0"/>
                </a:solidFill>
                <a:latin typeface="Courier New" pitchFamily="34" charset="0"/>
                <a:ea typeface="Courier New" pitchFamily="34" charset="-122"/>
                <a:cs typeface="Courier New" pitchFamily="34" charset="-120"/>
              </a:rPr>
              <a:t>,</a:t>
            </a:r>
            <a:r>
              <a:rPr lang="en-US" sz="800" dirty="0">
                <a:solidFill>
                  <a:srgbClr val="FBBF24"/>
                </a:solidFill>
                <a:latin typeface="Liberation Sans Narrow" pitchFamily="34" charset="0"/>
                <a:ea typeface="Liberation Sans Narrow" pitchFamily="34" charset="-122"/>
                <a:cs typeface="Liberation Sans Narrow" pitchFamily="34" charset="-120"/>
              </a:rPr>
              <a:t>2</a:t>
            </a:r>
            <a:r>
              <a:rPr lang="en-US" sz="800" dirty="0">
                <a:solidFill>
                  <a:srgbClr val="E2E8F0"/>
                </a:solidFill>
                <a:latin typeface="Courier New" pitchFamily="34" charset="0"/>
                <a:ea typeface="Courier New" pitchFamily="34" charset="-122"/>
                <a:cs typeface="Courier New" pitchFamily="34" charset="-120"/>
              </a:rPr>
              <a:t>) </a:t>
            </a:r>
            <a:r>
              <a:rPr lang="en-US" sz="800" dirty="0">
                <a:solidFill>
                  <a:srgbClr val="F472B6"/>
                </a:solidFill>
                <a:latin typeface="Courier New" pitchFamily="34" charset="0"/>
                <a:ea typeface="Courier New" pitchFamily="34" charset="-122"/>
                <a:cs typeface="Courier New" pitchFamily="34" charset="-120"/>
              </a:rPr>
              <a:t>USING</a:t>
            </a:r>
            <a:r>
              <a:rPr lang="en-US" sz="800" dirty="0">
                <a:solidFill>
                  <a:srgbClr val="E2E8F0"/>
                </a:solidFill>
                <a:latin typeface="Courier New" pitchFamily="34" charset="0"/>
                <a:ea typeface="Courier New" pitchFamily="34" charset="-122"/>
                <a:cs typeface="Courier New" pitchFamily="34" charset="-120"/>
              </a:rPr>
              <a:t> amount::numeric; </a:t>
            </a:r>
            <a:r>
              <a:rPr lang="en-US" sz="800" i="1" dirty="0">
                <a:solidFill>
                  <a:srgbClr val="64748B"/>
                </a:solidFill>
                <a:latin typeface="Courier New" pitchFamily="34" charset="0"/>
                <a:ea typeface="Courier New" pitchFamily="34" charset="-122"/>
                <a:cs typeface="Courier New" pitchFamily="34" charset="-120"/>
              </a:rPr>
              <a:t>-- Now 'Rs.15,000' is REJECTED at INSERT time,</a:t>
            </a:r>
            <a:r>
              <a:rPr lang="en-US" sz="800" dirty="0">
                <a:solidFill>
                  <a:srgbClr val="E2E8F0"/>
                </a:solidFill>
                <a:latin typeface="Courier New" pitchFamily="34" charset="0"/>
                <a:ea typeface="Courier New" pitchFamily="34" charset="-122"/>
                <a:cs typeface="Courier New" pitchFamily="34" charset="-120"/>
              </a:rPr>
              <a:t> </a:t>
            </a:r>
            <a:r>
              <a:rPr lang="en-US" sz="800" i="1" dirty="0">
                <a:solidFill>
                  <a:srgbClr val="64748B"/>
                </a:solidFill>
                <a:latin typeface="Liberation Sans Narrow" pitchFamily="34" charset="0"/>
                <a:ea typeface="Liberation Sans Narrow" pitchFamily="34" charset="-122"/>
                <a:cs typeface="Liberation Sans Narrow" pitchFamily="34" charset="-120"/>
              </a:rPr>
              <a:t>-- not discovered 8 months later.</a:t>
            </a:r>
            <a:endParaRPr lang="en-US" sz="800" dirty="0"/>
          </a:p>
        </p:txBody>
      </p:sp>
      <p:sp>
        <p:nvSpPr>
          <p:cNvPr id="10" name="Text 8"/>
          <p:cNvSpPr/>
          <p:nvPr/>
        </p:nvSpPr>
        <p:spPr>
          <a:xfrm>
            <a:off x="5017480" y="1485900"/>
            <a:ext cx="3669320" cy="1520949"/>
          </a:xfrm>
          <a:prstGeom prst="roundRect">
            <a:avLst>
              <a:gd name="adj" fmla="val 8768"/>
            </a:avLst>
          </a:prstGeom>
          <a:solidFill>
            <a:srgbClr val="F59E0B"/>
          </a:solidFill>
          <a:ln/>
          <a:effectLst>
            <a:outerShdw blurRad="209550" dist="76200" dir="5400000" algn="bl" rotWithShape="0">
              <a:srgbClr val="F59E0B">
                <a:alpha val="25000"/>
              </a:srgbClr>
            </a:outerShdw>
          </a:effectLst>
        </p:spPr>
        <p:txBody>
          <a:bodyPr wrap="square" rtlCol="0" anchor="ctr"/>
          <a:lstStyle/>
          <a:p>
            <a:pPr marL="0" indent="0">
              <a:buNone/>
            </a:pPr>
            <a:endParaRPr lang="en-US" dirty="0"/>
          </a:p>
        </p:txBody>
      </p:sp>
      <p:sp>
        <p:nvSpPr>
          <p:cNvPr id="11" name="Text 9"/>
          <p:cNvSpPr/>
          <p:nvPr/>
        </p:nvSpPr>
        <p:spPr>
          <a:xfrm>
            <a:off x="5217505" y="1671638"/>
            <a:ext cx="3269270" cy="147590"/>
          </a:xfrm>
          <a:prstGeom prst="rect">
            <a:avLst/>
          </a:prstGeom>
          <a:noFill/>
          <a:ln/>
        </p:spPr>
        <p:txBody>
          <a:bodyPr wrap="none" lIns="0" tIns="0" rIns="0" bIns="0" rtlCol="0" anchor="t">
            <a:normAutofit/>
          </a:bodyPr>
          <a:lstStyle/>
          <a:p>
            <a:pPr marL="0" indent="0" algn="l">
              <a:lnSpc>
                <a:spcPts val="928"/>
              </a:lnSpc>
              <a:buNone/>
            </a:pPr>
            <a:r>
              <a:rPr lang="en-US" sz="800" b="1" kern="0" spc="99" dirty="0">
                <a:solidFill>
                  <a:srgbClr val="141B52">
                    <a:alpha val="70000"/>
                  </a:srgbClr>
                </a:solidFill>
                <a:latin typeface="Carlito" pitchFamily="34" charset="0"/>
                <a:ea typeface="Carlito" pitchFamily="34" charset="-122"/>
                <a:cs typeface="Carlito" pitchFamily="34" charset="-120"/>
              </a:rPr>
              <a:t>THE PUNCHLINE</a:t>
            </a:r>
            <a:endParaRPr lang="en-US" sz="800" dirty="0"/>
          </a:p>
        </p:txBody>
      </p:sp>
      <p:sp>
        <p:nvSpPr>
          <p:cNvPr id="12" name="Text 10"/>
          <p:cNvSpPr/>
          <p:nvPr/>
        </p:nvSpPr>
        <p:spPr>
          <a:xfrm>
            <a:off x="5217505" y="1846659"/>
            <a:ext cx="3269270" cy="473282"/>
          </a:xfrm>
          <a:prstGeom prst="rect">
            <a:avLst/>
          </a:prstGeom>
          <a:noFill/>
          <a:ln/>
        </p:spPr>
        <p:txBody>
          <a:bodyPr wrap="square" lIns="0" tIns="0" rIns="0" bIns="0" rtlCol="0" anchor="t"/>
          <a:lstStyle/>
          <a:p>
            <a:pPr marL="0" indent="0" algn="l">
              <a:lnSpc>
                <a:spcPts val="1726"/>
              </a:lnSpc>
              <a:buNone/>
            </a:pPr>
            <a:r>
              <a:rPr lang="en-US" sz="1463" b="1" kern="0" spc="-15" dirty="0">
                <a:solidFill>
                  <a:srgbClr val="0B1736"/>
                </a:solidFill>
                <a:latin typeface="Carlito" pitchFamily="34" charset="0"/>
                <a:ea typeface="Carlito" pitchFamily="34" charset="-122"/>
                <a:cs typeface="Carlito" pitchFamily="34" charset="-120"/>
              </a:rPr>
              <a:t>Data types are your FIRST line of defense.</a:t>
            </a:r>
            <a:endParaRPr lang="en-US" sz="1463" dirty="0"/>
          </a:p>
        </p:txBody>
      </p:sp>
      <p:sp>
        <p:nvSpPr>
          <p:cNvPr id="13" name="Text 11"/>
          <p:cNvSpPr/>
          <p:nvPr/>
        </p:nvSpPr>
        <p:spPr>
          <a:xfrm>
            <a:off x="5217505" y="2356321"/>
            <a:ext cx="3269270" cy="464790"/>
          </a:xfrm>
          <a:prstGeom prst="rect">
            <a:avLst/>
          </a:prstGeom>
          <a:noFill/>
          <a:ln/>
        </p:spPr>
        <p:txBody>
          <a:bodyPr wrap="square" lIns="0" tIns="0" rIns="0" bIns="0" rtlCol="0" anchor="t"/>
          <a:lstStyle/>
          <a:p>
            <a:pPr marL="0" indent="0" algn="l">
              <a:lnSpc>
                <a:spcPts val="1221"/>
              </a:lnSpc>
              <a:buNone/>
            </a:pPr>
            <a:r>
              <a:rPr lang="en-US" sz="800" dirty="0">
                <a:solidFill>
                  <a:srgbClr val="2B3361"/>
                </a:solidFill>
                <a:latin typeface="Carlito" pitchFamily="34" charset="0"/>
                <a:ea typeface="Carlito" pitchFamily="34" charset="-122"/>
                <a:cs typeface="Carlito" pitchFamily="34" charset="-120"/>
              </a:rPr>
              <a:t>The right type </a:t>
            </a:r>
            <a:r>
              <a:rPr lang="en-US" sz="800" b="1" dirty="0">
                <a:solidFill>
                  <a:srgbClr val="2B3361"/>
                </a:solidFill>
                <a:latin typeface="Carlito" pitchFamily="34" charset="0"/>
                <a:ea typeface="Carlito" pitchFamily="34" charset="-122"/>
                <a:cs typeface="Carlito" pitchFamily="34" charset="-120"/>
              </a:rPr>
              <a:t>REJECTS</a:t>
            </a:r>
            <a:r>
              <a:rPr lang="en-US" sz="800" dirty="0">
                <a:solidFill>
                  <a:srgbClr val="2B3361"/>
                </a:solidFill>
                <a:latin typeface="Carlito" pitchFamily="34" charset="0"/>
                <a:ea typeface="Carlito" pitchFamily="34" charset="-122"/>
                <a:cs typeface="Carlito" pitchFamily="34" charset="-120"/>
              </a:rPr>
              <a:t> bad data at the gate so you never clean it later. That is why we do </a:t>
            </a:r>
            <a:r>
              <a:rPr lang="en-US" sz="800" b="1" dirty="0">
                <a:solidFill>
                  <a:srgbClr val="2B3361"/>
                </a:solidFill>
                <a:latin typeface="Carlito" pitchFamily="34" charset="0"/>
                <a:ea typeface="Carlito" pitchFamily="34" charset="-122"/>
                <a:cs typeface="Carlito" pitchFamily="34" charset="-120"/>
              </a:rPr>
              <a:t>NOT</a:t>
            </a:r>
            <a:r>
              <a:rPr lang="en-US" sz="800" dirty="0">
                <a:solidFill>
                  <a:srgbClr val="2B3361"/>
                </a:solidFill>
                <a:latin typeface="Carlito" pitchFamily="34" charset="0"/>
                <a:ea typeface="Carlito" pitchFamily="34" charset="-122"/>
                <a:cs typeface="Carlito" pitchFamily="34" charset="-120"/>
              </a:rPr>
              <a:t> leave columns as </a:t>
            </a:r>
            <a:r>
              <a:rPr lang="en-US" sz="800" dirty="0">
                <a:solidFill>
                  <a:srgbClr val="141B52"/>
                </a:solidFill>
                <a:latin typeface="Courier New" pitchFamily="34" charset="0"/>
                <a:ea typeface="Courier New" pitchFamily="34" charset="-122"/>
                <a:cs typeface="Courier New" pitchFamily="34" charset="-120"/>
              </a:rPr>
              <a:t>TEXT</a:t>
            </a:r>
            <a:r>
              <a:rPr lang="en-US" sz="800" dirty="0">
                <a:solidFill>
                  <a:srgbClr val="2B3361"/>
                </a:solidFill>
                <a:latin typeface="Carlito" pitchFamily="34" charset="0"/>
                <a:ea typeface="Carlito" pitchFamily="34" charset="-122"/>
                <a:cs typeface="Carlito" pitchFamily="34" charset="-120"/>
              </a:rPr>
              <a:t> in real systems — we choose the correct type for each.</a:t>
            </a:r>
            <a:endParaRPr lang="en-US" sz="800" dirty="0"/>
          </a:p>
        </p:txBody>
      </p:sp>
      <p:sp>
        <p:nvSpPr>
          <p:cNvPr id="14" name="Text 12"/>
          <p:cNvSpPr/>
          <p:nvPr/>
        </p:nvSpPr>
        <p:spPr>
          <a:xfrm>
            <a:off x="457200" y="4897041"/>
            <a:ext cx="8062503" cy="164592"/>
          </a:xfrm>
          <a:prstGeom prst="rect">
            <a:avLst/>
          </a:prstGeom>
          <a:noFill/>
          <a:ln/>
        </p:spPr>
        <p:txBody>
          <a:bodyPr wrap="square" lIns="0" tIns="0" rIns="0" bIns="0" rtlCol="0" anchor="t"/>
          <a:lstStyle/>
          <a:p>
            <a:pPr marL="0" indent="0" algn="l">
              <a:lnSpc>
                <a:spcPts val="928"/>
              </a:lnSpc>
              <a:buNone/>
            </a:pPr>
            <a:r>
              <a:rPr lang="en-US" sz="800" kern="0" spc="50" dirty="0">
                <a:solidFill>
                  <a:srgbClr val="5A6485"/>
                </a:solidFill>
                <a:latin typeface="Liberation Sans Narrow" pitchFamily="34" charset="0"/>
                <a:ea typeface="Liberation Sans Narrow" pitchFamily="34" charset="-122"/>
                <a:cs typeface="Liberation Sans Narrow" pitchFamily="34" charset="-120"/>
              </a:rPr>
              <a:t>STORY · 2 OF 2</a:t>
            </a:r>
            <a:endParaRPr lang="en-US" sz="800" dirty="0"/>
          </a:p>
        </p:txBody>
      </p:sp>
      <p:sp>
        <p:nvSpPr>
          <p:cNvPr id="15" name="Text 13"/>
          <p:cNvSpPr/>
          <p:nvPr/>
        </p:nvSpPr>
        <p:spPr>
          <a:xfrm>
            <a:off x="8533991" y="4897041"/>
            <a:ext cx="379796" cy="164592"/>
          </a:xfrm>
          <a:prstGeom prst="rect">
            <a:avLst/>
          </a:prstGeom>
          <a:noFill/>
          <a:ln/>
        </p:spPr>
        <p:txBody>
          <a:bodyPr wrap="none" lIns="0" tIns="0" rIns="0" bIns="0" rtlCol="0" anchor="t"/>
          <a:lstStyle/>
          <a:p>
            <a:pPr marL="0" indent="0" algn="l">
              <a:lnSpc>
                <a:spcPts val="928"/>
              </a:lnSpc>
              <a:buNone/>
            </a:pPr>
            <a:r>
              <a:rPr lang="en-US" sz="800" kern="0" spc="50" dirty="0">
                <a:solidFill>
                  <a:srgbClr val="5A6485"/>
                </a:solidFill>
                <a:latin typeface="Liberation Sans Narrow" pitchFamily="34" charset="0"/>
                <a:ea typeface="Liberation Sans Narrow" pitchFamily="34" charset="-122"/>
                <a:cs typeface="Liberation Sans Narrow" pitchFamily="34" charset="-120"/>
              </a:rPr>
              <a:t>7 / 54</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7875873" y="257175"/>
            <a:ext cx="1213175"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5A6485"/>
                </a:solidFill>
                <a:latin typeface="Liberation Sans Narrow" pitchFamily="34" charset="0"/>
                <a:ea typeface="Liberation Sans Narrow" pitchFamily="34" charset="-122"/>
                <a:cs typeface="Liberation Sans Narrow" pitchFamily="34" charset="-120"/>
              </a:rPr>
              <a:t>DATA TYPES · 1 / 5</a:t>
            </a:r>
            <a:endParaRPr lang="en-US" sz="800" dirty="0"/>
          </a:p>
        </p:txBody>
      </p:sp>
      <p:sp>
        <p:nvSpPr>
          <p:cNvPr id="3" name="Text 1"/>
          <p:cNvSpPr/>
          <p:nvPr/>
        </p:nvSpPr>
        <p:spPr>
          <a:xfrm>
            <a:off x="457200" y="385763"/>
            <a:ext cx="8636000" cy="283991"/>
          </a:xfrm>
          <a:prstGeom prst="rect">
            <a:avLst/>
          </a:prstGeom>
          <a:noFill/>
          <a:ln/>
        </p:spPr>
        <p:txBody>
          <a:bodyPr wrap="square" lIns="0" tIns="0" rIns="0" bIns="0" rtlCol="0" anchor="t">
            <a:normAutofit/>
          </a:bodyPr>
          <a:lstStyle/>
          <a:p>
            <a:pPr marL="0" indent="0" algn="l">
              <a:lnSpc>
                <a:spcPts val="2228"/>
              </a:lnSpc>
              <a:buNone/>
            </a:pPr>
            <a:r>
              <a:rPr lang="en-US" sz="2025" b="1" kern="0" spc="-30" dirty="0">
                <a:solidFill>
                  <a:srgbClr val="0B1736"/>
                </a:solidFill>
                <a:latin typeface="Carlito" pitchFamily="34" charset="0"/>
                <a:ea typeface="Carlito" pitchFamily="34" charset="-122"/>
                <a:cs typeface="Carlito" pitchFamily="34" charset="-120"/>
              </a:rPr>
              <a:t>Whole Numbers and Auto-IDs</a:t>
            </a:r>
            <a:endParaRPr lang="en-US" sz="2025" dirty="0"/>
          </a:p>
        </p:txBody>
      </p:sp>
      <p:sp>
        <p:nvSpPr>
          <p:cNvPr id="4" name="Text 2"/>
          <p:cNvSpPr/>
          <p:nvPr/>
        </p:nvSpPr>
        <p:spPr>
          <a:xfrm>
            <a:off x="457200" y="697185"/>
            <a:ext cx="8636000" cy="185166"/>
          </a:xfrm>
          <a:prstGeom prst="rect">
            <a:avLst/>
          </a:prstGeom>
          <a:noFill/>
          <a:ln/>
        </p:spPr>
        <p:txBody>
          <a:bodyPr wrap="square" lIns="0" tIns="0" rIns="0" bIns="0" rtlCol="0" anchor="t"/>
          <a:lstStyle/>
          <a:p>
            <a:pPr marL="0" indent="0" algn="l">
              <a:lnSpc>
                <a:spcPts val="1350"/>
              </a:lnSpc>
              <a:buNone/>
            </a:pPr>
            <a:r>
              <a:rPr lang="en-US" sz="900" dirty="0">
                <a:solidFill>
                  <a:srgbClr val="5A6485"/>
                </a:solidFill>
                <a:latin typeface="Carlito" pitchFamily="34" charset="0"/>
                <a:ea typeface="Carlito" pitchFamily="34" charset="-122"/>
                <a:cs typeface="Carlito" pitchFamily="34" charset="-120"/>
              </a:rPr>
              <a:t>Integer types and the </a:t>
            </a:r>
            <a:r>
              <a:rPr lang="en-US" sz="900" dirty="0">
                <a:solidFill>
                  <a:srgbClr val="1E2A78"/>
                </a:solidFill>
                <a:latin typeface="Courier New" pitchFamily="34" charset="0"/>
                <a:ea typeface="Courier New" pitchFamily="34" charset="-122"/>
                <a:cs typeface="Courier New" pitchFamily="34" charset="-120"/>
              </a:rPr>
              <a:t>SERIAL</a:t>
            </a:r>
            <a:r>
              <a:rPr lang="en-US" sz="900" dirty="0">
                <a:solidFill>
                  <a:srgbClr val="5A6485"/>
                </a:solidFill>
                <a:latin typeface="Carlito" pitchFamily="34" charset="0"/>
                <a:ea typeface="Carlito" pitchFamily="34" charset="-122"/>
                <a:cs typeface="Carlito" pitchFamily="34" charset="-120"/>
              </a:rPr>
              <a:t> auto-counter.</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57275"/>
          <a:ext cx="8229600" cy="1810228"/>
        </p:xfrm>
        <a:graphic>
          <a:graphicData uri="http://schemas.openxmlformats.org/drawingml/2006/table">
            <a:tbl>
              <a:tblPr/>
              <a:tblGrid>
                <a:gridCol w="1810494">
                  <a:extLst>
                    <a:ext uri="{9D8B030D-6E8A-4147-A177-3AD203B41FA5}">
                      <a16:colId xmlns:a16="http://schemas.microsoft.com/office/drawing/2014/main" val="20000"/>
                    </a:ext>
                  </a:extLst>
                </a:gridCol>
                <a:gridCol w="3127177">
                  <a:extLst>
                    <a:ext uri="{9D8B030D-6E8A-4147-A177-3AD203B41FA5}">
                      <a16:colId xmlns:a16="http://schemas.microsoft.com/office/drawing/2014/main" val="20001"/>
                    </a:ext>
                  </a:extLst>
                </a:gridCol>
                <a:gridCol w="3291929">
                  <a:extLst>
                    <a:ext uri="{9D8B030D-6E8A-4147-A177-3AD203B41FA5}">
                      <a16:colId xmlns:a16="http://schemas.microsoft.com/office/drawing/2014/main" val="20002"/>
                    </a:ext>
                  </a:extLst>
                </a:gridCol>
              </a:tblGrid>
              <a:tr h="0">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Type</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A78"/>
                    </a:solidFill>
                  </a:tcPr>
                </a:tc>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Range / Behavior</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A78"/>
                    </a:solidFill>
                  </a:tcPr>
                </a:tc>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Use For</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A78"/>
                    </a:solidFill>
                  </a:tcPr>
                </a:tc>
                <a:extLst>
                  <a:ext uri="{0D108BD9-81ED-4DB2-BD59-A6C34878D82A}">
                    <a16:rowId xmlns:a16="http://schemas.microsoft.com/office/drawing/2014/main" val="10000"/>
                  </a:ext>
                </a:extLst>
              </a:tr>
              <a:tr h="0">
                <a:tc>
                  <a:txBody>
                    <a:bodyPr/>
                    <a:lstStyle/>
                    <a:p>
                      <a:pPr marL="0" indent="0" algn="l">
                        <a:buNone/>
                      </a:pPr>
                      <a:r>
                        <a:rPr lang="en-US" sz="800" dirty="0">
                          <a:solidFill>
                            <a:srgbClr val="1E2A78"/>
                          </a:solidFill>
                          <a:latin typeface="Courier New" pitchFamily="34" charset="0"/>
                          <a:ea typeface="Courier New" pitchFamily="34" charset="-122"/>
                          <a:cs typeface="Courier New" pitchFamily="34" charset="-120"/>
                        </a:rPr>
                        <a:t>SMALLINT</a:t>
                      </a:r>
                      <a:endParaRPr lang="en-US" sz="800" dirty="0">
                        <a:latin typeface="Courier New" charset="0"/>
                        <a:ea typeface="Courier New" charset="0"/>
                        <a:cs typeface="Courier New" charset="0"/>
                      </a:endParaRPr>
                    </a:p>
                  </a:txBody>
                  <a:tcPr marL="78581" marR="100013" marT="100013"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-32,768 to 32,767</a:t>
                      </a:r>
                      <a:endParaRPr lang="en-US" sz="800" dirty="0">
                        <a:latin typeface="Carlito" charset="0"/>
                        <a:ea typeface="Carlito" charset="0"/>
                        <a:cs typeface="Carlito" charset="0"/>
                      </a:endParaRPr>
                    </a:p>
                  </a:txBody>
                  <a:tcPr marL="78581" marR="100013" marT="100013"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age, rating, floor number</a:t>
                      </a:r>
                      <a:endParaRPr lang="en-US" sz="800" dirty="0">
                        <a:latin typeface="Carlito" charset="0"/>
                        <a:ea typeface="Carlito" charset="0"/>
                        <a:cs typeface="Carlito" charset="0"/>
                      </a:endParaRPr>
                    </a:p>
                  </a:txBody>
                  <a:tcPr marL="78581" marR="100013" marT="100013"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800" dirty="0">
                          <a:solidFill>
                            <a:srgbClr val="1E2A78"/>
                          </a:solidFill>
                          <a:latin typeface="Courier New" pitchFamily="34" charset="0"/>
                          <a:ea typeface="Courier New" pitchFamily="34" charset="-122"/>
                          <a:cs typeface="Courier New" pitchFamily="34" charset="-120"/>
                        </a:rPr>
                        <a:t>INT / INTEGER</a:t>
                      </a:r>
                      <a:endParaRPr lang="en-US" sz="800" dirty="0">
                        <a:latin typeface="Courier New" charset="0"/>
                        <a:ea typeface="Courier New" charset="0"/>
                        <a:cs typeface="Courier New" charset="0"/>
                      </a:endParaRPr>
                    </a:p>
                  </a:txBody>
                  <a:tcPr marL="78581" marR="100013" marT="100013"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+/- 2.1 billion</a:t>
                      </a:r>
                      <a:endParaRPr lang="en-US" sz="800" dirty="0">
                        <a:latin typeface="Carlito" charset="0"/>
                        <a:ea typeface="Carlito" charset="0"/>
                        <a:cs typeface="Carlito" charset="0"/>
                      </a:endParaRPr>
                    </a:p>
                  </a:txBody>
                  <a:tcPr marL="78581" marR="100013" marT="100013"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most IDs, quantities, counts</a:t>
                      </a:r>
                      <a:endParaRPr lang="en-US" sz="800" dirty="0">
                        <a:latin typeface="Carlito" charset="0"/>
                        <a:ea typeface="Carlito" charset="0"/>
                        <a:cs typeface="Carlito" charset="0"/>
                      </a:endParaRPr>
                    </a:p>
                  </a:txBody>
                  <a:tcPr marL="78581" marR="100013" marT="100013"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800" dirty="0">
                          <a:solidFill>
                            <a:srgbClr val="1E2A78"/>
                          </a:solidFill>
                          <a:latin typeface="Courier New" pitchFamily="34" charset="0"/>
                          <a:ea typeface="Courier New" pitchFamily="34" charset="-122"/>
                          <a:cs typeface="Courier New" pitchFamily="34" charset="-120"/>
                        </a:rPr>
                        <a:t>BIGINT</a:t>
                      </a:r>
                      <a:endParaRPr lang="en-US" sz="800" dirty="0">
                        <a:latin typeface="Courier New" charset="0"/>
                        <a:ea typeface="Courier New" charset="0"/>
                        <a:cs typeface="Courier New" charset="0"/>
                      </a:endParaRPr>
                    </a:p>
                  </a:txBody>
                  <a:tcPr marL="78581" marR="100013" marT="100013"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+/- 9.2 quintillion</a:t>
                      </a:r>
                      <a:endParaRPr lang="en-US" sz="800" dirty="0">
                        <a:latin typeface="Carlito" charset="0"/>
                        <a:ea typeface="Carlito" charset="0"/>
                        <a:cs typeface="Carlito" charset="0"/>
                      </a:endParaRPr>
                    </a:p>
                  </a:txBody>
                  <a:tcPr marL="78581" marR="100013" marT="100013"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views, likes, huge counters</a:t>
                      </a:r>
                      <a:endParaRPr lang="en-US" sz="800" dirty="0">
                        <a:latin typeface="Carlito" charset="0"/>
                        <a:ea typeface="Carlito" charset="0"/>
                        <a:cs typeface="Carlito" charset="0"/>
                      </a:endParaRPr>
                    </a:p>
                  </a:txBody>
                  <a:tcPr marL="78581" marR="100013" marT="100013"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800" dirty="0">
                          <a:solidFill>
                            <a:srgbClr val="1E2A78"/>
                          </a:solidFill>
                          <a:latin typeface="Courier New" pitchFamily="34" charset="0"/>
                          <a:ea typeface="Courier New" pitchFamily="34" charset="-122"/>
                          <a:cs typeface="Courier New" pitchFamily="34" charset="-120"/>
                        </a:rPr>
                        <a:t>SERIAL</a:t>
                      </a:r>
                      <a:endParaRPr lang="en-US" sz="800" dirty="0">
                        <a:latin typeface="Courier New" charset="0"/>
                        <a:ea typeface="Courier New" charset="0"/>
                        <a:cs typeface="Courier New" charset="0"/>
                      </a:endParaRPr>
                    </a:p>
                  </a:txBody>
                  <a:tcPr marL="78581" marR="100013" marT="100013"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auto 1,2,3... (an auto INT)</a:t>
                      </a:r>
                      <a:endParaRPr lang="en-US" sz="800" dirty="0">
                        <a:latin typeface="Carlito" charset="0"/>
                        <a:ea typeface="Carlito" charset="0"/>
                        <a:cs typeface="Carlito" charset="0"/>
                      </a:endParaRPr>
                    </a:p>
                  </a:txBody>
                  <a:tcPr marL="78581" marR="100013" marT="100013"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auto-generated primary keys</a:t>
                      </a:r>
                      <a:endParaRPr lang="en-US" sz="800" dirty="0">
                        <a:latin typeface="Carlito" charset="0"/>
                        <a:ea typeface="Carlito" charset="0"/>
                        <a:cs typeface="Carlito" charset="0"/>
                      </a:endParaRPr>
                    </a:p>
                  </a:txBody>
                  <a:tcPr marL="78581" marR="100013" marT="100013"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lgn="l">
                        <a:buNone/>
                      </a:pPr>
                      <a:r>
                        <a:rPr lang="en-US" sz="800" dirty="0">
                          <a:solidFill>
                            <a:srgbClr val="1E2A78"/>
                          </a:solidFill>
                          <a:latin typeface="Courier New" pitchFamily="34" charset="0"/>
                          <a:ea typeface="Courier New" pitchFamily="34" charset="-122"/>
                          <a:cs typeface="Courier New" pitchFamily="34" charset="-120"/>
                        </a:rPr>
                        <a:t>BIGSERIAL</a:t>
                      </a:r>
                      <a:endParaRPr lang="en-US" sz="800" dirty="0">
                        <a:latin typeface="Courier New" charset="0"/>
                        <a:ea typeface="Courier New" charset="0"/>
                        <a:cs typeface="Courier New" charset="0"/>
                      </a:endParaRPr>
                    </a:p>
                  </a:txBody>
                  <a:tcPr marL="78581" marR="100013" marT="100013"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auto, BIGINT-sized</a:t>
                      </a:r>
                      <a:endParaRPr lang="en-US" sz="800" dirty="0">
                        <a:latin typeface="Carlito" charset="0"/>
                        <a:ea typeface="Carlito" charset="0"/>
                        <a:cs typeface="Carlito" charset="0"/>
                      </a:endParaRPr>
                    </a:p>
                  </a:txBody>
                  <a:tcPr marL="78581" marR="100013" marT="100013"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huge tables</a:t>
                      </a:r>
                      <a:endParaRPr lang="en-US" sz="800" dirty="0">
                        <a:latin typeface="Carlito" charset="0"/>
                        <a:ea typeface="Carlito" charset="0"/>
                        <a:cs typeface="Carlito" charset="0"/>
                      </a:endParaRPr>
                    </a:p>
                  </a:txBody>
                  <a:tcPr marL="78581" marR="100013" marT="100013"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p:nvPr/>
        </p:nvSpPr>
        <p:spPr>
          <a:xfrm>
            <a:off x="460772" y="4084439"/>
            <a:ext cx="4710075" cy="483989"/>
          </a:xfrm>
          <a:prstGeom prst="roundRect">
            <a:avLst>
              <a:gd name="adj" fmla="val 23616"/>
            </a:avLst>
          </a:prstGeom>
          <a:solidFill>
            <a:srgbClr val="0F172A"/>
          </a:solidFill>
          <a:ln w="7144">
            <a:solidFill>
              <a:srgbClr val="1E293B"/>
            </a:solidFill>
            <a:prstDash val="solid"/>
          </a:ln>
          <a:effectLst>
            <a:outerShdw blurRad="133350" dist="38100" dir="5400000" algn="bl" rotWithShape="0">
              <a:srgbClr val="0F172A">
                <a:alpha val="18000"/>
              </a:srgbClr>
            </a:outerShdw>
          </a:effectLst>
        </p:spPr>
        <p:txBody>
          <a:bodyPr wrap="square" rtlCol="0" anchor="ctr"/>
          <a:lstStyle/>
          <a:p>
            <a:pPr marL="0" indent="0">
              <a:buNone/>
            </a:pPr>
            <a:endParaRPr lang="en-US" dirty="0"/>
          </a:p>
        </p:txBody>
      </p:sp>
      <p:sp>
        <p:nvSpPr>
          <p:cNvPr id="7" name="Text 4"/>
          <p:cNvSpPr/>
          <p:nvPr/>
        </p:nvSpPr>
        <p:spPr>
          <a:xfrm>
            <a:off x="457200" y="4080867"/>
            <a:ext cx="4717219" cy="603504"/>
          </a:xfrm>
          <a:prstGeom prst="rect">
            <a:avLst/>
          </a:prstGeom>
          <a:noFill/>
          <a:ln/>
        </p:spPr>
        <p:txBody>
          <a:bodyPr wrap="square" lIns="128588" tIns="100013" rIns="128588" bIns="100013" rtlCol="0" anchor="t"/>
          <a:lstStyle/>
          <a:p>
            <a:pPr marL="0" indent="0" algn="l">
              <a:lnSpc>
                <a:spcPts val="1090"/>
              </a:lnSpc>
              <a:buNone/>
            </a:pPr>
            <a:r>
              <a:rPr lang="en-US" sz="800" i="1" dirty="0">
                <a:solidFill>
                  <a:srgbClr val="64748B"/>
                </a:solidFill>
                <a:latin typeface="Courier New" pitchFamily="34" charset="0"/>
                <a:ea typeface="Courier New" pitchFamily="34" charset="-122"/>
                <a:cs typeface="Courier New" pitchFamily="34" charset="-120"/>
              </a:rPr>
              <a:t>-- SERIAL auto-generates ids — you never type them:</a:t>
            </a:r>
            <a:r>
              <a:rPr lang="en-US" sz="800" dirty="0">
                <a:solidFill>
                  <a:srgbClr val="E2E8F0"/>
                </a:solidFill>
                <a:latin typeface="Courier New" pitchFamily="34" charset="0"/>
                <a:ea typeface="Courier New" pitchFamily="34" charset="-122"/>
                <a:cs typeface="Courier New" pitchFamily="34" charset="-120"/>
              </a:rPr>
              <a:t> </a:t>
            </a:r>
            <a:r>
              <a:rPr lang="en-US" sz="800" dirty="0">
                <a:solidFill>
                  <a:srgbClr val="F472B6"/>
                </a:solidFill>
                <a:latin typeface="Courier New" pitchFamily="34" charset="0"/>
                <a:ea typeface="Courier New" pitchFamily="34" charset="-122"/>
                <a:cs typeface="Courier New" pitchFamily="34" charset="-120"/>
              </a:rPr>
              <a:t>INSERT INTO</a:t>
            </a:r>
            <a:r>
              <a:rPr lang="en-US" sz="800" dirty="0">
                <a:solidFill>
                  <a:srgbClr val="E2E8F0"/>
                </a:solidFill>
                <a:latin typeface="Courier New" pitchFamily="34" charset="0"/>
                <a:ea typeface="Courier New" pitchFamily="34" charset="-122"/>
                <a:cs typeface="Courier New" pitchFamily="34" charset="-120"/>
              </a:rPr>
              <a:t> t (name) </a:t>
            </a:r>
            <a:r>
              <a:rPr lang="en-US" sz="800" dirty="0">
                <a:solidFill>
                  <a:srgbClr val="F472B6"/>
                </a:solidFill>
                <a:latin typeface="Courier New" pitchFamily="34" charset="0"/>
                <a:ea typeface="Courier New" pitchFamily="34" charset="-122"/>
                <a:cs typeface="Courier New" pitchFamily="34" charset="-120"/>
              </a:rPr>
              <a:t>VALUES</a:t>
            </a:r>
            <a:r>
              <a:rPr lang="en-US" sz="800" dirty="0">
                <a:solidFill>
                  <a:srgbClr val="E2E8F0"/>
                </a:solidFill>
                <a:latin typeface="Courier New" pitchFamily="34" charset="0"/>
                <a:ea typeface="Courier New" pitchFamily="34" charset="-122"/>
                <a:cs typeface="Courier New" pitchFamily="34" charset="-120"/>
              </a:rPr>
              <a:t> (</a:t>
            </a:r>
            <a:r>
              <a:rPr lang="en-US" sz="800" dirty="0">
                <a:solidFill>
                  <a:srgbClr val="A5F4BA"/>
                </a:solidFill>
                <a:latin typeface="Courier New" pitchFamily="34" charset="0"/>
                <a:ea typeface="Courier New" pitchFamily="34" charset="-122"/>
                <a:cs typeface="Courier New" pitchFamily="34" charset="-120"/>
              </a:rPr>
              <a:t>'Rahul'</a:t>
            </a:r>
            <a:r>
              <a:rPr lang="en-US" sz="800" dirty="0">
                <a:solidFill>
                  <a:srgbClr val="E2E8F0"/>
                </a:solidFill>
                <a:latin typeface="Courier New" pitchFamily="34" charset="0"/>
                <a:ea typeface="Courier New" pitchFamily="34" charset="-122"/>
                <a:cs typeface="Courier New" pitchFamily="34" charset="-120"/>
              </a:rPr>
              <a:t>); </a:t>
            </a:r>
            <a:r>
              <a:rPr lang="en-US" sz="800" i="1" dirty="0">
                <a:solidFill>
                  <a:srgbClr val="64748B"/>
                </a:solidFill>
                <a:latin typeface="Liberation Sans Narrow" pitchFamily="34" charset="0"/>
                <a:ea typeface="Liberation Sans Narrow" pitchFamily="34" charset="-122"/>
                <a:cs typeface="Liberation Sans Narrow" pitchFamily="34" charset="-120"/>
              </a:rPr>
              <a:t>-- id becomes 1</a:t>
            </a:r>
            <a:r>
              <a:rPr lang="en-US" sz="800" dirty="0">
                <a:solidFill>
                  <a:srgbClr val="E2E8F0"/>
                </a:solidFill>
                <a:latin typeface="Courier New" pitchFamily="34" charset="0"/>
                <a:ea typeface="Courier New" pitchFamily="34" charset="-122"/>
                <a:cs typeface="Courier New" pitchFamily="34" charset="-120"/>
              </a:rPr>
              <a:t> </a:t>
            </a:r>
            <a:r>
              <a:rPr lang="en-US" sz="800" i="1" dirty="0">
                <a:solidFill>
                  <a:srgbClr val="64748B"/>
                </a:solidFill>
                <a:latin typeface="Courier New" pitchFamily="34" charset="0"/>
                <a:ea typeface="Courier New" pitchFamily="34" charset="-122"/>
                <a:cs typeface="Courier New" pitchFamily="34" charset="-120"/>
              </a:rPr>
              <a:t>-- Deleted ids are never reused (id 2 gone forever). That is intentional.</a:t>
            </a:r>
            <a:endParaRPr lang="en-US" sz="800" dirty="0"/>
          </a:p>
        </p:txBody>
      </p:sp>
      <p:sp>
        <p:nvSpPr>
          <p:cNvPr id="8" name="Text 5"/>
          <p:cNvSpPr/>
          <p:nvPr/>
        </p:nvSpPr>
        <p:spPr>
          <a:xfrm>
            <a:off x="5317294" y="4168155"/>
            <a:ext cx="3369394" cy="316446"/>
          </a:xfrm>
          <a:prstGeom prst="roundRect">
            <a:avLst>
              <a:gd name="adj" fmla="val 30100"/>
            </a:avLst>
          </a:prstGeom>
          <a:solidFill>
            <a:srgbClr val="1E2A78"/>
          </a:solidFill>
          <a:ln/>
          <a:effectLst>
            <a:outerShdw blurRad="152400" dist="57150" dir="5400000" algn="bl" rotWithShape="0">
              <a:srgbClr val="1E2A78">
                <a:alpha val="18000"/>
              </a:srgbClr>
            </a:outerShdw>
          </a:effectLst>
        </p:spPr>
        <p:txBody>
          <a:bodyPr wrap="square" rtlCol="0" anchor="ctr"/>
          <a:lstStyle/>
          <a:p>
            <a:pPr marL="0" indent="0">
              <a:buNone/>
            </a:pPr>
            <a:endParaRPr lang="en-US" dirty="0"/>
          </a:p>
        </p:txBody>
      </p:sp>
      <p:sp>
        <p:nvSpPr>
          <p:cNvPr id="5" name="Text 6"/>
          <p:cNvSpPr/>
          <p:nvPr/>
        </p:nvSpPr>
        <p:spPr>
          <a:xfrm>
            <a:off x="5317294" y="4168155"/>
            <a:ext cx="3369394" cy="347186"/>
          </a:xfrm>
          <a:prstGeom prst="rect">
            <a:avLst/>
          </a:prstGeom>
          <a:noFill/>
          <a:ln/>
        </p:spPr>
        <p:txBody>
          <a:bodyPr wrap="square" lIns="128588" tIns="85725" rIns="128588" bIns="85725" rtlCol="0" anchor="t"/>
          <a:lstStyle/>
          <a:p>
            <a:pPr marL="0" indent="0" algn="l">
              <a:lnSpc>
                <a:spcPts val="1142"/>
              </a:lnSpc>
              <a:buNone/>
            </a:pPr>
            <a:r>
              <a:rPr lang="en-US" sz="800" b="1" dirty="0">
                <a:solidFill>
                  <a:srgbClr val="FBBF24"/>
                </a:solidFill>
                <a:latin typeface="Carlito" pitchFamily="34" charset="0"/>
                <a:ea typeface="Carlito" pitchFamily="34" charset="-122"/>
                <a:cs typeface="Carlito" pitchFamily="34" charset="-120"/>
              </a:rPr>
              <a:t>Rule:</a:t>
            </a:r>
            <a:r>
              <a:rPr lang="en-US" sz="800" dirty="0">
                <a:solidFill>
                  <a:srgbClr val="FFFFFF"/>
                </a:solidFill>
                <a:latin typeface="Carlito" pitchFamily="34" charset="0"/>
                <a:ea typeface="Carlito" pitchFamily="34" charset="-122"/>
                <a:cs typeface="Carlito" pitchFamily="34" charset="-120"/>
              </a:rPr>
              <a:t> use the </a:t>
            </a:r>
            <a:r>
              <a:rPr lang="en-US" sz="800" b="1" dirty="0">
                <a:solidFill>
                  <a:srgbClr val="FFFFFF"/>
                </a:solidFill>
                <a:latin typeface="Carlito" pitchFamily="34" charset="0"/>
                <a:ea typeface="Carlito" pitchFamily="34" charset="-122"/>
                <a:cs typeface="Carlito" pitchFamily="34" charset="-120"/>
              </a:rPr>
              <a:t>SMALLEST</a:t>
            </a:r>
            <a:r>
              <a:rPr lang="en-US" sz="800" dirty="0">
                <a:solidFill>
                  <a:srgbClr val="FFFFFF"/>
                </a:solidFill>
                <a:latin typeface="Carlito" pitchFamily="34" charset="0"/>
                <a:ea typeface="Carlito" pitchFamily="34" charset="-122"/>
                <a:cs typeface="Carlito" pitchFamily="34" charset="-120"/>
              </a:rPr>
              <a:t> integer type that comfortably fits your data.</a:t>
            </a:r>
            <a:endParaRPr lang="en-US" sz="800" dirty="0"/>
          </a:p>
        </p:txBody>
      </p:sp>
      <p:sp>
        <p:nvSpPr>
          <p:cNvPr id="10" name="Text 7"/>
          <p:cNvSpPr/>
          <p:nvPr/>
        </p:nvSpPr>
        <p:spPr>
          <a:xfrm>
            <a:off x="457200" y="4897041"/>
            <a:ext cx="8062503" cy="164592"/>
          </a:xfrm>
          <a:prstGeom prst="rect">
            <a:avLst/>
          </a:prstGeom>
          <a:noFill/>
          <a:ln/>
        </p:spPr>
        <p:txBody>
          <a:bodyPr wrap="square" lIns="0" tIns="0" rIns="0" bIns="0" rtlCol="0" anchor="t"/>
          <a:lstStyle/>
          <a:p>
            <a:pPr marL="0" indent="0" algn="l">
              <a:lnSpc>
                <a:spcPts val="928"/>
              </a:lnSpc>
              <a:buNone/>
            </a:pPr>
            <a:r>
              <a:rPr lang="en-US" sz="800" kern="0" spc="50" dirty="0">
                <a:solidFill>
                  <a:srgbClr val="5A6485"/>
                </a:solidFill>
                <a:latin typeface="Liberation Sans Narrow" pitchFamily="34" charset="0"/>
                <a:ea typeface="Liberation Sans Narrow" pitchFamily="34" charset="-122"/>
                <a:cs typeface="Liberation Sans Narrow" pitchFamily="34" charset="-120"/>
              </a:rPr>
              <a:t>DATA TYPES · 1 OF 5</a:t>
            </a:r>
            <a:endParaRPr lang="en-US" sz="800" dirty="0"/>
          </a:p>
        </p:txBody>
      </p:sp>
      <p:sp>
        <p:nvSpPr>
          <p:cNvPr id="11" name="Text 8"/>
          <p:cNvSpPr/>
          <p:nvPr/>
        </p:nvSpPr>
        <p:spPr>
          <a:xfrm>
            <a:off x="8533991" y="4897041"/>
            <a:ext cx="379796" cy="164592"/>
          </a:xfrm>
          <a:prstGeom prst="rect">
            <a:avLst/>
          </a:prstGeom>
          <a:noFill/>
          <a:ln/>
        </p:spPr>
        <p:txBody>
          <a:bodyPr wrap="none" lIns="0" tIns="0" rIns="0" bIns="0" rtlCol="0" anchor="t"/>
          <a:lstStyle/>
          <a:p>
            <a:pPr marL="0" indent="0" algn="l">
              <a:lnSpc>
                <a:spcPts val="928"/>
              </a:lnSpc>
              <a:buNone/>
            </a:pPr>
            <a:r>
              <a:rPr lang="en-US" sz="800" kern="0" spc="50" dirty="0">
                <a:solidFill>
                  <a:srgbClr val="5A6485"/>
                </a:solidFill>
                <a:latin typeface="Liberation Sans Narrow" pitchFamily="34" charset="0"/>
                <a:ea typeface="Liberation Sans Narrow" pitchFamily="34" charset="-122"/>
                <a:cs typeface="Liberation Sans Narrow" pitchFamily="34" charset="-120"/>
              </a:rPr>
              <a:t>8 / 54</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7875873" y="257175"/>
            <a:ext cx="1213175"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5A6485"/>
                </a:solidFill>
                <a:latin typeface="Liberation Sans Narrow" pitchFamily="34" charset="0"/>
                <a:ea typeface="Liberation Sans Narrow" pitchFamily="34" charset="-122"/>
                <a:cs typeface="Liberation Sans Narrow" pitchFamily="34" charset="-120"/>
              </a:rPr>
              <a:t>DATA TYPES · 2 / 5</a:t>
            </a:r>
            <a:endParaRPr lang="en-US" sz="800" dirty="0"/>
          </a:p>
        </p:txBody>
      </p:sp>
      <p:sp>
        <p:nvSpPr>
          <p:cNvPr id="3" name="Text 1"/>
          <p:cNvSpPr/>
          <p:nvPr/>
        </p:nvSpPr>
        <p:spPr>
          <a:xfrm>
            <a:off x="457200" y="385763"/>
            <a:ext cx="8636000" cy="283991"/>
          </a:xfrm>
          <a:prstGeom prst="rect">
            <a:avLst/>
          </a:prstGeom>
          <a:noFill/>
          <a:ln/>
        </p:spPr>
        <p:txBody>
          <a:bodyPr wrap="none" lIns="0" tIns="0" rIns="0" bIns="0" rtlCol="0" anchor="t">
            <a:normAutofit/>
          </a:bodyPr>
          <a:lstStyle/>
          <a:p>
            <a:pPr marL="0" indent="0" algn="l">
              <a:lnSpc>
                <a:spcPts val="2228"/>
              </a:lnSpc>
              <a:buNone/>
            </a:pPr>
            <a:r>
              <a:rPr lang="en-US" sz="2025" b="1" kern="0" spc="-30" dirty="0">
                <a:solidFill>
                  <a:srgbClr val="0B1736"/>
                </a:solidFill>
                <a:latin typeface="Carlito" pitchFamily="34" charset="0"/>
                <a:ea typeface="Carlito" pitchFamily="34" charset="-122"/>
                <a:cs typeface="Carlito" pitchFamily="34" charset="-120"/>
              </a:rPr>
              <a:t>Decimals and Money</a:t>
            </a:r>
            <a:endParaRPr lang="en-US" sz="2025" dirty="0"/>
          </a:p>
        </p:txBody>
      </p:sp>
      <p:sp>
        <p:nvSpPr>
          <p:cNvPr id="4" name="Text 2"/>
          <p:cNvSpPr/>
          <p:nvPr/>
        </p:nvSpPr>
        <p:spPr>
          <a:xfrm>
            <a:off x="457200" y="697185"/>
            <a:ext cx="8636000" cy="185166"/>
          </a:xfrm>
          <a:prstGeom prst="rect">
            <a:avLst/>
          </a:prstGeom>
          <a:noFill/>
          <a:ln/>
        </p:spPr>
        <p:txBody>
          <a:bodyPr wrap="square" lIns="0" tIns="0" rIns="0" bIns="0" rtlCol="0" anchor="t"/>
          <a:lstStyle/>
          <a:p>
            <a:pPr marL="0" indent="0" algn="l">
              <a:lnSpc>
                <a:spcPts val="1350"/>
              </a:lnSpc>
              <a:buNone/>
            </a:pPr>
            <a:r>
              <a:rPr lang="en-US" sz="900" dirty="0">
                <a:solidFill>
                  <a:srgbClr val="5A6485"/>
                </a:solidFill>
                <a:latin typeface="Carlito" pitchFamily="34" charset="0"/>
                <a:ea typeface="Carlito" pitchFamily="34" charset="-122"/>
                <a:cs typeface="Carlito" pitchFamily="34" charset="-120"/>
              </a:rPr>
              <a:t>EXACT vs APPROXIMATE — why </a:t>
            </a:r>
            <a:r>
              <a:rPr lang="en-US" sz="900" dirty="0">
                <a:solidFill>
                  <a:srgbClr val="DC2626"/>
                </a:solidFill>
                <a:latin typeface="Courier New" pitchFamily="34" charset="0"/>
                <a:ea typeface="Courier New" pitchFamily="34" charset="-122"/>
                <a:cs typeface="Courier New" pitchFamily="34" charset="-120"/>
              </a:rPr>
              <a:t>FLOAT</a:t>
            </a:r>
            <a:r>
              <a:rPr lang="en-US" sz="900" dirty="0">
                <a:solidFill>
                  <a:srgbClr val="5A6485"/>
                </a:solidFill>
                <a:latin typeface="Carlito" pitchFamily="34" charset="0"/>
                <a:ea typeface="Carlito" pitchFamily="34" charset="-122"/>
                <a:cs typeface="Carlito" pitchFamily="34" charset="-120"/>
              </a:rPr>
              <a:t> ruins money.</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57275"/>
          <a:ext cx="8229599" cy="908686"/>
        </p:xfrm>
        <a:graphic>
          <a:graphicData uri="http://schemas.openxmlformats.org/drawingml/2006/table">
            <a:tbl>
              <a:tblPr/>
              <a:tblGrid>
                <a:gridCol w="2468835">
                  <a:extLst>
                    <a:ext uri="{9D8B030D-6E8A-4147-A177-3AD203B41FA5}">
                      <a16:colId xmlns:a16="http://schemas.microsoft.com/office/drawing/2014/main" val="20000"/>
                    </a:ext>
                  </a:extLst>
                </a:gridCol>
                <a:gridCol w="2468835">
                  <a:extLst>
                    <a:ext uri="{9D8B030D-6E8A-4147-A177-3AD203B41FA5}">
                      <a16:colId xmlns:a16="http://schemas.microsoft.com/office/drawing/2014/main" val="20001"/>
                    </a:ext>
                  </a:extLst>
                </a:gridCol>
                <a:gridCol w="3291929">
                  <a:extLst>
                    <a:ext uri="{9D8B030D-6E8A-4147-A177-3AD203B41FA5}">
                      <a16:colId xmlns:a16="http://schemas.microsoft.com/office/drawing/2014/main" val="20002"/>
                    </a:ext>
                  </a:extLst>
                </a:gridCol>
              </a:tblGrid>
              <a:tr h="0">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Type</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A78"/>
                    </a:solidFill>
                  </a:tcPr>
                </a:tc>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Precision</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A78"/>
                    </a:solidFill>
                  </a:tcPr>
                </a:tc>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Use When</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A78"/>
                    </a:solidFill>
                  </a:tcPr>
                </a:tc>
                <a:extLst>
                  <a:ext uri="{0D108BD9-81ED-4DB2-BD59-A6C34878D82A}">
                    <a16:rowId xmlns:a16="http://schemas.microsoft.com/office/drawing/2014/main" val="10000"/>
                  </a:ext>
                </a:extLst>
              </a:tr>
              <a:tr h="0">
                <a:tc>
                  <a:txBody>
                    <a:bodyPr/>
                    <a:lstStyle/>
                    <a:p>
                      <a:pPr marL="0" indent="0" algn="l">
                        <a:buNone/>
                      </a:pPr>
                      <a:r>
                        <a:rPr lang="en-US" sz="800" dirty="0">
                          <a:solidFill>
                            <a:srgbClr val="1E2A78"/>
                          </a:solidFill>
                          <a:latin typeface="Courier New" pitchFamily="34" charset="0"/>
                          <a:ea typeface="Courier New" pitchFamily="34" charset="-122"/>
                          <a:cs typeface="Courier New" pitchFamily="34" charset="-120"/>
                        </a:rPr>
                        <a:t>NUMERIC(p,s)</a:t>
                      </a:r>
                      <a:endParaRPr lang="en-US" sz="800" dirty="0">
                        <a:latin typeface="Courier New" charset="0"/>
                        <a:ea typeface="Courier New" charset="0"/>
                        <a:cs typeface="Courier New" charset="0"/>
                      </a:endParaRPr>
                    </a:p>
                  </a:txBody>
                  <a:tcPr marL="78581" marR="100013" marT="100013"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EXACT</a:t>
                      </a:r>
                      <a:endParaRPr lang="en-US" sz="800" dirty="0">
                        <a:latin typeface="Carlito" charset="0"/>
                        <a:ea typeface="Carlito" charset="0"/>
                        <a:cs typeface="Carlito" charset="0"/>
                      </a:endParaRPr>
                    </a:p>
                  </a:txBody>
                  <a:tcPr marL="78581" marR="100013" marT="100013"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money, prices, tax — ALWAYS</a:t>
                      </a:r>
                      <a:endParaRPr lang="en-US" sz="800" dirty="0">
                        <a:latin typeface="Carlito" charset="0"/>
                        <a:ea typeface="Carlito" charset="0"/>
                        <a:cs typeface="Carlito" charset="0"/>
                      </a:endParaRPr>
                    </a:p>
                  </a:txBody>
                  <a:tcPr marL="78581" marR="100013" marT="100013"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800" dirty="0">
                          <a:solidFill>
                            <a:srgbClr val="1E2A78"/>
                          </a:solidFill>
                          <a:latin typeface="Courier New" pitchFamily="34" charset="0"/>
                          <a:ea typeface="Courier New" pitchFamily="34" charset="-122"/>
                          <a:cs typeface="Courier New" pitchFamily="34" charset="-120"/>
                        </a:rPr>
                        <a:t>REAL / DOUBLE</a:t>
                      </a:r>
                      <a:endParaRPr lang="en-US" sz="800" dirty="0">
                        <a:latin typeface="Courier New" charset="0"/>
                        <a:ea typeface="Courier New" charset="0"/>
                        <a:cs typeface="Courier New" charset="0"/>
                      </a:endParaRPr>
                    </a:p>
                  </a:txBody>
                  <a:tcPr marL="78581" marR="100013" marT="100013"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approximate</a:t>
                      </a:r>
                      <a:endParaRPr lang="en-US" sz="800" dirty="0">
                        <a:latin typeface="Carlito" charset="0"/>
                        <a:ea typeface="Carlito" charset="0"/>
                        <a:cs typeface="Carlito" charset="0"/>
                      </a:endParaRPr>
                    </a:p>
                  </a:txBody>
                  <a:tcPr marL="78581" marR="100013" marT="100013"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scientific measurements only</a:t>
                      </a:r>
                      <a:endParaRPr lang="en-US" sz="800" dirty="0">
                        <a:latin typeface="Carlito" charset="0"/>
                        <a:ea typeface="Carlito" charset="0"/>
                        <a:cs typeface="Carlito" charset="0"/>
                      </a:endParaRPr>
                    </a:p>
                  </a:txBody>
                  <a:tcPr marL="78581" marR="100013" marT="100013"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6" name="Text 3"/>
          <p:cNvSpPr/>
          <p:nvPr/>
        </p:nvSpPr>
        <p:spPr>
          <a:xfrm>
            <a:off x="457200" y="2014538"/>
            <a:ext cx="3767882" cy="492919"/>
          </a:xfrm>
          <a:prstGeom prst="roundRect">
            <a:avLst>
              <a:gd name="adj" fmla="val 19324"/>
            </a:avLst>
          </a:prstGeom>
          <a:solidFill>
            <a:srgbClr val="FFFFFF"/>
          </a:solidFill>
          <a:ln/>
          <a:effectLst>
            <a:outerShdw blurRad="95250" dist="28575" dir="5400000" algn="bl" rotWithShape="0">
              <a:srgbClr val="0F172A">
                <a:alpha val="5000"/>
              </a:srgbClr>
            </a:outerShdw>
          </a:effectLst>
        </p:spPr>
        <p:txBody>
          <a:bodyPr wrap="square" rtlCol="0" anchor="ctr"/>
          <a:lstStyle/>
          <a:p>
            <a:pPr marL="0" indent="0">
              <a:buNone/>
            </a:pPr>
            <a:endParaRPr lang="en-US" dirty="0"/>
          </a:p>
        </p:txBody>
      </p:sp>
      <p:sp>
        <p:nvSpPr>
          <p:cNvPr id="7" name="Shape 4"/>
          <p:cNvSpPr/>
          <p:nvPr/>
        </p:nvSpPr>
        <p:spPr>
          <a:xfrm>
            <a:off x="457200" y="2018109"/>
            <a:ext cx="3767882" cy="0"/>
          </a:xfrm>
          <a:prstGeom prst="line">
            <a:avLst/>
          </a:prstGeom>
          <a:noFill/>
          <a:ln w="7144">
            <a:solidFill>
              <a:srgbClr val="DDE2F0"/>
            </a:solidFill>
            <a:prstDash val="solid"/>
          </a:ln>
        </p:spPr>
      </p:sp>
      <p:sp>
        <p:nvSpPr>
          <p:cNvPr id="8" name="Shape 5"/>
          <p:cNvSpPr/>
          <p:nvPr/>
        </p:nvSpPr>
        <p:spPr>
          <a:xfrm>
            <a:off x="4221510" y="2014538"/>
            <a:ext cx="0" cy="492919"/>
          </a:xfrm>
          <a:prstGeom prst="line">
            <a:avLst/>
          </a:prstGeom>
          <a:noFill/>
          <a:ln w="7144">
            <a:solidFill>
              <a:srgbClr val="DDE2F0"/>
            </a:solidFill>
            <a:prstDash val="solid"/>
          </a:ln>
        </p:spPr>
      </p:sp>
      <p:sp>
        <p:nvSpPr>
          <p:cNvPr id="9" name="Shape 6"/>
          <p:cNvSpPr/>
          <p:nvPr/>
        </p:nvSpPr>
        <p:spPr>
          <a:xfrm>
            <a:off x="457200" y="2503884"/>
            <a:ext cx="3767882" cy="0"/>
          </a:xfrm>
          <a:prstGeom prst="line">
            <a:avLst/>
          </a:prstGeom>
          <a:noFill/>
          <a:ln w="7144">
            <a:solidFill>
              <a:srgbClr val="DDE2F0"/>
            </a:solidFill>
            <a:prstDash val="solid"/>
          </a:ln>
        </p:spPr>
      </p:sp>
      <p:sp>
        <p:nvSpPr>
          <p:cNvPr id="5" name="Shape 7"/>
          <p:cNvSpPr/>
          <p:nvPr/>
        </p:nvSpPr>
        <p:spPr>
          <a:xfrm>
            <a:off x="475059" y="2014538"/>
            <a:ext cx="0" cy="492919"/>
          </a:xfrm>
          <a:prstGeom prst="line">
            <a:avLst/>
          </a:prstGeom>
          <a:noFill/>
          <a:ln w="35719">
            <a:solidFill>
              <a:srgbClr val="1E2A78"/>
            </a:solidFill>
            <a:prstDash val="solid"/>
          </a:ln>
        </p:spPr>
      </p:sp>
      <p:sp>
        <p:nvSpPr>
          <p:cNvPr id="11" name="Text 8"/>
          <p:cNvSpPr/>
          <p:nvPr/>
        </p:nvSpPr>
        <p:spPr>
          <a:xfrm>
            <a:off x="607219" y="2107406"/>
            <a:ext cx="3496419" cy="140446"/>
          </a:xfrm>
          <a:prstGeom prst="rect">
            <a:avLst/>
          </a:prstGeom>
          <a:noFill/>
          <a:ln/>
        </p:spPr>
        <p:txBody>
          <a:bodyPr wrap="none" lIns="0" tIns="0" rIns="0" bIns="0" rtlCol="0" anchor="t">
            <a:normAutofit/>
          </a:bodyPr>
          <a:lstStyle/>
          <a:p>
            <a:pPr marL="0" indent="0" algn="l">
              <a:lnSpc>
                <a:spcPts val="1097"/>
              </a:lnSpc>
              <a:buNone/>
            </a:pPr>
            <a:r>
              <a:rPr lang="en-US" sz="800" b="1" kern="0" spc="29" dirty="0">
                <a:solidFill>
                  <a:srgbClr val="1E2A78"/>
                </a:solidFill>
                <a:latin typeface="Carlito" pitchFamily="34" charset="0"/>
                <a:ea typeface="Carlito" pitchFamily="34" charset="-122"/>
                <a:cs typeface="Carlito" pitchFamily="34" charset="-120"/>
              </a:rPr>
              <a:t>NUMERIC(P, S) BREAKDOWN</a:t>
            </a:r>
            <a:endParaRPr lang="en-US" sz="800" dirty="0"/>
          </a:p>
        </p:txBody>
      </p:sp>
      <p:sp>
        <p:nvSpPr>
          <p:cNvPr id="12" name="Text 9"/>
          <p:cNvSpPr/>
          <p:nvPr/>
        </p:nvSpPr>
        <p:spPr>
          <a:xfrm>
            <a:off x="607219" y="2275284"/>
            <a:ext cx="3496419" cy="139303"/>
          </a:xfrm>
          <a:prstGeom prst="rect">
            <a:avLst/>
          </a:prstGeom>
          <a:noFill/>
          <a:ln/>
        </p:spPr>
        <p:txBody>
          <a:bodyPr wrap="square" lIns="0" tIns="0" rIns="0" bIns="0" rtlCol="0" anchor="t"/>
          <a:lstStyle/>
          <a:p>
            <a:pPr marL="0" indent="0" algn="l">
              <a:lnSpc>
                <a:spcPts val="1097"/>
              </a:lnSpc>
              <a:buNone/>
            </a:pPr>
            <a:r>
              <a:rPr lang="en-US" sz="800" b="1" dirty="0">
                <a:solidFill>
                  <a:srgbClr val="2B3361"/>
                </a:solidFill>
                <a:latin typeface="Carlito" pitchFamily="34" charset="0"/>
                <a:ea typeface="Carlito" pitchFamily="34" charset="-122"/>
                <a:cs typeface="Carlito" pitchFamily="34" charset="-120"/>
              </a:rPr>
              <a:t>p</a:t>
            </a:r>
            <a:r>
              <a:rPr lang="en-US" sz="800" dirty="0">
                <a:solidFill>
                  <a:srgbClr val="2B3361"/>
                </a:solidFill>
                <a:latin typeface="Carlito" pitchFamily="34" charset="0"/>
                <a:ea typeface="Carlito" pitchFamily="34" charset="-122"/>
                <a:cs typeface="Carlito" pitchFamily="34" charset="-120"/>
              </a:rPr>
              <a:t> = total digits, </a:t>
            </a:r>
            <a:r>
              <a:rPr lang="en-US" sz="800" b="1" dirty="0">
                <a:solidFill>
                  <a:srgbClr val="2B3361"/>
                </a:solidFill>
                <a:latin typeface="Carlito" pitchFamily="34" charset="0"/>
                <a:ea typeface="Carlito" pitchFamily="34" charset="-122"/>
                <a:cs typeface="Carlito" pitchFamily="34" charset="-120"/>
              </a:rPr>
              <a:t>s</a:t>
            </a:r>
            <a:r>
              <a:rPr lang="en-US" sz="800" dirty="0">
                <a:solidFill>
                  <a:srgbClr val="2B3361"/>
                </a:solidFill>
                <a:latin typeface="Carlito" pitchFamily="34" charset="0"/>
                <a:ea typeface="Carlito" pitchFamily="34" charset="-122"/>
                <a:cs typeface="Carlito" pitchFamily="34" charset="-120"/>
              </a:rPr>
              <a:t> = digits after the decimal point.</a:t>
            </a:r>
            <a:endParaRPr lang="en-US" sz="800" dirty="0"/>
          </a:p>
        </p:txBody>
      </p:sp>
      <p:sp>
        <p:nvSpPr>
          <p:cNvPr id="13" name="Text 10"/>
          <p:cNvSpPr/>
          <p:nvPr/>
        </p:nvSpPr>
        <p:spPr>
          <a:xfrm>
            <a:off x="460772" y="2596753"/>
            <a:ext cx="3760738" cy="345579"/>
          </a:xfrm>
          <a:prstGeom prst="roundRect">
            <a:avLst>
              <a:gd name="adj" fmla="val 33075"/>
            </a:avLst>
          </a:prstGeom>
          <a:solidFill>
            <a:srgbClr val="0F172A"/>
          </a:solidFill>
          <a:ln w="7144">
            <a:solidFill>
              <a:srgbClr val="1E293B"/>
            </a:solidFill>
            <a:prstDash val="solid"/>
          </a:ln>
          <a:effectLst>
            <a:outerShdw blurRad="133350" dist="38100" dir="5400000" algn="bl" rotWithShape="0">
              <a:srgbClr val="0F172A">
                <a:alpha val="18000"/>
              </a:srgbClr>
            </a:outerShdw>
          </a:effectLst>
        </p:spPr>
        <p:txBody>
          <a:bodyPr wrap="square" rtlCol="0" anchor="ctr"/>
          <a:lstStyle/>
          <a:p>
            <a:pPr marL="0" indent="0">
              <a:buNone/>
            </a:pPr>
            <a:endParaRPr lang="en-US" dirty="0"/>
          </a:p>
        </p:txBody>
      </p:sp>
      <p:sp>
        <p:nvSpPr>
          <p:cNvPr id="14" name="Text 11"/>
          <p:cNvSpPr/>
          <p:nvPr/>
        </p:nvSpPr>
        <p:spPr>
          <a:xfrm>
            <a:off x="457200" y="2593181"/>
            <a:ext cx="3767882" cy="433426"/>
          </a:xfrm>
          <a:prstGeom prst="rect">
            <a:avLst/>
          </a:prstGeom>
          <a:noFill/>
          <a:ln/>
        </p:spPr>
        <p:txBody>
          <a:bodyPr wrap="square" lIns="128588" tIns="100013" rIns="128588" bIns="100013" rtlCol="0" anchor="t"/>
          <a:lstStyle/>
          <a:p>
            <a:pPr marL="0" indent="0" algn="l">
              <a:lnSpc>
                <a:spcPts val="1090"/>
              </a:lnSpc>
              <a:buNone/>
            </a:pPr>
            <a:r>
              <a:rPr lang="en-US" sz="800" dirty="0">
                <a:solidFill>
                  <a:srgbClr val="F472B6"/>
                </a:solidFill>
                <a:latin typeface="Courier New" pitchFamily="34" charset="0"/>
                <a:ea typeface="Courier New" pitchFamily="34" charset="-122"/>
                <a:cs typeface="Courier New" pitchFamily="34" charset="-120"/>
              </a:rPr>
              <a:t>NUMERIC</a:t>
            </a:r>
            <a:r>
              <a:rPr lang="en-US" sz="800" dirty="0">
                <a:solidFill>
                  <a:srgbClr val="E2E8F0"/>
                </a:solidFill>
                <a:latin typeface="Courier New" pitchFamily="34" charset="0"/>
                <a:ea typeface="Courier New" pitchFamily="34" charset="-122"/>
                <a:cs typeface="Courier New" pitchFamily="34" charset="-120"/>
              </a:rPr>
              <a:t>(</a:t>
            </a:r>
            <a:r>
              <a:rPr lang="en-US" sz="800" dirty="0">
                <a:solidFill>
                  <a:srgbClr val="FBBF24"/>
                </a:solidFill>
                <a:latin typeface="Liberation Sans Narrow" pitchFamily="34" charset="0"/>
                <a:ea typeface="Liberation Sans Narrow" pitchFamily="34" charset="-122"/>
                <a:cs typeface="Liberation Sans Narrow" pitchFamily="34" charset="-120"/>
              </a:rPr>
              <a:t>10</a:t>
            </a:r>
            <a:r>
              <a:rPr lang="en-US" sz="800" dirty="0">
                <a:solidFill>
                  <a:srgbClr val="E2E8F0"/>
                </a:solidFill>
                <a:latin typeface="Courier New" pitchFamily="34" charset="0"/>
                <a:ea typeface="Courier New" pitchFamily="34" charset="-122"/>
                <a:cs typeface="Courier New" pitchFamily="34" charset="-120"/>
              </a:rPr>
              <a:t>,</a:t>
            </a:r>
            <a:r>
              <a:rPr lang="en-US" sz="800" dirty="0">
                <a:solidFill>
                  <a:srgbClr val="FBBF24"/>
                </a:solidFill>
                <a:latin typeface="Liberation Sans Narrow" pitchFamily="34" charset="0"/>
                <a:ea typeface="Liberation Sans Narrow" pitchFamily="34" charset="-122"/>
                <a:cs typeface="Liberation Sans Narrow" pitchFamily="34" charset="-120"/>
              </a:rPr>
              <a:t>2</a:t>
            </a:r>
            <a:r>
              <a:rPr lang="en-US" sz="800" dirty="0">
                <a:solidFill>
                  <a:srgbClr val="E2E8F0"/>
                </a:solidFill>
                <a:latin typeface="Courier New" pitchFamily="34" charset="0"/>
                <a:ea typeface="Courier New" pitchFamily="34" charset="-122"/>
                <a:cs typeface="Courier New" pitchFamily="34" charset="-120"/>
              </a:rPr>
              <a:t>) → up to </a:t>
            </a:r>
            <a:r>
              <a:rPr lang="en-US" sz="800" dirty="0">
                <a:solidFill>
                  <a:srgbClr val="FBBF24"/>
                </a:solidFill>
                <a:latin typeface="Liberation Sans Narrow" pitchFamily="34" charset="0"/>
                <a:ea typeface="Liberation Sans Narrow" pitchFamily="34" charset="-122"/>
                <a:cs typeface="Liberation Sans Narrow" pitchFamily="34" charset="-120"/>
              </a:rPr>
              <a:t>99999999.99</a:t>
            </a:r>
            <a:r>
              <a:rPr lang="en-US" sz="800" dirty="0">
                <a:solidFill>
                  <a:srgbClr val="E2E8F0"/>
                </a:solidFill>
                <a:latin typeface="Courier New" pitchFamily="34" charset="0"/>
                <a:ea typeface="Courier New" pitchFamily="34" charset="-122"/>
                <a:cs typeface="Courier New" pitchFamily="34" charset="-120"/>
              </a:rPr>
              <a:t> </a:t>
            </a:r>
            <a:r>
              <a:rPr lang="en-US" sz="800" dirty="0">
                <a:solidFill>
                  <a:srgbClr val="F472B6"/>
                </a:solidFill>
                <a:latin typeface="Courier New" pitchFamily="34" charset="0"/>
                <a:ea typeface="Courier New" pitchFamily="34" charset="-122"/>
                <a:cs typeface="Courier New" pitchFamily="34" charset="-120"/>
              </a:rPr>
              <a:t>NUMERIC</a:t>
            </a:r>
            <a:r>
              <a:rPr lang="en-US" sz="800" dirty="0">
                <a:solidFill>
                  <a:srgbClr val="E2E8F0"/>
                </a:solidFill>
                <a:latin typeface="Courier New" pitchFamily="34" charset="0"/>
                <a:ea typeface="Courier New" pitchFamily="34" charset="-122"/>
                <a:cs typeface="Courier New" pitchFamily="34" charset="-120"/>
              </a:rPr>
              <a:t>(</a:t>
            </a:r>
            <a:r>
              <a:rPr lang="en-US" sz="800" dirty="0">
                <a:solidFill>
                  <a:srgbClr val="FBBF24"/>
                </a:solidFill>
                <a:latin typeface="Liberation Sans Narrow" pitchFamily="34" charset="0"/>
                <a:ea typeface="Liberation Sans Narrow" pitchFamily="34" charset="-122"/>
                <a:cs typeface="Liberation Sans Narrow" pitchFamily="34" charset="-120"/>
              </a:rPr>
              <a:t>9</a:t>
            </a:r>
            <a:r>
              <a:rPr lang="en-US" sz="800" dirty="0">
                <a:solidFill>
                  <a:srgbClr val="E2E8F0"/>
                </a:solidFill>
                <a:latin typeface="Courier New" pitchFamily="34" charset="0"/>
                <a:ea typeface="Courier New" pitchFamily="34" charset="-122"/>
                <a:cs typeface="Courier New" pitchFamily="34" charset="-120"/>
              </a:rPr>
              <a:t>,</a:t>
            </a:r>
            <a:r>
              <a:rPr lang="en-US" sz="800" dirty="0">
                <a:solidFill>
                  <a:srgbClr val="FBBF24"/>
                </a:solidFill>
                <a:latin typeface="Liberation Sans Narrow" pitchFamily="34" charset="0"/>
                <a:ea typeface="Liberation Sans Narrow" pitchFamily="34" charset="-122"/>
                <a:cs typeface="Liberation Sans Narrow" pitchFamily="34" charset="-120"/>
              </a:rPr>
              <a:t>6</a:t>
            </a:r>
            <a:r>
              <a:rPr lang="en-US" sz="800" dirty="0">
                <a:solidFill>
                  <a:srgbClr val="E2E8F0"/>
                </a:solidFill>
                <a:latin typeface="Courier New" pitchFamily="34" charset="0"/>
                <a:ea typeface="Courier New" pitchFamily="34" charset="-122"/>
                <a:cs typeface="Courier New" pitchFamily="34" charset="-120"/>
              </a:rPr>
              <a:t>) → GPS lat/long</a:t>
            </a:r>
            <a:endParaRPr lang="en-US" sz="800" dirty="0"/>
          </a:p>
        </p:txBody>
      </p:sp>
      <p:sp>
        <p:nvSpPr>
          <p:cNvPr id="15" name="Text 12"/>
          <p:cNvSpPr/>
          <p:nvPr/>
        </p:nvSpPr>
        <p:spPr>
          <a:xfrm>
            <a:off x="4357241" y="2018109"/>
            <a:ext cx="4325875" cy="924223"/>
          </a:xfrm>
          <a:prstGeom prst="roundRect">
            <a:avLst>
              <a:gd name="adj" fmla="val 12367"/>
            </a:avLst>
          </a:prstGeom>
          <a:solidFill>
            <a:srgbClr val="0F172A"/>
          </a:solidFill>
          <a:ln w="7144">
            <a:solidFill>
              <a:srgbClr val="1E293B"/>
            </a:solidFill>
            <a:prstDash val="solid"/>
          </a:ln>
          <a:effectLst>
            <a:outerShdw blurRad="133350" dist="38100" dir="5400000" algn="bl" rotWithShape="0">
              <a:srgbClr val="0F172A">
                <a:alpha val="18000"/>
              </a:srgbClr>
            </a:outerShdw>
          </a:effectLst>
        </p:spPr>
        <p:txBody>
          <a:bodyPr wrap="square" rtlCol="0" anchor="ctr"/>
          <a:lstStyle/>
          <a:p>
            <a:pPr marL="0" indent="0">
              <a:buNone/>
            </a:pPr>
            <a:endParaRPr lang="en-US" dirty="0"/>
          </a:p>
        </p:txBody>
      </p:sp>
      <p:sp>
        <p:nvSpPr>
          <p:cNvPr id="16" name="Text 13"/>
          <p:cNvSpPr/>
          <p:nvPr/>
        </p:nvSpPr>
        <p:spPr>
          <a:xfrm>
            <a:off x="4353669" y="2014538"/>
            <a:ext cx="4333019" cy="1144463"/>
          </a:xfrm>
          <a:prstGeom prst="rect">
            <a:avLst/>
          </a:prstGeom>
          <a:noFill/>
          <a:ln/>
        </p:spPr>
        <p:txBody>
          <a:bodyPr wrap="square" lIns="128588" tIns="100013" rIns="128588" bIns="100013" rtlCol="0" anchor="t"/>
          <a:lstStyle/>
          <a:p>
            <a:pPr marL="171450" indent="-171450" algn="l">
              <a:lnSpc>
                <a:spcPts val="1090"/>
              </a:lnSpc>
              <a:buFont typeface="Wingdings" panose="05000000000000000000" pitchFamily="2" charset="2"/>
              <a:buChar char="n"/>
            </a:pPr>
            <a:r>
              <a:rPr lang="en-US" sz="800" i="1" dirty="0">
                <a:solidFill>
                  <a:srgbClr val="64748B"/>
                </a:solidFill>
                <a:latin typeface="Courier New" pitchFamily="34" charset="0"/>
                <a:ea typeface="Courier New" pitchFamily="34" charset="-122"/>
                <a:cs typeface="Courier New" pitchFamily="34" charset="-120"/>
              </a:rPr>
              <a:t>NEVER use FLOAT/REAL for money:</a:t>
            </a:r>
            <a:r>
              <a:rPr lang="en-US" sz="800" dirty="0">
                <a:solidFill>
                  <a:srgbClr val="E2E8F0"/>
                </a:solidFill>
                <a:latin typeface="Courier New" pitchFamily="34" charset="0"/>
                <a:ea typeface="Courier New" pitchFamily="34" charset="-122"/>
                <a:cs typeface="Courier New" pitchFamily="34" charset="-120"/>
              </a:rPr>
              <a:t> </a:t>
            </a:r>
            <a:r>
              <a:rPr lang="en-US" sz="800" dirty="0">
                <a:solidFill>
                  <a:srgbClr val="F472B6"/>
                </a:solidFill>
                <a:latin typeface="Courier New" pitchFamily="34" charset="0"/>
                <a:ea typeface="Courier New" pitchFamily="34" charset="-122"/>
                <a:cs typeface="Courier New" pitchFamily="34" charset="-120"/>
              </a:rPr>
              <a:t>SELECT</a:t>
            </a:r>
            <a:r>
              <a:rPr lang="en-US" sz="800" dirty="0">
                <a:solidFill>
                  <a:srgbClr val="E2E8F0"/>
                </a:solidFill>
                <a:latin typeface="Courier New" pitchFamily="34" charset="0"/>
                <a:ea typeface="Courier New" pitchFamily="34" charset="-122"/>
                <a:cs typeface="Courier New" pitchFamily="34" charset="-120"/>
              </a:rPr>
              <a:t> </a:t>
            </a:r>
            <a:r>
              <a:rPr lang="en-US" sz="800" dirty="0">
                <a:solidFill>
                  <a:srgbClr val="FBBF24"/>
                </a:solidFill>
                <a:latin typeface="Liberation Sans Narrow" pitchFamily="34" charset="0"/>
                <a:ea typeface="Liberation Sans Narrow" pitchFamily="34" charset="-122"/>
                <a:cs typeface="Liberation Sans Narrow" pitchFamily="34" charset="-120"/>
              </a:rPr>
              <a:t>0.1</a:t>
            </a:r>
            <a:r>
              <a:rPr lang="en-US" sz="800" dirty="0">
                <a:solidFill>
                  <a:srgbClr val="E2E8F0"/>
                </a:solidFill>
                <a:latin typeface="Courier New" pitchFamily="34" charset="0"/>
                <a:ea typeface="Courier New" pitchFamily="34" charset="-122"/>
                <a:cs typeface="Courier New" pitchFamily="34" charset="-120"/>
              </a:rPr>
              <a:t>::</a:t>
            </a:r>
            <a:r>
              <a:rPr lang="en-US" sz="800" dirty="0">
                <a:solidFill>
                  <a:srgbClr val="F472B6"/>
                </a:solidFill>
                <a:latin typeface="Courier New" pitchFamily="34" charset="0"/>
                <a:ea typeface="Courier New" pitchFamily="34" charset="-122"/>
                <a:cs typeface="Courier New" pitchFamily="34" charset="-120"/>
              </a:rPr>
              <a:t>REAL</a:t>
            </a:r>
            <a:r>
              <a:rPr lang="en-US" sz="800" dirty="0">
                <a:solidFill>
                  <a:srgbClr val="E2E8F0"/>
                </a:solidFill>
                <a:latin typeface="Courier New" pitchFamily="34" charset="0"/>
                <a:ea typeface="Courier New" pitchFamily="34" charset="-122"/>
                <a:cs typeface="Courier New" pitchFamily="34" charset="-120"/>
              </a:rPr>
              <a:t> + </a:t>
            </a:r>
            <a:r>
              <a:rPr lang="en-US" sz="800" dirty="0">
                <a:solidFill>
                  <a:srgbClr val="FBBF24"/>
                </a:solidFill>
                <a:latin typeface="Liberation Sans Narrow" pitchFamily="34" charset="0"/>
                <a:ea typeface="Liberation Sans Narrow" pitchFamily="34" charset="-122"/>
                <a:cs typeface="Liberation Sans Narrow" pitchFamily="34" charset="-120"/>
              </a:rPr>
              <a:t>0.2</a:t>
            </a:r>
            <a:r>
              <a:rPr lang="en-US" sz="800" dirty="0">
                <a:solidFill>
                  <a:srgbClr val="E2E8F0"/>
                </a:solidFill>
                <a:latin typeface="Courier New" pitchFamily="34" charset="0"/>
                <a:ea typeface="Courier New" pitchFamily="34" charset="-122"/>
                <a:cs typeface="Courier New" pitchFamily="34" charset="-120"/>
              </a:rPr>
              <a:t>::</a:t>
            </a:r>
            <a:r>
              <a:rPr lang="en-US" sz="800" dirty="0">
                <a:solidFill>
                  <a:srgbClr val="F472B6"/>
                </a:solidFill>
                <a:latin typeface="Courier New" pitchFamily="34" charset="0"/>
                <a:ea typeface="Courier New" pitchFamily="34" charset="-122"/>
                <a:cs typeface="Courier New" pitchFamily="34" charset="-120"/>
              </a:rPr>
              <a:t>REAL</a:t>
            </a:r>
            <a:r>
              <a:rPr lang="en-US" sz="800" dirty="0">
                <a:solidFill>
                  <a:srgbClr val="E2E8F0"/>
                </a:solidFill>
                <a:latin typeface="Courier New" pitchFamily="34" charset="0"/>
                <a:ea typeface="Courier New" pitchFamily="34" charset="-122"/>
                <a:cs typeface="Courier New" pitchFamily="34" charset="-120"/>
              </a:rPr>
              <a:t>; </a:t>
            </a:r>
            <a:r>
              <a:rPr lang="en-US" sz="800" i="1" dirty="0">
                <a:solidFill>
                  <a:srgbClr val="64748B"/>
                </a:solidFill>
                <a:latin typeface="Liberation Sans Narrow" pitchFamily="34" charset="0"/>
                <a:ea typeface="Liberation Sans Narrow" pitchFamily="34" charset="-122"/>
                <a:cs typeface="Liberation Sans Narrow" pitchFamily="34" charset="-120"/>
              </a:rPr>
              <a:t>-- 0.30000001 (WRONG)</a:t>
            </a:r>
            <a:r>
              <a:rPr lang="en-US" sz="800" dirty="0">
                <a:solidFill>
                  <a:srgbClr val="E2E8F0"/>
                </a:solidFill>
                <a:latin typeface="Courier New" pitchFamily="34" charset="0"/>
                <a:ea typeface="Courier New" pitchFamily="34" charset="-122"/>
                <a:cs typeface="Courier New" pitchFamily="34" charset="-120"/>
              </a:rPr>
              <a:t> </a:t>
            </a:r>
          </a:p>
          <a:p>
            <a:pPr marL="171450" indent="-171450" algn="l">
              <a:lnSpc>
                <a:spcPts val="1090"/>
              </a:lnSpc>
              <a:buFont typeface="Wingdings" panose="05000000000000000000" pitchFamily="2" charset="2"/>
              <a:buChar char="n"/>
            </a:pPr>
            <a:endParaRPr lang="en-US" sz="800" dirty="0">
              <a:solidFill>
                <a:srgbClr val="E2E8F0"/>
              </a:solidFill>
              <a:latin typeface="Courier New" pitchFamily="34" charset="0"/>
              <a:ea typeface="Courier New" pitchFamily="34" charset="-122"/>
              <a:cs typeface="Courier New" pitchFamily="34" charset="-120"/>
            </a:endParaRPr>
          </a:p>
          <a:p>
            <a:pPr marL="171450" indent="-171450" algn="l">
              <a:lnSpc>
                <a:spcPts val="1090"/>
              </a:lnSpc>
              <a:buFont typeface="Wingdings" panose="05000000000000000000" pitchFamily="2" charset="2"/>
              <a:buChar char="n"/>
            </a:pPr>
            <a:r>
              <a:rPr lang="en-US" sz="800" dirty="0">
                <a:solidFill>
                  <a:srgbClr val="F472B6"/>
                </a:solidFill>
                <a:latin typeface="Courier New" pitchFamily="34" charset="0"/>
                <a:ea typeface="Courier New" pitchFamily="34" charset="-122"/>
                <a:cs typeface="Courier New" pitchFamily="34" charset="-120"/>
              </a:rPr>
              <a:t>SELECT</a:t>
            </a:r>
            <a:r>
              <a:rPr lang="en-US" sz="800" dirty="0">
                <a:solidFill>
                  <a:srgbClr val="E2E8F0"/>
                </a:solidFill>
                <a:latin typeface="Courier New" pitchFamily="34" charset="0"/>
                <a:ea typeface="Courier New" pitchFamily="34" charset="-122"/>
                <a:cs typeface="Courier New" pitchFamily="34" charset="-120"/>
              </a:rPr>
              <a:t> </a:t>
            </a:r>
            <a:r>
              <a:rPr lang="en-US" sz="800" dirty="0">
                <a:solidFill>
                  <a:srgbClr val="FBBF24"/>
                </a:solidFill>
                <a:latin typeface="Liberation Sans Narrow" pitchFamily="34" charset="0"/>
                <a:ea typeface="Liberation Sans Narrow" pitchFamily="34" charset="-122"/>
                <a:cs typeface="Liberation Sans Narrow" pitchFamily="34" charset="-120"/>
              </a:rPr>
              <a:t>0.1</a:t>
            </a:r>
            <a:r>
              <a:rPr lang="en-US" sz="800" dirty="0">
                <a:solidFill>
                  <a:srgbClr val="E2E8F0"/>
                </a:solidFill>
                <a:latin typeface="Courier New" pitchFamily="34" charset="0"/>
                <a:ea typeface="Courier New" pitchFamily="34" charset="-122"/>
                <a:cs typeface="Courier New" pitchFamily="34" charset="-120"/>
              </a:rPr>
              <a:t>::</a:t>
            </a:r>
            <a:r>
              <a:rPr lang="en-US" sz="800" dirty="0">
                <a:solidFill>
                  <a:srgbClr val="F472B6"/>
                </a:solidFill>
                <a:latin typeface="Courier New" pitchFamily="34" charset="0"/>
                <a:ea typeface="Courier New" pitchFamily="34" charset="-122"/>
                <a:cs typeface="Courier New" pitchFamily="34" charset="-120"/>
              </a:rPr>
              <a:t>NUMERIC</a:t>
            </a:r>
            <a:r>
              <a:rPr lang="en-US" sz="800" dirty="0">
                <a:solidFill>
                  <a:srgbClr val="E2E8F0"/>
                </a:solidFill>
                <a:latin typeface="Courier New" pitchFamily="34" charset="0"/>
                <a:ea typeface="Courier New" pitchFamily="34" charset="-122"/>
                <a:cs typeface="Courier New" pitchFamily="34" charset="-120"/>
              </a:rPr>
              <a:t> + </a:t>
            </a:r>
            <a:r>
              <a:rPr lang="en-US" sz="800" dirty="0">
                <a:solidFill>
                  <a:srgbClr val="FBBF24"/>
                </a:solidFill>
                <a:latin typeface="Liberation Sans Narrow" pitchFamily="34" charset="0"/>
                <a:ea typeface="Liberation Sans Narrow" pitchFamily="34" charset="-122"/>
                <a:cs typeface="Liberation Sans Narrow" pitchFamily="34" charset="-120"/>
              </a:rPr>
              <a:t>0.2</a:t>
            </a:r>
            <a:r>
              <a:rPr lang="en-US" sz="800" dirty="0">
                <a:solidFill>
                  <a:srgbClr val="E2E8F0"/>
                </a:solidFill>
                <a:latin typeface="Courier New" pitchFamily="34" charset="0"/>
                <a:ea typeface="Courier New" pitchFamily="34" charset="-122"/>
                <a:cs typeface="Courier New" pitchFamily="34" charset="-120"/>
              </a:rPr>
              <a:t>::</a:t>
            </a:r>
            <a:r>
              <a:rPr lang="en-US" sz="800" dirty="0">
                <a:solidFill>
                  <a:srgbClr val="F472B6"/>
                </a:solidFill>
                <a:latin typeface="Courier New" pitchFamily="34" charset="0"/>
                <a:ea typeface="Courier New" pitchFamily="34" charset="-122"/>
                <a:cs typeface="Courier New" pitchFamily="34" charset="-120"/>
              </a:rPr>
              <a:t>NUMERIC</a:t>
            </a:r>
            <a:r>
              <a:rPr lang="en-US" sz="800" dirty="0">
                <a:solidFill>
                  <a:srgbClr val="E2E8F0"/>
                </a:solidFill>
                <a:latin typeface="Courier New" pitchFamily="34" charset="0"/>
                <a:ea typeface="Courier New" pitchFamily="34" charset="-122"/>
                <a:cs typeface="Courier New" pitchFamily="34" charset="-120"/>
              </a:rPr>
              <a:t>; </a:t>
            </a:r>
            <a:r>
              <a:rPr lang="en-US" sz="800" i="1" dirty="0">
                <a:solidFill>
                  <a:srgbClr val="64748B"/>
                </a:solidFill>
                <a:latin typeface="Liberation Sans Narrow" pitchFamily="34" charset="0"/>
                <a:ea typeface="Liberation Sans Narrow" pitchFamily="34" charset="-122"/>
                <a:cs typeface="Liberation Sans Narrow" pitchFamily="34" charset="-120"/>
              </a:rPr>
              <a:t>-- 0.3 (CORRECT)</a:t>
            </a:r>
            <a:endParaRPr lang="en-US" sz="800" dirty="0"/>
          </a:p>
        </p:txBody>
      </p:sp>
      <p:sp>
        <p:nvSpPr>
          <p:cNvPr id="17" name="Text 14"/>
          <p:cNvSpPr/>
          <p:nvPr/>
        </p:nvSpPr>
        <p:spPr>
          <a:xfrm>
            <a:off x="457200" y="4417963"/>
            <a:ext cx="8229600" cy="282625"/>
          </a:xfrm>
          <a:prstGeom prst="roundRect">
            <a:avLst>
              <a:gd name="adj" fmla="val 33702"/>
            </a:avLst>
          </a:prstGeom>
          <a:solidFill>
            <a:srgbClr val="F59E0B"/>
          </a:solidFill>
          <a:ln/>
          <a:effectLst>
            <a:outerShdw blurRad="133350" dist="57150" dir="5400000" algn="bl" rotWithShape="0">
              <a:srgbClr val="F59E0B">
                <a:alpha val="22000"/>
              </a:srgbClr>
            </a:outerShdw>
          </a:effectLst>
        </p:spPr>
        <p:txBody>
          <a:bodyPr wrap="square" rtlCol="0" anchor="ctr"/>
          <a:lstStyle/>
          <a:p>
            <a:pPr marL="0" indent="0">
              <a:buNone/>
            </a:pPr>
            <a:endParaRPr lang="en-US" dirty="0"/>
          </a:p>
        </p:txBody>
      </p:sp>
      <p:sp>
        <p:nvSpPr>
          <p:cNvPr id="18" name="Text 15"/>
          <p:cNvSpPr/>
          <p:nvPr/>
        </p:nvSpPr>
        <p:spPr>
          <a:xfrm>
            <a:off x="457200" y="4417963"/>
            <a:ext cx="8229600" cy="321564"/>
          </a:xfrm>
          <a:prstGeom prst="rect">
            <a:avLst/>
          </a:prstGeom>
          <a:noFill/>
          <a:ln/>
        </p:spPr>
        <p:txBody>
          <a:bodyPr wrap="square" lIns="114300" tIns="71438" rIns="114300" bIns="71438" rtlCol="0" anchor="t"/>
          <a:lstStyle/>
          <a:p>
            <a:pPr marL="0" indent="0" algn="l">
              <a:lnSpc>
                <a:spcPts val="1101"/>
              </a:lnSpc>
              <a:buNone/>
            </a:pPr>
            <a:r>
              <a:rPr lang="en-US" sz="800" dirty="0">
                <a:solidFill>
                  <a:srgbClr val="FFFFFF"/>
                </a:solidFill>
                <a:latin typeface="Carlito" pitchFamily="34" charset="0"/>
                <a:ea typeface="Carlito" pitchFamily="34" charset="-122"/>
                <a:cs typeface="Carlito" pitchFamily="34" charset="-120"/>
              </a:rPr>
              <a:t>Over millions of transactions, float drift costs real money.</a:t>
            </a:r>
            <a:endParaRPr lang="en-US" sz="800" dirty="0"/>
          </a:p>
        </p:txBody>
      </p:sp>
      <p:sp>
        <p:nvSpPr>
          <p:cNvPr id="19" name="Text 16"/>
          <p:cNvSpPr/>
          <p:nvPr/>
        </p:nvSpPr>
        <p:spPr>
          <a:xfrm>
            <a:off x="457200" y="4897041"/>
            <a:ext cx="8062503" cy="164592"/>
          </a:xfrm>
          <a:prstGeom prst="rect">
            <a:avLst/>
          </a:prstGeom>
          <a:noFill/>
          <a:ln/>
        </p:spPr>
        <p:txBody>
          <a:bodyPr wrap="square" lIns="0" tIns="0" rIns="0" bIns="0" rtlCol="0" anchor="t"/>
          <a:lstStyle/>
          <a:p>
            <a:pPr marL="0" indent="0" algn="l">
              <a:lnSpc>
                <a:spcPts val="928"/>
              </a:lnSpc>
              <a:buNone/>
            </a:pPr>
            <a:r>
              <a:rPr lang="en-US" sz="800" kern="0" spc="50" dirty="0">
                <a:solidFill>
                  <a:srgbClr val="5A6485"/>
                </a:solidFill>
                <a:latin typeface="Liberation Sans Narrow" pitchFamily="34" charset="0"/>
                <a:ea typeface="Liberation Sans Narrow" pitchFamily="34" charset="-122"/>
                <a:cs typeface="Liberation Sans Narrow" pitchFamily="34" charset="-120"/>
              </a:rPr>
              <a:t>DATA TYPES · 2 OF 5</a:t>
            </a:r>
            <a:endParaRPr lang="en-US" sz="800" dirty="0"/>
          </a:p>
        </p:txBody>
      </p:sp>
      <p:sp>
        <p:nvSpPr>
          <p:cNvPr id="20" name="Text 17"/>
          <p:cNvSpPr/>
          <p:nvPr/>
        </p:nvSpPr>
        <p:spPr>
          <a:xfrm>
            <a:off x="8533991" y="4897041"/>
            <a:ext cx="379796" cy="164592"/>
          </a:xfrm>
          <a:prstGeom prst="rect">
            <a:avLst/>
          </a:prstGeom>
          <a:noFill/>
          <a:ln/>
        </p:spPr>
        <p:txBody>
          <a:bodyPr wrap="none" lIns="0" tIns="0" rIns="0" bIns="0" rtlCol="0" anchor="t"/>
          <a:lstStyle/>
          <a:p>
            <a:pPr marL="0" indent="0" algn="l">
              <a:lnSpc>
                <a:spcPts val="928"/>
              </a:lnSpc>
              <a:buNone/>
            </a:pPr>
            <a:r>
              <a:rPr lang="en-US" sz="800" kern="0" spc="50" dirty="0">
                <a:solidFill>
                  <a:srgbClr val="5A6485"/>
                </a:solidFill>
                <a:latin typeface="Liberation Sans Narrow" pitchFamily="34" charset="0"/>
                <a:ea typeface="Liberation Sans Narrow" pitchFamily="34" charset="-122"/>
                <a:cs typeface="Liberation Sans Narrow" pitchFamily="34" charset="-120"/>
              </a:rPr>
              <a:t>9 / 54</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7875873" y="257175"/>
            <a:ext cx="1213175"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5A6485"/>
                </a:solidFill>
                <a:latin typeface="Liberation Sans Narrow" pitchFamily="34" charset="0"/>
                <a:ea typeface="Liberation Sans Narrow" pitchFamily="34" charset="-122"/>
                <a:cs typeface="Liberation Sans Narrow" pitchFamily="34" charset="-120"/>
              </a:rPr>
              <a:t>DATA TYPES · 3 / 5</a:t>
            </a:r>
            <a:endParaRPr lang="en-US" sz="800" dirty="0"/>
          </a:p>
        </p:txBody>
      </p:sp>
      <p:sp>
        <p:nvSpPr>
          <p:cNvPr id="3" name="Text 1"/>
          <p:cNvSpPr/>
          <p:nvPr/>
        </p:nvSpPr>
        <p:spPr>
          <a:xfrm>
            <a:off x="457200" y="385763"/>
            <a:ext cx="8636000" cy="283991"/>
          </a:xfrm>
          <a:prstGeom prst="rect">
            <a:avLst/>
          </a:prstGeom>
          <a:noFill/>
          <a:ln/>
        </p:spPr>
        <p:txBody>
          <a:bodyPr wrap="none" lIns="0" tIns="0" rIns="0" bIns="0" rtlCol="0" anchor="t">
            <a:normAutofit/>
          </a:bodyPr>
          <a:lstStyle/>
          <a:p>
            <a:pPr marL="0" indent="0" algn="l">
              <a:lnSpc>
                <a:spcPts val="2228"/>
              </a:lnSpc>
              <a:buNone/>
            </a:pPr>
            <a:r>
              <a:rPr lang="en-US" sz="2025" b="1" kern="0" spc="-30" dirty="0">
                <a:solidFill>
                  <a:srgbClr val="0B1736"/>
                </a:solidFill>
                <a:latin typeface="Carlito" pitchFamily="34" charset="0"/>
                <a:ea typeface="Carlito" pitchFamily="34" charset="-122"/>
                <a:cs typeface="Carlito" pitchFamily="34" charset="-120"/>
              </a:rPr>
              <a:t>The Three Text Types</a:t>
            </a:r>
            <a:endParaRPr lang="en-US" sz="2025" dirty="0"/>
          </a:p>
        </p:txBody>
      </p:sp>
      <p:sp>
        <p:nvSpPr>
          <p:cNvPr id="4" name="Text 2"/>
          <p:cNvSpPr/>
          <p:nvPr/>
        </p:nvSpPr>
        <p:spPr>
          <a:xfrm>
            <a:off x="457200" y="697185"/>
            <a:ext cx="8636000" cy="185166"/>
          </a:xfrm>
          <a:prstGeom prst="rect">
            <a:avLst/>
          </a:prstGeom>
          <a:noFill/>
          <a:ln/>
        </p:spPr>
        <p:txBody>
          <a:bodyPr wrap="square" lIns="0" tIns="0" rIns="0" bIns="0" rtlCol="0" anchor="t"/>
          <a:lstStyle/>
          <a:p>
            <a:pPr marL="0" indent="0" algn="l">
              <a:lnSpc>
                <a:spcPts val="1350"/>
              </a:lnSpc>
              <a:buNone/>
            </a:pPr>
            <a:r>
              <a:rPr lang="en-US" sz="900" dirty="0">
                <a:solidFill>
                  <a:srgbClr val="1E2A78"/>
                </a:solidFill>
                <a:latin typeface="Courier New" pitchFamily="34" charset="0"/>
                <a:ea typeface="Courier New" pitchFamily="34" charset="-122"/>
                <a:cs typeface="Courier New" pitchFamily="34" charset="-120"/>
              </a:rPr>
              <a:t>VARCHAR</a:t>
            </a:r>
            <a:r>
              <a:rPr lang="en-US" sz="900" dirty="0">
                <a:solidFill>
                  <a:srgbClr val="5A6485"/>
                </a:solidFill>
                <a:latin typeface="Carlito" pitchFamily="34" charset="0"/>
                <a:ea typeface="Carlito" pitchFamily="34" charset="-122"/>
                <a:cs typeface="Carlito" pitchFamily="34" charset="-120"/>
              </a:rPr>
              <a:t>, </a:t>
            </a:r>
            <a:r>
              <a:rPr lang="en-US" sz="900" dirty="0">
                <a:solidFill>
                  <a:srgbClr val="1E2A78"/>
                </a:solidFill>
                <a:latin typeface="Courier New" pitchFamily="34" charset="0"/>
                <a:ea typeface="Courier New" pitchFamily="34" charset="-122"/>
                <a:cs typeface="Courier New" pitchFamily="34" charset="-120"/>
              </a:rPr>
              <a:t>TEXT</a:t>
            </a:r>
            <a:r>
              <a:rPr lang="en-US" sz="900" dirty="0">
                <a:solidFill>
                  <a:srgbClr val="5A6485"/>
                </a:solidFill>
                <a:latin typeface="Carlito" pitchFamily="34" charset="0"/>
                <a:ea typeface="Carlito" pitchFamily="34" charset="-122"/>
                <a:cs typeface="Carlito" pitchFamily="34" charset="-120"/>
              </a:rPr>
              <a:t>, </a:t>
            </a:r>
            <a:r>
              <a:rPr lang="en-US" sz="900" dirty="0">
                <a:solidFill>
                  <a:srgbClr val="1E2A78"/>
                </a:solidFill>
                <a:latin typeface="Courier New" pitchFamily="34" charset="0"/>
                <a:ea typeface="Courier New" pitchFamily="34" charset="-122"/>
                <a:cs typeface="Courier New" pitchFamily="34" charset="-120"/>
              </a:rPr>
              <a:t>CHAR</a:t>
            </a:r>
            <a:r>
              <a:rPr lang="en-US" sz="900" dirty="0">
                <a:solidFill>
                  <a:srgbClr val="5A6485"/>
                </a:solidFill>
                <a:latin typeface="Carlito" pitchFamily="34" charset="0"/>
                <a:ea typeface="Carlito" pitchFamily="34" charset="-122"/>
                <a:cs typeface="Carlito" pitchFamily="34" charset="-120"/>
              </a:rPr>
              <a:t> — and the phone/pincode trap.</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57275"/>
          <a:ext cx="8229600" cy="1209200"/>
        </p:xfrm>
        <a:graphic>
          <a:graphicData uri="http://schemas.openxmlformats.org/drawingml/2006/table">
            <a:tbl>
              <a:tblPr/>
              <a:tblGrid>
                <a:gridCol w="1810494">
                  <a:extLst>
                    <a:ext uri="{9D8B030D-6E8A-4147-A177-3AD203B41FA5}">
                      <a16:colId xmlns:a16="http://schemas.microsoft.com/office/drawing/2014/main" val="20000"/>
                    </a:ext>
                  </a:extLst>
                </a:gridCol>
                <a:gridCol w="1810494">
                  <a:extLst>
                    <a:ext uri="{9D8B030D-6E8A-4147-A177-3AD203B41FA5}">
                      <a16:colId xmlns:a16="http://schemas.microsoft.com/office/drawing/2014/main" val="20001"/>
                    </a:ext>
                  </a:extLst>
                </a:gridCol>
                <a:gridCol w="4608612">
                  <a:extLst>
                    <a:ext uri="{9D8B030D-6E8A-4147-A177-3AD203B41FA5}">
                      <a16:colId xmlns:a16="http://schemas.microsoft.com/office/drawing/2014/main" val="20002"/>
                    </a:ext>
                  </a:extLst>
                </a:gridCol>
              </a:tblGrid>
              <a:tr h="0">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Type</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A78"/>
                    </a:solidFill>
                  </a:tcPr>
                </a:tc>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Length</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A78"/>
                    </a:solidFill>
                  </a:tcPr>
                </a:tc>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Best For</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A78"/>
                    </a:solidFill>
                  </a:tcPr>
                </a:tc>
                <a:extLst>
                  <a:ext uri="{0D108BD9-81ED-4DB2-BD59-A6C34878D82A}">
                    <a16:rowId xmlns:a16="http://schemas.microsoft.com/office/drawing/2014/main" val="10000"/>
                  </a:ext>
                </a:extLst>
              </a:tr>
              <a:tr h="0">
                <a:tc>
                  <a:txBody>
                    <a:bodyPr/>
                    <a:lstStyle/>
                    <a:p>
                      <a:pPr marL="0" indent="0" algn="l">
                        <a:buNone/>
                      </a:pPr>
                      <a:r>
                        <a:rPr lang="en-US" sz="800" dirty="0">
                          <a:solidFill>
                            <a:srgbClr val="1E2A78"/>
                          </a:solidFill>
                          <a:latin typeface="Courier New" pitchFamily="34" charset="0"/>
                          <a:ea typeface="Courier New" pitchFamily="34" charset="-122"/>
                          <a:cs typeface="Courier New" pitchFamily="34" charset="-120"/>
                        </a:rPr>
                        <a:t>VARCHAR(n)</a:t>
                      </a:r>
                      <a:endParaRPr lang="en-US" sz="800" dirty="0">
                        <a:latin typeface="Courier New" charset="0"/>
                        <a:ea typeface="Courier New" charset="0"/>
                        <a:cs typeface="Courier New" charset="0"/>
                      </a:endParaRPr>
                    </a:p>
                  </a:txBody>
                  <a:tcPr marL="78581" marR="100013" marT="100013"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up to n</a:t>
                      </a:r>
                      <a:endParaRPr lang="en-US" sz="800" dirty="0">
                        <a:latin typeface="Carlito" charset="0"/>
                        <a:ea typeface="Carlito" charset="0"/>
                        <a:cs typeface="Carlito" charset="0"/>
                      </a:endParaRPr>
                    </a:p>
                  </a:txBody>
                  <a:tcPr marL="78581" marR="100013" marT="100013"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names, emails, cities, codes (most common)</a:t>
                      </a:r>
                      <a:endParaRPr lang="en-US" sz="800" dirty="0">
                        <a:latin typeface="Carlito" charset="0"/>
                        <a:ea typeface="Carlito" charset="0"/>
                        <a:cs typeface="Carlito" charset="0"/>
                      </a:endParaRPr>
                    </a:p>
                  </a:txBody>
                  <a:tcPr marL="78581" marR="100013" marT="100013"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800" dirty="0">
                          <a:solidFill>
                            <a:srgbClr val="1E2A78"/>
                          </a:solidFill>
                          <a:latin typeface="Courier New" pitchFamily="34" charset="0"/>
                          <a:ea typeface="Courier New" pitchFamily="34" charset="-122"/>
                          <a:cs typeface="Courier New" pitchFamily="34" charset="-120"/>
                        </a:rPr>
                        <a:t>TEXT</a:t>
                      </a:r>
                      <a:endParaRPr lang="en-US" sz="800" dirty="0">
                        <a:latin typeface="Courier New" charset="0"/>
                        <a:ea typeface="Courier New" charset="0"/>
                        <a:cs typeface="Courier New" charset="0"/>
                      </a:endParaRPr>
                    </a:p>
                  </a:txBody>
                  <a:tcPr marL="78581" marR="100013" marT="100013"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unlimited</a:t>
                      </a:r>
                      <a:endParaRPr lang="en-US" sz="800" dirty="0">
                        <a:latin typeface="Carlito" charset="0"/>
                        <a:ea typeface="Carlito" charset="0"/>
                        <a:cs typeface="Carlito" charset="0"/>
                      </a:endParaRPr>
                    </a:p>
                  </a:txBody>
                  <a:tcPr marL="78581" marR="100013" marT="100013"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reviews, descriptions, long comments</a:t>
                      </a:r>
                      <a:endParaRPr lang="en-US" sz="800" dirty="0">
                        <a:latin typeface="Carlito" charset="0"/>
                        <a:ea typeface="Carlito" charset="0"/>
                        <a:cs typeface="Carlito" charset="0"/>
                      </a:endParaRPr>
                    </a:p>
                  </a:txBody>
                  <a:tcPr marL="78581" marR="100013" marT="100013"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800" dirty="0">
                          <a:solidFill>
                            <a:srgbClr val="1E2A78"/>
                          </a:solidFill>
                          <a:latin typeface="Courier New" pitchFamily="34" charset="0"/>
                          <a:ea typeface="Courier New" pitchFamily="34" charset="-122"/>
                          <a:cs typeface="Courier New" pitchFamily="34" charset="-120"/>
                        </a:rPr>
                        <a:t>CHAR(n)</a:t>
                      </a:r>
                      <a:endParaRPr lang="en-US" sz="800" dirty="0">
                        <a:latin typeface="Courier New" charset="0"/>
                        <a:ea typeface="Courier New" charset="0"/>
                        <a:cs typeface="Courier New" charset="0"/>
                      </a:endParaRPr>
                    </a:p>
                  </a:txBody>
                  <a:tcPr marL="78581" marR="100013" marT="100013"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fixed n</a:t>
                      </a:r>
                      <a:endParaRPr lang="en-US" sz="800" dirty="0">
                        <a:latin typeface="Carlito" charset="0"/>
                        <a:ea typeface="Carlito" charset="0"/>
                        <a:cs typeface="Carlito" charset="0"/>
                      </a:endParaRPr>
                    </a:p>
                  </a:txBody>
                  <a:tcPr marL="78581" marR="100013" marT="100013"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almost never (pads with spaces — wasteful)</a:t>
                      </a:r>
                      <a:endParaRPr lang="en-US" sz="800" dirty="0">
                        <a:latin typeface="Carlito" charset="0"/>
                        <a:ea typeface="Carlito" charset="0"/>
                        <a:cs typeface="Carlito" charset="0"/>
                      </a:endParaRPr>
                    </a:p>
                  </a:txBody>
                  <a:tcPr marL="78581" marR="100013" marT="100013"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3"/>
          <p:cNvSpPr/>
          <p:nvPr/>
        </p:nvSpPr>
        <p:spPr>
          <a:xfrm>
            <a:off x="457200" y="2100263"/>
            <a:ext cx="8229600" cy="469478"/>
          </a:xfrm>
          <a:prstGeom prst="roundRect">
            <a:avLst>
              <a:gd name="adj" fmla="val 20288"/>
            </a:avLst>
          </a:prstGeom>
          <a:solidFill>
            <a:srgbClr val="FEF3C7"/>
          </a:solidFill>
          <a:ln/>
          <a:effectLst>
            <a:outerShdw blurRad="95250" dist="28575" dir="5400000" algn="bl" rotWithShape="0">
              <a:srgbClr val="F59E0B">
                <a:alpha val="10000"/>
              </a:srgbClr>
            </a:outerShdw>
          </a:effectLst>
        </p:spPr>
        <p:txBody>
          <a:bodyPr wrap="square" rtlCol="0" anchor="ctr"/>
          <a:lstStyle/>
          <a:p>
            <a:pPr marL="0" indent="0">
              <a:buNone/>
            </a:pPr>
            <a:endParaRPr lang="en-US" dirty="0"/>
          </a:p>
        </p:txBody>
      </p:sp>
      <p:sp>
        <p:nvSpPr>
          <p:cNvPr id="7" name="Shape 4"/>
          <p:cNvSpPr/>
          <p:nvPr/>
        </p:nvSpPr>
        <p:spPr>
          <a:xfrm>
            <a:off x="475059" y="2100263"/>
            <a:ext cx="0" cy="469478"/>
          </a:xfrm>
          <a:prstGeom prst="line">
            <a:avLst/>
          </a:prstGeom>
          <a:noFill/>
          <a:ln w="35719">
            <a:solidFill>
              <a:srgbClr val="F59E0B"/>
            </a:solidFill>
            <a:prstDash val="solid"/>
          </a:ln>
        </p:spPr>
      </p:sp>
      <p:sp>
        <p:nvSpPr>
          <p:cNvPr id="8" name="Text 5"/>
          <p:cNvSpPr/>
          <p:nvPr/>
        </p:nvSpPr>
        <p:spPr>
          <a:xfrm>
            <a:off x="607219" y="2185988"/>
            <a:ext cx="7965281" cy="131293"/>
          </a:xfrm>
          <a:prstGeom prst="rect">
            <a:avLst/>
          </a:prstGeom>
          <a:noFill/>
          <a:ln/>
        </p:spPr>
        <p:txBody>
          <a:bodyPr wrap="square" lIns="0" tIns="0" rIns="0" bIns="0" rtlCol="0" anchor="t">
            <a:normAutofit/>
          </a:bodyPr>
          <a:lstStyle/>
          <a:p>
            <a:pPr marL="0" indent="0" algn="l">
              <a:lnSpc>
                <a:spcPts val="1025"/>
              </a:lnSpc>
              <a:buNone/>
            </a:pPr>
            <a:r>
              <a:rPr lang="en-US" sz="800" b="1" dirty="0">
                <a:solidFill>
                  <a:srgbClr val="D97706"/>
                </a:solidFill>
                <a:latin typeface="Liberation Sans Narrow" pitchFamily="34" charset="0"/>
                <a:ea typeface="Liberation Sans Narrow" pitchFamily="34" charset="-122"/>
                <a:cs typeface="Liberation Sans Narrow" pitchFamily="34" charset="-120"/>
              </a:rPr>
              <a:t>VARCHAR(100)</a:t>
            </a:r>
            <a:r>
              <a:rPr lang="en-US" sz="800" b="1" dirty="0">
                <a:solidFill>
                  <a:srgbClr val="D97706"/>
                </a:solidFill>
                <a:latin typeface="Carlito" pitchFamily="34" charset="0"/>
                <a:ea typeface="Carlito" pitchFamily="34" charset="-122"/>
                <a:cs typeface="Carlito" pitchFamily="34" charset="-120"/>
              </a:rPr>
              <a:t> and </a:t>
            </a:r>
            <a:r>
              <a:rPr lang="en-US" sz="800" b="1" dirty="0">
                <a:solidFill>
                  <a:srgbClr val="D97706"/>
                </a:solidFill>
                <a:latin typeface="Liberation Sans Narrow" pitchFamily="34" charset="0"/>
                <a:ea typeface="Liberation Sans Narrow" pitchFamily="34" charset="-122"/>
                <a:cs typeface="Liberation Sans Narrow" pitchFamily="34" charset="-120"/>
              </a:rPr>
              <a:t>VARCHAR(50)</a:t>
            </a:r>
            <a:r>
              <a:rPr lang="en-US" sz="800" b="1" dirty="0">
                <a:solidFill>
                  <a:srgbClr val="D97706"/>
                </a:solidFill>
                <a:latin typeface="Carlito" pitchFamily="34" charset="0"/>
                <a:ea typeface="Carlito" pitchFamily="34" charset="-122"/>
                <a:cs typeface="Carlito" pitchFamily="34" charset="-120"/>
              </a:rPr>
              <a:t> use the SAME storage for a 30-char value.</a:t>
            </a:r>
            <a:endParaRPr lang="en-US" sz="800" dirty="0"/>
          </a:p>
        </p:txBody>
      </p:sp>
      <p:sp>
        <p:nvSpPr>
          <p:cNvPr id="9" name="Text 6"/>
          <p:cNvSpPr/>
          <p:nvPr/>
        </p:nvSpPr>
        <p:spPr>
          <a:xfrm>
            <a:off x="607219" y="2344713"/>
            <a:ext cx="7965281" cy="139303"/>
          </a:xfrm>
          <a:prstGeom prst="rect">
            <a:avLst/>
          </a:prstGeom>
          <a:noFill/>
          <a:ln/>
        </p:spPr>
        <p:txBody>
          <a:bodyPr wrap="square" lIns="0" tIns="0" rIns="0" bIns="0" rtlCol="0" anchor="t"/>
          <a:lstStyle/>
          <a:p>
            <a:pPr marL="0" indent="0" algn="l">
              <a:lnSpc>
                <a:spcPts val="1097"/>
              </a:lnSpc>
              <a:buNone/>
            </a:pPr>
            <a:r>
              <a:rPr lang="en-US" sz="800" dirty="0">
                <a:solidFill>
                  <a:srgbClr val="2B3361"/>
                </a:solidFill>
                <a:latin typeface="Carlito" pitchFamily="34" charset="0"/>
                <a:ea typeface="Carlito" pitchFamily="34" charset="-122"/>
                <a:cs typeface="Carlito" pitchFamily="34" charset="-120"/>
              </a:rPr>
              <a:t>The limit only </a:t>
            </a:r>
            <a:r>
              <a:rPr lang="en-US" sz="800" b="1" dirty="0">
                <a:solidFill>
                  <a:srgbClr val="2B3361"/>
                </a:solidFill>
                <a:latin typeface="Carlito" pitchFamily="34" charset="0"/>
                <a:ea typeface="Carlito" pitchFamily="34" charset="-122"/>
                <a:cs typeface="Carlito" pitchFamily="34" charset="-120"/>
              </a:rPr>
              <a:t>REJECTS</a:t>
            </a:r>
            <a:r>
              <a:rPr lang="en-US" sz="800" dirty="0">
                <a:solidFill>
                  <a:srgbClr val="2B3361"/>
                </a:solidFill>
                <a:latin typeface="Carlito" pitchFamily="34" charset="0"/>
                <a:ea typeface="Carlito" pitchFamily="34" charset="-122"/>
                <a:cs typeface="Carlito" pitchFamily="34" charset="-120"/>
              </a:rPr>
              <a:t> values that exceed it. Set it generously.</a:t>
            </a:r>
            <a:endParaRPr lang="en-US" sz="800" dirty="0"/>
          </a:p>
        </p:txBody>
      </p:sp>
      <p:sp>
        <p:nvSpPr>
          <p:cNvPr id="10" name="Text 7"/>
          <p:cNvSpPr/>
          <p:nvPr/>
        </p:nvSpPr>
        <p:spPr>
          <a:xfrm>
            <a:off x="460772" y="4127302"/>
            <a:ext cx="8222456" cy="483989"/>
          </a:xfrm>
          <a:prstGeom prst="roundRect">
            <a:avLst>
              <a:gd name="adj" fmla="val 23616"/>
            </a:avLst>
          </a:prstGeom>
          <a:solidFill>
            <a:srgbClr val="0F172A"/>
          </a:solidFill>
          <a:ln w="7144">
            <a:solidFill>
              <a:srgbClr val="1E293B"/>
            </a:solidFill>
            <a:prstDash val="solid"/>
          </a:ln>
          <a:effectLst>
            <a:outerShdw blurRad="133350" dist="38100" dir="5400000" algn="bl" rotWithShape="0">
              <a:srgbClr val="0F172A">
                <a:alpha val="18000"/>
              </a:srgbClr>
            </a:outerShdw>
          </a:effectLst>
        </p:spPr>
        <p:txBody>
          <a:bodyPr wrap="square" rtlCol="0" anchor="ctr"/>
          <a:lstStyle/>
          <a:p>
            <a:pPr marL="0" indent="0">
              <a:buNone/>
            </a:pPr>
            <a:endParaRPr lang="en-US" dirty="0"/>
          </a:p>
        </p:txBody>
      </p:sp>
      <p:sp>
        <p:nvSpPr>
          <p:cNvPr id="5" name="Text 8"/>
          <p:cNvSpPr/>
          <p:nvPr/>
        </p:nvSpPr>
        <p:spPr>
          <a:xfrm>
            <a:off x="457200" y="4123730"/>
            <a:ext cx="8229600" cy="603504"/>
          </a:xfrm>
          <a:prstGeom prst="rect">
            <a:avLst/>
          </a:prstGeom>
          <a:noFill/>
          <a:ln/>
        </p:spPr>
        <p:txBody>
          <a:bodyPr wrap="square" lIns="128588" tIns="100013" rIns="128588" bIns="100013" rtlCol="0" anchor="t"/>
          <a:lstStyle/>
          <a:p>
            <a:pPr marL="0" indent="0" algn="l">
              <a:lnSpc>
                <a:spcPts val="1090"/>
              </a:lnSpc>
              <a:buNone/>
            </a:pPr>
            <a:r>
              <a:rPr lang="en-US" sz="800" i="1" dirty="0">
                <a:solidFill>
                  <a:srgbClr val="64748B"/>
                </a:solidFill>
                <a:latin typeface="Courier New" pitchFamily="34" charset="0"/>
                <a:ea typeface="Courier New" pitchFamily="34" charset="-122"/>
                <a:cs typeface="Courier New" pitchFamily="34" charset="-120"/>
              </a:rPr>
              <a:t>-- The phone / pincode / aadhaar trap — these are NOT numbers:</a:t>
            </a:r>
            <a:r>
              <a:rPr lang="en-US" sz="800" dirty="0">
                <a:solidFill>
                  <a:srgbClr val="E2E8F0"/>
                </a:solidFill>
                <a:latin typeface="Courier New" pitchFamily="34" charset="0"/>
                <a:ea typeface="Courier New" pitchFamily="34" charset="-122"/>
                <a:cs typeface="Courier New" pitchFamily="34" charset="-120"/>
              </a:rPr>
              <a:t> phone </a:t>
            </a:r>
            <a:r>
              <a:rPr lang="en-US" sz="800" dirty="0">
                <a:solidFill>
                  <a:srgbClr val="A5F4BA"/>
                </a:solidFill>
                <a:latin typeface="Liberation Sans Narrow" pitchFamily="34" charset="0"/>
                <a:ea typeface="Liberation Sans Narrow" pitchFamily="34" charset="-122"/>
                <a:cs typeface="Liberation Sans Narrow" pitchFamily="34" charset="-120"/>
              </a:rPr>
              <a:t>'+91-098765-43210'</a:t>
            </a:r>
            <a:r>
              <a:rPr lang="en-US" sz="800" dirty="0">
                <a:solidFill>
                  <a:srgbClr val="E2E8F0"/>
                </a:solidFill>
                <a:latin typeface="Liberation Sans Narrow" pitchFamily="34" charset="0"/>
                <a:ea typeface="Liberation Sans Narrow" pitchFamily="34" charset="-122"/>
                <a:cs typeface="Liberation Sans Narrow" pitchFamily="34" charset="-120"/>
              </a:rPr>
              <a:t> → has +, dashes, leading 0 → </a:t>
            </a:r>
            <a:r>
              <a:rPr lang="en-US" sz="800" dirty="0">
                <a:solidFill>
                  <a:srgbClr val="F472B6"/>
                </a:solidFill>
                <a:latin typeface="Courier New" pitchFamily="34" charset="0"/>
                <a:ea typeface="Courier New" pitchFamily="34" charset="-122"/>
                <a:cs typeface="Courier New" pitchFamily="34" charset="-120"/>
              </a:rPr>
              <a:t>VARCHAR</a:t>
            </a:r>
            <a:r>
              <a:rPr lang="en-US" sz="800" dirty="0">
                <a:solidFill>
                  <a:srgbClr val="E2E8F0"/>
                </a:solidFill>
                <a:latin typeface="Courier New" pitchFamily="34" charset="0"/>
                <a:ea typeface="Courier New" pitchFamily="34" charset="-122"/>
                <a:cs typeface="Courier New" pitchFamily="34" charset="-120"/>
              </a:rPr>
              <a:t> pincode </a:t>
            </a:r>
            <a:r>
              <a:rPr lang="en-US" sz="800" dirty="0">
                <a:solidFill>
                  <a:srgbClr val="A5F4BA"/>
                </a:solidFill>
                <a:latin typeface="Liberation Sans Narrow" pitchFamily="34" charset="0"/>
                <a:ea typeface="Liberation Sans Narrow" pitchFamily="34" charset="-122"/>
                <a:cs typeface="Liberation Sans Narrow" pitchFamily="34" charset="-120"/>
              </a:rPr>
              <a:t>'022987'</a:t>
            </a:r>
            <a:r>
              <a:rPr lang="en-US" sz="800" dirty="0">
                <a:solidFill>
                  <a:srgbClr val="E2E8F0"/>
                </a:solidFill>
                <a:latin typeface="Courier New" pitchFamily="34" charset="0"/>
                <a:ea typeface="Courier New" pitchFamily="34" charset="-122"/>
                <a:cs typeface="Courier New" pitchFamily="34" charset="-120"/>
              </a:rPr>
              <a:t> → </a:t>
            </a:r>
            <a:r>
              <a:rPr lang="en-US" sz="800" dirty="0">
                <a:solidFill>
                  <a:srgbClr val="F472B6"/>
                </a:solidFill>
                <a:latin typeface="Courier New" pitchFamily="34" charset="0"/>
                <a:ea typeface="Courier New" pitchFamily="34" charset="-122"/>
                <a:cs typeface="Courier New" pitchFamily="34" charset="-120"/>
              </a:rPr>
              <a:t>INT</a:t>
            </a:r>
            <a:r>
              <a:rPr lang="en-US" sz="800" dirty="0">
                <a:solidFill>
                  <a:srgbClr val="E2E8F0"/>
                </a:solidFill>
                <a:latin typeface="Liberation Sans Narrow" pitchFamily="34" charset="0"/>
                <a:ea typeface="Liberation Sans Narrow" pitchFamily="34" charset="-122"/>
                <a:cs typeface="Liberation Sans Narrow" pitchFamily="34" charset="-120"/>
              </a:rPr>
              <a:t> would drop the leading 0 → </a:t>
            </a:r>
            <a:r>
              <a:rPr lang="en-US" sz="800" dirty="0">
                <a:solidFill>
                  <a:srgbClr val="F472B6"/>
                </a:solidFill>
                <a:latin typeface="Courier New" pitchFamily="34" charset="0"/>
                <a:ea typeface="Courier New" pitchFamily="34" charset="-122"/>
                <a:cs typeface="Courier New" pitchFamily="34" charset="-120"/>
              </a:rPr>
              <a:t>VARCHAR</a:t>
            </a:r>
            <a:r>
              <a:rPr lang="en-US" sz="800" dirty="0">
                <a:solidFill>
                  <a:srgbClr val="E2E8F0"/>
                </a:solidFill>
                <a:latin typeface="Courier New" pitchFamily="34" charset="0"/>
                <a:ea typeface="Courier New" pitchFamily="34" charset="-122"/>
                <a:cs typeface="Courier New" pitchFamily="34" charset="-120"/>
              </a:rPr>
              <a:t> </a:t>
            </a:r>
            <a:r>
              <a:rPr lang="en-US" sz="800" i="1" dirty="0">
                <a:solidFill>
                  <a:srgbClr val="64748B"/>
                </a:solidFill>
                <a:latin typeface="Courier New" pitchFamily="34" charset="0"/>
                <a:ea typeface="Courier New" pitchFamily="34" charset="-122"/>
                <a:cs typeface="Courier New" pitchFamily="34" charset="-120"/>
              </a:rPr>
              <a:t>-- Test: do you ever SUM or AVG it? No → it is text, not a number.</a:t>
            </a:r>
            <a:endParaRPr lang="en-US" sz="800" dirty="0"/>
          </a:p>
        </p:txBody>
      </p:sp>
      <p:sp>
        <p:nvSpPr>
          <p:cNvPr id="12" name="Text 9"/>
          <p:cNvSpPr/>
          <p:nvPr/>
        </p:nvSpPr>
        <p:spPr>
          <a:xfrm>
            <a:off x="457200" y="4897041"/>
            <a:ext cx="8009148" cy="164592"/>
          </a:xfrm>
          <a:prstGeom prst="rect">
            <a:avLst/>
          </a:prstGeom>
          <a:noFill/>
          <a:ln/>
        </p:spPr>
        <p:txBody>
          <a:bodyPr wrap="square" lIns="0" tIns="0" rIns="0" bIns="0" rtlCol="0" anchor="t"/>
          <a:lstStyle/>
          <a:p>
            <a:pPr marL="0" indent="0" algn="l">
              <a:lnSpc>
                <a:spcPts val="928"/>
              </a:lnSpc>
              <a:buNone/>
            </a:pPr>
            <a:r>
              <a:rPr lang="en-US" sz="800" kern="0" spc="50" dirty="0">
                <a:solidFill>
                  <a:srgbClr val="5A6485"/>
                </a:solidFill>
                <a:latin typeface="Liberation Sans Narrow" pitchFamily="34" charset="0"/>
                <a:ea typeface="Liberation Sans Narrow" pitchFamily="34" charset="-122"/>
                <a:cs typeface="Liberation Sans Narrow" pitchFamily="34" charset="-120"/>
              </a:rPr>
              <a:t>DATA TYPES · 3 OF 5</a:t>
            </a:r>
            <a:endParaRPr lang="en-US" sz="800" dirty="0"/>
          </a:p>
        </p:txBody>
      </p:sp>
      <p:sp>
        <p:nvSpPr>
          <p:cNvPr id="13" name="Text 10"/>
          <p:cNvSpPr/>
          <p:nvPr/>
        </p:nvSpPr>
        <p:spPr>
          <a:xfrm>
            <a:off x="8480636" y="4897041"/>
            <a:ext cx="455660" cy="164592"/>
          </a:xfrm>
          <a:prstGeom prst="rect">
            <a:avLst/>
          </a:prstGeom>
          <a:noFill/>
          <a:ln/>
        </p:spPr>
        <p:txBody>
          <a:bodyPr wrap="none" lIns="0" tIns="0" rIns="0" bIns="0" rtlCol="0" anchor="t"/>
          <a:lstStyle/>
          <a:p>
            <a:pPr marL="0" indent="0" algn="l">
              <a:lnSpc>
                <a:spcPts val="928"/>
              </a:lnSpc>
              <a:buNone/>
            </a:pPr>
            <a:r>
              <a:rPr lang="en-US" sz="800" kern="0" spc="50" dirty="0">
                <a:solidFill>
                  <a:srgbClr val="5A6485"/>
                </a:solidFill>
                <a:latin typeface="Liberation Sans Narrow" pitchFamily="34" charset="0"/>
                <a:ea typeface="Liberation Sans Narrow" pitchFamily="34" charset="-122"/>
                <a:cs typeface="Liberation Sans Narrow" pitchFamily="34" charset="-120"/>
              </a:rPr>
              <a:t>10 / 54</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7875873" y="257175"/>
            <a:ext cx="1213175"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5A6485"/>
                </a:solidFill>
                <a:latin typeface="Liberation Sans Narrow" pitchFamily="34" charset="0"/>
                <a:ea typeface="Liberation Sans Narrow" pitchFamily="34" charset="-122"/>
                <a:cs typeface="Liberation Sans Narrow" pitchFamily="34" charset="-120"/>
              </a:rPr>
              <a:t>DATA TYPES · 4 / 5</a:t>
            </a:r>
            <a:endParaRPr lang="en-US" sz="800" dirty="0"/>
          </a:p>
        </p:txBody>
      </p:sp>
      <p:sp>
        <p:nvSpPr>
          <p:cNvPr id="3" name="Text 1"/>
          <p:cNvSpPr/>
          <p:nvPr/>
        </p:nvSpPr>
        <p:spPr>
          <a:xfrm>
            <a:off x="457200" y="385763"/>
            <a:ext cx="8636000" cy="283991"/>
          </a:xfrm>
          <a:prstGeom prst="rect">
            <a:avLst/>
          </a:prstGeom>
          <a:noFill/>
          <a:ln/>
        </p:spPr>
        <p:txBody>
          <a:bodyPr wrap="none" lIns="0" tIns="0" rIns="0" bIns="0" rtlCol="0" anchor="t">
            <a:normAutofit/>
          </a:bodyPr>
          <a:lstStyle/>
          <a:p>
            <a:pPr marL="0" indent="0" algn="l">
              <a:lnSpc>
                <a:spcPts val="2228"/>
              </a:lnSpc>
              <a:buNone/>
            </a:pPr>
            <a:r>
              <a:rPr lang="en-US" sz="2025" b="1" kern="0" spc="-30" dirty="0">
                <a:solidFill>
                  <a:srgbClr val="0B1736"/>
                </a:solidFill>
                <a:latin typeface="Carlito" pitchFamily="34" charset="0"/>
                <a:ea typeface="Carlito" pitchFamily="34" charset="-122"/>
                <a:cs typeface="Carlito" pitchFamily="34" charset="-120"/>
              </a:rPr>
              <a:t>Dates, Times, and Flags</a:t>
            </a:r>
            <a:endParaRPr lang="en-US" sz="2025" dirty="0"/>
          </a:p>
        </p:txBody>
      </p:sp>
      <p:sp>
        <p:nvSpPr>
          <p:cNvPr id="4" name="Text 2"/>
          <p:cNvSpPr/>
          <p:nvPr/>
        </p:nvSpPr>
        <p:spPr>
          <a:xfrm>
            <a:off x="457200" y="697185"/>
            <a:ext cx="8636000" cy="185166"/>
          </a:xfrm>
          <a:prstGeom prst="rect">
            <a:avLst/>
          </a:prstGeom>
          <a:noFill/>
          <a:ln/>
        </p:spPr>
        <p:txBody>
          <a:bodyPr wrap="square" lIns="0" tIns="0" rIns="0" bIns="0" rtlCol="0" anchor="t"/>
          <a:lstStyle/>
          <a:p>
            <a:pPr marL="0" indent="0" algn="l">
              <a:lnSpc>
                <a:spcPts val="1350"/>
              </a:lnSpc>
              <a:buNone/>
            </a:pPr>
            <a:r>
              <a:rPr lang="en-US" sz="900" dirty="0">
                <a:solidFill>
                  <a:srgbClr val="1E2A78"/>
                </a:solidFill>
                <a:latin typeface="Courier New" pitchFamily="34" charset="0"/>
                <a:ea typeface="Courier New" pitchFamily="34" charset="-122"/>
                <a:cs typeface="Courier New" pitchFamily="34" charset="-120"/>
              </a:rPr>
              <a:t>DATE</a:t>
            </a:r>
            <a:r>
              <a:rPr lang="en-US" sz="900" dirty="0">
                <a:solidFill>
                  <a:srgbClr val="5A6485"/>
                </a:solidFill>
                <a:latin typeface="Carlito" pitchFamily="34" charset="0"/>
                <a:ea typeface="Carlito" pitchFamily="34" charset="-122"/>
                <a:cs typeface="Carlito" pitchFamily="34" charset="-120"/>
              </a:rPr>
              <a:t> vs </a:t>
            </a:r>
            <a:r>
              <a:rPr lang="en-US" sz="900" dirty="0">
                <a:solidFill>
                  <a:srgbClr val="1E2A78"/>
                </a:solidFill>
                <a:latin typeface="Courier New" pitchFamily="34" charset="0"/>
                <a:ea typeface="Courier New" pitchFamily="34" charset="-122"/>
                <a:cs typeface="Courier New" pitchFamily="34" charset="-120"/>
              </a:rPr>
              <a:t>TIMESTAMP</a:t>
            </a:r>
            <a:r>
              <a:rPr lang="en-US" sz="900" dirty="0">
                <a:solidFill>
                  <a:srgbClr val="5A6485"/>
                </a:solidFill>
                <a:latin typeface="Carlito" pitchFamily="34" charset="0"/>
                <a:ea typeface="Carlito" pitchFamily="34" charset="-122"/>
                <a:cs typeface="Carlito" pitchFamily="34" charset="-120"/>
              </a:rPr>
              <a:t> — the day vs the moment.</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000125"/>
          <a:ext cx="8229600" cy="2025020"/>
        </p:xfrm>
        <a:graphic>
          <a:graphicData uri="http://schemas.openxmlformats.org/drawingml/2006/table">
            <a:tbl>
              <a:tblPr/>
              <a:tblGrid>
                <a:gridCol w="1810494">
                  <a:extLst>
                    <a:ext uri="{9D8B030D-6E8A-4147-A177-3AD203B41FA5}">
                      <a16:colId xmlns:a16="http://schemas.microsoft.com/office/drawing/2014/main" val="20000"/>
                    </a:ext>
                  </a:extLst>
                </a:gridCol>
                <a:gridCol w="3456347">
                  <a:extLst>
                    <a:ext uri="{9D8B030D-6E8A-4147-A177-3AD203B41FA5}">
                      <a16:colId xmlns:a16="http://schemas.microsoft.com/office/drawing/2014/main" val="20001"/>
                    </a:ext>
                  </a:extLst>
                </a:gridCol>
                <a:gridCol w="2962759">
                  <a:extLst>
                    <a:ext uri="{9D8B030D-6E8A-4147-A177-3AD203B41FA5}">
                      <a16:colId xmlns:a16="http://schemas.microsoft.com/office/drawing/2014/main" val="20002"/>
                    </a:ext>
                  </a:extLst>
                </a:gridCol>
              </a:tblGrid>
              <a:tr h="0">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Type</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A78"/>
                    </a:solidFill>
                  </a:tcPr>
                </a:tc>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Stores</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A78"/>
                    </a:solidFill>
                  </a:tcPr>
                </a:tc>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Use When</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A78"/>
                    </a:solidFill>
                  </a:tcPr>
                </a:tc>
                <a:extLst>
                  <a:ext uri="{0D108BD9-81ED-4DB2-BD59-A6C34878D82A}">
                    <a16:rowId xmlns:a16="http://schemas.microsoft.com/office/drawing/2014/main" val="10000"/>
                  </a:ext>
                </a:extLst>
              </a:tr>
              <a:tr h="0">
                <a:tc>
                  <a:txBody>
                    <a:bodyPr/>
                    <a:lstStyle/>
                    <a:p>
                      <a:pPr marL="0" indent="0" algn="l">
                        <a:buNone/>
                      </a:pPr>
                      <a:r>
                        <a:rPr lang="en-US" sz="800" dirty="0">
                          <a:solidFill>
                            <a:srgbClr val="1E2A78"/>
                          </a:solidFill>
                          <a:latin typeface="Courier New" pitchFamily="34" charset="0"/>
                          <a:ea typeface="Courier New" pitchFamily="34" charset="-122"/>
                          <a:cs typeface="Courier New" pitchFamily="34" charset="-120"/>
                        </a:rPr>
                        <a:t>DATE</a:t>
                      </a:r>
                      <a:endParaRPr lang="en-US" sz="800" dirty="0">
                        <a:latin typeface="Courier New" charset="0"/>
                        <a:ea typeface="Courier New" charset="0"/>
                        <a:cs typeface="Courier New" charset="0"/>
                      </a:endParaRPr>
                    </a:p>
                  </a:txBody>
                  <a:tcPr marL="64294" marR="100013" marT="100013" marB="6429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calendar date (2025-05-16)</a:t>
                      </a:r>
                      <a:endParaRPr lang="en-US" sz="800" dirty="0">
                        <a:latin typeface="Carlito" charset="0"/>
                        <a:ea typeface="Carlito" charset="0"/>
                        <a:cs typeface="Carlito" charset="0"/>
                      </a:endParaRPr>
                    </a:p>
                  </a:txBody>
                  <a:tcPr marL="64294" marR="100013" marT="100013" marB="6429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birthday, order_date</a:t>
                      </a:r>
                      <a:endParaRPr lang="en-US" sz="800" dirty="0">
                        <a:latin typeface="Carlito" charset="0"/>
                        <a:ea typeface="Carlito" charset="0"/>
                        <a:cs typeface="Carlito" charset="0"/>
                      </a:endParaRPr>
                    </a:p>
                  </a:txBody>
                  <a:tcPr marL="64294" marR="100013" marT="100013" marB="6429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800" dirty="0">
                          <a:solidFill>
                            <a:srgbClr val="1E2A78"/>
                          </a:solidFill>
                          <a:latin typeface="Courier New" pitchFamily="34" charset="0"/>
                          <a:ea typeface="Courier New" pitchFamily="34" charset="-122"/>
                          <a:cs typeface="Courier New" pitchFamily="34" charset="-120"/>
                        </a:rPr>
                        <a:t>TIMESTAMP</a:t>
                      </a:r>
                      <a:endParaRPr lang="en-US" sz="800" dirty="0">
                        <a:latin typeface="Courier New" charset="0"/>
                        <a:ea typeface="Courier New" charset="0"/>
                        <a:cs typeface="Courier New" charset="0"/>
                      </a:endParaRPr>
                    </a:p>
                  </a:txBody>
                  <a:tcPr marL="64294" marR="100013" marT="100013" marB="6429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date + time</a:t>
                      </a:r>
                      <a:endParaRPr lang="en-US" sz="800" dirty="0">
                        <a:latin typeface="Carlito" charset="0"/>
                        <a:ea typeface="Carlito" charset="0"/>
                        <a:cs typeface="Carlito" charset="0"/>
                      </a:endParaRPr>
                    </a:p>
                  </a:txBody>
                  <a:tcPr marL="64294" marR="100013" marT="100013" marB="6429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created_at, login, events</a:t>
                      </a:r>
                      <a:endParaRPr lang="en-US" sz="800" dirty="0">
                        <a:latin typeface="Carlito" charset="0"/>
                        <a:ea typeface="Carlito" charset="0"/>
                        <a:cs typeface="Carlito" charset="0"/>
                      </a:endParaRPr>
                    </a:p>
                  </a:txBody>
                  <a:tcPr marL="64294" marR="100013" marT="100013" marB="6429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800" dirty="0">
                          <a:solidFill>
                            <a:srgbClr val="1E2A78"/>
                          </a:solidFill>
                          <a:latin typeface="Courier New" pitchFamily="34" charset="0"/>
                          <a:ea typeface="Courier New" pitchFamily="34" charset="-122"/>
                          <a:cs typeface="Courier New" pitchFamily="34" charset="-120"/>
                        </a:rPr>
                        <a:t>TIMESTAMPTZ</a:t>
                      </a:r>
                      <a:endParaRPr lang="en-US" sz="800" dirty="0">
                        <a:latin typeface="Courier New" charset="0"/>
                        <a:ea typeface="Courier New" charset="0"/>
                        <a:cs typeface="Courier New" charset="0"/>
                      </a:endParaRPr>
                    </a:p>
                  </a:txBody>
                  <a:tcPr marL="64294" marR="100013" marT="100013" marB="6429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date + time + timezone</a:t>
                      </a:r>
                      <a:endParaRPr lang="en-US" sz="800" dirty="0">
                        <a:latin typeface="Carlito" charset="0"/>
                        <a:ea typeface="Carlito" charset="0"/>
                        <a:cs typeface="Carlito" charset="0"/>
                      </a:endParaRPr>
                    </a:p>
                  </a:txBody>
                  <a:tcPr marL="64294" marR="100013" marT="100013" marB="6429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global apps</a:t>
                      </a:r>
                      <a:endParaRPr lang="en-US" sz="800" dirty="0">
                        <a:latin typeface="Carlito" charset="0"/>
                        <a:ea typeface="Carlito" charset="0"/>
                        <a:cs typeface="Carlito" charset="0"/>
                      </a:endParaRPr>
                    </a:p>
                  </a:txBody>
                  <a:tcPr marL="64294" marR="100013" marT="100013" marB="6429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800" dirty="0">
                          <a:solidFill>
                            <a:srgbClr val="1E2A78"/>
                          </a:solidFill>
                          <a:latin typeface="Courier New" pitchFamily="34" charset="0"/>
                          <a:ea typeface="Courier New" pitchFamily="34" charset="-122"/>
                          <a:cs typeface="Courier New" pitchFamily="34" charset="-120"/>
                        </a:rPr>
                        <a:t>TIME</a:t>
                      </a:r>
                      <a:endParaRPr lang="en-US" sz="800" dirty="0">
                        <a:latin typeface="Courier New" charset="0"/>
                        <a:ea typeface="Courier New" charset="0"/>
                        <a:cs typeface="Courier New" charset="0"/>
                      </a:endParaRPr>
                    </a:p>
                  </a:txBody>
                  <a:tcPr marL="64294" marR="100013" marT="100013" marB="6429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clock time only</a:t>
                      </a:r>
                      <a:endParaRPr lang="en-US" sz="800" dirty="0">
                        <a:latin typeface="Carlito" charset="0"/>
                        <a:ea typeface="Carlito" charset="0"/>
                        <a:cs typeface="Carlito" charset="0"/>
                      </a:endParaRPr>
                    </a:p>
                  </a:txBody>
                  <a:tcPr marL="64294" marR="100013" marT="100013" marB="6429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shifts, schedules</a:t>
                      </a:r>
                      <a:endParaRPr lang="en-US" sz="800" dirty="0">
                        <a:latin typeface="Carlito" charset="0"/>
                        <a:ea typeface="Carlito" charset="0"/>
                        <a:cs typeface="Carlito" charset="0"/>
                      </a:endParaRPr>
                    </a:p>
                  </a:txBody>
                  <a:tcPr marL="64294" marR="100013" marT="100013" marB="6429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lgn="l">
                        <a:buNone/>
                      </a:pPr>
                      <a:r>
                        <a:rPr lang="en-US" sz="800" dirty="0">
                          <a:solidFill>
                            <a:srgbClr val="1E2A78"/>
                          </a:solidFill>
                          <a:latin typeface="Courier New" pitchFamily="34" charset="0"/>
                          <a:ea typeface="Courier New" pitchFamily="34" charset="-122"/>
                          <a:cs typeface="Courier New" pitchFamily="34" charset="-120"/>
                        </a:rPr>
                        <a:t>INTERVAL</a:t>
                      </a:r>
                      <a:endParaRPr lang="en-US" sz="800" dirty="0">
                        <a:latin typeface="Courier New" charset="0"/>
                        <a:ea typeface="Courier New" charset="0"/>
                        <a:cs typeface="Courier New" charset="0"/>
                      </a:endParaRPr>
                    </a:p>
                  </a:txBody>
                  <a:tcPr marL="64294" marR="100013" marT="100013" marB="6429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a duration (3 days 4 hours)</a:t>
                      </a:r>
                      <a:endParaRPr lang="en-US" sz="800" dirty="0">
                        <a:latin typeface="Carlito" charset="0"/>
                        <a:ea typeface="Carlito" charset="0"/>
                        <a:cs typeface="Carlito" charset="0"/>
                      </a:endParaRPr>
                    </a:p>
                  </a:txBody>
                  <a:tcPr marL="64294" marR="100013" marT="100013" marB="6429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SLAs, time spans</a:t>
                      </a:r>
                      <a:endParaRPr lang="en-US" sz="800" dirty="0">
                        <a:latin typeface="Carlito" charset="0"/>
                        <a:ea typeface="Carlito" charset="0"/>
                        <a:cs typeface="Carlito" charset="0"/>
                      </a:endParaRPr>
                    </a:p>
                  </a:txBody>
                  <a:tcPr marL="64294" marR="100013" marT="100013" marB="6429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lgn="l">
                        <a:buNone/>
                      </a:pPr>
                      <a:r>
                        <a:rPr lang="en-US" sz="800" dirty="0">
                          <a:solidFill>
                            <a:srgbClr val="1E2A78"/>
                          </a:solidFill>
                          <a:latin typeface="Courier New" pitchFamily="34" charset="0"/>
                          <a:ea typeface="Courier New" pitchFamily="34" charset="-122"/>
                          <a:cs typeface="Courier New" pitchFamily="34" charset="-120"/>
                        </a:rPr>
                        <a:t>BOOLEAN</a:t>
                      </a:r>
                      <a:endParaRPr lang="en-US" sz="800" dirty="0">
                        <a:latin typeface="Courier New" charset="0"/>
                        <a:ea typeface="Courier New" charset="0"/>
                        <a:cs typeface="Courier New" charset="0"/>
                      </a:endParaRPr>
                    </a:p>
                  </a:txBody>
                  <a:tcPr marL="64294" marR="100013" marT="100013" marB="6429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true / false / NULL</a:t>
                      </a:r>
                      <a:endParaRPr lang="en-US" sz="800" dirty="0">
                        <a:latin typeface="Carlito" charset="0"/>
                        <a:ea typeface="Carlito" charset="0"/>
                        <a:cs typeface="Carlito" charset="0"/>
                      </a:endParaRPr>
                    </a:p>
                  </a:txBody>
                  <a:tcPr marL="64294" marR="100013" marT="100013" marB="6429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is_active, has_ac flags</a:t>
                      </a:r>
                      <a:endParaRPr lang="en-US" sz="800" dirty="0">
                        <a:latin typeface="Carlito" charset="0"/>
                        <a:ea typeface="Carlito" charset="0"/>
                        <a:cs typeface="Carlito" charset="0"/>
                      </a:endParaRPr>
                    </a:p>
                  </a:txBody>
                  <a:tcPr marL="64294" marR="100013" marT="100013" marB="64294"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Text 3"/>
          <p:cNvSpPr/>
          <p:nvPr/>
        </p:nvSpPr>
        <p:spPr>
          <a:xfrm>
            <a:off x="457200" y="4136231"/>
            <a:ext cx="4050506" cy="492919"/>
          </a:xfrm>
          <a:prstGeom prst="roundRect">
            <a:avLst>
              <a:gd name="adj" fmla="val 19324"/>
            </a:avLst>
          </a:prstGeom>
          <a:solidFill>
            <a:srgbClr val="FFFFFF"/>
          </a:solidFill>
          <a:ln/>
          <a:effectLst>
            <a:outerShdw blurRad="95250" dist="28575" dir="5400000" algn="bl" rotWithShape="0">
              <a:srgbClr val="0F172A">
                <a:alpha val="5000"/>
              </a:srgbClr>
            </a:outerShdw>
          </a:effectLst>
        </p:spPr>
        <p:txBody>
          <a:bodyPr wrap="square" rtlCol="0" anchor="ctr"/>
          <a:lstStyle/>
          <a:p>
            <a:pPr marL="0" indent="0">
              <a:buNone/>
            </a:pPr>
            <a:endParaRPr lang="en-US" dirty="0"/>
          </a:p>
        </p:txBody>
      </p:sp>
      <p:sp>
        <p:nvSpPr>
          <p:cNvPr id="7" name="Shape 4"/>
          <p:cNvSpPr/>
          <p:nvPr/>
        </p:nvSpPr>
        <p:spPr>
          <a:xfrm>
            <a:off x="457200" y="4139803"/>
            <a:ext cx="4050506" cy="0"/>
          </a:xfrm>
          <a:prstGeom prst="line">
            <a:avLst/>
          </a:prstGeom>
          <a:noFill/>
          <a:ln w="7144">
            <a:solidFill>
              <a:srgbClr val="DDE2F0"/>
            </a:solidFill>
            <a:prstDash val="solid"/>
          </a:ln>
        </p:spPr>
      </p:sp>
      <p:sp>
        <p:nvSpPr>
          <p:cNvPr id="8" name="Shape 5"/>
          <p:cNvSpPr/>
          <p:nvPr/>
        </p:nvSpPr>
        <p:spPr>
          <a:xfrm>
            <a:off x="4504134" y="4136231"/>
            <a:ext cx="0" cy="492919"/>
          </a:xfrm>
          <a:prstGeom prst="line">
            <a:avLst/>
          </a:prstGeom>
          <a:noFill/>
          <a:ln w="7144">
            <a:solidFill>
              <a:srgbClr val="DDE2F0"/>
            </a:solidFill>
            <a:prstDash val="solid"/>
          </a:ln>
        </p:spPr>
      </p:sp>
      <p:sp>
        <p:nvSpPr>
          <p:cNvPr id="9" name="Shape 6"/>
          <p:cNvSpPr/>
          <p:nvPr/>
        </p:nvSpPr>
        <p:spPr>
          <a:xfrm>
            <a:off x="457200" y="4625578"/>
            <a:ext cx="4050506" cy="0"/>
          </a:xfrm>
          <a:prstGeom prst="line">
            <a:avLst/>
          </a:prstGeom>
          <a:noFill/>
          <a:ln w="7144">
            <a:solidFill>
              <a:srgbClr val="DDE2F0"/>
            </a:solidFill>
            <a:prstDash val="solid"/>
          </a:ln>
        </p:spPr>
      </p:sp>
      <p:sp>
        <p:nvSpPr>
          <p:cNvPr id="10" name="Shape 7"/>
          <p:cNvSpPr/>
          <p:nvPr/>
        </p:nvSpPr>
        <p:spPr>
          <a:xfrm>
            <a:off x="475059" y="4136231"/>
            <a:ext cx="0" cy="492919"/>
          </a:xfrm>
          <a:prstGeom prst="line">
            <a:avLst/>
          </a:prstGeom>
          <a:noFill/>
          <a:ln w="35719">
            <a:solidFill>
              <a:srgbClr val="1E2A78"/>
            </a:solidFill>
            <a:prstDash val="solid"/>
          </a:ln>
        </p:spPr>
      </p:sp>
      <p:sp>
        <p:nvSpPr>
          <p:cNvPr id="11" name="Text 8"/>
          <p:cNvSpPr/>
          <p:nvPr/>
        </p:nvSpPr>
        <p:spPr>
          <a:xfrm>
            <a:off x="607219" y="4229100"/>
            <a:ext cx="3779044" cy="140446"/>
          </a:xfrm>
          <a:prstGeom prst="rect">
            <a:avLst/>
          </a:prstGeom>
          <a:noFill/>
          <a:ln/>
        </p:spPr>
        <p:txBody>
          <a:bodyPr wrap="none" lIns="0" tIns="0" rIns="0" bIns="0" rtlCol="0" anchor="t">
            <a:normAutofit/>
          </a:bodyPr>
          <a:lstStyle/>
          <a:p>
            <a:pPr marL="0" indent="0" algn="l">
              <a:lnSpc>
                <a:spcPts val="1097"/>
              </a:lnSpc>
              <a:buNone/>
            </a:pPr>
            <a:r>
              <a:rPr lang="en-US" sz="800" b="1" kern="0" spc="29" dirty="0">
                <a:solidFill>
                  <a:srgbClr val="1E2A78"/>
                </a:solidFill>
                <a:latin typeface="Carlito" pitchFamily="34" charset="0"/>
                <a:ea typeface="Carlito" pitchFamily="34" charset="-122"/>
                <a:cs typeface="Carlito" pitchFamily="34" charset="-120"/>
              </a:rPr>
              <a:t>POSTGRESQL DATE FORMAT</a:t>
            </a:r>
            <a:endParaRPr lang="en-US" sz="800" dirty="0"/>
          </a:p>
        </p:txBody>
      </p:sp>
      <p:sp>
        <p:nvSpPr>
          <p:cNvPr id="5" name="Text 9"/>
          <p:cNvSpPr/>
          <p:nvPr/>
        </p:nvSpPr>
        <p:spPr>
          <a:xfrm>
            <a:off x="607219" y="4396978"/>
            <a:ext cx="3779044" cy="139303"/>
          </a:xfrm>
          <a:prstGeom prst="rect">
            <a:avLst/>
          </a:prstGeom>
          <a:noFill/>
          <a:ln/>
        </p:spPr>
        <p:txBody>
          <a:bodyPr wrap="square" lIns="0" tIns="0" rIns="0" bIns="0" rtlCol="0" anchor="t"/>
          <a:lstStyle/>
          <a:p>
            <a:pPr marL="0" indent="0" algn="l">
              <a:lnSpc>
                <a:spcPts val="1097"/>
              </a:lnSpc>
              <a:buNone/>
            </a:pPr>
            <a:r>
              <a:rPr lang="en-US" sz="800" dirty="0">
                <a:solidFill>
                  <a:srgbClr val="2B3361"/>
                </a:solidFill>
                <a:latin typeface="Carlito" pitchFamily="34" charset="0"/>
                <a:ea typeface="Carlito" pitchFamily="34" charset="-122"/>
                <a:cs typeface="Carlito" pitchFamily="34" charset="-120"/>
              </a:rPr>
              <a:t>Always </a:t>
            </a:r>
            <a:r>
              <a:rPr lang="en-US" sz="800" dirty="0">
                <a:solidFill>
                  <a:srgbClr val="1E2A78"/>
                </a:solidFill>
                <a:latin typeface="Courier New" pitchFamily="34" charset="0"/>
                <a:ea typeface="Courier New" pitchFamily="34" charset="-122"/>
                <a:cs typeface="Courier New" pitchFamily="34" charset="-120"/>
              </a:rPr>
              <a:t>YYYY-MM-DD</a:t>
            </a:r>
            <a:r>
              <a:rPr lang="en-US" sz="800" dirty="0">
                <a:solidFill>
                  <a:srgbClr val="2B3361"/>
                </a:solidFill>
                <a:latin typeface="Carlito" pitchFamily="34" charset="0"/>
                <a:ea typeface="Carlito" pitchFamily="34" charset="-122"/>
                <a:cs typeface="Carlito" pitchFamily="34" charset="-120"/>
              </a:rPr>
              <a:t>: </a:t>
            </a:r>
            <a:r>
              <a:rPr lang="en-US" sz="800" dirty="0">
                <a:solidFill>
                  <a:srgbClr val="1E2A78"/>
                </a:solidFill>
                <a:latin typeface="Liberation Sans Narrow" pitchFamily="34" charset="0"/>
                <a:ea typeface="Liberation Sans Narrow" pitchFamily="34" charset="-122"/>
                <a:cs typeface="Liberation Sans Narrow" pitchFamily="34" charset="-120"/>
              </a:rPr>
              <a:t>'2025-05-16'</a:t>
            </a:r>
            <a:r>
              <a:rPr lang="en-US" sz="800" dirty="0">
                <a:solidFill>
                  <a:srgbClr val="2B3361"/>
                </a:solidFill>
                <a:latin typeface="Liberation Sans Narrow" pitchFamily="34" charset="0"/>
                <a:ea typeface="Liberation Sans Narrow" pitchFamily="34" charset="-122"/>
                <a:cs typeface="Liberation Sans Narrow" pitchFamily="34" charset="-120"/>
              </a:rPr>
              <a:t> (not 16/05/2025).</a:t>
            </a:r>
            <a:endParaRPr lang="en-US" sz="800" dirty="0"/>
          </a:p>
        </p:txBody>
      </p:sp>
      <p:sp>
        <p:nvSpPr>
          <p:cNvPr id="13" name="Text 10"/>
          <p:cNvSpPr/>
          <p:nvPr/>
        </p:nvSpPr>
        <p:spPr>
          <a:xfrm>
            <a:off x="4636294" y="4136231"/>
            <a:ext cx="4050506" cy="492919"/>
          </a:xfrm>
          <a:prstGeom prst="roundRect">
            <a:avLst>
              <a:gd name="adj" fmla="val 19324"/>
            </a:avLst>
          </a:prstGeom>
          <a:solidFill>
            <a:srgbClr val="FFFFFF"/>
          </a:solidFill>
          <a:ln/>
          <a:effectLst>
            <a:outerShdw blurRad="95250" dist="28575" dir="5400000" algn="bl" rotWithShape="0">
              <a:srgbClr val="0F172A">
                <a:alpha val="5000"/>
              </a:srgbClr>
            </a:outerShdw>
          </a:effectLst>
        </p:spPr>
        <p:txBody>
          <a:bodyPr wrap="square" rtlCol="0" anchor="ctr"/>
          <a:lstStyle/>
          <a:p>
            <a:pPr marL="0" indent="0">
              <a:buNone/>
            </a:pPr>
            <a:endParaRPr lang="en-US" dirty="0"/>
          </a:p>
        </p:txBody>
      </p:sp>
      <p:sp>
        <p:nvSpPr>
          <p:cNvPr id="14" name="Shape 11"/>
          <p:cNvSpPr/>
          <p:nvPr/>
        </p:nvSpPr>
        <p:spPr>
          <a:xfrm>
            <a:off x="4636294" y="4139803"/>
            <a:ext cx="4050506" cy="0"/>
          </a:xfrm>
          <a:prstGeom prst="line">
            <a:avLst/>
          </a:prstGeom>
          <a:noFill/>
          <a:ln w="7144">
            <a:solidFill>
              <a:srgbClr val="DDE2F0"/>
            </a:solidFill>
            <a:prstDash val="solid"/>
          </a:ln>
        </p:spPr>
      </p:sp>
      <p:sp>
        <p:nvSpPr>
          <p:cNvPr id="15" name="Shape 12"/>
          <p:cNvSpPr/>
          <p:nvPr/>
        </p:nvSpPr>
        <p:spPr>
          <a:xfrm>
            <a:off x="8683228" y="4136231"/>
            <a:ext cx="0" cy="492919"/>
          </a:xfrm>
          <a:prstGeom prst="line">
            <a:avLst/>
          </a:prstGeom>
          <a:noFill/>
          <a:ln w="7144">
            <a:solidFill>
              <a:srgbClr val="DDE2F0"/>
            </a:solidFill>
            <a:prstDash val="solid"/>
          </a:ln>
        </p:spPr>
      </p:sp>
      <p:sp>
        <p:nvSpPr>
          <p:cNvPr id="16" name="Shape 13"/>
          <p:cNvSpPr/>
          <p:nvPr/>
        </p:nvSpPr>
        <p:spPr>
          <a:xfrm>
            <a:off x="4636294" y="4625578"/>
            <a:ext cx="4050506" cy="0"/>
          </a:xfrm>
          <a:prstGeom prst="line">
            <a:avLst/>
          </a:prstGeom>
          <a:noFill/>
          <a:ln w="7144">
            <a:solidFill>
              <a:srgbClr val="DDE2F0"/>
            </a:solidFill>
            <a:prstDash val="solid"/>
          </a:ln>
        </p:spPr>
      </p:sp>
      <p:sp>
        <p:nvSpPr>
          <p:cNvPr id="17" name="Shape 14"/>
          <p:cNvSpPr/>
          <p:nvPr/>
        </p:nvSpPr>
        <p:spPr>
          <a:xfrm>
            <a:off x="4654153" y="4136231"/>
            <a:ext cx="0" cy="492919"/>
          </a:xfrm>
          <a:prstGeom prst="line">
            <a:avLst/>
          </a:prstGeom>
          <a:noFill/>
          <a:ln w="35719">
            <a:solidFill>
              <a:srgbClr val="F59E0B"/>
            </a:solidFill>
            <a:prstDash val="solid"/>
          </a:ln>
        </p:spPr>
      </p:sp>
      <p:sp>
        <p:nvSpPr>
          <p:cNvPr id="18" name="Text 15"/>
          <p:cNvSpPr/>
          <p:nvPr/>
        </p:nvSpPr>
        <p:spPr>
          <a:xfrm>
            <a:off x="4786313" y="4229100"/>
            <a:ext cx="3888772" cy="140446"/>
          </a:xfrm>
          <a:prstGeom prst="rect">
            <a:avLst/>
          </a:prstGeom>
          <a:noFill/>
          <a:ln/>
        </p:spPr>
        <p:txBody>
          <a:bodyPr wrap="square" lIns="0" tIns="0" rIns="0" bIns="0" rtlCol="0" anchor="t">
            <a:normAutofit/>
          </a:bodyPr>
          <a:lstStyle/>
          <a:p>
            <a:pPr marL="0" indent="0" algn="l">
              <a:lnSpc>
                <a:spcPts val="1097"/>
              </a:lnSpc>
              <a:buNone/>
            </a:pPr>
            <a:r>
              <a:rPr lang="en-US" sz="800" b="1" kern="0" spc="29" dirty="0">
                <a:solidFill>
                  <a:srgbClr val="D97706"/>
                </a:solidFill>
                <a:latin typeface="Carlito" pitchFamily="34" charset="0"/>
                <a:ea typeface="Carlito" pitchFamily="34" charset="-122"/>
                <a:cs typeface="Carlito" pitchFamily="34" charset="-120"/>
              </a:rPr>
              <a:t>DATE VS TIMESTAMP — PICK BY GRANULARITY</a:t>
            </a:r>
            <a:endParaRPr lang="en-US" sz="800" dirty="0"/>
          </a:p>
        </p:txBody>
      </p:sp>
      <p:sp>
        <p:nvSpPr>
          <p:cNvPr id="19" name="Text 16"/>
          <p:cNvSpPr/>
          <p:nvPr/>
        </p:nvSpPr>
        <p:spPr>
          <a:xfrm>
            <a:off x="4786313" y="4396978"/>
            <a:ext cx="3779044" cy="139303"/>
          </a:xfrm>
          <a:prstGeom prst="rect">
            <a:avLst/>
          </a:prstGeom>
          <a:noFill/>
          <a:ln/>
        </p:spPr>
        <p:txBody>
          <a:bodyPr wrap="square" lIns="0" tIns="0" rIns="0" bIns="0" rtlCol="0" anchor="t"/>
          <a:lstStyle/>
          <a:p>
            <a:pPr marL="0" indent="0" algn="l">
              <a:lnSpc>
                <a:spcPts val="1097"/>
              </a:lnSpc>
              <a:buNone/>
            </a:pPr>
            <a:r>
              <a:rPr lang="en-US" sz="731" dirty="0">
                <a:solidFill>
                  <a:srgbClr val="1E2A78"/>
                </a:solidFill>
                <a:latin typeface="Courier New" pitchFamily="34" charset="0"/>
                <a:ea typeface="Courier New" pitchFamily="34" charset="-122"/>
                <a:cs typeface="Courier New" pitchFamily="34" charset="-120"/>
              </a:rPr>
              <a:t>order_date</a:t>
            </a:r>
            <a:r>
              <a:rPr lang="en-US" sz="731" dirty="0">
                <a:solidFill>
                  <a:srgbClr val="2B3361"/>
                </a:solidFill>
                <a:latin typeface="Carlito" pitchFamily="34" charset="0"/>
                <a:ea typeface="Carlito" pitchFamily="34" charset="-122"/>
                <a:cs typeface="Carlito" pitchFamily="34" charset="-120"/>
              </a:rPr>
              <a:t> = which DAY → </a:t>
            </a:r>
            <a:r>
              <a:rPr lang="en-US" sz="731" dirty="0">
                <a:solidFill>
                  <a:srgbClr val="1E2A78"/>
                </a:solidFill>
                <a:latin typeface="Courier New" pitchFamily="34" charset="0"/>
                <a:ea typeface="Courier New" pitchFamily="34" charset="-122"/>
                <a:cs typeface="Courier New" pitchFamily="34" charset="-120"/>
              </a:rPr>
              <a:t>DATE</a:t>
            </a:r>
            <a:r>
              <a:rPr lang="en-US" sz="731" dirty="0">
                <a:solidFill>
                  <a:srgbClr val="2B3361"/>
                </a:solidFill>
                <a:latin typeface="Carlito" pitchFamily="34" charset="0"/>
                <a:ea typeface="Carlito" pitchFamily="34" charset="-122"/>
                <a:cs typeface="Carlito" pitchFamily="34" charset="-120"/>
              </a:rPr>
              <a:t>. </a:t>
            </a:r>
            <a:r>
              <a:rPr lang="en-US" sz="731" dirty="0">
                <a:solidFill>
                  <a:srgbClr val="1E2A78"/>
                </a:solidFill>
                <a:latin typeface="Courier New" pitchFamily="34" charset="0"/>
                <a:ea typeface="Courier New" pitchFamily="34" charset="-122"/>
                <a:cs typeface="Courier New" pitchFamily="34" charset="-120"/>
              </a:rPr>
              <a:t>page_view_at</a:t>
            </a:r>
            <a:r>
              <a:rPr lang="en-US" sz="731" dirty="0">
                <a:solidFill>
                  <a:srgbClr val="2B3361"/>
                </a:solidFill>
                <a:latin typeface="Carlito" pitchFamily="34" charset="0"/>
                <a:ea typeface="Carlito" pitchFamily="34" charset="-122"/>
                <a:cs typeface="Carlito" pitchFamily="34" charset="-120"/>
              </a:rPr>
              <a:t> = exact moment → </a:t>
            </a:r>
            <a:r>
              <a:rPr lang="en-US" sz="731" dirty="0">
                <a:solidFill>
                  <a:srgbClr val="1E2A78"/>
                </a:solidFill>
                <a:latin typeface="Courier New" pitchFamily="34" charset="0"/>
                <a:ea typeface="Courier New" pitchFamily="34" charset="-122"/>
                <a:cs typeface="Courier New" pitchFamily="34" charset="-120"/>
              </a:rPr>
              <a:t>TIMESTAMP</a:t>
            </a:r>
            <a:r>
              <a:rPr lang="en-US" sz="731" dirty="0">
                <a:solidFill>
                  <a:srgbClr val="2B3361"/>
                </a:solidFill>
                <a:latin typeface="Carlito" pitchFamily="34" charset="0"/>
                <a:ea typeface="Carlito" pitchFamily="34" charset="-122"/>
                <a:cs typeface="Carlito" pitchFamily="34" charset="-120"/>
              </a:rPr>
              <a:t>.</a:t>
            </a:r>
            <a:endParaRPr lang="en-US" sz="731" dirty="0"/>
          </a:p>
        </p:txBody>
      </p:sp>
      <p:sp>
        <p:nvSpPr>
          <p:cNvPr id="20" name="Text 17"/>
          <p:cNvSpPr/>
          <p:nvPr/>
        </p:nvSpPr>
        <p:spPr>
          <a:xfrm>
            <a:off x="457200" y="4897041"/>
            <a:ext cx="8009148" cy="164592"/>
          </a:xfrm>
          <a:prstGeom prst="rect">
            <a:avLst/>
          </a:prstGeom>
          <a:noFill/>
          <a:ln/>
        </p:spPr>
        <p:txBody>
          <a:bodyPr wrap="square" lIns="0" tIns="0" rIns="0" bIns="0" rtlCol="0" anchor="t"/>
          <a:lstStyle/>
          <a:p>
            <a:pPr marL="0" indent="0" algn="l">
              <a:lnSpc>
                <a:spcPts val="928"/>
              </a:lnSpc>
              <a:buNone/>
            </a:pPr>
            <a:r>
              <a:rPr lang="en-US" sz="800" kern="0" spc="50" dirty="0">
                <a:solidFill>
                  <a:srgbClr val="5A6485"/>
                </a:solidFill>
                <a:latin typeface="Liberation Sans Narrow" pitchFamily="34" charset="0"/>
                <a:ea typeface="Liberation Sans Narrow" pitchFamily="34" charset="-122"/>
                <a:cs typeface="Liberation Sans Narrow" pitchFamily="34" charset="-120"/>
              </a:rPr>
              <a:t>DATA TYPES · 4 OF 5</a:t>
            </a:r>
            <a:endParaRPr lang="en-US" sz="800" dirty="0"/>
          </a:p>
        </p:txBody>
      </p:sp>
      <p:sp>
        <p:nvSpPr>
          <p:cNvPr id="21" name="Text 18"/>
          <p:cNvSpPr/>
          <p:nvPr/>
        </p:nvSpPr>
        <p:spPr>
          <a:xfrm>
            <a:off x="8480636" y="4897041"/>
            <a:ext cx="455660" cy="164592"/>
          </a:xfrm>
          <a:prstGeom prst="rect">
            <a:avLst/>
          </a:prstGeom>
          <a:noFill/>
          <a:ln/>
        </p:spPr>
        <p:txBody>
          <a:bodyPr wrap="none" lIns="0" tIns="0" rIns="0" bIns="0" rtlCol="0" anchor="t"/>
          <a:lstStyle/>
          <a:p>
            <a:pPr marL="0" indent="0" algn="l">
              <a:lnSpc>
                <a:spcPts val="928"/>
              </a:lnSpc>
              <a:buNone/>
            </a:pPr>
            <a:r>
              <a:rPr lang="en-US" sz="800" kern="0" spc="50" dirty="0">
                <a:solidFill>
                  <a:srgbClr val="5A6485"/>
                </a:solidFill>
                <a:latin typeface="Liberation Sans Narrow" pitchFamily="34" charset="0"/>
                <a:ea typeface="Liberation Sans Narrow" pitchFamily="34" charset="-122"/>
                <a:cs typeface="Liberation Sans Narrow" pitchFamily="34" charset="-120"/>
              </a:rPr>
              <a:t>11 / 54</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7875873" y="257175"/>
            <a:ext cx="1213175"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5A6485"/>
                </a:solidFill>
                <a:latin typeface="Liberation Sans Narrow" pitchFamily="34" charset="0"/>
                <a:ea typeface="Liberation Sans Narrow" pitchFamily="34" charset="-122"/>
                <a:cs typeface="Liberation Sans Narrow" pitchFamily="34" charset="-120"/>
              </a:rPr>
              <a:t>DATA TYPES · 5 / 5</a:t>
            </a:r>
            <a:endParaRPr lang="en-US" sz="800" dirty="0"/>
          </a:p>
        </p:txBody>
      </p:sp>
      <p:sp>
        <p:nvSpPr>
          <p:cNvPr id="3" name="Text 1"/>
          <p:cNvSpPr/>
          <p:nvPr/>
        </p:nvSpPr>
        <p:spPr>
          <a:xfrm>
            <a:off x="457200" y="385763"/>
            <a:ext cx="8636000" cy="294260"/>
          </a:xfrm>
          <a:prstGeom prst="rect">
            <a:avLst/>
          </a:prstGeom>
          <a:noFill/>
          <a:ln/>
        </p:spPr>
        <p:txBody>
          <a:bodyPr wrap="square" lIns="0" tIns="0" rIns="0" bIns="0" rtlCol="0" anchor="t">
            <a:normAutofit/>
          </a:bodyPr>
          <a:lstStyle/>
          <a:p>
            <a:pPr marL="0" indent="0" algn="l">
              <a:lnSpc>
                <a:spcPts val="2309"/>
              </a:lnSpc>
              <a:buNone/>
            </a:pPr>
            <a:r>
              <a:rPr lang="en-US" sz="2138" b="1" kern="0" spc="-38" dirty="0">
                <a:solidFill>
                  <a:srgbClr val="0B1736"/>
                </a:solidFill>
                <a:latin typeface="Carlito" pitchFamily="34" charset="0"/>
                <a:ea typeface="Carlito" pitchFamily="34" charset="-122"/>
                <a:cs typeface="Carlito" pitchFamily="34" charset="-120"/>
              </a:rPr>
              <a:t>Special types — covered on the JSON day</a:t>
            </a:r>
            <a:endParaRPr lang="en-US" sz="2138" dirty="0"/>
          </a:p>
        </p:txBody>
      </p:sp>
      <p:sp>
        <p:nvSpPr>
          <p:cNvPr id="4" name="Text 2"/>
          <p:cNvSpPr/>
          <p:nvPr/>
        </p:nvSpPr>
        <p:spPr>
          <a:xfrm>
            <a:off x="457200" y="707454"/>
            <a:ext cx="8636000" cy="185166"/>
          </a:xfrm>
          <a:prstGeom prst="rect">
            <a:avLst/>
          </a:prstGeom>
          <a:noFill/>
          <a:ln/>
        </p:spPr>
        <p:txBody>
          <a:bodyPr wrap="square" lIns="0" tIns="0" rIns="0" bIns="0" rtlCol="0" anchor="t"/>
          <a:lstStyle/>
          <a:p>
            <a:pPr marL="0" indent="0" algn="l">
              <a:lnSpc>
                <a:spcPts val="1350"/>
              </a:lnSpc>
              <a:buNone/>
            </a:pPr>
            <a:r>
              <a:rPr lang="en-US" sz="900" dirty="0">
                <a:solidFill>
                  <a:srgbClr val="5A6485"/>
                </a:solidFill>
                <a:latin typeface="Carlito" pitchFamily="34" charset="0"/>
                <a:ea typeface="Carlito" pitchFamily="34" charset="-122"/>
                <a:cs typeface="Carlito" pitchFamily="34" charset="-120"/>
              </a:rPr>
              <a:t>Don't reach for these yet — but know they exist.</a:t>
            </a:r>
            <a:endParaRPr lang="en-US" sz="900" dirty="0"/>
          </a:p>
        </p:txBody>
      </p:sp>
      <p:sp>
        <p:nvSpPr>
          <p:cNvPr id="5" name="Text 3"/>
          <p:cNvSpPr/>
          <p:nvPr/>
        </p:nvSpPr>
        <p:spPr>
          <a:xfrm>
            <a:off x="457200" y="1128713"/>
            <a:ext cx="2657475" cy="1523740"/>
          </a:xfrm>
          <a:prstGeom prst="roundRect">
            <a:avLst>
              <a:gd name="adj" fmla="val 8751"/>
            </a:avLst>
          </a:prstGeom>
          <a:solidFill>
            <a:srgbClr val="FFFFFF"/>
          </a:solidFill>
          <a:ln/>
          <a:effectLst>
            <a:outerShdw blurRad="133350" dist="38100" dir="5400000" algn="bl" rotWithShape="0">
              <a:srgbClr val="0F172A">
                <a:alpha val="6000"/>
              </a:srgbClr>
            </a:outerShdw>
          </a:effectLst>
        </p:spPr>
        <p:txBody>
          <a:bodyPr wrap="square" rtlCol="0" anchor="ctr"/>
          <a:lstStyle/>
          <a:p>
            <a:pPr marL="0" indent="0">
              <a:buNone/>
            </a:pPr>
            <a:endParaRPr lang="en-US" dirty="0"/>
          </a:p>
        </p:txBody>
      </p:sp>
      <p:sp>
        <p:nvSpPr>
          <p:cNvPr id="6" name="Shape 4"/>
          <p:cNvSpPr/>
          <p:nvPr/>
        </p:nvSpPr>
        <p:spPr>
          <a:xfrm>
            <a:off x="457200" y="1132284"/>
            <a:ext cx="2657475" cy="0"/>
          </a:xfrm>
          <a:prstGeom prst="line">
            <a:avLst/>
          </a:prstGeom>
          <a:noFill/>
          <a:ln w="7144">
            <a:solidFill>
              <a:srgbClr val="DDE2F0"/>
            </a:solidFill>
            <a:prstDash val="solid"/>
          </a:ln>
        </p:spPr>
      </p:sp>
      <p:sp>
        <p:nvSpPr>
          <p:cNvPr id="7" name="Shape 5"/>
          <p:cNvSpPr/>
          <p:nvPr/>
        </p:nvSpPr>
        <p:spPr>
          <a:xfrm>
            <a:off x="3111103" y="1128713"/>
            <a:ext cx="0" cy="1523740"/>
          </a:xfrm>
          <a:prstGeom prst="line">
            <a:avLst/>
          </a:prstGeom>
          <a:noFill/>
          <a:ln w="7144">
            <a:solidFill>
              <a:srgbClr val="DDE2F0"/>
            </a:solidFill>
            <a:prstDash val="solid"/>
          </a:ln>
        </p:spPr>
      </p:sp>
      <p:sp>
        <p:nvSpPr>
          <p:cNvPr id="8" name="Shape 6"/>
          <p:cNvSpPr/>
          <p:nvPr/>
        </p:nvSpPr>
        <p:spPr>
          <a:xfrm>
            <a:off x="457200" y="2648880"/>
            <a:ext cx="2657475" cy="0"/>
          </a:xfrm>
          <a:prstGeom prst="line">
            <a:avLst/>
          </a:prstGeom>
          <a:noFill/>
          <a:ln w="7144">
            <a:solidFill>
              <a:srgbClr val="DDE2F0"/>
            </a:solidFill>
            <a:prstDash val="solid"/>
          </a:ln>
        </p:spPr>
      </p:sp>
      <p:sp>
        <p:nvSpPr>
          <p:cNvPr id="9" name="Shape 7"/>
          <p:cNvSpPr/>
          <p:nvPr/>
        </p:nvSpPr>
        <p:spPr>
          <a:xfrm>
            <a:off x="475059" y="1128713"/>
            <a:ext cx="0" cy="1523740"/>
          </a:xfrm>
          <a:prstGeom prst="line">
            <a:avLst/>
          </a:prstGeom>
          <a:noFill/>
          <a:ln w="35719">
            <a:solidFill>
              <a:srgbClr val="1E2A78"/>
            </a:solidFill>
            <a:prstDash val="solid"/>
          </a:ln>
        </p:spPr>
      </p:sp>
      <p:sp>
        <p:nvSpPr>
          <p:cNvPr id="10" name="Text 8"/>
          <p:cNvSpPr/>
          <p:nvPr/>
        </p:nvSpPr>
        <p:spPr>
          <a:xfrm>
            <a:off x="650081" y="1293019"/>
            <a:ext cx="271463" cy="271463"/>
          </a:xfrm>
          <a:prstGeom prst="roundRect">
            <a:avLst>
              <a:gd name="adj" fmla="val 31579"/>
            </a:avLst>
          </a:prstGeom>
          <a:solidFill>
            <a:srgbClr val="E3E6F4"/>
          </a:solidFill>
          <a:ln/>
        </p:spPr>
        <p:txBody>
          <a:bodyPr wrap="square" rtlCol="0" anchor="ctr"/>
          <a:lstStyle/>
          <a:p>
            <a:pPr marL="0" indent="0">
              <a:buNone/>
            </a:pPr>
            <a:endParaRPr lang="en-US" dirty="0"/>
          </a:p>
        </p:txBody>
      </p:sp>
      <p:sp>
        <p:nvSpPr>
          <p:cNvPr id="11" name="Text 9"/>
          <p:cNvSpPr/>
          <p:nvPr/>
        </p:nvSpPr>
        <p:spPr>
          <a:xfrm>
            <a:off x="671870" y="1314807"/>
            <a:ext cx="227886" cy="227886"/>
          </a:xfrm>
          <a:prstGeom prst="rect">
            <a:avLst/>
          </a:prstGeom>
          <a:noFill/>
          <a:ln/>
        </p:spPr>
        <p:txBody>
          <a:bodyPr wrap="none" lIns="0" tIns="0" rIns="0" bIns="0" rtlCol="0" anchor="ctr"/>
          <a:lstStyle/>
          <a:p>
            <a:pPr marL="0" indent="0" algn="ctr">
              <a:buNone/>
            </a:pPr>
            <a:r>
              <a:rPr lang="en-US" sz="1547" dirty="0">
                <a:solidFill>
                  <a:srgbClr val="1E2A78"/>
                </a:solidFill>
                <a:latin typeface="Segoe UI Symbol" pitchFamily="34" charset="0"/>
                <a:ea typeface="Segoe UI Symbol" pitchFamily="34" charset="-122"/>
                <a:cs typeface="Segoe UI Symbol" pitchFamily="34" charset="-120"/>
              </a:rPr>
              <a:t>⎙</a:t>
            </a:r>
            <a:endParaRPr lang="en-US" sz="1547" dirty="0"/>
          </a:p>
        </p:txBody>
      </p:sp>
      <p:sp>
        <p:nvSpPr>
          <p:cNvPr id="12" name="Text 10"/>
          <p:cNvSpPr/>
          <p:nvPr/>
        </p:nvSpPr>
        <p:spPr>
          <a:xfrm>
            <a:off x="650081" y="1621631"/>
            <a:ext cx="2300288" cy="243030"/>
          </a:xfrm>
          <a:prstGeom prst="rect">
            <a:avLst/>
          </a:prstGeom>
          <a:noFill/>
          <a:ln/>
        </p:spPr>
        <p:txBody>
          <a:bodyPr wrap="none" lIns="0" tIns="0" rIns="0" bIns="0" rtlCol="0" anchor="t"/>
          <a:lstStyle/>
          <a:p>
            <a:pPr marL="0" indent="0" algn="l">
              <a:lnSpc>
                <a:spcPts val="1772"/>
              </a:lnSpc>
              <a:buNone/>
            </a:pPr>
            <a:r>
              <a:rPr lang="en-US" sz="1181" b="1" kern="0" spc="-12" dirty="0">
                <a:solidFill>
                  <a:srgbClr val="0B1736"/>
                </a:solidFill>
                <a:latin typeface="Carlito" pitchFamily="34" charset="0"/>
                <a:ea typeface="Carlito" pitchFamily="34" charset="-122"/>
                <a:cs typeface="Carlito" pitchFamily="34" charset="-120"/>
              </a:rPr>
              <a:t>UUID</a:t>
            </a:r>
            <a:endParaRPr lang="en-US" sz="1181" dirty="0"/>
          </a:p>
        </p:txBody>
      </p:sp>
      <p:sp>
        <p:nvSpPr>
          <p:cNvPr id="13" name="Text 11"/>
          <p:cNvSpPr/>
          <p:nvPr/>
        </p:nvSpPr>
        <p:spPr>
          <a:xfrm>
            <a:off x="650081" y="1903809"/>
            <a:ext cx="2300288" cy="308324"/>
          </a:xfrm>
          <a:prstGeom prst="rect">
            <a:avLst/>
          </a:prstGeom>
          <a:noFill/>
          <a:ln/>
        </p:spPr>
        <p:txBody>
          <a:bodyPr wrap="square" lIns="0" tIns="0" rIns="0" bIns="0" rtlCol="0" anchor="t">
            <a:normAutofit/>
          </a:bodyPr>
          <a:lstStyle/>
          <a:p>
            <a:pPr marL="0" indent="0" algn="l">
              <a:lnSpc>
                <a:spcPts val="1097"/>
              </a:lnSpc>
              <a:buNone/>
            </a:pPr>
            <a:r>
              <a:rPr lang="en-US" sz="800" dirty="0">
                <a:solidFill>
                  <a:srgbClr val="5A6485"/>
                </a:solidFill>
                <a:latin typeface="Carlito" pitchFamily="34" charset="0"/>
                <a:ea typeface="Carlito" pitchFamily="34" charset="-122"/>
                <a:cs typeface="Carlito" pitchFamily="34" charset="-120"/>
              </a:rPr>
              <a:t>Unguessable ids. Use when you don't want sequential enumeration (security, public-facing URLs).</a:t>
            </a:r>
            <a:endParaRPr lang="en-US" sz="800" dirty="0"/>
          </a:p>
        </p:txBody>
      </p:sp>
      <p:sp>
        <p:nvSpPr>
          <p:cNvPr id="14" name="Text 12"/>
          <p:cNvSpPr/>
          <p:nvPr/>
        </p:nvSpPr>
        <p:spPr>
          <a:xfrm>
            <a:off x="653653" y="2243138"/>
            <a:ext cx="2293144" cy="241436"/>
          </a:xfrm>
          <a:prstGeom prst="roundRect">
            <a:avLst>
              <a:gd name="adj" fmla="val 23671"/>
            </a:avLst>
          </a:prstGeom>
          <a:solidFill>
            <a:srgbClr val="0F172A"/>
          </a:solidFill>
          <a:ln w="7144">
            <a:solidFill>
              <a:srgbClr val="1E293B"/>
            </a:solidFill>
            <a:prstDash val="solid"/>
          </a:ln>
        </p:spPr>
        <p:txBody>
          <a:bodyPr wrap="square" rtlCol="0" anchor="ctr"/>
          <a:lstStyle/>
          <a:p>
            <a:pPr marL="0" indent="0">
              <a:buNone/>
            </a:pPr>
            <a:endParaRPr lang="en-US" dirty="0"/>
          </a:p>
        </p:txBody>
      </p:sp>
      <p:sp>
        <p:nvSpPr>
          <p:cNvPr id="15" name="Text 13"/>
          <p:cNvSpPr/>
          <p:nvPr/>
        </p:nvSpPr>
        <p:spPr>
          <a:xfrm>
            <a:off x="650081" y="2239566"/>
            <a:ext cx="2300288" cy="248580"/>
          </a:xfrm>
          <a:prstGeom prst="rect">
            <a:avLst/>
          </a:prstGeom>
          <a:noFill/>
          <a:ln/>
        </p:spPr>
        <p:txBody>
          <a:bodyPr wrap="square" lIns="71438" tIns="57150" rIns="71438" bIns="57150" rtlCol="0" anchor="t"/>
          <a:lstStyle/>
          <a:p>
            <a:pPr marL="0" indent="0" algn="l">
              <a:lnSpc>
                <a:spcPts val="945"/>
              </a:lnSpc>
              <a:buNone/>
            </a:pPr>
            <a:r>
              <a:rPr lang="en-US" sz="800" dirty="0">
                <a:solidFill>
                  <a:srgbClr val="E2E8F0"/>
                </a:solidFill>
                <a:latin typeface="Courier New" pitchFamily="34" charset="0"/>
                <a:ea typeface="Courier New" pitchFamily="34" charset="-122"/>
                <a:cs typeface="Courier New" pitchFamily="34" charset="-120"/>
              </a:rPr>
              <a:t>id </a:t>
            </a:r>
            <a:r>
              <a:rPr lang="en-US" sz="800" dirty="0">
                <a:solidFill>
                  <a:srgbClr val="F472B6"/>
                </a:solidFill>
                <a:latin typeface="Courier New" pitchFamily="34" charset="0"/>
                <a:ea typeface="Courier New" pitchFamily="34" charset="-122"/>
                <a:cs typeface="Courier New" pitchFamily="34" charset="-120"/>
              </a:rPr>
              <a:t>UUID DEFAULT</a:t>
            </a:r>
            <a:r>
              <a:rPr lang="en-US" sz="800" dirty="0">
                <a:solidFill>
                  <a:srgbClr val="E2E8F0"/>
                </a:solidFill>
                <a:latin typeface="Courier New" pitchFamily="34" charset="0"/>
                <a:ea typeface="Courier New" pitchFamily="34" charset="-122"/>
                <a:cs typeface="Courier New" pitchFamily="34" charset="-120"/>
              </a:rPr>
              <a:t> gen_random_uuid()</a:t>
            </a:r>
            <a:endParaRPr lang="en-US" sz="800" dirty="0"/>
          </a:p>
        </p:txBody>
      </p:sp>
      <p:sp>
        <p:nvSpPr>
          <p:cNvPr id="16" name="Text 14"/>
          <p:cNvSpPr/>
          <p:nvPr/>
        </p:nvSpPr>
        <p:spPr>
          <a:xfrm>
            <a:off x="3243263" y="1128713"/>
            <a:ext cx="2657475" cy="1523740"/>
          </a:xfrm>
          <a:prstGeom prst="roundRect">
            <a:avLst>
              <a:gd name="adj" fmla="val 8751"/>
            </a:avLst>
          </a:prstGeom>
          <a:solidFill>
            <a:srgbClr val="FFFFFF"/>
          </a:solidFill>
          <a:ln/>
          <a:effectLst>
            <a:outerShdw blurRad="133350" dist="38100" dir="5400000" algn="bl" rotWithShape="0">
              <a:srgbClr val="0F172A">
                <a:alpha val="6000"/>
              </a:srgbClr>
            </a:outerShdw>
          </a:effectLst>
        </p:spPr>
        <p:txBody>
          <a:bodyPr wrap="square" rtlCol="0" anchor="ctr"/>
          <a:lstStyle/>
          <a:p>
            <a:pPr marL="0" indent="0">
              <a:buNone/>
            </a:pPr>
            <a:endParaRPr lang="en-US" dirty="0"/>
          </a:p>
        </p:txBody>
      </p:sp>
      <p:sp>
        <p:nvSpPr>
          <p:cNvPr id="17" name="Shape 15"/>
          <p:cNvSpPr/>
          <p:nvPr/>
        </p:nvSpPr>
        <p:spPr>
          <a:xfrm>
            <a:off x="3243263" y="1132284"/>
            <a:ext cx="2657475" cy="0"/>
          </a:xfrm>
          <a:prstGeom prst="line">
            <a:avLst/>
          </a:prstGeom>
          <a:noFill/>
          <a:ln w="7144">
            <a:solidFill>
              <a:srgbClr val="DDE2F0"/>
            </a:solidFill>
            <a:prstDash val="solid"/>
          </a:ln>
        </p:spPr>
      </p:sp>
      <p:sp>
        <p:nvSpPr>
          <p:cNvPr id="18" name="Shape 16"/>
          <p:cNvSpPr/>
          <p:nvPr/>
        </p:nvSpPr>
        <p:spPr>
          <a:xfrm>
            <a:off x="5897166" y="1128713"/>
            <a:ext cx="0" cy="1523740"/>
          </a:xfrm>
          <a:prstGeom prst="line">
            <a:avLst/>
          </a:prstGeom>
          <a:noFill/>
          <a:ln w="7144">
            <a:solidFill>
              <a:srgbClr val="DDE2F0"/>
            </a:solidFill>
            <a:prstDash val="solid"/>
          </a:ln>
        </p:spPr>
      </p:sp>
      <p:sp>
        <p:nvSpPr>
          <p:cNvPr id="19" name="Shape 17"/>
          <p:cNvSpPr/>
          <p:nvPr/>
        </p:nvSpPr>
        <p:spPr>
          <a:xfrm>
            <a:off x="3243263" y="2648880"/>
            <a:ext cx="2657475" cy="0"/>
          </a:xfrm>
          <a:prstGeom prst="line">
            <a:avLst/>
          </a:prstGeom>
          <a:noFill/>
          <a:ln w="7144">
            <a:solidFill>
              <a:srgbClr val="DDE2F0"/>
            </a:solidFill>
            <a:prstDash val="solid"/>
          </a:ln>
        </p:spPr>
      </p:sp>
      <p:sp>
        <p:nvSpPr>
          <p:cNvPr id="20" name="Shape 18"/>
          <p:cNvSpPr/>
          <p:nvPr/>
        </p:nvSpPr>
        <p:spPr>
          <a:xfrm>
            <a:off x="3261122" y="1128713"/>
            <a:ext cx="0" cy="1523740"/>
          </a:xfrm>
          <a:prstGeom prst="line">
            <a:avLst/>
          </a:prstGeom>
          <a:noFill/>
          <a:ln w="35719">
            <a:solidFill>
              <a:srgbClr val="1E2A78"/>
            </a:solidFill>
            <a:prstDash val="solid"/>
          </a:ln>
        </p:spPr>
      </p:sp>
      <p:sp>
        <p:nvSpPr>
          <p:cNvPr id="21" name="Text 19"/>
          <p:cNvSpPr/>
          <p:nvPr/>
        </p:nvSpPr>
        <p:spPr>
          <a:xfrm>
            <a:off x="3436144" y="1293019"/>
            <a:ext cx="271463" cy="271463"/>
          </a:xfrm>
          <a:prstGeom prst="roundRect">
            <a:avLst>
              <a:gd name="adj" fmla="val 31579"/>
            </a:avLst>
          </a:prstGeom>
          <a:solidFill>
            <a:srgbClr val="E3E6F4"/>
          </a:solidFill>
          <a:ln/>
        </p:spPr>
        <p:txBody>
          <a:bodyPr wrap="square" rtlCol="0" anchor="ctr"/>
          <a:lstStyle/>
          <a:p>
            <a:pPr marL="0" indent="0">
              <a:buNone/>
            </a:pPr>
            <a:endParaRPr lang="en-US" dirty="0"/>
          </a:p>
        </p:txBody>
      </p:sp>
      <p:sp>
        <p:nvSpPr>
          <p:cNvPr id="22" name="Text 20"/>
          <p:cNvSpPr/>
          <p:nvPr/>
        </p:nvSpPr>
        <p:spPr>
          <a:xfrm>
            <a:off x="3457932" y="1314807"/>
            <a:ext cx="227886" cy="227886"/>
          </a:xfrm>
          <a:prstGeom prst="rect">
            <a:avLst/>
          </a:prstGeom>
          <a:noFill/>
          <a:ln/>
        </p:spPr>
        <p:txBody>
          <a:bodyPr wrap="none" lIns="0" tIns="0" rIns="0" bIns="0" rtlCol="0" anchor="ctr"/>
          <a:lstStyle/>
          <a:p>
            <a:pPr marL="0" indent="0" algn="ctr">
              <a:buNone/>
            </a:pPr>
            <a:r>
              <a:rPr lang="en-US" sz="1547" dirty="0">
                <a:solidFill>
                  <a:srgbClr val="1E2A78"/>
                </a:solidFill>
                <a:latin typeface="Segoe UI Symbol" pitchFamily="34" charset="0"/>
                <a:ea typeface="Segoe UI Symbol" pitchFamily="34" charset="-122"/>
                <a:cs typeface="Segoe UI Symbol" pitchFamily="34" charset="-120"/>
              </a:rPr>
              <a:t>✦</a:t>
            </a:r>
            <a:endParaRPr lang="en-US" sz="1547" dirty="0"/>
          </a:p>
        </p:txBody>
      </p:sp>
      <p:sp>
        <p:nvSpPr>
          <p:cNvPr id="23" name="Text 21"/>
          <p:cNvSpPr/>
          <p:nvPr/>
        </p:nvSpPr>
        <p:spPr>
          <a:xfrm>
            <a:off x="3436144" y="1621631"/>
            <a:ext cx="2300288" cy="243030"/>
          </a:xfrm>
          <a:prstGeom prst="rect">
            <a:avLst/>
          </a:prstGeom>
          <a:noFill/>
          <a:ln/>
        </p:spPr>
        <p:txBody>
          <a:bodyPr wrap="none" lIns="0" tIns="0" rIns="0" bIns="0" rtlCol="0" anchor="t"/>
          <a:lstStyle/>
          <a:p>
            <a:pPr marL="0" indent="0" algn="l">
              <a:lnSpc>
                <a:spcPts val="1772"/>
              </a:lnSpc>
              <a:buNone/>
            </a:pPr>
            <a:r>
              <a:rPr lang="en-US" sz="1181" b="1" kern="0" spc="-12" dirty="0">
                <a:solidFill>
                  <a:srgbClr val="0B1736"/>
                </a:solidFill>
                <a:latin typeface="Carlito" pitchFamily="34" charset="0"/>
                <a:ea typeface="Carlito" pitchFamily="34" charset="-122"/>
                <a:cs typeface="Carlito" pitchFamily="34" charset="-120"/>
              </a:rPr>
              <a:t>JSONB</a:t>
            </a:r>
            <a:endParaRPr lang="en-US" sz="1181" dirty="0"/>
          </a:p>
        </p:txBody>
      </p:sp>
      <p:sp>
        <p:nvSpPr>
          <p:cNvPr id="24" name="Text 22"/>
          <p:cNvSpPr/>
          <p:nvPr/>
        </p:nvSpPr>
        <p:spPr>
          <a:xfrm>
            <a:off x="3436144" y="1903809"/>
            <a:ext cx="2300288" cy="308324"/>
          </a:xfrm>
          <a:prstGeom prst="rect">
            <a:avLst/>
          </a:prstGeom>
          <a:noFill/>
          <a:ln/>
        </p:spPr>
        <p:txBody>
          <a:bodyPr wrap="square" lIns="0" tIns="0" rIns="0" bIns="0" rtlCol="0" anchor="t">
            <a:normAutofit/>
          </a:bodyPr>
          <a:lstStyle/>
          <a:p>
            <a:pPr marL="0" indent="0" algn="l">
              <a:lnSpc>
                <a:spcPts val="1097"/>
              </a:lnSpc>
              <a:buNone/>
            </a:pPr>
            <a:r>
              <a:rPr lang="en-US" sz="800" dirty="0">
                <a:solidFill>
                  <a:srgbClr val="5A6485"/>
                </a:solidFill>
                <a:latin typeface="Carlito" pitchFamily="34" charset="0"/>
                <a:ea typeface="Carlito" pitchFamily="34" charset="-122"/>
                <a:cs typeface="Carlito" pitchFamily="34" charset="-120"/>
              </a:rPr>
              <a:t>Flexible nested documents. Schema-flexible columns for events, settings, API payloads.</a:t>
            </a:r>
            <a:endParaRPr lang="en-US" sz="800" dirty="0"/>
          </a:p>
        </p:txBody>
      </p:sp>
      <p:sp>
        <p:nvSpPr>
          <p:cNvPr id="25" name="Text 23"/>
          <p:cNvSpPr/>
          <p:nvPr/>
        </p:nvSpPr>
        <p:spPr>
          <a:xfrm>
            <a:off x="3439716" y="2243138"/>
            <a:ext cx="2293144" cy="241436"/>
          </a:xfrm>
          <a:prstGeom prst="roundRect">
            <a:avLst>
              <a:gd name="adj" fmla="val 23671"/>
            </a:avLst>
          </a:prstGeom>
          <a:solidFill>
            <a:srgbClr val="0F172A"/>
          </a:solidFill>
          <a:ln w="7144">
            <a:solidFill>
              <a:srgbClr val="1E293B"/>
            </a:solidFill>
            <a:prstDash val="solid"/>
          </a:ln>
        </p:spPr>
        <p:txBody>
          <a:bodyPr wrap="square" rtlCol="0" anchor="ctr"/>
          <a:lstStyle/>
          <a:p>
            <a:pPr marL="0" indent="0">
              <a:buNone/>
            </a:pPr>
            <a:endParaRPr lang="en-US" dirty="0"/>
          </a:p>
        </p:txBody>
      </p:sp>
      <p:sp>
        <p:nvSpPr>
          <p:cNvPr id="26" name="Text 24"/>
          <p:cNvSpPr/>
          <p:nvPr/>
        </p:nvSpPr>
        <p:spPr>
          <a:xfrm>
            <a:off x="3436144" y="2239566"/>
            <a:ext cx="2300288" cy="248580"/>
          </a:xfrm>
          <a:prstGeom prst="rect">
            <a:avLst/>
          </a:prstGeom>
          <a:noFill/>
          <a:ln/>
        </p:spPr>
        <p:txBody>
          <a:bodyPr wrap="square" lIns="71438" tIns="57150" rIns="71438" bIns="57150" rtlCol="0" anchor="t"/>
          <a:lstStyle/>
          <a:p>
            <a:pPr marL="0" indent="0" algn="l">
              <a:lnSpc>
                <a:spcPts val="945"/>
              </a:lnSpc>
              <a:buNone/>
            </a:pPr>
            <a:r>
              <a:rPr lang="en-US" sz="800" dirty="0">
                <a:solidFill>
                  <a:srgbClr val="E2E8F0"/>
                </a:solidFill>
                <a:latin typeface="Courier New" pitchFamily="34" charset="0"/>
                <a:ea typeface="Courier New" pitchFamily="34" charset="-122"/>
                <a:cs typeface="Courier New" pitchFamily="34" charset="-120"/>
              </a:rPr>
              <a:t>payload </a:t>
            </a:r>
            <a:r>
              <a:rPr lang="en-US" sz="800" dirty="0">
                <a:solidFill>
                  <a:srgbClr val="F472B6"/>
                </a:solidFill>
                <a:latin typeface="Courier New" pitchFamily="34" charset="0"/>
                <a:ea typeface="Courier New" pitchFamily="34" charset="-122"/>
                <a:cs typeface="Courier New" pitchFamily="34" charset="-120"/>
              </a:rPr>
              <a:t>JSONB NOT NULL DEFAULT</a:t>
            </a:r>
            <a:r>
              <a:rPr lang="en-US" sz="800" dirty="0">
                <a:solidFill>
                  <a:srgbClr val="E2E8F0"/>
                </a:solidFill>
                <a:latin typeface="Courier New" pitchFamily="34" charset="0"/>
                <a:ea typeface="Courier New" pitchFamily="34" charset="-122"/>
                <a:cs typeface="Courier New" pitchFamily="34" charset="-120"/>
              </a:rPr>
              <a:t> </a:t>
            </a:r>
            <a:r>
              <a:rPr lang="en-US" sz="800" dirty="0">
                <a:solidFill>
                  <a:srgbClr val="A5F4BA"/>
                </a:solidFill>
                <a:latin typeface="Courier New" pitchFamily="34" charset="0"/>
                <a:ea typeface="Courier New" pitchFamily="34" charset="-122"/>
                <a:cs typeface="Courier New" pitchFamily="34" charset="-120"/>
              </a:rPr>
              <a:t>'{}'</a:t>
            </a:r>
            <a:endParaRPr lang="en-US" sz="800" dirty="0"/>
          </a:p>
        </p:txBody>
      </p:sp>
      <p:sp>
        <p:nvSpPr>
          <p:cNvPr id="27" name="Text 25"/>
          <p:cNvSpPr/>
          <p:nvPr/>
        </p:nvSpPr>
        <p:spPr>
          <a:xfrm>
            <a:off x="6029325" y="1128713"/>
            <a:ext cx="2657475" cy="1523740"/>
          </a:xfrm>
          <a:prstGeom prst="roundRect">
            <a:avLst>
              <a:gd name="adj" fmla="val 8751"/>
            </a:avLst>
          </a:prstGeom>
          <a:solidFill>
            <a:srgbClr val="FFFFFF"/>
          </a:solidFill>
          <a:ln/>
          <a:effectLst>
            <a:outerShdw blurRad="133350" dist="38100" dir="5400000" algn="bl" rotWithShape="0">
              <a:srgbClr val="0F172A">
                <a:alpha val="6000"/>
              </a:srgbClr>
            </a:outerShdw>
          </a:effectLst>
        </p:spPr>
        <p:txBody>
          <a:bodyPr wrap="square" rtlCol="0" anchor="ctr"/>
          <a:lstStyle/>
          <a:p>
            <a:pPr marL="0" indent="0">
              <a:buNone/>
            </a:pPr>
            <a:endParaRPr lang="en-US" dirty="0"/>
          </a:p>
        </p:txBody>
      </p:sp>
      <p:sp>
        <p:nvSpPr>
          <p:cNvPr id="28" name="Shape 26"/>
          <p:cNvSpPr/>
          <p:nvPr/>
        </p:nvSpPr>
        <p:spPr>
          <a:xfrm>
            <a:off x="6029325" y="1132284"/>
            <a:ext cx="2657475" cy="0"/>
          </a:xfrm>
          <a:prstGeom prst="line">
            <a:avLst/>
          </a:prstGeom>
          <a:noFill/>
          <a:ln w="7144">
            <a:solidFill>
              <a:srgbClr val="DDE2F0"/>
            </a:solidFill>
            <a:prstDash val="solid"/>
          </a:ln>
        </p:spPr>
      </p:sp>
      <p:sp>
        <p:nvSpPr>
          <p:cNvPr id="29" name="Shape 27"/>
          <p:cNvSpPr/>
          <p:nvPr/>
        </p:nvSpPr>
        <p:spPr>
          <a:xfrm>
            <a:off x="8683228" y="1128713"/>
            <a:ext cx="0" cy="1523740"/>
          </a:xfrm>
          <a:prstGeom prst="line">
            <a:avLst/>
          </a:prstGeom>
          <a:noFill/>
          <a:ln w="7144">
            <a:solidFill>
              <a:srgbClr val="DDE2F0"/>
            </a:solidFill>
            <a:prstDash val="solid"/>
          </a:ln>
        </p:spPr>
      </p:sp>
      <p:sp>
        <p:nvSpPr>
          <p:cNvPr id="30" name="Shape 28"/>
          <p:cNvSpPr/>
          <p:nvPr/>
        </p:nvSpPr>
        <p:spPr>
          <a:xfrm>
            <a:off x="6029325" y="2648880"/>
            <a:ext cx="2657475" cy="0"/>
          </a:xfrm>
          <a:prstGeom prst="line">
            <a:avLst/>
          </a:prstGeom>
          <a:noFill/>
          <a:ln w="7144">
            <a:solidFill>
              <a:srgbClr val="DDE2F0"/>
            </a:solidFill>
            <a:prstDash val="solid"/>
          </a:ln>
        </p:spPr>
      </p:sp>
      <p:sp>
        <p:nvSpPr>
          <p:cNvPr id="31" name="Shape 29"/>
          <p:cNvSpPr/>
          <p:nvPr/>
        </p:nvSpPr>
        <p:spPr>
          <a:xfrm>
            <a:off x="6047184" y="1128713"/>
            <a:ext cx="0" cy="1523740"/>
          </a:xfrm>
          <a:prstGeom prst="line">
            <a:avLst/>
          </a:prstGeom>
          <a:noFill/>
          <a:ln w="35719">
            <a:solidFill>
              <a:srgbClr val="1E2A78"/>
            </a:solidFill>
            <a:prstDash val="solid"/>
          </a:ln>
        </p:spPr>
      </p:sp>
      <p:sp>
        <p:nvSpPr>
          <p:cNvPr id="32" name="Text 30"/>
          <p:cNvSpPr/>
          <p:nvPr/>
        </p:nvSpPr>
        <p:spPr>
          <a:xfrm>
            <a:off x="6222206" y="1293019"/>
            <a:ext cx="271463" cy="271463"/>
          </a:xfrm>
          <a:prstGeom prst="roundRect">
            <a:avLst>
              <a:gd name="adj" fmla="val 31579"/>
            </a:avLst>
          </a:prstGeom>
          <a:solidFill>
            <a:srgbClr val="E3E6F4"/>
          </a:solidFill>
          <a:ln/>
        </p:spPr>
        <p:txBody>
          <a:bodyPr wrap="square" rtlCol="0" anchor="ctr"/>
          <a:lstStyle/>
          <a:p>
            <a:pPr marL="0" indent="0">
              <a:buNone/>
            </a:pPr>
            <a:endParaRPr lang="en-US" dirty="0"/>
          </a:p>
        </p:txBody>
      </p:sp>
      <p:sp>
        <p:nvSpPr>
          <p:cNvPr id="33" name="Text 31"/>
          <p:cNvSpPr/>
          <p:nvPr/>
        </p:nvSpPr>
        <p:spPr>
          <a:xfrm>
            <a:off x="6243995" y="1314807"/>
            <a:ext cx="227886" cy="227886"/>
          </a:xfrm>
          <a:prstGeom prst="rect">
            <a:avLst/>
          </a:prstGeom>
          <a:noFill/>
          <a:ln/>
        </p:spPr>
        <p:txBody>
          <a:bodyPr wrap="none" lIns="0" tIns="0" rIns="0" bIns="0" rtlCol="0" anchor="ctr"/>
          <a:lstStyle/>
          <a:p>
            <a:pPr marL="0" indent="0" algn="ctr">
              <a:buNone/>
            </a:pPr>
            <a:r>
              <a:rPr lang="en-US" sz="1547" dirty="0">
                <a:solidFill>
                  <a:srgbClr val="1E2A78"/>
                </a:solidFill>
                <a:latin typeface="Segoe UI Symbol" pitchFamily="34" charset="0"/>
                <a:ea typeface="Segoe UI Symbol" pitchFamily="34" charset="-122"/>
                <a:cs typeface="Segoe UI Symbol" pitchFamily="34" charset="-120"/>
              </a:rPr>
              <a:t>☰</a:t>
            </a:r>
            <a:endParaRPr lang="en-US" sz="1547" dirty="0"/>
          </a:p>
        </p:txBody>
      </p:sp>
      <p:sp>
        <p:nvSpPr>
          <p:cNvPr id="34" name="Text 32"/>
          <p:cNvSpPr/>
          <p:nvPr/>
        </p:nvSpPr>
        <p:spPr>
          <a:xfrm>
            <a:off x="6222206" y="1621631"/>
            <a:ext cx="2300288" cy="243030"/>
          </a:xfrm>
          <a:prstGeom prst="rect">
            <a:avLst/>
          </a:prstGeom>
          <a:noFill/>
          <a:ln/>
        </p:spPr>
        <p:txBody>
          <a:bodyPr wrap="none" lIns="0" tIns="0" rIns="0" bIns="0" rtlCol="0" anchor="t"/>
          <a:lstStyle/>
          <a:p>
            <a:pPr marL="0" indent="0" algn="l">
              <a:lnSpc>
                <a:spcPts val="1772"/>
              </a:lnSpc>
              <a:buNone/>
            </a:pPr>
            <a:r>
              <a:rPr lang="en-US" sz="1181" b="1" kern="0" spc="-12" dirty="0">
                <a:solidFill>
                  <a:srgbClr val="0B1736"/>
                </a:solidFill>
                <a:latin typeface="Carlito" pitchFamily="34" charset="0"/>
                <a:ea typeface="Carlito" pitchFamily="34" charset="-122"/>
                <a:cs typeface="Carlito" pitchFamily="34" charset="-120"/>
              </a:rPr>
              <a:t>ARRAY</a:t>
            </a:r>
            <a:endParaRPr lang="en-US" sz="1181" dirty="0"/>
          </a:p>
        </p:txBody>
      </p:sp>
      <p:sp>
        <p:nvSpPr>
          <p:cNvPr id="35" name="Text 33"/>
          <p:cNvSpPr/>
          <p:nvPr/>
        </p:nvSpPr>
        <p:spPr>
          <a:xfrm>
            <a:off x="6222206" y="1903809"/>
            <a:ext cx="2300288" cy="308324"/>
          </a:xfrm>
          <a:prstGeom prst="rect">
            <a:avLst/>
          </a:prstGeom>
          <a:noFill/>
          <a:ln/>
        </p:spPr>
        <p:txBody>
          <a:bodyPr wrap="square" lIns="0" tIns="0" rIns="0" bIns="0" rtlCol="0" anchor="t">
            <a:normAutofit/>
          </a:bodyPr>
          <a:lstStyle/>
          <a:p>
            <a:pPr marL="0" indent="0" algn="l">
              <a:lnSpc>
                <a:spcPts val="1097"/>
              </a:lnSpc>
              <a:buNone/>
            </a:pPr>
            <a:r>
              <a:rPr lang="en-US" sz="800" dirty="0">
                <a:solidFill>
                  <a:srgbClr val="5A6485"/>
                </a:solidFill>
                <a:latin typeface="Carlito" pitchFamily="34" charset="0"/>
                <a:ea typeface="Carlito" pitchFamily="34" charset="-122"/>
                <a:cs typeface="Carlito" pitchFamily="34" charset="-120"/>
              </a:rPr>
              <a:t>Many values in one cell. Tags, role lists. Use sparingly — a junction table is usually better.</a:t>
            </a:r>
            <a:endParaRPr lang="en-US" sz="800" dirty="0"/>
          </a:p>
        </p:txBody>
      </p:sp>
      <p:sp>
        <p:nvSpPr>
          <p:cNvPr id="36" name="Text 34"/>
          <p:cNvSpPr/>
          <p:nvPr/>
        </p:nvSpPr>
        <p:spPr>
          <a:xfrm>
            <a:off x="6225778" y="2243138"/>
            <a:ext cx="2293144" cy="241436"/>
          </a:xfrm>
          <a:prstGeom prst="roundRect">
            <a:avLst>
              <a:gd name="adj" fmla="val 23671"/>
            </a:avLst>
          </a:prstGeom>
          <a:solidFill>
            <a:srgbClr val="0F172A"/>
          </a:solidFill>
          <a:ln w="7144">
            <a:solidFill>
              <a:srgbClr val="1E293B"/>
            </a:solidFill>
            <a:prstDash val="solid"/>
          </a:ln>
        </p:spPr>
        <p:txBody>
          <a:bodyPr wrap="square" rtlCol="0" anchor="ctr"/>
          <a:lstStyle/>
          <a:p>
            <a:pPr marL="0" indent="0">
              <a:buNone/>
            </a:pPr>
            <a:endParaRPr lang="en-US" dirty="0"/>
          </a:p>
        </p:txBody>
      </p:sp>
      <p:sp>
        <p:nvSpPr>
          <p:cNvPr id="37" name="Text 35"/>
          <p:cNvSpPr/>
          <p:nvPr/>
        </p:nvSpPr>
        <p:spPr>
          <a:xfrm>
            <a:off x="6222206" y="2239566"/>
            <a:ext cx="2300288" cy="248580"/>
          </a:xfrm>
          <a:prstGeom prst="rect">
            <a:avLst/>
          </a:prstGeom>
          <a:noFill/>
          <a:ln/>
        </p:spPr>
        <p:txBody>
          <a:bodyPr wrap="square" lIns="71438" tIns="57150" rIns="71438" bIns="57150" rtlCol="0" anchor="t"/>
          <a:lstStyle/>
          <a:p>
            <a:pPr marL="0" indent="0" algn="l">
              <a:lnSpc>
                <a:spcPts val="945"/>
              </a:lnSpc>
              <a:buNone/>
            </a:pPr>
            <a:r>
              <a:rPr lang="en-US" sz="800" dirty="0">
                <a:solidFill>
                  <a:srgbClr val="E2E8F0"/>
                </a:solidFill>
                <a:latin typeface="Courier New" pitchFamily="34" charset="0"/>
                <a:ea typeface="Courier New" pitchFamily="34" charset="-122"/>
                <a:cs typeface="Courier New" pitchFamily="34" charset="-120"/>
              </a:rPr>
              <a:t>tags </a:t>
            </a:r>
            <a:r>
              <a:rPr lang="en-US" sz="800" dirty="0">
                <a:solidFill>
                  <a:srgbClr val="F472B6"/>
                </a:solidFill>
                <a:latin typeface="Courier New" pitchFamily="34" charset="0"/>
                <a:ea typeface="Courier New" pitchFamily="34" charset="-122"/>
                <a:cs typeface="Courier New" pitchFamily="34" charset="-120"/>
              </a:rPr>
              <a:t>TEXT</a:t>
            </a:r>
            <a:r>
              <a:rPr lang="en-US" sz="800" dirty="0">
                <a:solidFill>
                  <a:srgbClr val="E2E8F0"/>
                </a:solidFill>
                <a:latin typeface="Courier New" pitchFamily="34" charset="0"/>
                <a:ea typeface="Courier New" pitchFamily="34" charset="-122"/>
                <a:cs typeface="Courier New" pitchFamily="34" charset="-120"/>
              </a:rPr>
              <a:t>[] </a:t>
            </a:r>
            <a:r>
              <a:rPr lang="en-US" sz="800" dirty="0">
                <a:solidFill>
                  <a:srgbClr val="F472B6"/>
                </a:solidFill>
                <a:latin typeface="Courier New" pitchFamily="34" charset="0"/>
                <a:ea typeface="Courier New" pitchFamily="34" charset="-122"/>
                <a:cs typeface="Courier New" pitchFamily="34" charset="-120"/>
              </a:rPr>
              <a:t>NOT NULL DEFAULT</a:t>
            </a:r>
            <a:r>
              <a:rPr lang="en-US" sz="800" dirty="0">
                <a:solidFill>
                  <a:srgbClr val="E2E8F0"/>
                </a:solidFill>
                <a:latin typeface="Courier New" pitchFamily="34" charset="0"/>
                <a:ea typeface="Courier New" pitchFamily="34" charset="-122"/>
                <a:cs typeface="Courier New" pitchFamily="34" charset="-120"/>
              </a:rPr>
              <a:t> </a:t>
            </a:r>
            <a:r>
              <a:rPr lang="en-US" sz="800" dirty="0">
                <a:solidFill>
                  <a:srgbClr val="A5F4BA"/>
                </a:solidFill>
                <a:latin typeface="Courier New" pitchFamily="34" charset="0"/>
                <a:ea typeface="Courier New" pitchFamily="34" charset="-122"/>
                <a:cs typeface="Courier New" pitchFamily="34" charset="-120"/>
              </a:rPr>
              <a:t>'{}'</a:t>
            </a:r>
            <a:endParaRPr lang="en-US" sz="800" dirty="0"/>
          </a:p>
        </p:txBody>
      </p:sp>
      <p:sp>
        <p:nvSpPr>
          <p:cNvPr id="38" name="Text 36"/>
          <p:cNvSpPr/>
          <p:nvPr/>
        </p:nvSpPr>
        <p:spPr>
          <a:xfrm>
            <a:off x="457200" y="4125516"/>
            <a:ext cx="3169927" cy="489347"/>
          </a:xfrm>
          <a:prstGeom prst="roundRect">
            <a:avLst>
              <a:gd name="adj" fmla="val 19465"/>
            </a:avLst>
          </a:prstGeom>
          <a:solidFill>
            <a:srgbClr val="F59E0B"/>
          </a:solidFill>
          <a:ln/>
          <a:effectLst>
            <a:outerShdw blurRad="133350" dist="57150" dir="5400000" algn="bl" rotWithShape="0">
              <a:srgbClr val="F59E0B">
                <a:alpha val="22000"/>
              </a:srgbClr>
            </a:outerShdw>
          </a:effectLst>
        </p:spPr>
        <p:txBody>
          <a:bodyPr wrap="square" rtlCol="0" anchor="ctr"/>
          <a:lstStyle/>
          <a:p>
            <a:pPr marL="0" indent="0">
              <a:buNone/>
            </a:pPr>
            <a:endParaRPr lang="en-US" dirty="0"/>
          </a:p>
        </p:txBody>
      </p:sp>
      <p:sp>
        <p:nvSpPr>
          <p:cNvPr id="39" name="Text 37"/>
          <p:cNvSpPr/>
          <p:nvPr/>
        </p:nvSpPr>
        <p:spPr>
          <a:xfrm>
            <a:off x="571500" y="4211241"/>
            <a:ext cx="2941327" cy="129731"/>
          </a:xfrm>
          <a:prstGeom prst="rect">
            <a:avLst/>
          </a:prstGeom>
          <a:noFill/>
          <a:ln/>
        </p:spPr>
        <p:txBody>
          <a:bodyPr wrap="none" lIns="0" tIns="0" rIns="0" bIns="0" rtlCol="0" anchor="t">
            <a:normAutofit/>
          </a:bodyPr>
          <a:lstStyle/>
          <a:p>
            <a:pPr marL="0" indent="0" algn="l">
              <a:lnSpc>
                <a:spcPts val="1013"/>
              </a:lnSpc>
              <a:buNone/>
            </a:pPr>
            <a:r>
              <a:rPr lang="en-US" sz="800" b="1" kern="0" spc="41" dirty="0">
                <a:solidFill>
                  <a:srgbClr val="FFFFFF">
                    <a:alpha val="90000"/>
                  </a:srgbClr>
                </a:solidFill>
                <a:latin typeface="Liberation Sans Narrow" pitchFamily="34" charset="0"/>
                <a:ea typeface="Liberation Sans Narrow" pitchFamily="34" charset="-122"/>
                <a:cs typeface="Liberation Sans Narrow" pitchFamily="34" charset="-120"/>
              </a:rPr>
              <a:t>MASTER THESE 8 FIRST —</a:t>
            </a:r>
            <a:endParaRPr lang="en-US" sz="800" dirty="0"/>
          </a:p>
        </p:txBody>
      </p:sp>
      <p:sp>
        <p:nvSpPr>
          <p:cNvPr id="40" name="Text 38"/>
          <p:cNvSpPr/>
          <p:nvPr/>
        </p:nvSpPr>
        <p:spPr>
          <a:xfrm>
            <a:off x="571500" y="4368403"/>
            <a:ext cx="2941327" cy="160734"/>
          </a:xfrm>
          <a:prstGeom prst="rect">
            <a:avLst/>
          </a:prstGeom>
          <a:noFill/>
          <a:ln/>
        </p:spPr>
        <p:txBody>
          <a:bodyPr wrap="none" lIns="0" tIns="0" rIns="0" bIns="0" rtlCol="0" anchor="t"/>
          <a:lstStyle/>
          <a:p>
            <a:pPr marL="0" indent="0" algn="l">
              <a:lnSpc>
                <a:spcPts val="1266"/>
              </a:lnSpc>
              <a:buNone/>
            </a:pPr>
            <a:r>
              <a:rPr lang="en-US" sz="844" dirty="0">
                <a:solidFill>
                  <a:srgbClr val="FFFFFF"/>
                </a:solidFill>
                <a:latin typeface="Liberation Sans Narrow" pitchFamily="34" charset="0"/>
                <a:ea typeface="Liberation Sans Narrow" pitchFamily="34" charset="-122"/>
                <a:cs typeface="Liberation Sans Narrow" pitchFamily="34" charset="-120"/>
              </a:rPr>
              <a:t>they cover 95% of columns:</a:t>
            </a:r>
            <a:endParaRPr lang="en-US" sz="844" dirty="0"/>
          </a:p>
        </p:txBody>
      </p:sp>
      <p:sp>
        <p:nvSpPr>
          <p:cNvPr id="41" name="Text 39"/>
          <p:cNvSpPr/>
          <p:nvPr/>
        </p:nvSpPr>
        <p:spPr>
          <a:xfrm>
            <a:off x="3759287" y="4225528"/>
            <a:ext cx="4923941" cy="289322"/>
          </a:xfrm>
          <a:prstGeom prst="roundRect">
            <a:avLst>
              <a:gd name="adj" fmla="val 26337"/>
            </a:avLst>
          </a:prstGeom>
          <a:solidFill>
            <a:srgbClr val="0F172A"/>
          </a:solidFill>
          <a:ln w="7144">
            <a:solidFill>
              <a:srgbClr val="1E293B"/>
            </a:solidFill>
            <a:prstDash val="solid"/>
          </a:ln>
        </p:spPr>
        <p:txBody>
          <a:bodyPr wrap="square" rtlCol="0" anchor="ctr"/>
          <a:lstStyle/>
          <a:p>
            <a:pPr marL="0" indent="0">
              <a:buNone/>
            </a:pPr>
            <a:endParaRPr lang="en-US" dirty="0"/>
          </a:p>
        </p:txBody>
      </p:sp>
      <p:sp>
        <p:nvSpPr>
          <p:cNvPr id="42" name="Text 40"/>
          <p:cNvSpPr/>
          <p:nvPr/>
        </p:nvSpPr>
        <p:spPr>
          <a:xfrm>
            <a:off x="3755715" y="4221956"/>
            <a:ext cx="4931085" cy="350286"/>
          </a:xfrm>
          <a:prstGeom prst="rect">
            <a:avLst/>
          </a:prstGeom>
          <a:noFill/>
          <a:ln/>
        </p:spPr>
        <p:txBody>
          <a:bodyPr wrap="square" lIns="100013" tIns="71438" rIns="100013" bIns="71438" rtlCol="0" anchor="t"/>
          <a:lstStyle/>
          <a:p>
            <a:pPr marL="0" indent="0" algn="l">
              <a:lnSpc>
                <a:spcPts val="1097"/>
              </a:lnSpc>
              <a:buNone/>
            </a:pPr>
            <a:r>
              <a:rPr lang="en-US" sz="800" dirty="0">
                <a:solidFill>
                  <a:srgbClr val="F472B6"/>
                </a:solidFill>
                <a:latin typeface="Courier New" pitchFamily="34" charset="0"/>
                <a:ea typeface="Courier New" pitchFamily="34" charset="-122"/>
                <a:cs typeface="Courier New" pitchFamily="34" charset="-120"/>
              </a:rPr>
              <a:t>SERIAL</a:t>
            </a:r>
            <a:r>
              <a:rPr lang="en-US" sz="800" dirty="0">
                <a:solidFill>
                  <a:srgbClr val="E2E8F0"/>
                </a:solidFill>
                <a:latin typeface="Courier New" pitchFamily="34" charset="0"/>
                <a:ea typeface="Courier New" pitchFamily="34" charset="-122"/>
                <a:cs typeface="Courier New" pitchFamily="34" charset="-120"/>
              </a:rPr>
              <a:t> · </a:t>
            </a:r>
            <a:r>
              <a:rPr lang="en-US" sz="800" dirty="0">
                <a:solidFill>
                  <a:srgbClr val="F472B6"/>
                </a:solidFill>
                <a:latin typeface="Courier New" pitchFamily="34" charset="0"/>
                <a:ea typeface="Courier New" pitchFamily="34" charset="-122"/>
                <a:cs typeface="Courier New" pitchFamily="34" charset="-120"/>
              </a:rPr>
              <a:t>INT</a:t>
            </a:r>
            <a:r>
              <a:rPr lang="en-US" sz="800" dirty="0">
                <a:solidFill>
                  <a:srgbClr val="E2E8F0"/>
                </a:solidFill>
                <a:latin typeface="Courier New" pitchFamily="34" charset="0"/>
                <a:ea typeface="Courier New" pitchFamily="34" charset="-122"/>
                <a:cs typeface="Courier New" pitchFamily="34" charset="-120"/>
              </a:rPr>
              <a:t> · </a:t>
            </a:r>
            <a:r>
              <a:rPr lang="en-US" sz="800" dirty="0">
                <a:solidFill>
                  <a:srgbClr val="F472B6"/>
                </a:solidFill>
                <a:latin typeface="Courier New" pitchFamily="34" charset="0"/>
                <a:ea typeface="Courier New" pitchFamily="34" charset="-122"/>
                <a:cs typeface="Courier New" pitchFamily="34" charset="-120"/>
              </a:rPr>
              <a:t>NUMERIC</a:t>
            </a:r>
            <a:r>
              <a:rPr lang="en-US" sz="800" dirty="0">
                <a:solidFill>
                  <a:srgbClr val="E2E8F0"/>
                </a:solidFill>
                <a:latin typeface="Courier New" pitchFamily="34" charset="0"/>
                <a:ea typeface="Courier New" pitchFamily="34" charset="-122"/>
                <a:cs typeface="Courier New" pitchFamily="34" charset="-120"/>
              </a:rPr>
              <a:t> · </a:t>
            </a:r>
            <a:r>
              <a:rPr lang="en-US" sz="800" dirty="0">
                <a:solidFill>
                  <a:srgbClr val="F472B6"/>
                </a:solidFill>
                <a:latin typeface="Courier New" pitchFamily="34" charset="0"/>
                <a:ea typeface="Courier New" pitchFamily="34" charset="-122"/>
                <a:cs typeface="Courier New" pitchFamily="34" charset="-120"/>
              </a:rPr>
              <a:t>VARCHAR</a:t>
            </a:r>
            <a:r>
              <a:rPr lang="en-US" sz="800" dirty="0">
                <a:solidFill>
                  <a:srgbClr val="E2E8F0"/>
                </a:solidFill>
                <a:latin typeface="Courier New" pitchFamily="34" charset="0"/>
                <a:ea typeface="Courier New" pitchFamily="34" charset="-122"/>
                <a:cs typeface="Courier New" pitchFamily="34" charset="-120"/>
              </a:rPr>
              <a:t> · </a:t>
            </a:r>
            <a:r>
              <a:rPr lang="en-US" sz="800" dirty="0">
                <a:solidFill>
                  <a:srgbClr val="F472B6"/>
                </a:solidFill>
                <a:latin typeface="Courier New" pitchFamily="34" charset="0"/>
                <a:ea typeface="Courier New" pitchFamily="34" charset="-122"/>
                <a:cs typeface="Courier New" pitchFamily="34" charset="-120"/>
              </a:rPr>
              <a:t>TEXT</a:t>
            </a:r>
            <a:r>
              <a:rPr lang="en-US" sz="800" dirty="0">
                <a:solidFill>
                  <a:srgbClr val="E2E8F0"/>
                </a:solidFill>
                <a:latin typeface="Courier New" pitchFamily="34" charset="0"/>
                <a:ea typeface="Courier New" pitchFamily="34" charset="-122"/>
                <a:cs typeface="Courier New" pitchFamily="34" charset="-120"/>
              </a:rPr>
              <a:t> · </a:t>
            </a:r>
            <a:r>
              <a:rPr lang="en-US" sz="800" dirty="0">
                <a:solidFill>
                  <a:srgbClr val="F472B6"/>
                </a:solidFill>
                <a:latin typeface="Courier New" pitchFamily="34" charset="0"/>
                <a:ea typeface="Courier New" pitchFamily="34" charset="-122"/>
                <a:cs typeface="Courier New" pitchFamily="34" charset="-120"/>
              </a:rPr>
              <a:t>DATE</a:t>
            </a:r>
            <a:r>
              <a:rPr lang="en-US" sz="800" dirty="0">
                <a:solidFill>
                  <a:srgbClr val="E2E8F0"/>
                </a:solidFill>
                <a:latin typeface="Courier New" pitchFamily="34" charset="0"/>
                <a:ea typeface="Courier New" pitchFamily="34" charset="-122"/>
                <a:cs typeface="Courier New" pitchFamily="34" charset="-120"/>
              </a:rPr>
              <a:t> · </a:t>
            </a:r>
            <a:r>
              <a:rPr lang="en-US" sz="800" dirty="0">
                <a:solidFill>
                  <a:srgbClr val="F472B6"/>
                </a:solidFill>
                <a:latin typeface="Courier New" pitchFamily="34" charset="0"/>
                <a:ea typeface="Courier New" pitchFamily="34" charset="-122"/>
                <a:cs typeface="Courier New" pitchFamily="34" charset="-120"/>
              </a:rPr>
              <a:t>TIMESTAMP</a:t>
            </a:r>
            <a:r>
              <a:rPr lang="en-US" sz="800" dirty="0">
                <a:solidFill>
                  <a:srgbClr val="E2E8F0"/>
                </a:solidFill>
                <a:latin typeface="Courier New" pitchFamily="34" charset="0"/>
                <a:ea typeface="Courier New" pitchFamily="34" charset="-122"/>
                <a:cs typeface="Courier New" pitchFamily="34" charset="-120"/>
              </a:rPr>
              <a:t> · </a:t>
            </a:r>
            <a:r>
              <a:rPr lang="en-US" sz="800" dirty="0">
                <a:solidFill>
                  <a:srgbClr val="F472B6"/>
                </a:solidFill>
                <a:latin typeface="Courier New" pitchFamily="34" charset="0"/>
                <a:ea typeface="Courier New" pitchFamily="34" charset="-122"/>
                <a:cs typeface="Courier New" pitchFamily="34" charset="-120"/>
              </a:rPr>
              <a:t>BOOLEAN</a:t>
            </a:r>
            <a:endParaRPr lang="en-US" sz="800" dirty="0"/>
          </a:p>
        </p:txBody>
      </p:sp>
      <p:sp>
        <p:nvSpPr>
          <p:cNvPr id="43" name="Text 41"/>
          <p:cNvSpPr/>
          <p:nvPr/>
        </p:nvSpPr>
        <p:spPr>
          <a:xfrm>
            <a:off x="457200" y="4897041"/>
            <a:ext cx="8009148" cy="164592"/>
          </a:xfrm>
          <a:prstGeom prst="rect">
            <a:avLst/>
          </a:prstGeom>
          <a:noFill/>
          <a:ln/>
        </p:spPr>
        <p:txBody>
          <a:bodyPr wrap="square" lIns="0" tIns="0" rIns="0" bIns="0" rtlCol="0" anchor="t"/>
          <a:lstStyle/>
          <a:p>
            <a:pPr marL="0" indent="0" algn="l">
              <a:lnSpc>
                <a:spcPts val="928"/>
              </a:lnSpc>
              <a:buNone/>
            </a:pPr>
            <a:r>
              <a:rPr lang="en-US" sz="800" kern="0" spc="50" dirty="0">
                <a:solidFill>
                  <a:srgbClr val="5A6485"/>
                </a:solidFill>
                <a:latin typeface="Liberation Sans Narrow" pitchFamily="34" charset="0"/>
                <a:ea typeface="Liberation Sans Narrow" pitchFamily="34" charset="-122"/>
                <a:cs typeface="Liberation Sans Narrow" pitchFamily="34" charset="-120"/>
              </a:rPr>
              <a:t>DATA TYPES · 5 OF 5</a:t>
            </a:r>
            <a:endParaRPr lang="en-US" sz="800" dirty="0"/>
          </a:p>
        </p:txBody>
      </p:sp>
      <p:sp>
        <p:nvSpPr>
          <p:cNvPr id="44" name="Text 42"/>
          <p:cNvSpPr/>
          <p:nvPr/>
        </p:nvSpPr>
        <p:spPr>
          <a:xfrm>
            <a:off x="8480636" y="4897041"/>
            <a:ext cx="455660" cy="164592"/>
          </a:xfrm>
          <a:prstGeom prst="rect">
            <a:avLst/>
          </a:prstGeom>
          <a:noFill/>
          <a:ln/>
        </p:spPr>
        <p:txBody>
          <a:bodyPr wrap="none" lIns="0" tIns="0" rIns="0" bIns="0" rtlCol="0" anchor="t"/>
          <a:lstStyle/>
          <a:p>
            <a:pPr marL="0" indent="0" algn="l">
              <a:lnSpc>
                <a:spcPts val="928"/>
              </a:lnSpc>
              <a:buNone/>
            </a:pPr>
            <a:r>
              <a:rPr lang="en-US" sz="800" kern="0" spc="50" dirty="0">
                <a:solidFill>
                  <a:srgbClr val="5A6485"/>
                </a:solidFill>
                <a:latin typeface="Liberation Sans Narrow" pitchFamily="34" charset="0"/>
                <a:ea typeface="Liberation Sans Narrow" pitchFamily="34" charset="-122"/>
                <a:cs typeface="Liberation Sans Narrow" pitchFamily="34" charset="-120"/>
              </a:rPr>
              <a:t>12 / 54</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8073913" y="257175"/>
            <a:ext cx="961095"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5A6485"/>
                </a:solidFill>
                <a:latin typeface="Carlito" pitchFamily="34" charset="0"/>
                <a:ea typeface="Carlito" pitchFamily="34" charset="-122"/>
                <a:cs typeface="Carlito" pitchFamily="34" charset="-120"/>
              </a:rPr>
              <a:t>TYPE DECISION</a:t>
            </a:r>
            <a:endParaRPr lang="en-US" sz="800" dirty="0"/>
          </a:p>
        </p:txBody>
      </p:sp>
      <p:sp>
        <p:nvSpPr>
          <p:cNvPr id="3" name="Text 1"/>
          <p:cNvSpPr/>
          <p:nvPr/>
        </p:nvSpPr>
        <p:spPr>
          <a:xfrm>
            <a:off x="457200" y="342900"/>
            <a:ext cx="8636000" cy="278856"/>
          </a:xfrm>
          <a:prstGeom prst="rect">
            <a:avLst/>
          </a:prstGeom>
          <a:noFill/>
          <a:ln/>
        </p:spPr>
        <p:txBody>
          <a:bodyPr wrap="square" lIns="0" tIns="0" rIns="0" bIns="0" rtlCol="0" anchor="t">
            <a:normAutofit fontScale="85000" lnSpcReduction="10000"/>
          </a:bodyPr>
          <a:lstStyle/>
          <a:p>
            <a:pPr marL="0" indent="0" algn="l">
              <a:lnSpc>
                <a:spcPts val="2187"/>
              </a:lnSpc>
              <a:buNone/>
            </a:pPr>
            <a:r>
              <a:rPr lang="en-US" sz="2025" b="1" kern="0" spc="-36" dirty="0">
                <a:solidFill>
                  <a:srgbClr val="0B1736"/>
                </a:solidFill>
                <a:latin typeface="Liberation Sans Narrow" pitchFamily="34" charset="0"/>
                <a:ea typeface="Liberation Sans Narrow" pitchFamily="34" charset="-122"/>
                <a:cs typeface="Liberation Sans Narrow" pitchFamily="34" charset="-120"/>
              </a:rPr>
              <a:t>The 10-Second Type Decision Tree</a:t>
            </a:r>
            <a:endParaRPr lang="en-US" sz="2025" dirty="0"/>
          </a:p>
        </p:txBody>
      </p:sp>
      <p:sp>
        <p:nvSpPr>
          <p:cNvPr id="4" name="Text 2"/>
          <p:cNvSpPr/>
          <p:nvPr/>
        </p:nvSpPr>
        <p:spPr>
          <a:xfrm>
            <a:off x="457200" y="649188"/>
            <a:ext cx="8229600" cy="173593"/>
          </a:xfrm>
          <a:prstGeom prst="rect">
            <a:avLst/>
          </a:prstGeom>
          <a:noFill/>
          <a:ln/>
        </p:spPr>
        <p:txBody>
          <a:bodyPr wrap="square" lIns="0" tIns="0" rIns="0" bIns="0" rtlCol="0" anchor="t"/>
          <a:lstStyle/>
          <a:p>
            <a:pPr marL="0" indent="0" algn="l">
              <a:lnSpc>
                <a:spcPts val="1266"/>
              </a:lnSpc>
              <a:buNone/>
            </a:pPr>
            <a:r>
              <a:rPr lang="en-US" sz="844" dirty="0">
                <a:solidFill>
                  <a:srgbClr val="5A6485"/>
                </a:solidFill>
                <a:latin typeface="Carlito" pitchFamily="34" charset="0"/>
                <a:ea typeface="Carlito" pitchFamily="34" charset="-122"/>
                <a:cs typeface="Carlito" pitchFamily="34" charset="-120"/>
              </a:rPr>
              <a:t>Ask these 9 questions in order — the answer is your column type.</a:t>
            </a:r>
            <a:endParaRPr lang="en-US" sz="844" dirty="0"/>
          </a:p>
        </p:txBody>
      </p:sp>
      <p:sp>
        <p:nvSpPr>
          <p:cNvPr id="5" name="Text 3"/>
          <p:cNvSpPr/>
          <p:nvPr/>
        </p:nvSpPr>
        <p:spPr>
          <a:xfrm>
            <a:off x="460772" y="932259"/>
            <a:ext cx="8222456" cy="364331"/>
          </a:xfrm>
          <a:prstGeom prst="roundRect">
            <a:avLst>
              <a:gd name="adj" fmla="val 26144"/>
            </a:avLst>
          </a:prstGeom>
          <a:solidFill>
            <a:srgbClr val="FFFFFF"/>
          </a:solidFill>
          <a:ln w="7144">
            <a:solidFill>
              <a:srgbClr val="DDE2F0"/>
            </a:solidFill>
            <a:prstDash val="solid"/>
          </a:ln>
          <a:effectLst>
            <a:outerShdw blurRad="76200" dist="19050" dir="5400000" algn="bl" rotWithShape="0">
              <a:srgbClr val="0F172A">
                <a:alpha val="5000"/>
              </a:srgbClr>
            </a:outerShdw>
          </a:effectLst>
        </p:spPr>
        <p:txBody>
          <a:bodyPr wrap="square" rtlCol="0" anchor="ctr"/>
          <a:lstStyle/>
          <a:p>
            <a:pPr marL="0" indent="0">
              <a:buNone/>
            </a:pPr>
            <a:endParaRPr lang="en-US" dirty="0"/>
          </a:p>
        </p:txBody>
      </p:sp>
      <p:sp>
        <p:nvSpPr>
          <p:cNvPr id="6" name="Text 4"/>
          <p:cNvSpPr/>
          <p:nvPr/>
        </p:nvSpPr>
        <p:spPr>
          <a:xfrm>
            <a:off x="564356" y="1007269"/>
            <a:ext cx="214313" cy="214313"/>
          </a:xfrm>
          <a:prstGeom prst="roundRect">
            <a:avLst>
              <a:gd name="adj" fmla="val 44439896"/>
            </a:avLst>
          </a:prstGeom>
          <a:solidFill>
            <a:srgbClr val="F59E0B"/>
          </a:solidFill>
          <a:ln/>
          <a:effectLst>
            <a:outerShdw blurRad="57150" dist="19050" dir="5400000" algn="bl" rotWithShape="0">
              <a:srgbClr val="F59E0B">
                <a:alpha val="30000"/>
              </a:srgbClr>
            </a:outerShdw>
          </a:effectLst>
        </p:spPr>
        <p:txBody>
          <a:bodyPr wrap="square" rtlCol="0" anchor="ctr"/>
          <a:lstStyle/>
          <a:p>
            <a:pPr marL="0" indent="0">
              <a:buNone/>
            </a:pPr>
            <a:endParaRPr lang="en-US" dirty="0"/>
          </a:p>
        </p:txBody>
      </p:sp>
      <p:sp>
        <p:nvSpPr>
          <p:cNvPr id="7" name="Text 5"/>
          <p:cNvSpPr/>
          <p:nvPr/>
        </p:nvSpPr>
        <p:spPr>
          <a:xfrm>
            <a:off x="564356" y="1007269"/>
            <a:ext cx="264319" cy="214313"/>
          </a:xfrm>
          <a:prstGeom prst="rect">
            <a:avLst/>
          </a:prstGeom>
          <a:noFill/>
          <a:ln/>
        </p:spPr>
        <p:txBody>
          <a:bodyPr wrap="none" lIns="0" tIns="0" rIns="0" bIns="0" rtlCol="0" anchor="ctr"/>
          <a:lstStyle/>
          <a:p>
            <a:pPr marL="0" indent="0" algn="ctr">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1</a:t>
            </a:r>
            <a:endParaRPr lang="en-US" sz="800" dirty="0"/>
          </a:p>
        </p:txBody>
      </p:sp>
      <p:sp>
        <p:nvSpPr>
          <p:cNvPr id="8" name="Text 6"/>
          <p:cNvSpPr/>
          <p:nvPr/>
        </p:nvSpPr>
        <p:spPr>
          <a:xfrm>
            <a:off x="878681" y="1044439"/>
            <a:ext cx="6606451" cy="153570"/>
          </a:xfrm>
          <a:prstGeom prst="rect">
            <a:avLst/>
          </a:prstGeom>
          <a:noFill/>
          <a:ln/>
        </p:spPr>
        <p:txBody>
          <a:bodyPr wrap="none" lIns="0" tIns="0" rIns="0" bIns="0" rtlCol="0" anchor="t"/>
          <a:lstStyle/>
          <a:p>
            <a:pPr marL="0" indent="0" algn="l">
              <a:lnSpc>
                <a:spcPts val="1103"/>
              </a:lnSpc>
              <a:buNone/>
            </a:pPr>
            <a:r>
              <a:rPr lang="en-US" sz="800" dirty="0">
                <a:solidFill>
                  <a:srgbClr val="0B1736"/>
                </a:solidFill>
                <a:latin typeface="Carlito" pitchFamily="34" charset="0"/>
                <a:ea typeface="Carlito" pitchFamily="34" charset="-122"/>
                <a:cs typeface="Carlito" pitchFamily="34" charset="-120"/>
              </a:rPr>
              <a:t>Auto-incrementing id?</a:t>
            </a:r>
            <a:endParaRPr lang="en-US" sz="800" dirty="0"/>
          </a:p>
        </p:txBody>
      </p:sp>
      <p:sp>
        <p:nvSpPr>
          <p:cNvPr id="9" name="Text 7"/>
          <p:cNvSpPr/>
          <p:nvPr/>
        </p:nvSpPr>
        <p:spPr>
          <a:xfrm>
            <a:off x="7270552" y="1017984"/>
            <a:ext cx="128588" cy="192881"/>
          </a:xfrm>
          <a:prstGeom prst="rect">
            <a:avLst/>
          </a:prstGeom>
          <a:noFill/>
          <a:ln/>
        </p:spPr>
        <p:txBody>
          <a:bodyPr wrap="none" lIns="0" tIns="0" rIns="0" bIns="0" rtlCol="0" anchor="ctr"/>
          <a:lstStyle/>
          <a:p>
            <a:pPr marL="0" indent="0" algn="ctr">
              <a:buNone/>
            </a:pPr>
            <a:r>
              <a:rPr lang="en-US" sz="1013" dirty="0">
                <a:solidFill>
                  <a:srgbClr val="5A6485"/>
                </a:solidFill>
                <a:latin typeface="Segoe UI Symbol" pitchFamily="34" charset="0"/>
                <a:ea typeface="Segoe UI Symbol" pitchFamily="34" charset="-122"/>
                <a:cs typeface="Segoe UI Symbol" pitchFamily="34" charset="-120"/>
              </a:rPr>
              <a:t>→</a:t>
            </a:r>
            <a:endParaRPr lang="en-US" sz="1013" dirty="0"/>
          </a:p>
        </p:txBody>
      </p:sp>
      <p:sp>
        <p:nvSpPr>
          <p:cNvPr id="10" name="Text 8"/>
          <p:cNvSpPr/>
          <p:nvPr/>
        </p:nvSpPr>
        <p:spPr>
          <a:xfrm>
            <a:off x="7499152" y="1001411"/>
            <a:ext cx="1080492" cy="226028"/>
          </a:xfrm>
          <a:prstGeom prst="roundRect">
            <a:avLst>
              <a:gd name="adj" fmla="val 25284"/>
            </a:avLst>
          </a:prstGeom>
          <a:solidFill>
            <a:srgbClr val="1E2A78"/>
          </a:solidFill>
          <a:ln/>
        </p:spPr>
        <p:txBody>
          <a:bodyPr wrap="square" rtlCol="0" anchor="ctr"/>
          <a:lstStyle/>
          <a:p>
            <a:pPr marL="0" indent="0">
              <a:buNone/>
            </a:pPr>
            <a:endParaRPr lang="en-US" dirty="0"/>
          </a:p>
        </p:txBody>
      </p:sp>
      <p:sp>
        <p:nvSpPr>
          <p:cNvPr id="11" name="Text 9"/>
          <p:cNvSpPr/>
          <p:nvPr/>
        </p:nvSpPr>
        <p:spPr>
          <a:xfrm>
            <a:off x="7499152" y="1013520"/>
            <a:ext cx="1080492" cy="208062"/>
          </a:xfrm>
          <a:prstGeom prst="rect">
            <a:avLst/>
          </a:prstGeom>
          <a:noFill/>
          <a:ln/>
        </p:spPr>
        <p:txBody>
          <a:bodyPr wrap="none" lIns="0" tIns="0" rIns="0" bIns="0" rtlCol="0" anchor="t"/>
          <a:lstStyle/>
          <a:p>
            <a:pPr marL="0" indent="0" algn="l">
              <a:lnSpc>
                <a:spcPts val="914"/>
              </a:lnSpc>
              <a:buNone/>
            </a:pPr>
            <a:r>
              <a:rPr lang="en-US" sz="703" b="1" dirty="0">
                <a:solidFill>
                  <a:srgbClr val="FBBF24"/>
                </a:solidFill>
                <a:latin typeface="Courier New" pitchFamily="34" charset="0"/>
                <a:ea typeface="Courier New" pitchFamily="34" charset="-122"/>
                <a:cs typeface="Courier New" pitchFamily="34" charset="-120"/>
              </a:rPr>
              <a:t>SERIAL</a:t>
            </a:r>
            <a:r>
              <a:rPr lang="en-US" sz="703" dirty="0">
                <a:solidFill>
                  <a:srgbClr val="FFFFFF"/>
                </a:solidFill>
                <a:latin typeface="Courier New" pitchFamily="34" charset="0"/>
                <a:ea typeface="Courier New" pitchFamily="34" charset="-122"/>
                <a:cs typeface="Courier New" pitchFamily="34" charset="-120"/>
              </a:rPr>
              <a:t> (or BIGSERIAL)</a:t>
            </a:r>
            <a:endParaRPr lang="en-US" sz="703" dirty="0"/>
          </a:p>
        </p:txBody>
      </p:sp>
      <p:sp>
        <p:nvSpPr>
          <p:cNvPr id="12" name="Text 10"/>
          <p:cNvSpPr/>
          <p:nvPr/>
        </p:nvSpPr>
        <p:spPr>
          <a:xfrm>
            <a:off x="460772" y="1360884"/>
            <a:ext cx="8222456" cy="364331"/>
          </a:xfrm>
          <a:prstGeom prst="roundRect">
            <a:avLst>
              <a:gd name="adj" fmla="val 26144"/>
            </a:avLst>
          </a:prstGeom>
          <a:solidFill>
            <a:srgbClr val="FFFFFF"/>
          </a:solidFill>
          <a:ln w="7144">
            <a:solidFill>
              <a:srgbClr val="DDE2F0"/>
            </a:solidFill>
            <a:prstDash val="solid"/>
          </a:ln>
          <a:effectLst>
            <a:outerShdw blurRad="76200" dist="19050" dir="5400000" algn="bl" rotWithShape="0">
              <a:srgbClr val="0F172A">
                <a:alpha val="5000"/>
              </a:srgbClr>
            </a:outerShdw>
          </a:effectLst>
        </p:spPr>
        <p:txBody>
          <a:bodyPr wrap="square" rtlCol="0" anchor="ctr"/>
          <a:lstStyle/>
          <a:p>
            <a:pPr marL="0" indent="0">
              <a:buNone/>
            </a:pPr>
            <a:endParaRPr lang="en-US" dirty="0"/>
          </a:p>
        </p:txBody>
      </p:sp>
      <p:sp>
        <p:nvSpPr>
          <p:cNvPr id="13" name="Text 11"/>
          <p:cNvSpPr/>
          <p:nvPr/>
        </p:nvSpPr>
        <p:spPr>
          <a:xfrm>
            <a:off x="564356" y="1435894"/>
            <a:ext cx="214313" cy="214313"/>
          </a:xfrm>
          <a:prstGeom prst="roundRect">
            <a:avLst>
              <a:gd name="adj" fmla="val 44439896"/>
            </a:avLst>
          </a:prstGeom>
          <a:solidFill>
            <a:srgbClr val="F59E0B"/>
          </a:solidFill>
          <a:ln/>
          <a:effectLst>
            <a:outerShdw blurRad="57150" dist="19050" dir="5400000" algn="bl" rotWithShape="0">
              <a:srgbClr val="F59E0B">
                <a:alpha val="30000"/>
              </a:srgbClr>
            </a:outerShdw>
          </a:effectLst>
        </p:spPr>
        <p:txBody>
          <a:bodyPr wrap="square" rtlCol="0" anchor="ctr"/>
          <a:lstStyle/>
          <a:p>
            <a:pPr marL="0" indent="0">
              <a:buNone/>
            </a:pPr>
            <a:endParaRPr lang="en-US" dirty="0"/>
          </a:p>
        </p:txBody>
      </p:sp>
      <p:sp>
        <p:nvSpPr>
          <p:cNvPr id="14" name="Text 12"/>
          <p:cNvSpPr/>
          <p:nvPr/>
        </p:nvSpPr>
        <p:spPr>
          <a:xfrm>
            <a:off x="564356" y="1435894"/>
            <a:ext cx="264319" cy="214313"/>
          </a:xfrm>
          <a:prstGeom prst="rect">
            <a:avLst/>
          </a:prstGeom>
          <a:noFill/>
          <a:ln/>
        </p:spPr>
        <p:txBody>
          <a:bodyPr wrap="none" lIns="0" tIns="0" rIns="0" bIns="0" rtlCol="0" anchor="ctr"/>
          <a:lstStyle/>
          <a:p>
            <a:pPr marL="0" indent="0" algn="ctr">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2</a:t>
            </a:r>
            <a:endParaRPr lang="en-US" sz="800" dirty="0"/>
          </a:p>
        </p:txBody>
      </p:sp>
      <p:sp>
        <p:nvSpPr>
          <p:cNvPr id="15" name="Text 13"/>
          <p:cNvSpPr/>
          <p:nvPr/>
        </p:nvSpPr>
        <p:spPr>
          <a:xfrm>
            <a:off x="878681" y="1473064"/>
            <a:ext cx="6698766" cy="153570"/>
          </a:xfrm>
          <a:prstGeom prst="rect">
            <a:avLst/>
          </a:prstGeom>
          <a:noFill/>
          <a:ln/>
        </p:spPr>
        <p:txBody>
          <a:bodyPr wrap="square" lIns="0" tIns="0" rIns="0" bIns="0" rtlCol="0" anchor="t"/>
          <a:lstStyle/>
          <a:p>
            <a:pPr marL="0" indent="0" algn="l">
              <a:lnSpc>
                <a:spcPts val="1103"/>
              </a:lnSpc>
              <a:buNone/>
            </a:pPr>
            <a:r>
              <a:rPr lang="en-US" sz="800" dirty="0">
                <a:solidFill>
                  <a:srgbClr val="0B1736"/>
                </a:solidFill>
                <a:latin typeface="Carlito" pitchFamily="34" charset="0"/>
                <a:ea typeface="Carlito" pitchFamily="34" charset="-122"/>
                <a:cs typeface="Carlito" pitchFamily="34" charset="-120"/>
              </a:rPr>
              <a:t>Whole number you do math on?</a:t>
            </a:r>
            <a:endParaRPr lang="en-US" sz="800" dirty="0"/>
          </a:p>
        </p:txBody>
      </p:sp>
      <p:sp>
        <p:nvSpPr>
          <p:cNvPr id="16" name="Text 14"/>
          <p:cNvSpPr/>
          <p:nvPr/>
        </p:nvSpPr>
        <p:spPr>
          <a:xfrm>
            <a:off x="7181255" y="1446609"/>
            <a:ext cx="128588" cy="192881"/>
          </a:xfrm>
          <a:prstGeom prst="rect">
            <a:avLst/>
          </a:prstGeom>
          <a:noFill/>
          <a:ln/>
        </p:spPr>
        <p:txBody>
          <a:bodyPr wrap="none" lIns="0" tIns="0" rIns="0" bIns="0" rtlCol="0" anchor="ctr"/>
          <a:lstStyle/>
          <a:p>
            <a:pPr marL="0" indent="0" algn="ctr">
              <a:buNone/>
            </a:pPr>
            <a:r>
              <a:rPr lang="en-US" sz="1013" dirty="0">
                <a:solidFill>
                  <a:srgbClr val="5A6485"/>
                </a:solidFill>
                <a:latin typeface="Segoe UI Symbol" pitchFamily="34" charset="0"/>
                <a:ea typeface="Segoe UI Symbol" pitchFamily="34" charset="-122"/>
                <a:cs typeface="Segoe UI Symbol" pitchFamily="34" charset="-120"/>
              </a:rPr>
              <a:t>→</a:t>
            </a:r>
            <a:endParaRPr lang="en-US" sz="1013" dirty="0"/>
          </a:p>
        </p:txBody>
      </p:sp>
      <p:sp>
        <p:nvSpPr>
          <p:cNvPr id="17" name="Text 15"/>
          <p:cNvSpPr/>
          <p:nvPr/>
        </p:nvSpPr>
        <p:spPr>
          <a:xfrm>
            <a:off x="7309843" y="1430036"/>
            <a:ext cx="1373385" cy="226028"/>
          </a:xfrm>
          <a:prstGeom prst="roundRect">
            <a:avLst>
              <a:gd name="adj" fmla="val 25284"/>
            </a:avLst>
          </a:prstGeom>
          <a:solidFill>
            <a:srgbClr val="1E2A78"/>
          </a:solidFill>
          <a:ln/>
        </p:spPr>
        <p:txBody>
          <a:bodyPr wrap="square" rtlCol="0" anchor="ctr"/>
          <a:lstStyle/>
          <a:p>
            <a:pPr marL="0" indent="0">
              <a:buNone/>
            </a:pPr>
            <a:endParaRPr lang="en-US" dirty="0"/>
          </a:p>
        </p:txBody>
      </p:sp>
      <p:sp>
        <p:nvSpPr>
          <p:cNvPr id="18" name="Text 16"/>
          <p:cNvSpPr/>
          <p:nvPr/>
        </p:nvSpPr>
        <p:spPr>
          <a:xfrm>
            <a:off x="7420253" y="1491806"/>
            <a:ext cx="1026914" cy="116086"/>
          </a:xfrm>
          <a:prstGeom prst="rect">
            <a:avLst/>
          </a:prstGeom>
          <a:noFill/>
          <a:ln/>
        </p:spPr>
        <p:txBody>
          <a:bodyPr wrap="none" lIns="0" tIns="0" rIns="0" bIns="0" rtlCol="0" anchor="t"/>
          <a:lstStyle/>
          <a:p>
            <a:pPr marL="0" indent="0" algn="l">
              <a:lnSpc>
                <a:spcPts val="914"/>
              </a:lnSpc>
              <a:buNone/>
            </a:pPr>
            <a:r>
              <a:rPr lang="en-US" sz="703" b="1" dirty="0">
                <a:solidFill>
                  <a:srgbClr val="FBBF24"/>
                </a:solidFill>
                <a:latin typeface="Courier New" pitchFamily="34" charset="0"/>
                <a:ea typeface="Courier New" pitchFamily="34" charset="-122"/>
                <a:cs typeface="Courier New" pitchFamily="34" charset="-120"/>
              </a:rPr>
              <a:t>SMALLINT / INT / BIGINT</a:t>
            </a:r>
            <a:endParaRPr lang="en-US" sz="703" dirty="0"/>
          </a:p>
        </p:txBody>
      </p:sp>
      <p:sp>
        <p:nvSpPr>
          <p:cNvPr id="19" name="Text 17"/>
          <p:cNvSpPr/>
          <p:nvPr/>
        </p:nvSpPr>
        <p:spPr>
          <a:xfrm>
            <a:off x="460772" y="1789509"/>
            <a:ext cx="8222456" cy="364331"/>
          </a:xfrm>
          <a:prstGeom prst="roundRect">
            <a:avLst>
              <a:gd name="adj" fmla="val 26144"/>
            </a:avLst>
          </a:prstGeom>
          <a:solidFill>
            <a:srgbClr val="FFFFFF"/>
          </a:solidFill>
          <a:ln w="7144">
            <a:solidFill>
              <a:srgbClr val="DDE2F0"/>
            </a:solidFill>
            <a:prstDash val="solid"/>
          </a:ln>
          <a:effectLst>
            <a:outerShdw blurRad="76200" dist="19050" dir="5400000" algn="bl" rotWithShape="0">
              <a:srgbClr val="0F172A">
                <a:alpha val="5000"/>
              </a:srgbClr>
            </a:outerShdw>
          </a:effectLst>
        </p:spPr>
        <p:txBody>
          <a:bodyPr wrap="square" rtlCol="0" anchor="ctr"/>
          <a:lstStyle/>
          <a:p>
            <a:pPr marL="0" indent="0">
              <a:buNone/>
            </a:pPr>
            <a:endParaRPr lang="en-US" dirty="0"/>
          </a:p>
        </p:txBody>
      </p:sp>
      <p:sp>
        <p:nvSpPr>
          <p:cNvPr id="20" name="Text 18"/>
          <p:cNvSpPr/>
          <p:nvPr/>
        </p:nvSpPr>
        <p:spPr>
          <a:xfrm>
            <a:off x="564356" y="1864519"/>
            <a:ext cx="214313" cy="214313"/>
          </a:xfrm>
          <a:prstGeom prst="roundRect">
            <a:avLst>
              <a:gd name="adj" fmla="val 44439896"/>
            </a:avLst>
          </a:prstGeom>
          <a:solidFill>
            <a:srgbClr val="F59E0B"/>
          </a:solidFill>
          <a:ln/>
          <a:effectLst>
            <a:outerShdw blurRad="57150" dist="19050" dir="5400000" algn="bl" rotWithShape="0">
              <a:srgbClr val="F59E0B">
                <a:alpha val="30000"/>
              </a:srgbClr>
            </a:outerShdw>
          </a:effectLst>
        </p:spPr>
        <p:txBody>
          <a:bodyPr wrap="square" rtlCol="0" anchor="ctr"/>
          <a:lstStyle/>
          <a:p>
            <a:pPr marL="0" indent="0">
              <a:buNone/>
            </a:pPr>
            <a:endParaRPr lang="en-US" dirty="0"/>
          </a:p>
        </p:txBody>
      </p:sp>
      <p:sp>
        <p:nvSpPr>
          <p:cNvPr id="21" name="Text 19"/>
          <p:cNvSpPr/>
          <p:nvPr/>
        </p:nvSpPr>
        <p:spPr>
          <a:xfrm>
            <a:off x="564356" y="1864519"/>
            <a:ext cx="264319" cy="214313"/>
          </a:xfrm>
          <a:prstGeom prst="rect">
            <a:avLst/>
          </a:prstGeom>
          <a:noFill/>
          <a:ln/>
        </p:spPr>
        <p:txBody>
          <a:bodyPr wrap="none" lIns="0" tIns="0" rIns="0" bIns="0" rtlCol="0" anchor="ctr"/>
          <a:lstStyle/>
          <a:p>
            <a:pPr marL="0" indent="0" algn="ctr">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3</a:t>
            </a:r>
            <a:endParaRPr lang="en-US" sz="800" dirty="0"/>
          </a:p>
        </p:txBody>
      </p:sp>
      <p:sp>
        <p:nvSpPr>
          <p:cNvPr id="22" name="Text 20"/>
          <p:cNvSpPr/>
          <p:nvPr/>
        </p:nvSpPr>
        <p:spPr>
          <a:xfrm>
            <a:off x="878681" y="1901689"/>
            <a:ext cx="6372046" cy="153570"/>
          </a:xfrm>
          <a:prstGeom prst="rect">
            <a:avLst/>
          </a:prstGeom>
          <a:noFill/>
          <a:ln/>
        </p:spPr>
        <p:txBody>
          <a:bodyPr wrap="none" lIns="0" tIns="0" rIns="0" bIns="0" rtlCol="0" anchor="t"/>
          <a:lstStyle/>
          <a:p>
            <a:pPr marL="0" indent="0" algn="l">
              <a:lnSpc>
                <a:spcPts val="1103"/>
              </a:lnSpc>
              <a:buNone/>
            </a:pPr>
            <a:r>
              <a:rPr lang="en-US" sz="800" dirty="0">
                <a:solidFill>
                  <a:srgbClr val="0B1736"/>
                </a:solidFill>
                <a:latin typeface="Carlito" pitchFamily="34" charset="0"/>
                <a:ea typeface="Carlito" pitchFamily="34" charset="-122"/>
                <a:cs typeface="Carlito" pitchFamily="34" charset="-120"/>
              </a:rPr>
              <a:t>Money or precise decimal?</a:t>
            </a:r>
            <a:endParaRPr lang="en-US" sz="800" dirty="0"/>
          </a:p>
        </p:txBody>
      </p:sp>
      <p:sp>
        <p:nvSpPr>
          <p:cNvPr id="23" name="Text 21"/>
          <p:cNvSpPr/>
          <p:nvPr/>
        </p:nvSpPr>
        <p:spPr>
          <a:xfrm>
            <a:off x="7047309" y="1875234"/>
            <a:ext cx="128588" cy="192881"/>
          </a:xfrm>
          <a:prstGeom prst="rect">
            <a:avLst/>
          </a:prstGeom>
          <a:noFill/>
          <a:ln/>
        </p:spPr>
        <p:txBody>
          <a:bodyPr wrap="none" lIns="0" tIns="0" rIns="0" bIns="0" rtlCol="0" anchor="ctr"/>
          <a:lstStyle/>
          <a:p>
            <a:pPr marL="0" indent="0" algn="ctr">
              <a:buNone/>
            </a:pPr>
            <a:r>
              <a:rPr lang="en-US" sz="1013" dirty="0">
                <a:solidFill>
                  <a:srgbClr val="5A6485"/>
                </a:solidFill>
                <a:latin typeface="Segoe UI Symbol" pitchFamily="34" charset="0"/>
                <a:ea typeface="Segoe UI Symbol" pitchFamily="34" charset="-122"/>
                <a:cs typeface="Segoe UI Symbol" pitchFamily="34" charset="-120"/>
              </a:rPr>
              <a:t>→</a:t>
            </a:r>
            <a:endParaRPr lang="en-US" sz="1013" dirty="0"/>
          </a:p>
        </p:txBody>
      </p:sp>
      <p:sp>
        <p:nvSpPr>
          <p:cNvPr id="24" name="Text 22"/>
          <p:cNvSpPr/>
          <p:nvPr/>
        </p:nvSpPr>
        <p:spPr>
          <a:xfrm>
            <a:off x="7275909" y="1870770"/>
            <a:ext cx="1303734" cy="246068"/>
          </a:xfrm>
          <a:prstGeom prst="roundRect">
            <a:avLst>
              <a:gd name="adj" fmla="val 28319"/>
            </a:avLst>
          </a:prstGeom>
          <a:solidFill>
            <a:srgbClr val="1E2A78"/>
          </a:solidFill>
          <a:ln/>
        </p:spPr>
        <p:txBody>
          <a:bodyPr wrap="square" rtlCol="0" anchor="ctr"/>
          <a:lstStyle/>
          <a:p>
            <a:pPr marL="0" indent="0">
              <a:buNone/>
            </a:pPr>
            <a:endParaRPr lang="en-US" dirty="0"/>
          </a:p>
        </p:txBody>
      </p:sp>
      <p:sp>
        <p:nvSpPr>
          <p:cNvPr id="25" name="Text 23"/>
          <p:cNvSpPr/>
          <p:nvPr/>
        </p:nvSpPr>
        <p:spPr>
          <a:xfrm>
            <a:off x="7275909" y="1827515"/>
            <a:ext cx="1303734" cy="251317"/>
          </a:xfrm>
          <a:prstGeom prst="rect">
            <a:avLst/>
          </a:prstGeom>
          <a:noFill/>
          <a:ln/>
        </p:spPr>
        <p:txBody>
          <a:bodyPr wrap="square" lIns="71438" tIns="42863" rIns="71438" bIns="42863" rtlCol="0" anchor="t"/>
          <a:lstStyle/>
          <a:p>
            <a:pPr marL="0" indent="0" algn="l">
              <a:lnSpc>
                <a:spcPts val="914"/>
              </a:lnSpc>
              <a:buNone/>
            </a:pPr>
            <a:r>
              <a:rPr lang="en-US" sz="703" b="1" dirty="0">
                <a:solidFill>
                  <a:srgbClr val="FBBF24"/>
                </a:solidFill>
                <a:latin typeface="Courier New" pitchFamily="34" charset="0"/>
                <a:ea typeface="Courier New" pitchFamily="34" charset="-122"/>
                <a:cs typeface="Courier New" pitchFamily="34" charset="-120"/>
              </a:rPr>
              <a:t>NUMERIC(p,s)</a:t>
            </a:r>
            <a:r>
              <a:rPr lang="en-US" sz="703" dirty="0">
                <a:solidFill>
                  <a:srgbClr val="FFFFFF"/>
                </a:solidFill>
                <a:latin typeface="Courier New" pitchFamily="34" charset="0"/>
                <a:ea typeface="Courier New" pitchFamily="34" charset="-122"/>
                <a:cs typeface="Courier New" pitchFamily="34" charset="-120"/>
              </a:rPr>
              <a:t> (never FLOAT)</a:t>
            </a:r>
            <a:endParaRPr lang="en-US" sz="703" dirty="0"/>
          </a:p>
        </p:txBody>
      </p:sp>
      <p:sp>
        <p:nvSpPr>
          <p:cNvPr id="26" name="Text 24"/>
          <p:cNvSpPr/>
          <p:nvPr/>
        </p:nvSpPr>
        <p:spPr>
          <a:xfrm>
            <a:off x="460772" y="2218134"/>
            <a:ext cx="8222456" cy="364331"/>
          </a:xfrm>
          <a:prstGeom prst="roundRect">
            <a:avLst>
              <a:gd name="adj" fmla="val 26144"/>
            </a:avLst>
          </a:prstGeom>
          <a:solidFill>
            <a:srgbClr val="FFFFFF"/>
          </a:solidFill>
          <a:ln w="7144">
            <a:solidFill>
              <a:srgbClr val="DDE2F0"/>
            </a:solidFill>
            <a:prstDash val="solid"/>
          </a:ln>
          <a:effectLst>
            <a:outerShdw blurRad="76200" dist="19050" dir="5400000" algn="bl" rotWithShape="0">
              <a:srgbClr val="0F172A">
                <a:alpha val="5000"/>
              </a:srgbClr>
            </a:outerShdw>
          </a:effectLst>
        </p:spPr>
        <p:txBody>
          <a:bodyPr wrap="square" rtlCol="0" anchor="ctr"/>
          <a:lstStyle/>
          <a:p>
            <a:pPr marL="0" indent="0">
              <a:buNone/>
            </a:pPr>
            <a:endParaRPr lang="en-US" dirty="0"/>
          </a:p>
        </p:txBody>
      </p:sp>
      <p:sp>
        <p:nvSpPr>
          <p:cNvPr id="27" name="Text 25"/>
          <p:cNvSpPr/>
          <p:nvPr/>
        </p:nvSpPr>
        <p:spPr>
          <a:xfrm>
            <a:off x="564356" y="2293144"/>
            <a:ext cx="214313" cy="214313"/>
          </a:xfrm>
          <a:prstGeom prst="roundRect">
            <a:avLst>
              <a:gd name="adj" fmla="val 44439896"/>
            </a:avLst>
          </a:prstGeom>
          <a:solidFill>
            <a:srgbClr val="F59E0B"/>
          </a:solidFill>
          <a:ln/>
          <a:effectLst>
            <a:outerShdw blurRad="57150" dist="19050" dir="5400000" algn="bl" rotWithShape="0">
              <a:srgbClr val="F59E0B">
                <a:alpha val="30000"/>
              </a:srgbClr>
            </a:outerShdw>
          </a:effectLst>
        </p:spPr>
        <p:txBody>
          <a:bodyPr wrap="square" rtlCol="0" anchor="ctr"/>
          <a:lstStyle/>
          <a:p>
            <a:pPr marL="0" indent="0">
              <a:buNone/>
            </a:pPr>
            <a:endParaRPr lang="en-US" dirty="0"/>
          </a:p>
        </p:txBody>
      </p:sp>
      <p:sp>
        <p:nvSpPr>
          <p:cNvPr id="28" name="Text 26"/>
          <p:cNvSpPr/>
          <p:nvPr/>
        </p:nvSpPr>
        <p:spPr>
          <a:xfrm>
            <a:off x="564356" y="2293144"/>
            <a:ext cx="264319" cy="214313"/>
          </a:xfrm>
          <a:prstGeom prst="rect">
            <a:avLst/>
          </a:prstGeom>
          <a:noFill/>
          <a:ln/>
        </p:spPr>
        <p:txBody>
          <a:bodyPr wrap="none" lIns="0" tIns="0" rIns="0" bIns="0" rtlCol="0" anchor="ctr"/>
          <a:lstStyle/>
          <a:p>
            <a:pPr marL="0" indent="0" algn="ctr">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4</a:t>
            </a:r>
            <a:endParaRPr lang="en-US" sz="800" dirty="0"/>
          </a:p>
        </p:txBody>
      </p:sp>
      <p:sp>
        <p:nvSpPr>
          <p:cNvPr id="29" name="Text 27"/>
          <p:cNvSpPr/>
          <p:nvPr/>
        </p:nvSpPr>
        <p:spPr>
          <a:xfrm>
            <a:off x="878681" y="2330314"/>
            <a:ext cx="7325630" cy="153570"/>
          </a:xfrm>
          <a:prstGeom prst="rect">
            <a:avLst/>
          </a:prstGeom>
          <a:noFill/>
          <a:ln/>
        </p:spPr>
        <p:txBody>
          <a:bodyPr wrap="square" lIns="0" tIns="0" rIns="0" bIns="0" rtlCol="0" anchor="t"/>
          <a:lstStyle/>
          <a:p>
            <a:pPr marL="0" indent="0" algn="l">
              <a:lnSpc>
                <a:spcPts val="1103"/>
              </a:lnSpc>
              <a:buNone/>
            </a:pPr>
            <a:r>
              <a:rPr lang="en-US" sz="800" dirty="0">
                <a:solidFill>
                  <a:srgbClr val="0B1736"/>
                </a:solidFill>
                <a:latin typeface="Carlito" pitchFamily="34" charset="0"/>
                <a:ea typeface="Carlito" pitchFamily="34" charset="-122"/>
                <a:cs typeface="Carlito" pitchFamily="34" charset="-120"/>
              </a:rPr>
              <a:t>Short text (name, email, code)?</a:t>
            </a:r>
            <a:endParaRPr lang="en-US" sz="800" dirty="0"/>
          </a:p>
        </p:txBody>
      </p:sp>
      <p:sp>
        <p:nvSpPr>
          <p:cNvPr id="30" name="Text 28"/>
          <p:cNvSpPr/>
          <p:nvPr/>
        </p:nvSpPr>
        <p:spPr>
          <a:xfrm>
            <a:off x="7761684" y="2303859"/>
            <a:ext cx="128588" cy="192881"/>
          </a:xfrm>
          <a:prstGeom prst="rect">
            <a:avLst/>
          </a:prstGeom>
          <a:noFill/>
          <a:ln/>
        </p:spPr>
        <p:txBody>
          <a:bodyPr wrap="none" lIns="0" tIns="0" rIns="0" bIns="0" rtlCol="0" anchor="ctr"/>
          <a:lstStyle/>
          <a:p>
            <a:pPr marL="0" indent="0" algn="ctr">
              <a:buNone/>
            </a:pPr>
            <a:r>
              <a:rPr lang="en-US" sz="1013" dirty="0">
                <a:solidFill>
                  <a:srgbClr val="5A6485"/>
                </a:solidFill>
                <a:latin typeface="Segoe UI Symbol" pitchFamily="34" charset="0"/>
                <a:ea typeface="Segoe UI Symbol" pitchFamily="34" charset="-122"/>
                <a:cs typeface="Segoe UI Symbol" pitchFamily="34" charset="-120"/>
              </a:rPr>
              <a:t>→</a:t>
            </a:r>
            <a:endParaRPr lang="en-US" sz="1013" dirty="0"/>
          </a:p>
        </p:txBody>
      </p:sp>
      <p:sp>
        <p:nvSpPr>
          <p:cNvPr id="31" name="Text 29"/>
          <p:cNvSpPr/>
          <p:nvPr/>
        </p:nvSpPr>
        <p:spPr>
          <a:xfrm>
            <a:off x="7886702" y="2287286"/>
            <a:ext cx="692942" cy="226028"/>
          </a:xfrm>
          <a:prstGeom prst="roundRect">
            <a:avLst>
              <a:gd name="adj" fmla="val 25284"/>
            </a:avLst>
          </a:prstGeom>
          <a:solidFill>
            <a:srgbClr val="1E2A78"/>
          </a:solidFill>
          <a:ln/>
        </p:spPr>
        <p:txBody>
          <a:bodyPr wrap="square" rtlCol="0" anchor="ctr"/>
          <a:lstStyle/>
          <a:p>
            <a:pPr marL="0" indent="0">
              <a:buNone/>
            </a:pPr>
            <a:endParaRPr lang="en-US" dirty="0"/>
          </a:p>
        </p:txBody>
      </p:sp>
      <p:sp>
        <p:nvSpPr>
          <p:cNvPr id="32" name="Text 30"/>
          <p:cNvSpPr/>
          <p:nvPr/>
        </p:nvSpPr>
        <p:spPr>
          <a:xfrm>
            <a:off x="7965871" y="2342257"/>
            <a:ext cx="638187" cy="116086"/>
          </a:xfrm>
          <a:prstGeom prst="rect">
            <a:avLst/>
          </a:prstGeom>
          <a:noFill/>
          <a:ln/>
        </p:spPr>
        <p:txBody>
          <a:bodyPr wrap="square" lIns="0" tIns="0" rIns="0" bIns="0" rtlCol="0" anchor="t"/>
          <a:lstStyle/>
          <a:p>
            <a:pPr marL="0" indent="0" algn="l">
              <a:lnSpc>
                <a:spcPts val="914"/>
              </a:lnSpc>
              <a:buNone/>
            </a:pPr>
            <a:r>
              <a:rPr lang="en-US" sz="703" b="1" dirty="0">
                <a:solidFill>
                  <a:srgbClr val="FBBF24"/>
                </a:solidFill>
                <a:latin typeface="Courier New" pitchFamily="34" charset="0"/>
                <a:ea typeface="Courier New" pitchFamily="34" charset="-122"/>
                <a:cs typeface="Courier New" pitchFamily="34" charset="-120"/>
              </a:rPr>
              <a:t>VARCHAR(n)</a:t>
            </a:r>
            <a:endParaRPr lang="en-US" sz="703" dirty="0"/>
          </a:p>
        </p:txBody>
      </p:sp>
      <p:sp>
        <p:nvSpPr>
          <p:cNvPr id="33" name="Text 31"/>
          <p:cNvSpPr/>
          <p:nvPr/>
        </p:nvSpPr>
        <p:spPr>
          <a:xfrm>
            <a:off x="460772" y="2646759"/>
            <a:ext cx="8222456" cy="364331"/>
          </a:xfrm>
          <a:prstGeom prst="roundRect">
            <a:avLst>
              <a:gd name="adj" fmla="val 26144"/>
            </a:avLst>
          </a:prstGeom>
          <a:solidFill>
            <a:srgbClr val="FFFFFF"/>
          </a:solidFill>
          <a:ln w="7144">
            <a:solidFill>
              <a:srgbClr val="DDE2F0"/>
            </a:solidFill>
            <a:prstDash val="solid"/>
          </a:ln>
          <a:effectLst>
            <a:outerShdw blurRad="76200" dist="19050" dir="5400000" algn="bl" rotWithShape="0">
              <a:srgbClr val="0F172A">
                <a:alpha val="5000"/>
              </a:srgbClr>
            </a:outerShdw>
          </a:effectLst>
        </p:spPr>
        <p:txBody>
          <a:bodyPr wrap="square" rtlCol="0" anchor="ctr"/>
          <a:lstStyle/>
          <a:p>
            <a:pPr marL="0" indent="0">
              <a:buNone/>
            </a:pPr>
            <a:endParaRPr lang="en-US" dirty="0"/>
          </a:p>
        </p:txBody>
      </p:sp>
      <p:sp>
        <p:nvSpPr>
          <p:cNvPr id="34" name="Text 32"/>
          <p:cNvSpPr/>
          <p:nvPr/>
        </p:nvSpPr>
        <p:spPr>
          <a:xfrm>
            <a:off x="564356" y="2721769"/>
            <a:ext cx="214313" cy="214313"/>
          </a:xfrm>
          <a:prstGeom prst="roundRect">
            <a:avLst>
              <a:gd name="adj" fmla="val 44439896"/>
            </a:avLst>
          </a:prstGeom>
          <a:solidFill>
            <a:srgbClr val="F59E0B"/>
          </a:solidFill>
          <a:ln/>
          <a:effectLst>
            <a:outerShdw blurRad="57150" dist="19050" dir="5400000" algn="bl" rotWithShape="0">
              <a:srgbClr val="F59E0B">
                <a:alpha val="30000"/>
              </a:srgbClr>
            </a:outerShdw>
          </a:effectLst>
        </p:spPr>
        <p:txBody>
          <a:bodyPr wrap="square" rtlCol="0" anchor="ctr"/>
          <a:lstStyle/>
          <a:p>
            <a:pPr marL="0" indent="0">
              <a:buNone/>
            </a:pPr>
            <a:endParaRPr lang="en-US" dirty="0"/>
          </a:p>
        </p:txBody>
      </p:sp>
      <p:sp>
        <p:nvSpPr>
          <p:cNvPr id="35" name="Text 33"/>
          <p:cNvSpPr/>
          <p:nvPr/>
        </p:nvSpPr>
        <p:spPr>
          <a:xfrm>
            <a:off x="564356" y="2721769"/>
            <a:ext cx="264319" cy="214313"/>
          </a:xfrm>
          <a:prstGeom prst="rect">
            <a:avLst/>
          </a:prstGeom>
          <a:noFill/>
          <a:ln/>
        </p:spPr>
        <p:txBody>
          <a:bodyPr wrap="none" lIns="0" tIns="0" rIns="0" bIns="0" rtlCol="0" anchor="ctr"/>
          <a:lstStyle/>
          <a:p>
            <a:pPr marL="0" indent="0" algn="ctr">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5</a:t>
            </a:r>
            <a:endParaRPr lang="en-US" sz="800" dirty="0"/>
          </a:p>
        </p:txBody>
      </p:sp>
      <p:sp>
        <p:nvSpPr>
          <p:cNvPr id="36" name="Text 34"/>
          <p:cNvSpPr/>
          <p:nvPr/>
        </p:nvSpPr>
        <p:spPr>
          <a:xfrm>
            <a:off x="878681" y="2758939"/>
            <a:ext cx="7614952" cy="153570"/>
          </a:xfrm>
          <a:prstGeom prst="rect">
            <a:avLst/>
          </a:prstGeom>
          <a:noFill/>
          <a:ln/>
        </p:spPr>
        <p:txBody>
          <a:bodyPr wrap="square" lIns="0" tIns="0" rIns="0" bIns="0" rtlCol="0" anchor="t"/>
          <a:lstStyle/>
          <a:p>
            <a:pPr marL="0" indent="0" algn="l">
              <a:lnSpc>
                <a:spcPts val="1103"/>
              </a:lnSpc>
              <a:buNone/>
            </a:pPr>
            <a:r>
              <a:rPr lang="en-US" sz="800" dirty="0">
                <a:solidFill>
                  <a:srgbClr val="0B1736"/>
                </a:solidFill>
                <a:latin typeface="Carlito" pitchFamily="34" charset="0"/>
                <a:ea typeface="Carlito" pitchFamily="34" charset="-122"/>
                <a:cs typeface="Carlito" pitchFamily="34" charset="-120"/>
              </a:rPr>
              <a:t>Long text (review, description)?</a:t>
            </a:r>
            <a:endParaRPr lang="en-US" sz="800" dirty="0"/>
          </a:p>
        </p:txBody>
      </p:sp>
      <p:sp>
        <p:nvSpPr>
          <p:cNvPr id="37" name="Text 35"/>
          <p:cNvSpPr/>
          <p:nvPr/>
        </p:nvSpPr>
        <p:spPr>
          <a:xfrm>
            <a:off x="8029575" y="2732484"/>
            <a:ext cx="128588" cy="192881"/>
          </a:xfrm>
          <a:prstGeom prst="rect">
            <a:avLst/>
          </a:prstGeom>
          <a:noFill/>
          <a:ln/>
        </p:spPr>
        <p:txBody>
          <a:bodyPr wrap="none" lIns="0" tIns="0" rIns="0" bIns="0" rtlCol="0" anchor="ctr"/>
          <a:lstStyle/>
          <a:p>
            <a:pPr marL="0" indent="0" algn="ctr">
              <a:buNone/>
            </a:pPr>
            <a:r>
              <a:rPr lang="en-US" sz="1013" dirty="0">
                <a:solidFill>
                  <a:srgbClr val="5A6485"/>
                </a:solidFill>
                <a:latin typeface="Segoe UI Symbol" pitchFamily="34" charset="0"/>
                <a:ea typeface="Segoe UI Symbol" pitchFamily="34" charset="-122"/>
                <a:cs typeface="Segoe UI Symbol" pitchFamily="34" charset="-120"/>
              </a:rPr>
              <a:t>→</a:t>
            </a:r>
            <a:endParaRPr lang="en-US" sz="1013" dirty="0"/>
          </a:p>
        </p:txBody>
      </p:sp>
      <p:sp>
        <p:nvSpPr>
          <p:cNvPr id="38" name="Text 36"/>
          <p:cNvSpPr/>
          <p:nvPr/>
        </p:nvSpPr>
        <p:spPr>
          <a:xfrm>
            <a:off x="8258175" y="2715911"/>
            <a:ext cx="321469" cy="226028"/>
          </a:xfrm>
          <a:prstGeom prst="roundRect">
            <a:avLst>
              <a:gd name="adj" fmla="val 25284"/>
            </a:avLst>
          </a:prstGeom>
          <a:solidFill>
            <a:srgbClr val="1E2A78"/>
          </a:solidFill>
          <a:ln/>
        </p:spPr>
        <p:txBody>
          <a:bodyPr wrap="square" rtlCol="0" anchor="ctr"/>
          <a:lstStyle/>
          <a:p>
            <a:pPr marL="0" indent="0">
              <a:buNone/>
            </a:pPr>
            <a:endParaRPr lang="en-US" dirty="0"/>
          </a:p>
        </p:txBody>
      </p:sp>
      <p:sp>
        <p:nvSpPr>
          <p:cNvPr id="39" name="Text 37"/>
          <p:cNvSpPr/>
          <p:nvPr/>
        </p:nvSpPr>
        <p:spPr>
          <a:xfrm>
            <a:off x="8272623" y="2770882"/>
            <a:ext cx="292572" cy="116086"/>
          </a:xfrm>
          <a:prstGeom prst="rect">
            <a:avLst/>
          </a:prstGeom>
          <a:noFill/>
          <a:ln/>
        </p:spPr>
        <p:txBody>
          <a:bodyPr wrap="square" lIns="0" tIns="0" rIns="0" bIns="0" rtlCol="0" anchor="t"/>
          <a:lstStyle/>
          <a:p>
            <a:pPr marL="0" indent="0" algn="l">
              <a:lnSpc>
                <a:spcPts val="914"/>
              </a:lnSpc>
              <a:buNone/>
            </a:pPr>
            <a:r>
              <a:rPr lang="en-US" sz="703" b="1" dirty="0">
                <a:solidFill>
                  <a:srgbClr val="FBBF24"/>
                </a:solidFill>
                <a:latin typeface="Courier New" pitchFamily="34" charset="0"/>
                <a:ea typeface="Courier New" pitchFamily="34" charset="-122"/>
                <a:cs typeface="Courier New" pitchFamily="34" charset="-120"/>
              </a:rPr>
              <a:t>TEXT</a:t>
            </a:r>
            <a:endParaRPr lang="en-US" sz="703" dirty="0"/>
          </a:p>
        </p:txBody>
      </p:sp>
      <p:sp>
        <p:nvSpPr>
          <p:cNvPr id="40" name="Text 38"/>
          <p:cNvSpPr/>
          <p:nvPr/>
        </p:nvSpPr>
        <p:spPr>
          <a:xfrm>
            <a:off x="460772" y="3075384"/>
            <a:ext cx="8222456" cy="364331"/>
          </a:xfrm>
          <a:prstGeom prst="roundRect">
            <a:avLst>
              <a:gd name="adj" fmla="val 26144"/>
            </a:avLst>
          </a:prstGeom>
          <a:solidFill>
            <a:srgbClr val="FFFFFF"/>
          </a:solidFill>
          <a:ln w="7144">
            <a:solidFill>
              <a:srgbClr val="DDE2F0"/>
            </a:solidFill>
            <a:prstDash val="solid"/>
          </a:ln>
          <a:effectLst>
            <a:outerShdw blurRad="76200" dist="19050" dir="5400000" algn="bl" rotWithShape="0">
              <a:srgbClr val="0F172A">
                <a:alpha val="5000"/>
              </a:srgbClr>
            </a:outerShdw>
          </a:effectLst>
        </p:spPr>
        <p:txBody>
          <a:bodyPr wrap="square" rtlCol="0" anchor="ctr"/>
          <a:lstStyle/>
          <a:p>
            <a:pPr marL="0" indent="0">
              <a:buNone/>
            </a:pPr>
            <a:endParaRPr lang="en-US" dirty="0"/>
          </a:p>
        </p:txBody>
      </p:sp>
      <p:sp>
        <p:nvSpPr>
          <p:cNvPr id="41" name="Text 39"/>
          <p:cNvSpPr/>
          <p:nvPr/>
        </p:nvSpPr>
        <p:spPr>
          <a:xfrm>
            <a:off x="564356" y="3150394"/>
            <a:ext cx="214313" cy="214313"/>
          </a:xfrm>
          <a:prstGeom prst="roundRect">
            <a:avLst>
              <a:gd name="adj" fmla="val 44439896"/>
            </a:avLst>
          </a:prstGeom>
          <a:solidFill>
            <a:srgbClr val="F59E0B"/>
          </a:solidFill>
          <a:ln/>
          <a:effectLst>
            <a:outerShdw blurRad="57150" dist="19050" dir="5400000" algn="bl" rotWithShape="0">
              <a:srgbClr val="F59E0B">
                <a:alpha val="30000"/>
              </a:srgbClr>
            </a:outerShdw>
          </a:effectLst>
        </p:spPr>
        <p:txBody>
          <a:bodyPr wrap="square" rtlCol="0" anchor="ctr"/>
          <a:lstStyle/>
          <a:p>
            <a:pPr marL="0" indent="0">
              <a:buNone/>
            </a:pPr>
            <a:endParaRPr lang="en-US" dirty="0"/>
          </a:p>
        </p:txBody>
      </p:sp>
      <p:sp>
        <p:nvSpPr>
          <p:cNvPr id="42" name="Text 40"/>
          <p:cNvSpPr/>
          <p:nvPr/>
        </p:nvSpPr>
        <p:spPr>
          <a:xfrm>
            <a:off x="564356" y="3150394"/>
            <a:ext cx="264319" cy="214313"/>
          </a:xfrm>
          <a:prstGeom prst="rect">
            <a:avLst/>
          </a:prstGeom>
          <a:noFill/>
          <a:ln/>
        </p:spPr>
        <p:txBody>
          <a:bodyPr wrap="none" lIns="0" tIns="0" rIns="0" bIns="0" rtlCol="0" anchor="ctr"/>
          <a:lstStyle/>
          <a:p>
            <a:pPr marL="0" indent="0" algn="ctr">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6</a:t>
            </a:r>
            <a:endParaRPr lang="en-US" sz="800" dirty="0"/>
          </a:p>
        </p:txBody>
      </p:sp>
      <p:sp>
        <p:nvSpPr>
          <p:cNvPr id="43" name="Text 41"/>
          <p:cNvSpPr/>
          <p:nvPr/>
        </p:nvSpPr>
        <p:spPr>
          <a:xfrm>
            <a:off x="878681" y="3187564"/>
            <a:ext cx="7403425" cy="153570"/>
          </a:xfrm>
          <a:prstGeom prst="rect">
            <a:avLst/>
          </a:prstGeom>
          <a:noFill/>
          <a:ln/>
        </p:spPr>
        <p:txBody>
          <a:bodyPr wrap="none" lIns="0" tIns="0" rIns="0" bIns="0" rtlCol="0" anchor="t"/>
          <a:lstStyle/>
          <a:p>
            <a:pPr marL="0" indent="0" algn="l">
              <a:lnSpc>
                <a:spcPts val="1103"/>
              </a:lnSpc>
              <a:buNone/>
            </a:pPr>
            <a:r>
              <a:rPr lang="en-US" sz="800" dirty="0">
                <a:solidFill>
                  <a:srgbClr val="0B1736"/>
                </a:solidFill>
                <a:latin typeface="Carlito" pitchFamily="34" charset="0"/>
                <a:ea typeface="Carlito" pitchFamily="34" charset="-122"/>
                <a:cs typeface="Carlito" pitchFamily="34" charset="-120"/>
              </a:rPr>
              <a:t>Calendar date?</a:t>
            </a:r>
            <a:endParaRPr lang="en-US" sz="800" dirty="0"/>
          </a:p>
        </p:txBody>
      </p:sp>
      <p:sp>
        <p:nvSpPr>
          <p:cNvPr id="44" name="Text 42"/>
          <p:cNvSpPr/>
          <p:nvPr/>
        </p:nvSpPr>
        <p:spPr>
          <a:xfrm>
            <a:off x="8029575" y="3161109"/>
            <a:ext cx="128588" cy="192881"/>
          </a:xfrm>
          <a:prstGeom prst="rect">
            <a:avLst/>
          </a:prstGeom>
          <a:noFill/>
          <a:ln/>
        </p:spPr>
        <p:txBody>
          <a:bodyPr wrap="none" lIns="0" tIns="0" rIns="0" bIns="0" rtlCol="0" anchor="ctr"/>
          <a:lstStyle/>
          <a:p>
            <a:pPr marL="0" indent="0" algn="ctr">
              <a:buNone/>
            </a:pPr>
            <a:r>
              <a:rPr lang="en-US" sz="1013" dirty="0">
                <a:solidFill>
                  <a:srgbClr val="5A6485"/>
                </a:solidFill>
                <a:latin typeface="Segoe UI Symbol" pitchFamily="34" charset="0"/>
                <a:ea typeface="Segoe UI Symbol" pitchFamily="34" charset="-122"/>
                <a:cs typeface="Segoe UI Symbol" pitchFamily="34" charset="-120"/>
              </a:rPr>
              <a:t>→</a:t>
            </a:r>
            <a:endParaRPr lang="en-US" sz="1013" dirty="0"/>
          </a:p>
        </p:txBody>
      </p:sp>
      <p:sp>
        <p:nvSpPr>
          <p:cNvPr id="45" name="Text 43"/>
          <p:cNvSpPr/>
          <p:nvPr/>
        </p:nvSpPr>
        <p:spPr>
          <a:xfrm>
            <a:off x="8258175" y="3144536"/>
            <a:ext cx="321469" cy="226028"/>
          </a:xfrm>
          <a:prstGeom prst="roundRect">
            <a:avLst>
              <a:gd name="adj" fmla="val 25284"/>
            </a:avLst>
          </a:prstGeom>
          <a:solidFill>
            <a:srgbClr val="1E2A78"/>
          </a:solidFill>
          <a:ln/>
        </p:spPr>
        <p:txBody>
          <a:bodyPr wrap="square" rtlCol="0" anchor="ctr"/>
          <a:lstStyle/>
          <a:p>
            <a:pPr marL="0" indent="0">
              <a:buNone/>
            </a:pPr>
            <a:endParaRPr lang="en-US" dirty="0"/>
          </a:p>
        </p:txBody>
      </p:sp>
      <p:sp>
        <p:nvSpPr>
          <p:cNvPr id="46" name="Text 44"/>
          <p:cNvSpPr/>
          <p:nvPr/>
        </p:nvSpPr>
        <p:spPr>
          <a:xfrm>
            <a:off x="8272623" y="3199507"/>
            <a:ext cx="292572" cy="116086"/>
          </a:xfrm>
          <a:prstGeom prst="rect">
            <a:avLst/>
          </a:prstGeom>
          <a:noFill/>
          <a:ln/>
        </p:spPr>
        <p:txBody>
          <a:bodyPr wrap="square" lIns="0" tIns="0" rIns="0" bIns="0" rtlCol="0" anchor="t"/>
          <a:lstStyle/>
          <a:p>
            <a:pPr marL="0" indent="0" algn="l">
              <a:lnSpc>
                <a:spcPts val="914"/>
              </a:lnSpc>
              <a:buNone/>
            </a:pPr>
            <a:r>
              <a:rPr lang="en-US" sz="703" b="1" dirty="0">
                <a:solidFill>
                  <a:srgbClr val="FBBF24"/>
                </a:solidFill>
                <a:latin typeface="Courier New" pitchFamily="34" charset="0"/>
                <a:ea typeface="Courier New" pitchFamily="34" charset="-122"/>
                <a:cs typeface="Courier New" pitchFamily="34" charset="-120"/>
              </a:rPr>
              <a:t>DATE</a:t>
            </a:r>
            <a:endParaRPr lang="en-US" sz="703" dirty="0"/>
          </a:p>
        </p:txBody>
      </p:sp>
      <p:sp>
        <p:nvSpPr>
          <p:cNvPr id="47" name="Text 45"/>
          <p:cNvSpPr/>
          <p:nvPr/>
        </p:nvSpPr>
        <p:spPr>
          <a:xfrm>
            <a:off x="460772" y="3504009"/>
            <a:ext cx="8222456" cy="364331"/>
          </a:xfrm>
          <a:prstGeom prst="roundRect">
            <a:avLst>
              <a:gd name="adj" fmla="val 26144"/>
            </a:avLst>
          </a:prstGeom>
          <a:solidFill>
            <a:srgbClr val="FFFFFF"/>
          </a:solidFill>
          <a:ln w="7144">
            <a:solidFill>
              <a:srgbClr val="DDE2F0"/>
            </a:solidFill>
            <a:prstDash val="solid"/>
          </a:ln>
          <a:effectLst>
            <a:outerShdw blurRad="76200" dist="19050" dir="5400000" algn="bl" rotWithShape="0">
              <a:srgbClr val="0F172A">
                <a:alpha val="5000"/>
              </a:srgbClr>
            </a:outerShdw>
          </a:effectLst>
        </p:spPr>
        <p:txBody>
          <a:bodyPr wrap="square" rtlCol="0" anchor="ctr"/>
          <a:lstStyle/>
          <a:p>
            <a:pPr marL="0" indent="0">
              <a:buNone/>
            </a:pPr>
            <a:endParaRPr lang="en-US" dirty="0"/>
          </a:p>
        </p:txBody>
      </p:sp>
      <p:sp>
        <p:nvSpPr>
          <p:cNvPr id="48" name="Text 46"/>
          <p:cNvSpPr/>
          <p:nvPr/>
        </p:nvSpPr>
        <p:spPr>
          <a:xfrm>
            <a:off x="564356" y="3579019"/>
            <a:ext cx="214313" cy="214313"/>
          </a:xfrm>
          <a:prstGeom prst="roundRect">
            <a:avLst>
              <a:gd name="adj" fmla="val 44439896"/>
            </a:avLst>
          </a:prstGeom>
          <a:solidFill>
            <a:srgbClr val="F59E0B"/>
          </a:solidFill>
          <a:ln/>
          <a:effectLst>
            <a:outerShdw blurRad="57150" dist="19050" dir="5400000" algn="bl" rotWithShape="0">
              <a:srgbClr val="F59E0B">
                <a:alpha val="30000"/>
              </a:srgbClr>
            </a:outerShdw>
          </a:effectLst>
        </p:spPr>
        <p:txBody>
          <a:bodyPr wrap="square" rtlCol="0" anchor="ctr"/>
          <a:lstStyle/>
          <a:p>
            <a:pPr marL="0" indent="0">
              <a:buNone/>
            </a:pPr>
            <a:endParaRPr lang="en-US" dirty="0"/>
          </a:p>
        </p:txBody>
      </p:sp>
      <p:sp>
        <p:nvSpPr>
          <p:cNvPr id="49" name="Text 47"/>
          <p:cNvSpPr/>
          <p:nvPr/>
        </p:nvSpPr>
        <p:spPr>
          <a:xfrm>
            <a:off x="564356" y="3579019"/>
            <a:ext cx="264319" cy="214313"/>
          </a:xfrm>
          <a:prstGeom prst="rect">
            <a:avLst/>
          </a:prstGeom>
          <a:noFill/>
          <a:ln/>
        </p:spPr>
        <p:txBody>
          <a:bodyPr wrap="none" lIns="0" tIns="0" rIns="0" bIns="0" rtlCol="0" anchor="ctr"/>
          <a:lstStyle/>
          <a:p>
            <a:pPr marL="0" indent="0" algn="ctr">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7</a:t>
            </a:r>
            <a:endParaRPr lang="en-US" sz="800" dirty="0"/>
          </a:p>
        </p:txBody>
      </p:sp>
      <p:sp>
        <p:nvSpPr>
          <p:cNvPr id="50" name="Text 48"/>
          <p:cNvSpPr/>
          <p:nvPr/>
        </p:nvSpPr>
        <p:spPr>
          <a:xfrm>
            <a:off x="878681" y="3616189"/>
            <a:ext cx="7700963" cy="153570"/>
          </a:xfrm>
          <a:prstGeom prst="rect">
            <a:avLst/>
          </a:prstGeom>
          <a:noFill/>
          <a:ln/>
        </p:spPr>
        <p:txBody>
          <a:bodyPr wrap="none" lIns="0" tIns="0" rIns="0" bIns="0" rtlCol="0" anchor="t"/>
          <a:lstStyle/>
          <a:p>
            <a:pPr marL="0" indent="0" algn="l">
              <a:lnSpc>
                <a:spcPts val="1103"/>
              </a:lnSpc>
              <a:buNone/>
            </a:pPr>
            <a:r>
              <a:rPr lang="en-US" sz="800" dirty="0">
                <a:solidFill>
                  <a:srgbClr val="0B1736"/>
                </a:solidFill>
                <a:latin typeface="Carlito" pitchFamily="34" charset="0"/>
                <a:ea typeface="Carlito" pitchFamily="34" charset="-122"/>
                <a:cs typeface="Carlito" pitchFamily="34" charset="-120"/>
              </a:rPr>
              <a:t>Exact moment?</a:t>
            </a:r>
            <a:endParaRPr lang="en-US" sz="800" dirty="0"/>
          </a:p>
        </p:txBody>
      </p:sp>
      <p:sp>
        <p:nvSpPr>
          <p:cNvPr id="51" name="Text 49"/>
          <p:cNvSpPr/>
          <p:nvPr/>
        </p:nvSpPr>
        <p:spPr>
          <a:xfrm>
            <a:off x="7806333" y="3589734"/>
            <a:ext cx="128588" cy="192881"/>
          </a:xfrm>
          <a:prstGeom prst="rect">
            <a:avLst/>
          </a:prstGeom>
          <a:noFill/>
          <a:ln/>
        </p:spPr>
        <p:txBody>
          <a:bodyPr wrap="none" lIns="0" tIns="0" rIns="0" bIns="0" rtlCol="0" anchor="ctr"/>
          <a:lstStyle/>
          <a:p>
            <a:pPr marL="0" indent="0" algn="ctr">
              <a:buNone/>
            </a:pPr>
            <a:r>
              <a:rPr lang="en-US" sz="1013" dirty="0">
                <a:solidFill>
                  <a:srgbClr val="5A6485"/>
                </a:solidFill>
                <a:latin typeface="Segoe UI Symbol" pitchFamily="34" charset="0"/>
                <a:ea typeface="Segoe UI Symbol" pitchFamily="34" charset="-122"/>
                <a:cs typeface="Segoe UI Symbol" pitchFamily="34" charset="-120"/>
              </a:rPr>
              <a:t>→</a:t>
            </a:r>
            <a:endParaRPr lang="en-US" sz="1013" dirty="0"/>
          </a:p>
        </p:txBody>
      </p:sp>
      <p:sp>
        <p:nvSpPr>
          <p:cNvPr id="52" name="Text 50"/>
          <p:cNvSpPr/>
          <p:nvPr/>
        </p:nvSpPr>
        <p:spPr>
          <a:xfrm>
            <a:off x="7965871" y="3573161"/>
            <a:ext cx="613773" cy="226028"/>
          </a:xfrm>
          <a:prstGeom prst="roundRect">
            <a:avLst>
              <a:gd name="adj" fmla="val 25284"/>
            </a:avLst>
          </a:prstGeom>
          <a:solidFill>
            <a:srgbClr val="1E2A78"/>
          </a:solidFill>
          <a:ln/>
        </p:spPr>
        <p:txBody>
          <a:bodyPr wrap="square" rtlCol="0" anchor="ctr"/>
          <a:lstStyle/>
          <a:p>
            <a:pPr marL="0" indent="0">
              <a:buNone/>
            </a:pPr>
            <a:endParaRPr lang="en-US" dirty="0"/>
          </a:p>
        </p:txBody>
      </p:sp>
      <p:sp>
        <p:nvSpPr>
          <p:cNvPr id="53" name="Text 51"/>
          <p:cNvSpPr/>
          <p:nvPr/>
        </p:nvSpPr>
        <p:spPr>
          <a:xfrm>
            <a:off x="7997678" y="3628132"/>
            <a:ext cx="619220" cy="116086"/>
          </a:xfrm>
          <a:prstGeom prst="rect">
            <a:avLst/>
          </a:prstGeom>
          <a:noFill/>
          <a:ln/>
        </p:spPr>
        <p:txBody>
          <a:bodyPr wrap="square" lIns="0" tIns="0" rIns="0" bIns="0" rtlCol="0" anchor="t"/>
          <a:lstStyle/>
          <a:p>
            <a:pPr marL="0" indent="0" algn="l">
              <a:lnSpc>
                <a:spcPts val="914"/>
              </a:lnSpc>
              <a:buNone/>
            </a:pPr>
            <a:r>
              <a:rPr lang="en-US" sz="703" b="1" dirty="0">
                <a:solidFill>
                  <a:srgbClr val="FBBF24"/>
                </a:solidFill>
                <a:latin typeface="Courier New" pitchFamily="34" charset="0"/>
                <a:ea typeface="Courier New" pitchFamily="34" charset="-122"/>
                <a:cs typeface="Courier New" pitchFamily="34" charset="-120"/>
              </a:rPr>
              <a:t>TIMESTAMP</a:t>
            </a:r>
            <a:endParaRPr lang="en-US" sz="703" dirty="0"/>
          </a:p>
        </p:txBody>
      </p:sp>
      <p:sp>
        <p:nvSpPr>
          <p:cNvPr id="54" name="Text 52"/>
          <p:cNvSpPr/>
          <p:nvPr/>
        </p:nvSpPr>
        <p:spPr>
          <a:xfrm>
            <a:off x="460772" y="3932634"/>
            <a:ext cx="8222456" cy="364331"/>
          </a:xfrm>
          <a:prstGeom prst="roundRect">
            <a:avLst>
              <a:gd name="adj" fmla="val 26144"/>
            </a:avLst>
          </a:prstGeom>
          <a:solidFill>
            <a:srgbClr val="FFFFFF"/>
          </a:solidFill>
          <a:ln w="7144">
            <a:solidFill>
              <a:srgbClr val="DDE2F0"/>
            </a:solidFill>
            <a:prstDash val="solid"/>
          </a:ln>
          <a:effectLst>
            <a:outerShdw blurRad="76200" dist="19050" dir="5400000" algn="bl" rotWithShape="0">
              <a:srgbClr val="0F172A">
                <a:alpha val="5000"/>
              </a:srgbClr>
            </a:outerShdw>
          </a:effectLst>
        </p:spPr>
        <p:txBody>
          <a:bodyPr wrap="square" rtlCol="0" anchor="ctr"/>
          <a:lstStyle/>
          <a:p>
            <a:pPr marL="0" indent="0">
              <a:buNone/>
            </a:pPr>
            <a:endParaRPr lang="en-US" dirty="0"/>
          </a:p>
        </p:txBody>
      </p:sp>
      <p:sp>
        <p:nvSpPr>
          <p:cNvPr id="55" name="Text 53"/>
          <p:cNvSpPr/>
          <p:nvPr/>
        </p:nvSpPr>
        <p:spPr>
          <a:xfrm>
            <a:off x="564356" y="4007644"/>
            <a:ext cx="214313" cy="214313"/>
          </a:xfrm>
          <a:prstGeom prst="roundRect">
            <a:avLst>
              <a:gd name="adj" fmla="val 44439896"/>
            </a:avLst>
          </a:prstGeom>
          <a:solidFill>
            <a:srgbClr val="F59E0B"/>
          </a:solidFill>
          <a:ln/>
          <a:effectLst>
            <a:outerShdw blurRad="57150" dist="19050" dir="5400000" algn="bl" rotWithShape="0">
              <a:srgbClr val="F59E0B">
                <a:alpha val="30000"/>
              </a:srgbClr>
            </a:outerShdw>
          </a:effectLst>
        </p:spPr>
        <p:txBody>
          <a:bodyPr wrap="square" rtlCol="0" anchor="ctr"/>
          <a:lstStyle/>
          <a:p>
            <a:pPr marL="0" indent="0">
              <a:buNone/>
            </a:pPr>
            <a:endParaRPr lang="en-US" dirty="0"/>
          </a:p>
        </p:txBody>
      </p:sp>
      <p:sp>
        <p:nvSpPr>
          <p:cNvPr id="56" name="Text 54"/>
          <p:cNvSpPr/>
          <p:nvPr/>
        </p:nvSpPr>
        <p:spPr>
          <a:xfrm>
            <a:off x="564356" y="4007644"/>
            <a:ext cx="264319" cy="214313"/>
          </a:xfrm>
          <a:prstGeom prst="rect">
            <a:avLst/>
          </a:prstGeom>
          <a:noFill/>
          <a:ln/>
        </p:spPr>
        <p:txBody>
          <a:bodyPr wrap="none" lIns="0" tIns="0" rIns="0" bIns="0" rtlCol="0" anchor="ctr"/>
          <a:lstStyle/>
          <a:p>
            <a:pPr marL="0" indent="0" algn="ctr">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8</a:t>
            </a:r>
            <a:endParaRPr lang="en-US" sz="800" dirty="0"/>
          </a:p>
        </p:txBody>
      </p:sp>
      <p:sp>
        <p:nvSpPr>
          <p:cNvPr id="57" name="Text 55"/>
          <p:cNvSpPr/>
          <p:nvPr/>
        </p:nvSpPr>
        <p:spPr>
          <a:xfrm>
            <a:off x="878681" y="4044814"/>
            <a:ext cx="7700963" cy="153570"/>
          </a:xfrm>
          <a:prstGeom prst="rect">
            <a:avLst/>
          </a:prstGeom>
          <a:noFill/>
          <a:ln/>
        </p:spPr>
        <p:txBody>
          <a:bodyPr wrap="none" lIns="0" tIns="0" rIns="0" bIns="0" rtlCol="0" anchor="t"/>
          <a:lstStyle/>
          <a:p>
            <a:pPr marL="0" indent="0" algn="l">
              <a:lnSpc>
                <a:spcPts val="1103"/>
              </a:lnSpc>
              <a:buNone/>
            </a:pPr>
            <a:r>
              <a:rPr lang="en-US" sz="800" dirty="0">
                <a:solidFill>
                  <a:srgbClr val="0B1736"/>
                </a:solidFill>
                <a:latin typeface="Carlito" pitchFamily="34" charset="0"/>
                <a:ea typeface="Carlito" pitchFamily="34" charset="-122"/>
                <a:cs typeface="Carlito" pitchFamily="34" charset="-120"/>
              </a:rPr>
              <a:t>Yes/No?</a:t>
            </a:r>
            <a:endParaRPr lang="en-US" sz="800" dirty="0"/>
          </a:p>
        </p:txBody>
      </p:sp>
      <p:sp>
        <p:nvSpPr>
          <p:cNvPr id="58" name="Text 56"/>
          <p:cNvSpPr/>
          <p:nvPr/>
        </p:nvSpPr>
        <p:spPr>
          <a:xfrm>
            <a:off x="7895630" y="4018359"/>
            <a:ext cx="128588" cy="192881"/>
          </a:xfrm>
          <a:prstGeom prst="rect">
            <a:avLst/>
          </a:prstGeom>
          <a:noFill/>
          <a:ln/>
        </p:spPr>
        <p:txBody>
          <a:bodyPr wrap="none" lIns="0" tIns="0" rIns="0" bIns="0" rtlCol="0" anchor="ctr"/>
          <a:lstStyle/>
          <a:p>
            <a:pPr marL="0" indent="0" algn="ctr">
              <a:buNone/>
            </a:pPr>
            <a:r>
              <a:rPr lang="en-US" sz="1013" dirty="0">
                <a:solidFill>
                  <a:srgbClr val="5A6485"/>
                </a:solidFill>
                <a:latin typeface="Segoe UI Symbol" pitchFamily="34" charset="0"/>
                <a:ea typeface="Segoe UI Symbol" pitchFamily="34" charset="-122"/>
                <a:cs typeface="Segoe UI Symbol" pitchFamily="34" charset="-120"/>
              </a:rPr>
              <a:t>→</a:t>
            </a:r>
            <a:endParaRPr lang="en-US" sz="1013" dirty="0"/>
          </a:p>
        </p:txBody>
      </p:sp>
      <p:sp>
        <p:nvSpPr>
          <p:cNvPr id="59" name="Text 57"/>
          <p:cNvSpPr/>
          <p:nvPr/>
        </p:nvSpPr>
        <p:spPr>
          <a:xfrm>
            <a:off x="7895630" y="4001786"/>
            <a:ext cx="684014" cy="226028"/>
          </a:xfrm>
          <a:prstGeom prst="roundRect">
            <a:avLst>
              <a:gd name="adj" fmla="val 25284"/>
            </a:avLst>
          </a:prstGeom>
          <a:solidFill>
            <a:srgbClr val="1E2A78"/>
          </a:solidFill>
          <a:ln/>
        </p:spPr>
        <p:txBody>
          <a:bodyPr wrap="square" rtlCol="0" anchor="ctr"/>
          <a:lstStyle/>
          <a:p>
            <a:pPr marL="0" indent="0">
              <a:buNone/>
            </a:pPr>
            <a:endParaRPr lang="en-US" dirty="0"/>
          </a:p>
        </p:txBody>
      </p:sp>
      <p:sp>
        <p:nvSpPr>
          <p:cNvPr id="60" name="Text 58"/>
          <p:cNvSpPr/>
          <p:nvPr/>
        </p:nvSpPr>
        <p:spPr>
          <a:xfrm>
            <a:off x="8107656" y="4056757"/>
            <a:ext cx="488561" cy="116086"/>
          </a:xfrm>
          <a:prstGeom prst="rect">
            <a:avLst/>
          </a:prstGeom>
          <a:noFill/>
          <a:ln/>
        </p:spPr>
        <p:txBody>
          <a:bodyPr wrap="square" lIns="0" tIns="0" rIns="0" bIns="0" rtlCol="0" anchor="t"/>
          <a:lstStyle/>
          <a:p>
            <a:pPr marL="0" indent="0" algn="l">
              <a:lnSpc>
                <a:spcPts val="914"/>
              </a:lnSpc>
              <a:buNone/>
            </a:pPr>
            <a:r>
              <a:rPr lang="en-US" sz="703" b="1" dirty="0">
                <a:solidFill>
                  <a:srgbClr val="FBBF24"/>
                </a:solidFill>
                <a:latin typeface="Courier New" pitchFamily="34" charset="0"/>
                <a:ea typeface="Courier New" pitchFamily="34" charset="-122"/>
                <a:cs typeface="Courier New" pitchFamily="34" charset="-120"/>
              </a:rPr>
              <a:t>BOOLEAN</a:t>
            </a:r>
            <a:endParaRPr lang="en-US" sz="703" dirty="0"/>
          </a:p>
        </p:txBody>
      </p:sp>
      <p:sp>
        <p:nvSpPr>
          <p:cNvPr id="61" name="Text 59"/>
          <p:cNvSpPr/>
          <p:nvPr/>
        </p:nvSpPr>
        <p:spPr>
          <a:xfrm>
            <a:off x="507676" y="4633107"/>
            <a:ext cx="8222456" cy="364331"/>
          </a:xfrm>
          <a:prstGeom prst="roundRect">
            <a:avLst>
              <a:gd name="adj" fmla="val 26144"/>
            </a:avLst>
          </a:prstGeom>
          <a:solidFill>
            <a:srgbClr val="FFFFFF"/>
          </a:solidFill>
          <a:ln w="7144">
            <a:solidFill>
              <a:srgbClr val="DDE2F0"/>
            </a:solidFill>
            <a:prstDash val="solid"/>
          </a:ln>
          <a:effectLst>
            <a:outerShdw blurRad="76200" dist="19050" dir="5400000" algn="bl" rotWithShape="0">
              <a:srgbClr val="0F172A">
                <a:alpha val="5000"/>
              </a:srgbClr>
            </a:outerShdw>
          </a:effectLst>
        </p:spPr>
        <p:txBody>
          <a:bodyPr wrap="square" rtlCol="0" anchor="ctr"/>
          <a:lstStyle/>
          <a:p>
            <a:pPr marL="0" indent="0">
              <a:buNone/>
            </a:pPr>
            <a:endParaRPr lang="en-US" dirty="0"/>
          </a:p>
        </p:txBody>
      </p:sp>
      <p:sp>
        <p:nvSpPr>
          <p:cNvPr id="62" name="Text 60"/>
          <p:cNvSpPr/>
          <p:nvPr/>
        </p:nvSpPr>
        <p:spPr>
          <a:xfrm>
            <a:off x="564356" y="4436269"/>
            <a:ext cx="214313" cy="214313"/>
          </a:xfrm>
          <a:prstGeom prst="roundRect">
            <a:avLst>
              <a:gd name="adj" fmla="val 44439896"/>
            </a:avLst>
          </a:prstGeom>
          <a:solidFill>
            <a:srgbClr val="F59E0B"/>
          </a:solidFill>
          <a:ln/>
          <a:effectLst>
            <a:outerShdw blurRad="57150" dist="19050" dir="5400000" algn="bl" rotWithShape="0">
              <a:srgbClr val="F59E0B">
                <a:alpha val="30000"/>
              </a:srgbClr>
            </a:outerShdw>
          </a:effectLst>
        </p:spPr>
        <p:txBody>
          <a:bodyPr wrap="square" rtlCol="0" anchor="ctr"/>
          <a:lstStyle/>
          <a:p>
            <a:pPr marL="0" indent="0">
              <a:buNone/>
            </a:pPr>
            <a:endParaRPr lang="en-US" dirty="0"/>
          </a:p>
        </p:txBody>
      </p:sp>
      <p:sp>
        <p:nvSpPr>
          <p:cNvPr id="63" name="Text 61"/>
          <p:cNvSpPr/>
          <p:nvPr/>
        </p:nvSpPr>
        <p:spPr>
          <a:xfrm>
            <a:off x="564356" y="4436269"/>
            <a:ext cx="264319" cy="214313"/>
          </a:xfrm>
          <a:prstGeom prst="rect">
            <a:avLst/>
          </a:prstGeom>
          <a:noFill/>
          <a:ln/>
        </p:spPr>
        <p:txBody>
          <a:bodyPr wrap="none" lIns="0" tIns="0" rIns="0" bIns="0" rtlCol="0" anchor="ctr"/>
          <a:lstStyle/>
          <a:p>
            <a:pPr marL="0" indent="0" algn="ctr">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9</a:t>
            </a:r>
            <a:endParaRPr lang="en-US" sz="800" dirty="0"/>
          </a:p>
        </p:txBody>
      </p:sp>
      <p:sp>
        <p:nvSpPr>
          <p:cNvPr id="64" name="Text 62"/>
          <p:cNvSpPr/>
          <p:nvPr/>
        </p:nvSpPr>
        <p:spPr>
          <a:xfrm>
            <a:off x="878681" y="4473439"/>
            <a:ext cx="6832997" cy="153570"/>
          </a:xfrm>
          <a:prstGeom prst="rect">
            <a:avLst/>
          </a:prstGeom>
          <a:noFill/>
          <a:ln/>
        </p:spPr>
        <p:txBody>
          <a:bodyPr wrap="square" lIns="0" tIns="0" rIns="0" bIns="0" rtlCol="0" anchor="t"/>
          <a:lstStyle/>
          <a:p>
            <a:pPr marL="0" indent="0" algn="l">
              <a:lnSpc>
                <a:spcPts val="1103"/>
              </a:lnSpc>
              <a:buNone/>
            </a:pPr>
            <a:r>
              <a:rPr lang="en-US" sz="800" dirty="0">
                <a:solidFill>
                  <a:srgbClr val="0B1736"/>
                </a:solidFill>
                <a:latin typeface="Carlito" pitchFamily="34" charset="0"/>
                <a:ea typeface="Carlito" pitchFamily="34" charset="-122"/>
                <a:cs typeface="Carlito" pitchFamily="34" charset="-120"/>
              </a:rPr>
              <a:t>Looks like a number but you NEVER do math on it (phone/pin)?</a:t>
            </a:r>
            <a:endParaRPr lang="en-US" sz="800" dirty="0"/>
          </a:p>
        </p:txBody>
      </p:sp>
      <p:sp>
        <p:nvSpPr>
          <p:cNvPr id="65" name="Text 63"/>
          <p:cNvSpPr/>
          <p:nvPr/>
        </p:nvSpPr>
        <p:spPr>
          <a:xfrm>
            <a:off x="7761684" y="4446984"/>
            <a:ext cx="128588" cy="192881"/>
          </a:xfrm>
          <a:prstGeom prst="rect">
            <a:avLst/>
          </a:prstGeom>
          <a:noFill/>
          <a:ln/>
        </p:spPr>
        <p:txBody>
          <a:bodyPr wrap="none" lIns="0" tIns="0" rIns="0" bIns="0" rtlCol="0" anchor="ctr"/>
          <a:lstStyle/>
          <a:p>
            <a:pPr marL="0" indent="0" algn="ctr">
              <a:buNone/>
            </a:pPr>
            <a:r>
              <a:rPr lang="en-US" sz="1013" dirty="0">
                <a:solidFill>
                  <a:srgbClr val="5A6485"/>
                </a:solidFill>
                <a:latin typeface="Segoe UI Symbol" pitchFamily="34" charset="0"/>
                <a:ea typeface="Segoe UI Symbol" pitchFamily="34" charset="-122"/>
                <a:cs typeface="Segoe UI Symbol" pitchFamily="34" charset="-120"/>
              </a:rPr>
              <a:t>→</a:t>
            </a:r>
            <a:endParaRPr lang="en-US" sz="1013" dirty="0"/>
          </a:p>
        </p:txBody>
      </p:sp>
      <p:sp>
        <p:nvSpPr>
          <p:cNvPr id="66" name="Text 64"/>
          <p:cNvSpPr/>
          <p:nvPr/>
        </p:nvSpPr>
        <p:spPr>
          <a:xfrm>
            <a:off x="7806334" y="4430411"/>
            <a:ext cx="773310" cy="226028"/>
          </a:xfrm>
          <a:prstGeom prst="roundRect">
            <a:avLst>
              <a:gd name="adj" fmla="val 25284"/>
            </a:avLst>
          </a:prstGeom>
          <a:solidFill>
            <a:srgbClr val="1E2A78"/>
          </a:solidFill>
          <a:ln/>
        </p:spPr>
        <p:txBody>
          <a:bodyPr wrap="square" rtlCol="0" anchor="ctr"/>
          <a:lstStyle/>
          <a:p>
            <a:pPr marL="0" indent="0">
              <a:buNone/>
            </a:pPr>
            <a:endParaRPr lang="en-US" dirty="0"/>
          </a:p>
        </p:txBody>
      </p:sp>
      <p:sp>
        <p:nvSpPr>
          <p:cNvPr id="67" name="Text 65"/>
          <p:cNvSpPr/>
          <p:nvPr/>
        </p:nvSpPr>
        <p:spPr>
          <a:xfrm>
            <a:off x="7965871" y="4485382"/>
            <a:ext cx="638187" cy="116086"/>
          </a:xfrm>
          <a:prstGeom prst="rect">
            <a:avLst/>
          </a:prstGeom>
          <a:noFill/>
          <a:ln/>
        </p:spPr>
        <p:txBody>
          <a:bodyPr wrap="square" lIns="0" tIns="0" rIns="0" bIns="0" rtlCol="0" anchor="t"/>
          <a:lstStyle/>
          <a:p>
            <a:pPr marL="0" indent="0" algn="l">
              <a:lnSpc>
                <a:spcPts val="914"/>
              </a:lnSpc>
              <a:buNone/>
            </a:pPr>
            <a:r>
              <a:rPr lang="en-US" sz="703" b="1" dirty="0">
                <a:solidFill>
                  <a:srgbClr val="FBBF24"/>
                </a:solidFill>
                <a:latin typeface="Courier New" pitchFamily="34" charset="0"/>
                <a:ea typeface="Courier New" pitchFamily="34" charset="-122"/>
                <a:cs typeface="Courier New" pitchFamily="34" charset="-120"/>
              </a:rPr>
              <a:t>VARCHAR(n)</a:t>
            </a:r>
            <a:endParaRPr lang="en-US" sz="703" dirty="0"/>
          </a:p>
        </p:txBody>
      </p:sp>
      <p:sp>
        <p:nvSpPr>
          <p:cNvPr id="68" name="Text 66"/>
          <p:cNvSpPr/>
          <p:nvPr/>
        </p:nvSpPr>
        <p:spPr>
          <a:xfrm>
            <a:off x="507676" y="4777713"/>
            <a:ext cx="8229600" cy="296466"/>
          </a:xfrm>
          <a:prstGeom prst="roundRect">
            <a:avLst>
              <a:gd name="adj" fmla="val 32128"/>
            </a:avLst>
          </a:prstGeom>
          <a:solidFill>
            <a:srgbClr val="1E2A78"/>
          </a:solidFill>
          <a:ln/>
          <a:effectLst>
            <a:outerShdw blurRad="133350" dist="57150" dir="5400000" algn="bl" rotWithShape="0">
              <a:srgbClr val="1E2A78">
                <a:alpha val="18000"/>
              </a:srgbClr>
            </a:outerShdw>
          </a:effectLst>
        </p:spPr>
        <p:txBody>
          <a:bodyPr wrap="square" rtlCol="0" anchor="ctr"/>
          <a:lstStyle/>
          <a:p>
            <a:pPr marL="0" indent="0">
              <a:buNone/>
            </a:pPr>
            <a:endParaRPr lang="en-US" dirty="0"/>
          </a:p>
        </p:txBody>
      </p:sp>
      <p:sp>
        <p:nvSpPr>
          <p:cNvPr id="69" name="Text 67"/>
          <p:cNvSpPr/>
          <p:nvPr/>
        </p:nvSpPr>
        <p:spPr>
          <a:xfrm>
            <a:off x="465593" y="4754275"/>
            <a:ext cx="8229600" cy="350286"/>
          </a:xfrm>
          <a:prstGeom prst="rect">
            <a:avLst/>
          </a:prstGeom>
          <a:noFill/>
          <a:ln/>
        </p:spPr>
        <p:txBody>
          <a:bodyPr wrap="square" lIns="114300" tIns="78581" rIns="114300" bIns="78581" rtlCol="0" anchor="t"/>
          <a:lstStyle/>
          <a:p>
            <a:pPr marL="0" indent="0" algn="l">
              <a:lnSpc>
                <a:spcPts val="1097"/>
              </a:lnSpc>
              <a:buNone/>
            </a:pPr>
            <a:r>
              <a:rPr lang="en-US" sz="800" i="1" dirty="0">
                <a:solidFill>
                  <a:srgbClr val="FFFFFF"/>
                </a:solidFill>
                <a:latin typeface="Carlito" pitchFamily="34" charset="0"/>
                <a:ea typeface="Carlito" pitchFamily="34" charset="-122"/>
                <a:cs typeface="Carlito" pitchFamily="34" charset="-120"/>
              </a:rPr>
              <a:t>Still unsure? Default to </a:t>
            </a:r>
            <a:r>
              <a:rPr lang="en-US" sz="800" i="1" dirty="0">
                <a:solidFill>
                  <a:srgbClr val="FBBF24"/>
                </a:solidFill>
                <a:latin typeface="Courier New" pitchFamily="34" charset="0"/>
                <a:ea typeface="Courier New" pitchFamily="34" charset="-122"/>
                <a:cs typeface="Courier New" pitchFamily="34" charset="-120"/>
              </a:rPr>
              <a:t>VARCHAR</a:t>
            </a:r>
            <a:r>
              <a:rPr lang="en-US" sz="800" i="1" dirty="0">
                <a:solidFill>
                  <a:srgbClr val="FFFFFF"/>
                </a:solidFill>
                <a:latin typeface="Carlito" pitchFamily="34" charset="0"/>
                <a:ea typeface="Carlito" pitchFamily="34" charset="-122"/>
                <a:cs typeface="Carlito" pitchFamily="34" charset="-120"/>
              </a:rPr>
              <a:t>, then </a:t>
            </a:r>
            <a:r>
              <a:rPr lang="en-US" sz="800" i="1" dirty="0">
                <a:solidFill>
                  <a:srgbClr val="FBBF24"/>
                </a:solidFill>
                <a:latin typeface="Courier New" pitchFamily="34" charset="0"/>
                <a:ea typeface="Courier New" pitchFamily="34" charset="-122"/>
                <a:cs typeface="Courier New" pitchFamily="34" charset="-120"/>
              </a:rPr>
              <a:t>ALTER</a:t>
            </a:r>
            <a:r>
              <a:rPr lang="en-US" sz="800" i="1" dirty="0">
                <a:solidFill>
                  <a:srgbClr val="FFFFFF"/>
                </a:solidFill>
                <a:latin typeface="Carlito" pitchFamily="34" charset="0"/>
                <a:ea typeface="Carlito" pitchFamily="34" charset="-122"/>
                <a:cs typeface="Carlito" pitchFamily="34" charset="-120"/>
              </a:rPr>
              <a:t> later — which is exactly what we do next with yesterday's </a:t>
            </a:r>
            <a:r>
              <a:rPr lang="en-US" sz="800" i="1" dirty="0">
                <a:solidFill>
                  <a:srgbClr val="FBBF24"/>
                </a:solidFill>
                <a:latin typeface="Courier New" pitchFamily="34" charset="0"/>
                <a:ea typeface="Courier New" pitchFamily="34" charset="-122"/>
                <a:cs typeface="Courier New" pitchFamily="34" charset="-120"/>
              </a:rPr>
              <a:t>TEXT</a:t>
            </a:r>
            <a:r>
              <a:rPr lang="en-US" sz="800" i="1" dirty="0">
                <a:solidFill>
                  <a:srgbClr val="FFFFFF"/>
                </a:solidFill>
                <a:latin typeface="Carlito" pitchFamily="34" charset="0"/>
                <a:ea typeface="Carlito" pitchFamily="34" charset="-122"/>
                <a:cs typeface="Carlito" pitchFamily="34" charset="-120"/>
              </a:rPr>
              <a:t> columns.</a:t>
            </a:r>
            <a:endParaRPr lang="en-US" sz="800" dirty="0"/>
          </a:p>
        </p:txBody>
      </p:sp>
      <p:sp>
        <p:nvSpPr>
          <p:cNvPr id="70" name="Text 68"/>
          <p:cNvSpPr/>
          <p:nvPr/>
        </p:nvSpPr>
        <p:spPr>
          <a:xfrm>
            <a:off x="457200" y="4897041"/>
            <a:ext cx="8009148" cy="164592"/>
          </a:xfrm>
          <a:prstGeom prst="rect">
            <a:avLst/>
          </a:prstGeom>
          <a:noFill/>
          <a:ln/>
        </p:spPr>
        <p:txBody>
          <a:bodyPr wrap="square" lIns="0" tIns="0" rIns="0" bIns="0" rtlCol="0" anchor="t"/>
          <a:lstStyle/>
          <a:p>
            <a:pPr marL="0" indent="0" algn="l">
              <a:lnSpc>
                <a:spcPts val="928"/>
              </a:lnSpc>
              <a:buNone/>
            </a:pPr>
            <a:r>
              <a:rPr lang="en-US" sz="800" kern="0" spc="50" dirty="0">
                <a:solidFill>
                  <a:srgbClr val="5A6485"/>
                </a:solidFill>
                <a:latin typeface="Carlito" pitchFamily="34" charset="0"/>
                <a:ea typeface="Carlito" pitchFamily="34" charset="-122"/>
                <a:cs typeface="Carlito" pitchFamily="34" charset="-120"/>
              </a:rPr>
              <a:t>TYPE DECISION FRAMEWORK</a:t>
            </a:r>
            <a:endParaRPr lang="en-US" sz="800" dirty="0"/>
          </a:p>
        </p:txBody>
      </p:sp>
      <p:sp>
        <p:nvSpPr>
          <p:cNvPr id="71" name="Text 69"/>
          <p:cNvSpPr/>
          <p:nvPr/>
        </p:nvSpPr>
        <p:spPr>
          <a:xfrm>
            <a:off x="8480636" y="4897041"/>
            <a:ext cx="455660" cy="164592"/>
          </a:xfrm>
          <a:prstGeom prst="rect">
            <a:avLst/>
          </a:prstGeom>
          <a:noFill/>
          <a:ln/>
        </p:spPr>
        <p:txBody>
          <a:bodyPr wrap="none" lIns="0" tIns="0" rIns="0" bIns="0" rtlCol="0" anchor="t"/>
          <a:lstStyle/>
          <a:p>
            <a:pPr marL="0" indent="0" algn="l">
              <a:lnSpc>
                <a:spcPts val="928"/>
              </a:lnSpc>
              <a:buNone/>
            </a:pPr>
            <a:r>
              <a:rPr lang="en-US" sz="800" kern="0" spc="50" dirty="0">
                <a:solidFill>
                  <a:srgbClr val="5A6485"/>
                </a:solidFill>
                <a:latin typeface="Liberation Sans Narrow" pitchFamily="34" charset="0"/>
                <a:ea typeface="Liberation Sans Narrow" pitchFamily="34" charset="-122"/>
                <a:cs typeface="Liberation Sans Narrow" pitchFamily="34" charset="-120"/>
              </a:rPr>
              <a:t>13 / 54</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434340" y="253817"/>
            <a:ext cx="640884" cy="196025"/>
          </a:xfrm>
          <a:prstGeom prst="roundRect">
            <a:avLst>
              <a:gd name="adj" fmla="val 4854215"/>
            </a:avLst>
          </a:prstGeom>
          <a:solidFill>
            <a:srgbClr val="E3E6F4"/>
          </a:solidFill>
          <a:ln/>
        </p:spPr>
        <p:txBody>
          <a:bodyPr wrap="square" rtlCol="0" anchor="ctr"/>
          <a:lstStyle/>
          <a:p>
            <a:pPr marL="0" indent="0">
              <a:buNone/>
            </a:pPr>
            <a:endParaRPr lang="en-US" dirty="0"/>
          </a:p>
        </p:txBody>
      </p:sp>
      <p:sp>
        <p:nvSpPr>
          <p:cNvPr id="3" name="Text 1"/>
          <p:cNvSpPr/>
          <p:nvPr/>
        </p:nvSpPr>
        <p:spPr>
          <a:xfrm>
            <a:off x="365349" y="264319"/>
            <a:ext cx="778866" cy="175022"/>
          </a:xfrm>
          <a:prstGeom prst="rect">
            <a:avLst/>
          </a:prstGeom>
          <a:noFill/>
          <a:ln/>
        </p:spPr>
        <p:txBody>
          <a:bodyPr wrap="none" lIns="0" tIns="0" rIns="0" bIns="0" rtlCol="0" anchor="ctr"/>
          <a:lstStyle/>
          <a:p>
            <a:pPr marL="0" indent="0" algn="ctr">
              <a:lnSpc>
                <a:spcPts val="928"/>
              </a:lnSpc>
              <a:buNone/>
            </a:pPr>
            <a:r>
              <a:rPr lang="en-US" sz="800" b="1" kern="0" spc="50" dirty="0">
                <a:solidFill>
                  <a:srgbClr val="1E2A78"/>
                </a:solidFill>
                <a:latin typeface="Carlito" pitchFamily="34" charset="0"/>
                <a:ea typeface="Carlito" pitchFamily="34" charset="-122"/>
                <a:cs typeface="Carlito" pitchFamily="34" charset="-120"/>
              </a:rPr>
              <a:t>DEFINITION</a:t>
            </a:r>
            <a:endParaRPr lang="en-US" sz="800" dirty="0"/>
          </a:p>
        </p:txBody>
      </p:sp>
      <p:sp>
        <p:nvSpPr>
          <p:cNvPr id="4" name="Text 2"/>
          <p:cNvSpPr/>
          <p:nvPr/>
        </p:nvSpPr>
        <p:spPr>
          <a:xfrm>
            <a:off x="7908913" y="257175"/>
            <a:ext cx="1169853"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5A6485"/>
                </a:solidFill>
                <a:latin typeface="Liberation Sans Narrow" pitchFamily="34" charset="0"/>
                <a:ea typeface="Liberation Sans Narrow" pitchFamily="34" charset="-122"/>
                <a:cs typeface="Liberation Sans Narrow" pitchFamily="34" charset="-120"/>
              </a:rPr>
              <a:t>DEFINITION · 1 / 2</a:t>
            </a:r>
            <a:endParaRPr lang="en-US" sz="800" dirty="0"/>
          </a:p>
        </p:txBody>
      </p:sp>
      <p:sp>
        <p:nvSpPr>
          <p:cNvPr id="5" name="Text 3"/>
          <p:cNvSpPr/>
          <p:nvPr/>
        </p:nvSpPr>
        <p:spPr>
          <a:xfrm>
            <a:off x="457200" y="628650"/>
            <a:ext cx="8636000" cy="268252"/>
          </a:xfrm>
          <a:prstGeom prst="rect">
            <a:avLst/>
          </a:prstGeom>
          <a:noFill/>
          <a:ln/>
        </p:spPr>
        <p:txBody>
          <a:bodyPr wrap="square" lIns="0" tIns="0" rIns="0" bIns="0" rtlCol="0" anchor="t">
            <a:normAutofit/>
          </a:bodyPr>
          <a:lstStyle/>
          <a:p>
            <a:pPr marL="0" indent="0" algn="l">
              <a:lnSpc>
                <a:spcPts val="2104"/>
              </a:lnSpc>
              <a:buNone/>
            </a:pPr>
            <a:r>
              <a:rPr lang="en-US" sz="1913" b="1" kern="0" spc="-29" dirty="0">
                <a:solidFill>
                  <a:srgbClr val="0B1736"/>
                </a:solidFill>
                <a:latin typeface="Carlito" pitchFamily="34" charset="0"/>
                <a:ea typeface="Carlito" pitchFamily="34" charset="-122"/>
                <a:cs typeface="Carlito" pitchFamily="34" charset="-120"/>
              </a:rPr>
              <a:t>ALTER TABLE — Turning Yesterday's TEXT Into Proper Types</a:t>
            </a:r>
            <a:endParaRPr lang="en-US" sz="1913" dirty="0"/>
          </a:p>
        </p:txBody>
      </p:sp>
      <p:sp>
        <p:nvSpPr>
          <p:cNvPr id="6" name="Text 4"/>
          <p:cNvSpPr/>
          <p:nvPr/>
        </p:nvSpPr>
        <p:spPr>
          <a:xfrm>
            <a:off x="457200" y="924334"/>
            <a:ext cx="8636000" cy="185166"/>
          </a:xfrm>
          <a:prstGeom prst="rect">
            <a:avLst/>
          </a:prstGeom>
          <a:noFill/>
          <a:ln/>
        </p:spPr>
        <p:txBody>
          <a:bodyPr wrap="square" lIns="0" tIns="0" rIns="0" bIns="0" rtlCol="0" anchor="t"/>
          <a:lstStyle/>
          <a:p>
            <a:pPr marL="0" indent="0" algn="l">
              <a:lnSpc>
                <a:spcPts val="1350"/>
              </a:lnSpc>
              <a:buNone/>
            </a:pPr>
            <a:r>
              <a:rPr lang="en-US" sz="900" dirty="0">
                <a:solidFill>
                  <a:srgbClr val="5A6485"/>
                </a:solidFill>
                <a:latin typeface="Carlito" pitchFamily="34" charset="0"/>
                <a:ea typeface="Carlito" pitchFamily="34" charset="-122"/>
                <a:cs typeface="Carlito" pitchFamily="34" charset="-120"/>
              </a:rPr>
              <a:t>Convert in place, without dropping the table.</a:t>
            </a:r>
            <a:endParaRPr lang="en-US" sz="900" dirty="0"/>
          </a:p>
        </p:txBody>
      </p:sp>
      <p:sp>
        <p:nvSpPr>
          <p:cNvPr id="7" name="Text 5"/>
          <p:cNvSpPr/>
          <p:nvPr/>
        </p:nvSpPr>
        <p:spPr>
          <a:xfrm>
            <a:off x="457200" y="1500188"/>
            <a:ext cx="4329301" cy="147590"/>
          </a:xfrm>
          <a:prstGeom prst="rect">
            <a:avLst/>
          </a:prstGeom>
          <a:noFill/>
          <a:ln/>
        </p:spPr>
        <p:txBody>
          <a:bodyPr wrap="none" lIns="0" tIns="0" rIns="0" bIns="0" rtlCol="0" anchor="t">
            <a:normAutofit/>
          </a:bodyPr>
          <a:lstStyle/>
          <a:p>
            <a:pPr marL="0" indent="0" algn="l">
              <a:lnSpc>
                <a:spcPts val="928"/>
              </a:lnSpc>
              <a:buNone/>
            </a:pPr>
            <a:r>
              <a:rPr lang="en-US" sz="800" b="1" kern="0" spc="99" dirty="0">
                <a:solidFill>
                  <a:srgbClr val="5A6485"/>
                </a:solidFill>
                <a:latin typeface="Carlito" pitchFamily="34" charset="0"/>
                <a:ea typeface="Carlito" pitchFamily="34" charset="-122"/>
                <a:cs typeface="Carlito" pitchFamily="34" charset="-120"/>
              </a:rPr>
              <a:t>THE CAST RECIPE</a:t>
            </a:r>
            <a:endParaRPr lang="en-US" sz="800" dirty="0"/>
          </a:p>
        </p:txBody>
      </p:sp>
      <p:sp>
        <p:nvSpPr>
          <p:cNvPr id="8" name="Text 6"/>
          <p:cNvSpPr/>
          <p:nvPr/>
        </p:nvSpPr>
        <p:spPr>
          <a:xfrm>
            <a:off x="460772" y="1678781"/>
            <a:ext cx="3334010" cy="1841302"/>
          </a:xfrm>
          <a:prstGeom prst="roundRect">
            <a:avLst>
              <a:gd name="adj" fmla="val 7242"/>
            </a:avLst>
          </a:prstGeom>
          <a:solidFill>
            <a:srgbClr val="FFFFFF"/>
          </a:solidFill>
          <a:ln w="7144">
            <a:solidFill>
              <a:srgbClr val="DDE2F0"/>
            </a:solidFill>
            <a:prstDash val="solid"/>
          </a:ln>
          <a:effectLst>
            <a:outerShdw blurRad="133350" dist="38100" dir="5400000" algn="bl" rotWithShape="0">
              <a:srgbClr val="0F172A">
                <a:alpha val="6000"/>
              </a:srgbClr>
            </a:outerShdw>
          </a:effectLst>
        </p:spPr>
        <p:txBody>
          <a:bodyPr wrap="square" rtlCol="0" anchor="ctr"/>
          <a:lstStyle/>
          <a:p>
            <a:pPr marL="0" indent="0">
              <a:buNone/>
            </a:pPr>
            <a:endParaRPr lang="en-US" dirty="0"/>
          </a:p>
        </p:txBody>
      </p:sp>
      <p:sp>
        <p:nvSpPr>
          <p:cNvPr id="9" name="Text 7"/>
          <p:cNvSpPr/>
          <p:nvPr/>
        </p:nvSpPr>
        <p:spPr>
          <a:xfrm>
            <a:off x="596503" y="1814513"/>
            <a:ext cx="3062548" cy="350044"/>
          </a:xfrm>
          <a:prstGeom prst="roundRect">
            <a:avLst>
              <a:gd name="adj" fmla="val 21769"/>
            </a:avLst>
          </a:prstGeom>
          <a:solidFill>
            <a:srgbClr val="FFE4E6"/>
          </a:solidFill>
          <a:ln w="7144">
            <a:solidFill>
              <a:srgbClr val="FECDD3"/>
            </a:solidFill>
            <a:prstDash val="solid"/>
          </a:ln>
        </p:spPr>
        <p:txBody>
          <a:bodyPr wrap="square" rtlCol="0" anchor="ctr"/>
          <a:lstStyle/>
          <a:p>
            <a:pPr marL="0" indent="0">
              <a:buNone/>
            </a:pPr>
            <a:endParaRPr lang="en-US" dirty="0"/>
          </a:p>
        </p:txBody>
      </p:sp>
      <p:sp>
        <p:nvSpPr>
          <p:cNvPr id="10" name="Text 8"/>
          <p:cNvSpPr/>
          <p:nvPr/>
        </p:nvSpPr>
        <p:spPr>
          <a:xfrm>
            <a:off x="592931" y="1810941"/>
            <a:ext cx="3069692" cy="385763"/>
          </a:xfrm>
          <a:prstGeom prst="rect">
            <a:avLst/>
          </a:prstGeom>
          <a:noFill/>
          <a:ln/>
        </p:spPr>
        <p:txBody>
          <a:bodyPr wrap="none" lIns="85725" tIns="85725" rIns="85725" bIns="85725" rtlCol="0" anchor="t"/>
          <a:lstStyle/>
          <a:p>
            <a:pPr marL="0" indent="0" algn="ctr">
              <a:lnSpc>
                <a:spcPts val="1350"/>
              </a:lnSpc>
              <a:buNone/>
            </a:pPr>
            <a:r>
              <a:rPr lang="en-US" sz="900" b="1" kern="0" spc="36" dirty="0">
                <a:solidFill>
                  <a:srgbClr val="DC2626"/>
                </a:solidFill>
                <a:latin typeface="Courier New" pitchFamily="34" charset="0"/>
                <a:ea typeface="Courier New" pitchFamily="34" charset="-122"/>
                <a:cs typeface="Courier New" pitchFamily="34" charset="-120"/>
              </a:rPr>
              <a:t>TEXT</a:t>
            </a:r>
            <a:endParaRPr lang="en-US" sz="900" dirty="0"/>
          </a:p>
        </p:txBody>
      </p:sp>
      <p:sp>
        <p:nvSpPr>
          <p:cNvPr id="11" name="Text 9"/>
          <p:cNvSpPr/>
          <p:nvPr/>
        </p:nvSpPr>
        <p:spPr>
          <a:xfrm>
            <a:off x="2049140" y="2225278"/>
            <a:ext cx="157163" cy="157163"/>
          </a:xfrm>
          <a:prstGeom prst="rect">
            <a:avLst/>
          </a:prstGeom>
          <a:noFill/>
          <a:ln/>
        </p:spPr>
        <p:txBody>
          <a:bodyPr wrap="none" lIns="0" tIns="0" rIns="0" bIns="0" rtlCol="0" anchor="ctr"/>
          <a:lstStyle/>
          <a:p>
            <a:pPr marL="0" indent="0" algn="ctr">
              <a:buNone/>
            </a:pPr>
            <a:r>
              <a:rPr lang="en-US" sz="1238" b="1" dirty="0">
                <a:solidFill>
                  <a:srgbClr val="F59E0B"/>
                </a:solidFill>
                <a:latin typeface="Segoe UI Symbol" pitchFamily="34" charset="0"/>
                <a:ea typeface="Segoe UI Symbol" pitchFamily="34" charset="-122"/>
                <a:cs typeface="Segoe UI Symbol" pitchFamily="34" charset="-120"/>
              </a:rPr>
              <a:t>↓</a:t>
            </a:r>
            <a:endParaRPr lang="en-US" sz="1238" dirty="0"/>
          </a:p>
        </p:txBody>
      </p:sp>
      <p:sp>
        <p:nvSpPr>
          <p:cNvPr id="12" name="Text 10"/>
          <p:cNvSpPr/>
          <p:nvPr/>
        </p:nvSpPr>
        <p:spPr>
          <a:xfrm>
            <a:off x="596503" y="2443163"/>
            <a:ext cx="3062548" cy="312539"/>
          </a:xfrm>
          <a:prstGeom prst="roundRect">
            <a:avLst>
              <a:gd name="adj" fmla="val 24381"/>
            </a:avLst>
          </a:prstGeom>
          <a:solidFill>
            <a:srgbClr val="FEF3C7"/>
          </a:solidFill>
          <a:ln w="7144">
            <a:solidFill>
              <a:srgbClr val="FCD34D"/>
            </a:solidFill>
            <a:prstDash val="solid"/>
          </a:ln>
        </p:spPr>
        <p:txBody>
          <a:bodyPr wrap="square" rtlCol="0" anchor="ctr"/>
          <a:lstStyle/>
          <a:p>
            <a:pPr marL="0" indent="0">
              <a:buNone/>
            </a:pPr>
            <a:endParaRPr lang="en-US" dirty="0"/>
          </a:p>
        </p:txBody>
      </p:sp>
      <p:sp>
        <p:nvSpPr>
          <p:cNvPr id="13" name="Text 11"/>
          <p:cNvSpPr/>
          <p:nvPr/>
        </p:nvSpPr>
        <p:spPr>
          <a:xfrm>
            <a:off x="592931" y="2439591"/>
            <a:ext cx="3069692" cy="319683"/>
          </a:xfrm>
          <a:prstGeom prst="rect">
            <a:avLst/>
          </a:prstGeom>
          <a:noFill/>
          <a:ln/>
        </p:spPr>
        <p:txBody>
          <a:bodyPr wrap="none" lIns="0" tIns="0" rIns="0" bIns="0" rtlCol="0" anchor="ctr"/>
          <a:lstStyle/>
          <a:p>
            <a:pPr marL="0" indent="0" algn="ctr">
              <a:lnSpc>
                <a:spcPts val="1055"/>
              </a:lnSpc>
              <a:buNone/>
            </a:pPr>
            <a:r>
              <a:rPr lang="en-US" sz="800" b="1" i="1" kern="0" spc="28" dirty="0">
                <a:solidFill>
                  <a:srgbClr val="D97706"/>
                </a:solidFill>
                <a:latin typeface="Courier New" pitchFamily="34" charset="0"/>
                <a:ea typeface="Courier New" pitchFamily="34" charset="-122"/>
                <a:cs typeface="Courier New" pitchFamily="34" charset="-120"/>
              </a:rPr>
              <a:t>[USING cast]</a:t>
            </a:r>
            <a:endParaRPr lang="en-US" sz="800" dirty="0"/>
          </a:p>
        </p:txBody>
      </p:sp>
      <p:sp>
        <p:nvSpPr>
          <p:cNvPr id="14" name="Text 12"/>
          <p:cNvSpPr/>
          <p:nvPr/>
        </p:nvSpPr>
        <p:spPr>
          <a:xfrm>
            <a:off x="2049140" y="2816423"/>
            <a:ext cx="157163" cy="157163"/>
          </a:xfrm>
          <a:prstGeom prst="rect">
            <a:avLst/>
          </a:prstGeom>
          <a:noFill/>
          <a:ln/>
        </p:spPr>
        <p:txBody>
          <a:bodyPr wrap="none" lIns="0" tIns="0" rIns="0" bIns="0" rtlCol="0" anchor="ctr"/>
          <a:lstStyle/>
          <a:p>
            <a:pPr marL="0" indent="0" algn="ctr">
              <a:buNone/>
            </a:pPr>
            <a:r>
              <a:rPr lang="en-US" sz="1238" b="1" dirty="0">
                <a:solidFill>
                  <a:srgbClr val="F59E0B"/>
                </a:solidFill>
                <a:latin typeface="Segoe UI Symbol" pitchFamily="34" charset="0"/>
                <a:ea typeface="Segoe UI Symbol" pitchFamily="34" charset="-122"/>
                <a:cs typeface="Segoe UI Symbol" pitchFamily="34" charset="-120"/>
              </a:rPr>
              <a:t>↓</a:t>
            </a:r>
            <a:endParaRPr lang="en-US" sz="1238" dirty="0"/>
          </a:p>
        </p:txBody>
      </p:sp>
      <p:sp>
        <p:nvSpPr>
          <p:cNvPr id="15" name="Text 13"/>
          <p:cNvSpPr/>
          <p:nvPr/>
        </p:nvSpPr>
        <p:spPr>
          <a:xfrm>
            <a:off x="596503" y="3034308"/>
            <a:ext cx="3062548" cy="350044"/>
          </a:xfrm>
          <a:prstGeom prst="roundRect">
            <a:avLst>
              <a:gd name="adj" fmla="val 21769"/>
            </a:avLst>
          </a:prstGeom>
          <a:solidFill>
            <a:srgbClr val="E3E6F4"/>
          </a:solidFill>
          <a:ln w="7144">
            <a:solidFill>
              <a:srgbClr val="7A86C9"/>
            </a:solidFill>
            <a:prstDash val="solid"/>
          </a:ln>
        </p:spPr>
        <p:txBody>
          <a:bodyPr wrap="square" rtlCol="0" anchor="ctr"/>
          <a:lstStyle/>
          <a:p>
            <a:pPr marL="0" indent="0">
              <a:buNone/>
            </a:pPr>
            <a:endParaRPr lang="en-US" dirty="0"/>
          </a:p>
        </p:txBody>
      </p:sp>
      <p:sp>
        <p:nvSpPr>
          <p:cNvPr id="16" name="Text 14"/>
          <p:cNvSpPr/>
          <p:nvPr/>
        </p:nvSpPr>
        <p:spPr>
          <a:xfrm>
            <a:off x="592931" y="3030736"/>
            <a:ext cx="3069692" cy="357188"/>
          </a:xfrm>
          <a:prstGeom prst="rect">
            <a:avLst/>
          </a:prstGeom>
          <a:noFill/>
          <a:ln/>
        </p:spPr>
        <p:txBody>
          <a:bodyPr wrap="none" lIns="85725" tIns="85725" rIns="85725" bIns="85725" rtlCol="0" anchor="t"/>
          <a:lstStyle/>
          <a:p>
            <a:pPr marL="0" indent="0" algn="ctr">
              <a:lnSpc>
                <a:spcPts val="1350"/>
              </a:lnSpc>
              <a:buNone/>
            </a:pPr>
            <a:r>
              <a:rPr lang="en-US" sz="900" b="1" kern="0" spc="36" dirty="0">
                <a:solidFill>
                  <a:srgbClr val="1E2A78"/>
                </a:solidFill>
                <a:latin typeface="Courier New" pitchFamily="34" charset="0"/>
                <a:ea typeface="Courier New" pitchFamily="34" charset="-122"/>
                <a:cs typeface="Courier New" pitchFamily="34" charset="-120"/>
              </a:rPr>
              <a:t>INT</a:t>
            </a:r>
            <a:endParaRPr lang="en-US" sz="900" dirty="0"/>
          </a:p>
        </p:txBody>
      </p:sp>
      <p:sp>
        <p:nvSpPr>
          <p:cNvPr id="17" name="Text 15"/>
          <p:cNvSpPr/>
          <p:nvPr/>
        </p:nvSpPr>
        <p:spPr>
          <a:xfrm>
            <a:off x="457200" y="3609380"/>
            <a:ext cx="3341154" cy="164592"/>
          </a:xfrm>
          <a:prstGeom prst="rect">
            <a:avLst/>
          </a:prstGeom>
          <a:noFill/>
          <a:ln/>
        </p:spPr>
        <p:txBody>
          <a:bodyPr wrap="square" lIns="0" tIns="0" rIns="0" bIns="0" rtlCol="0" anchor="t"/>
          <a:lstStyle/>
          <a:p>
            <a:pPr marL="0" indent="0" algn="ctr">
              <a:lnSpc>
                <a:spcPts val="1013"/>
              </a:lnSpc>
              <a:buNone/>
            </a:pPr>
            <a:r>
              <a:rPr lang="en-US" sz="675" i="1" dirty="0">
                <a:solidFill>
                  <a:srgbClr val="5A6485"/>
                </a:solidFill>
                <a:latin typeface="Carlito" pitchFamily="34" charset="0"/>
                <a:ea typeface="Carlito" pitchFamily="34" charset="-122"/>
                <a:cs typeface="Carlito" pitchFamily="34" charset="-120"/>
              </a:rPr>
              <a:t>If even one value can't cast, the ALTER fails — the type defending itself.</a:t>
            </a:r>
            <a:endParaRPr lang="en-US" sz="675" dirty="0"/>
          </a:p>
        </p:txBody>
      </p:sp>
      <p:sp>
        <p:nvSpPr>
          <p:cNvPr id="18" name="Text 16"/>
          <p:cNvSpPr/>
          <p:nvPr/>
        </p:nvSpPr>
        <p:spPr>
          <a:xfrm>
            <a:off x="3969804" y="1500188"/>
            <a:ext cx="5174196" cy="147590"/>
          </a:xfrm>
          <a:prstGeom prst="rect">
            <a:avLst/>
          </a:prstGeom>
          <a:noFill/>
          <a:ln/>
        </p:spPr>
        <p:txBody>
          <a:bodyPr wrap="none" lIns="0" tIns="0" rIns="0" bIns="0" rtlCol="0" anchor="t">
            <a:normAutofit/>
          </a:bodyPr>
          <a:lstStyle/>
          <a:p>
            <a:pPr marL="0" indent="0" algn="l">
              <a:lnSpc>
                <a:spcPts val="928"/>
              </a:lnSpc>
              <a:buNone/>
            </a:pPr>
            <a:r>
              <a:rPr lang="en-US" sz="800" b="1" kern="0" spc="99" dirty="0">
                <a:solidFill>
                  <a:srgbClr val="1E2A78"/>
                </a:solidFill>
                <a:latin typeface="Carlito" pitchFamily="34" charset="0"/>
                <a:ea typeface="Carlito" pitchFamily="34" charset="-122"/>
                <a:cs typeface="Carlito" pitchFamily="34" charset="-120"/>
              </a:rPr>
              <a:t>THE CONVERSION TOOLKIT</a:t>
            </a:r>
            <a:endParaRPr lang="en-US" sz="800" dirty="0"/>
          </a:p>
        </p:txBody>
      </p:sp>
      <p:sp>
        <p:nvSpPr>
          <p:cNvPr id="19" name="Text 17"/>
          <p:cNvSpPr/>
          <p:nvPr/>
        </p:nvSpPr>
        <p:spPr>
          <a:xfrm>
            <a:off x="3973376" y="1678781"/>
            <a:ext cx="4709740" cy="532879"/>
          </a:xfrm>
          <a:prstGeom prst="roundRect">
            <a:avLst>
              <a:gd name="adj" fmla="val 21450"/>
            </a:avLst>
          </a:prstGeom>
          <a:solidFill>
            <a:srgbClr val="0F172A"/>
          </a:solidFill>
          <a:ln w="7144">
            <a:solidFill>
              <a:srgbClr val="1E293B"/>
            </a:solidFill>
            <a:prstDash val="solid"/>
          </a:ln>
          <a:effectLst>
            <a:outerShdw blurRad="133350" dist="38100" dir="5400000" algn="bl" rotWithShape="0">
              <a:srgbClr val="0F172A">
                <a:alpha val="18000"/>
              </a:srgbClr>
            </a:outerShdw>
          </a:effectLst>
        </p:spPr>
        <p:txBody>
          <a:bodyPr wrap="square" rtlCol="0" anchor="ctr"/>
          <a:lstStyle/>
          <a:p>
            <a:pPr marL="0" indent="0">
              <a:buNone/>
            </a:pPr>
            <a:endParaRPr lang="en-US" dirty="0"/>
          </a:p>
        </p:txBody>
      </p:sp>
      <p:sp>
        <p:nvSpPr>
          <p:cNvPr id="20" name="Text 18"/>
          <p:cNvSpPr/>
          <p:nvPr/>
        </p:nvSpPr>
        <p:spPr>
          <a:xfrm>
            <a:off x="3969804" y="1675209"/>
            <a:ext cx="4716884" cy="638058"/>
          </a:xfrm>
          <a:prstGeom prst="rect">
            <a:avLst/>
          </a:prstGeom>
          <a:noFill/>
          <a:ln/>
        </p:spPr>
        <p:txBody>
          <a:bodyPr wrap="square" lIns="128588" tIns="114300" rIns="128588" bIns="114300" rtlCol="0" anchor="t"/>
          <a:lstStyle/>
          <a:p>
            <a:pPr marL="171450" indent="-171450" algn="l">
              <a:lnSpc>
                <a:spcPts val="1170"/>
              </a:lnSpc>
              <a:buFont typeface="Wingdings" panose="05000000000000000000" pitchFamily="2" charset="2"/>
              <a:buChar char="n"/>
            </a:pPr>
            <a:r>
              <a:rPr lang="en-US" sz="800" i="1" dirty="0">
                <a:solidFill>
                  <a:srgbClr val="64748B"/>
                </a:solidFill>
                <a:latin typeface="Courier New" pitchFamily="34" charset="0"/>
                <a:ea typeface="Courier New" pitchFamily="34" charset="-122"/>
                <a:cs typeface="Courier New" pitchFamily="34" charset="-120"/>
              </a:rPr>
              <a:t>Convert a TEXT column to INT (cast existing values):</a:t>
            </a:r>
            <a:r>
              <a:rPr lang="en-US" sz="800" dirty="0">
                <a:solidFill>
                  <a:srgbClr val="E2E8F0"/>
                </a:solidFill>
                <a:latin typeface="Courier New" pitchFamily="34" charset="0"/>
                <a:ea typeface="Courier New" pitchFamily="34" charset="-122"/>
                <a:cs typeface="Courier New" pitchFamily="34" charset="-120"/>
              </a:rPr>
              <a:t> </a:t>
            </a:r>
          </a:p>
          <a:p>
            <a:pPr marL="171450" indent="-171450" algn="l">
              <a:lnSpc>
                <a:spcPts val="1170"/>
              </a:lnSpc>
              <a:buFont typeface="Wingdings" panose="05000000000000000000" pitchFamily="2" charset="2"/>
              <a:buChar char="n"/>
            </a:pPr>
            <a:r>
              <a:rPr lang="en-US" sz="800" dirty="0">
                <a:solidFill>
                  <a:srgbClr val="F472B6"/>
                </a:solidFill>
                <a:latin typeface="Courier New" pitchFamily="34" charset="0"/>
                <a:ea typeface="Courier New" pitchFamily="34" charset="-122"/>
                <a:cs typeface="Courier New" pitchFamily="34" charset="-120"/>
              </a:rPr>
              <a:t>ALTER TABLE</a:t>
            </a:r>
            <a:r>
              <a:rPr lang="en-US" sz="800" dirty="0">
                <a:solidFill>
                  <a:srgbClr val="E2E8F0"/>
                </a:solidFill>
                <a:latin typeface="Courier New" pitchFamily="34" charset="0"/>
                <a:ea typeface="Courier New" pitchFamily="34" charset="-122"/>
                <a:cs typeface="Courier New" pitchFamily="34" charset="-120"/>
              </a:rPr>
              <a:t> college.students </a:t>
            </a:r>
            <a:r>
              <a:rPr lang="en-US" sz="800" dirty="0">
                <a:solidFill>
                  <a:srgbClr val="F472B6"/>
                </a:solidFill>
                <a:latin typeface="Courier New" pitchFamily="34" charset="0"/>
                <a:ea typeface="Courier New" pitchFamily="34" charset="-122"/>
                <a:cs typeface="Courier New" pitchFamily="34" charset="-120"/>
              </a:rPr>
              <a:t>ALTER COLUMN</a:t>
            </a:r>
            <a:r>
              <a:rPr lang="en-US" sz="800" dirty="0">
                <a:solidFill>
                  <a:srgbClr val="E2E8F0"/>
                </a:solidFill>
                <a:latin typeface="Courier New" pitchFamily="34" charset="0"/>
                <a:ea typeface="Courier New" pitchFamily="34" charset="-122"/>
                <a:cs typeface="Courier New" pitchFamily="34" charset="-120"/>
              </a:rPr>
              <a:t> student_id </a:t>
            </a:r>
            <a:r>
              <a:rPr lang="en-US" sz="800" dirty="0">
                <a:solidFill>
                  <a:srgbClr val="F472B6"/>
                </a:solidFill>
                <a:latin typeface="Courier New" pitchFamily="34" charset="0"/>
                <a:ea typeface="Courier New" pitchFamily="34" charset="-122"/>
                <a:cs typeface="Courier New" pitchFamily="34" charset="-120"/>
              </a:rPr>
              <a:t>TYPE INT</a:t>
            </a:r>
            <a:r>
              <a:rPr lang="en-US" sz="800" dirty="0">
                <a:solidFill>
                  <a:srgbClr val="E2E8F0"/>
                </a:solidFill>
                <a:latin typeface="Courier New" pitchFamily="34" charset="0"/>
                <a:ea typeface="Courier New" pitchFamily="34" charset="-122"/>
                <a:cs typeface="Courier New" pitchFamily="34" charset="-120"/>
              </a:rPr>
              <a:t> </a:t>
            </a:r>
            <a:r>
              <a:rPr lang="en-US" sz="800" dirty="0">
                <a:solidFill>
                  <a:srgbClr val="F472B6"/>
                </a:solidFill>
                <a:latin typeface="Courier New" pitchFamily="34" charset="0"/>
                <a:ea typeface="Courier New" pitchFamily="34" charset="-122"/>
                <a:cs typeface="Courier New" pitchFamily="34" charset="-120"/>
              </a:rPr>
              <a:t>USING</a:t>
            </a:r>
            <a:r>
              <a:rPr lang="en-US" sz="800" dirty="0">
                <a:solidFill>
                  <a:srgbClr val="E2E8F0"/>
                </a:solidFill>
                <a:latin typeface="Courier New" pitchFamily="34" charset="0"/>
                <a:ea typeface="Courier New" pitchFamily="34" charset="-122"/>
                <a:cs typeface="Courier New" pitchFamily="34" charset="-120"/>
              </a:rPr>
              <a:t> student_id::int;</a:t>
            </a:r>
            <a:endParaRPr lang="en-US" sz="800" dirty="0"/>
          </a:p>
        </p:txBody>
      </p:sp>
      <p:sp>
        <p:nvSpPr>
          <p:cNvPr id="21" name="Text 19"/>
          <p:cNvSpPr/>
          <p:nvPr/>
        </p:nvSpPr>
        <p:spPr>
          <a:xfrm>
            <a:off x="457200" y="4355009"/>
            <a:ext cx="8229600" cy="357795"/>
          </a:xfrm>
          <a:prstGeom prst="rect">
            <a:avLst/>
          </a:prstGeom>
          <a:noFill/>
          <a:ln/>
        </p:spPr>
        <p:txBody>
          <a:bodyPr wrap="square" lIns="0" tIns="0" rIns="0" bIns="0" rtlCol="0" anchor="t"/>
          <a:lstStyle/>
          <a:p>
            <a:pPr marL="0" indent="0" algn="l">
              <a:lnSpc>
                <a:spcPts val="1305"/>
              </a:lnSpc>
              <a:buNone/>
            </a:pPr>
            <a:r>
              <a:rPr lang="en-US" sz="816" dirty="0">
                <a:solidFill>
                  <a:srgbClr val="2B3361"/>
                </a:solidFill>
                <a:latin typeface="Carlito" pitchFamily="34" charset="0"/>
                <a:ea typeface="Carlito" pitchFamily="34" charset="-122"/>
                <a:cs typeface="Carlito" pitchFamily="34" charset="-120"/>
              </a:rPr>
              <a:t>Yesterday every column was </a:t>
            </a:r>
            <a:r>
              <a:rPr lang="en-US" sz="816" dirty="0">
                <a:solidFill>
                  <a:srgbClr val="1E2A78"/>
                </a:solidFill>
                <a:latin typeface="Courier New" pitchFamily="34" charset="0"/>
                <a:ea typeface="Courier New" pitchFamily="34" charset="-122"/>
                <a:cs typeface="Courier New" pitchFamily="34" charset="-120"/>
              </a:rPr>
              <a:t>TEXT</a:t>
            </a:r>
            <a:r>
              <a:rPr lang="en-US" sz="816" dirty="0">
                <a:solidFill>
                  <a:srgbClr val="2B3361"/>
                </a:solidFill>
                <a:latin typeface="Carlito" pitchFamily="34" charset="0"/>
                <a:ea typeface="Carlito" pitchFamily="34" charset="-122"/>
                <a:cs typeface="Carlito" pitchFamily="34" charset="-120"/>
              </a:rPr>
              <a:t>. Today you convert them to their proper types </a:t>
            </a:r>
            <a:r>
              <a:rPr lang="en-US" sz="816" b="1" dirty="0">
                <a:solidFill>
                  <a:srgbClr val="2B3361"/>
                </a:solidFill>
                <a:latin typeface="Carlito" pitchFamily="34" charset="0"/>
                <a:ea typeface="Carlito" pitchFamily="34" charset="-122"/>
                <a:cs typeface="Carlito" pitchFamily="34" charset="-120"/>
              </a:rPr>
              <a:t>WITHOUT</a:t>
            </a:r>
            <a:r>
              <a:rPr lang="en-US" sz="816" dirty="0">
                <a:solidFill>
                  <a:srgbClr val="2B3361"/>
                </a:solidFill>
                <a:latin typeface="Carlito" pitchFamily="34" charset="0"/>
                <a:ea typeface="Carlito" pitchFamily="34" charset="-122"/>
                <a:cs typeface="Carlito" pitchFamily="34" charset="-120"/>
              </a:rPr>
              <a:t> dropping the table — using </a:t>
            </a:r>
            <a:r>
              <a:rPr lang="en-US" sz="816" dirty="0">
                <a:solidFill>
                  <a:srgbClr val="1E2A78"/>
                </a:solidFill>
                <a:latin typeface="Courier New" pitchFamily="34" charset="0"/>
                <a:ea typeface="Courier New" pitchFamily="34" charset="-122"/>
                <a:cs typeface="Courier New" pitchFamily="34" charset="-120"/>
              </a:rPr>
              <a:t>ALTER TABLE ... ALTER COLUMN ... TYPE ... USING</a:t>
            </a:r>
            <a:r>
              <a:rPr lang="en-US" sz="816" dirty="0">
                <a:solidFill>
                  <a:srgbClr val="2B3361"/>
                </a:solidFill>
                <a:latin typeface="Carlito" pitchFamily="34" charset="0"/>
                <a:ea typeface="Carlito" pitchFamily="34" charset="-122"/>
                <a:cs typeface="Carlito" pitchFamily="34" charset="-120"/>
              </a:rPr>
              <a:t>. The </a:t>
            </a:r>
            <a:r>
              <a:rPr lang="en-US" sz="816" dirty="0">
                <a:solidFill>
                  <a:srgbClr val="1E2A78"/>
                </a:solidFill>
                <a:latin typeface="Courier New" pitchFamily="34" charset="0"/>
                <a:ea typeface="Courier New" pitchFamily="34" charset="-122"/>
                <a:cs typeface="Courier New" pitchFamily="34" charset="-120"/>
              </a:rPr>
              <a:t>USING</a:t>
            </a:r>
            <a:r>
              <a:rPr lang="en-US" sz="816" dirty="0">
                <a:solidFill>
                  <a:srgbClr val="2B3361"/>
                </a:solidFill>
                <a:latin typeface="Carlito" pitchFamily="34" charset="0"/>
                <a:ea typeface="Carlito" pitchFamily="34" charset="-122"/>
                <a:cs typeface="Carlito" pitchFamily="34" charset="-120"/>
              </a:rPr>
              <a:t> clause tells PostgreSQL how to cast the existing text values.</a:t>
            </a:r>
            <a:endParaRPr lang="en-US" sz="816" dirty="0"/>
          </a:p>
        </p:txBody>
      </p:sp>
      <p:sp>
        <p:nvSpPr>
          <p:cNvPr id="22" name="Text 20"/>
          <p:cNvSpPr/>
          <p:nvPr/>
        </p:nvSpPr>
        <p:spPr>
          <a:xfrm>
            <a:off x="457200" y="4897041"/>
            <a:ext cx="8009148" cy="164592"/>
          </a:xfrm>
          <a:prstGeom prst="rect">
            <a:avLst/>
          </a:prstGeom>
          <a:noFill/>
          <a:ln/>
        </p:spPr>
        <p:txBody>
          <a:bodyPr wrap="square" lIns="0" tIns="0" rIns="0" bIns="0" rtlCol="0" anchor="t"/>
          <a:lstStyle/>
          <a:p>
            <a:pPr marL="0" indent="0" algn="l">
              <a:lnSpc>
                <a:spcPts val="928"/>
              </a:lnSpc>
              <a:buNone/>
            </a:pPr>
            <a:r>
              <a:rPr lang="en-US" sz="800" kern="0" spc="50" dirty="0">
                <a:solidFill>
                  <a:srgbClr val="5A6485"/>
                </a:solidFill>
                <a:latin typeface="Liberation Sans Narrow" pitchFamily="34" charset="0"/>
                <a:ea typeface="Liberation Sans Narrow" pitchFamily="34" charset="-122"/>
                <a:cs typeface="Liberation Sans Narrow" pitchFamily="34" charset="-120"/>
              </a:rPr>
              <a:t>DEFINITION · 1 OF 2</a:t>
            </a:r>
            <a:endParaRPr lang="en-US" sz="800" dirty="0"/>
          </a:p>
        </p:txBody>
      </p:sp>
      <p:sp>
        <p:nvSpPr>
          <p:cNvPr id="23" name="Text 21"/>
          <p:cNvSpPr/>
          <p:nvPr/>
        </p:nvSpPr>
        <p:spPr>
          <a:xfrm>
            <a:off x="8480636" y="4897041"/>
            <a:ext cx="455660" cy="164592"/>
          </a:xfrm>
          <a:prstGeom prst="rect">
            <a:avLst/>
          </a:prstGeom>
          <a:noFill/>
          <a:ln/>
        </p:spPr>
        <p:txBody>
          <a:bodyPr wrap="none" lIns="0" tIns="0" rIns="0" bIns="0" rtlCol="0" anchor="t"/>
          <a:lstStyle/>
          <a:p>
            <a:pPr marL="0" indent="0" algn="l">
              <a:lnSpc>
                <a:spcPts val="928"/>
              </a:lnSpc>
              <a:buNone/>
            </a:pPr>
            <a:r>
              <a:rPr lang="en-US" sz="800" kern="0" spc="50" dirty="0">
                <a:solidFill>
                  <a:srgbClr val="5A6485"/>
                </a:solidFill>
                <a:latin typeface="Liberation Sans Narrow" pitchFamily="34" charset="0"/>
                <a:ea typeface="Liberation Sans Narrow" pitchFamily="34" charset="-122"/>
                <a:cs typeface="Liberation Sans Narrow" pitchFamily="34" charset="-120"/>
              </a:rPr>
              <a:t>14 / 54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434340" y="253817"/>
            <a:ext cx="640884" cy="196025"/>
          </a:xfrm>
          <a:prstGeom prst="roundRect">
            <a:avLst>
              <a:gd name="adj" fmla="val 4854215"/>
            </a:avLst>
          </a:prstGeom>
          <a:solidFill>
            <a:srgbClr val="E3E6F4"/>
          </a:solidFill>
          <a:ln/>
        </p:spPr>
        <p:txBody>
          <a:bodyPr wrap="square" rtlCol="0" anchor="ctr"/>
          <a:lstStyle/>
          <a:p>
            <a:pPr marL="0" indent="0">
              <a:buNone/>
            </a:pPr>
            <a:endParaRPr lang="en-US" dirty="0"/>
          </a:p>
        </p:txBody>
      </p:sp>
      <p:sp>
        <p:nvSpPr>
          <p:cNvPr id="3" name="Text 1"/>
          <p:cNvSpPr/>
          <p:nvPr/>
        </p:nvSpPr>
        <p:spPr>
          <a:xfrm>
            <a:off x="365349" y="264319"/>
            <a:ext cx="778866" cy="175022"/>
          </a:xfrm>
          <a:prstGeom prst="rect">
            <a:avLst/>
          </a:prstGeom>
          <a:noFill/>
          <a:ln/>
        </p:spPr>
        <p:txBody>
          <a:bodyPr wrap="none" lIns="0" tIns="0" rIns="0" bIns="0" rtlCol="0" anchor="ctr"/>
          <a:lstStyle/>
          <a:p>
            <a:pPr marL="0" indent="0" algn="ctr">
              <a:lnSpc>
                <a:spcPts val="928"/>
              </a:lnSpc>
              <a:buNone/>
            </a:pPr>
            <a:r>
              <a:rPr lang="en-US" sz="800" b="1" kern="0" spc="50" dirty="0">
                <a:solidFill>
                  <a:srgbClr val="1E2A78"/>
                </a:solidFill>
                <a:latin typeface="Carlito" pitchFamily="34" charset="0"/>
                <a:ea typeface="Carlito" pitchFamily="34" charset="-122"/>
                <a:cs typeface="Carlito" pitchFamily="34" charset="-120"/>
              </a:rPr>
              <a:t>DEFINITION</a:t>
            </a:r>
            <a:endParaRPr lang="en-US" sz="800" dirty="0"/>
          </a:p>
        </p:txBody>
      </p:sp>
      <p:sp>
        <p:nvSpPr>
          <p:cNvPr id="4" name="Text 2"/>
          <p:cNvSpPr/>
          <p:nvPr/>
        </p:nvSpPr>
        <p:spPr>
          <a:xfrm>
            <a:off x="7908913" y="257175"/>
            <a:ext cx="1169853"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5A6485"/>
                </a:solidFill>
                <a:latin typeface="Liberation Sans Narrow" pitchFamily="34" charset="0"/>
                <a:ea typeface="Liberation Sans Narrow" pitchFamily="34" charset="-122"/>
                <a:cs typeface="Liberation Sans Narrow" pitchFamily="34" charset="-120"/>
              </a:rPr>
              <a:t>DEFINITION · 2 / 2</a:t>
            </a:r>
            <a:endParaRPr lang="en-US" sz="800" dirty="0"/>
          </a:p>
        </p:txBody>
      </p:sp>
      <p:sp>
        <p:nvSpPr>
          <p:cNvPr id="5" name="Text 3"/>
          <p:cNvSpPr/>
          <p:nvPr/>
        </p:nvSpPr>
        <p:spPr>
          <a:xfrm>
            <a:off x="457200" y="628650"/>
            <a:ext cx="8636000" cy="268252"/>
          </a:xfrm>
          <a:prstGeom prst="rect">
            <a:avLst/>
          </a:prstGeom>
          <a:noFill/>
          <a:ln/>
        </p:spPr>
        <p:txBody>
          <a:bodyPr wrap="square" lIns="0" tIns="0" rIns="0" bIns="0" rtlCol="0" anchor="t">
            <a:normAutofit/>
          </a:bodyPr>
          <a:lstStyle/>
          <a:p>
            <a:pPr marL="0" indent="0" algn="l">
              <a:lnSpc>
                <a:spcPts val="2104"/>
              </a:lnSpc>
              <a:buNone/>
            </a:pPr>
            <a:r>
              <a:rPr lang="en-US" sz="1913" b="1" kern="0" spc="-29" dirty="0">
                <a:solidFill>
                  <a:srgbClr val="0B1736"/>
                </a:solidFill>
                <a:latin typeface="Carlito" pitchFamily="34" charset="0"/>
                <a:ea typeface="Carlito" pitchFamily="34" charset="-122"/>
                <a:cs typeface="Carlito" pitchFamily="34" charset="-120"/>
              </a:rPr>
              <a:t>ALTER TABLE — common conversions</a:t>
            </a:r>
            <a:endParaRPr lang="en-US" sz="1913" dirty="0"/>
          </a:p>
        </p:txBody>
      </p:sp>
      <p:sp>
        <p:nvSpPr>
          <p:cNvPr id="6" name="Text 4"/>
          <p:cNvSpPr/>
          <p:nvPr/>
        </p:nvSpPr>
        <p:spPr>
          <a:xfrm>
            <a:off x="457200" y="924334"/>
            <a:ext cx="8229600" cy="185166"/>
          </a:xfrm>
          <a:prstGeom prst="rect">
            <a:avLst/>
          </a:prstGeom>
          <a:noFill/>
          <a:ln/>
        </p:spPr>
        <p:txBody>
          <a:bodyPr wrap="square" lIns="0" tIns="0" rIns="0" bIns="0" rtlCol="0" anchor="t"/>
          <a:lstStyle/>
          <a:p>
            <a:pPr marL="0" indent="0" algn="l">
              <a:lnSpc>
                <a:spcPts val="1350"/>
              </a:lnSpc>
              <a:buNone/>
            </a:pPr>
            <a:r>
              <a:rPr lang="en-US" sz="900" dirty="0">
                <a:solidFill>
                  <a:srgbClr val="1E2A78"/>
                </a:solidFill>
                <a:latin typeface="Courier New" pitchFamily="34" charset="0"/>
                <a:ea typeface="Courier New" pitchFamily="34" charset="-122"/>
                <a:cs typeface="Courier New" pitchFamily="34" charset="-120"/>
              </a:rPr>
              <a:t>TEXT</a:t>
            </a:r>
            <a:r>
              <a:rPr lang="en-US" sz="900" dirty="0">
                <a:solidFill>
                  <a:srgbClr val="5A6485"/>
                </a:solidFill>
                <a:latin typeface="Carlito" pitchFamily="34" charset="0"/>
                <a:ea typeface="Carlito" pitchFamily="34" charset="-122"/>
                <a:cs typeface="Carlito" pitchFamily="34" charset="-120"/>
              </a:rPr>
              <a:t> → </a:t>
            </a:r>
            <a:r>
              <a:rPr lang="en-US" sz="900" dirty="0">
                <a:solidFill>
                  <a:srgbClr val="1E2A78"/>
                </a:solidFill>
                <a:latin typeface="Courier New" pitchFamily="34" charset="0"/>
                <a:ea typeface="Courier New" pitchFamily="34" charset="-122"/>
                <a:cs typeface="Courier New" pitchFamily="34" charset="-120"/>
              </a:rPr>
              <a:t>DATE</a:t>
            </a:r>
            <a:r>
              <a:rPr lang="en-US" sz="900" dirty="0">
                <a:solidFill>
                  <a:srgbClr val="5A6485"/>
                </a:solidFill>
                <a:latin typeface="Carlito" pitchFamily="34" charset="0"/>
                <a:ea typeface="Carlito" pitchFamily="34" charset="-122"/>
                <a:cs typeface="Carlito" pitchFamily="34" charset="-120"/>
              </a:rPr>
              <a:t>, </a:t>
            </a:r>
            <a:r>
              <a:rPr lang="en-US" sz="900" dirty="0">
                <a:solidFill>
                  <a:srgbClr val="1E2A78"/>
                </a:solidFill>
                <a:latin typeface="Courier New" pitchFamily="34" charset="0"/>
                <a:ea typeface="Courier New" pitchFamily="34" charset="-122"/>
                <a:cs typeface="Courier New" pitchFamily="34" charset="-120"/>
              </a:rPr>
              <a:t>BOOLEAN</a:t>
            </a:r>
            <a:r>
              <a:rPr lang="en-US" sz="900" dirty="0">
                <a:solidFill>
                  <a:srgbClr val="5A6485"/>
                </a:solidFill>
                <a:latin typeface="Carlito" pitchFamily="34" charset="0"/>
                <a:ea typeface="Carlito" pitchFamily="34" charset="-122"/>
                <a:cs typeface="Carlito" pitchFamily="34" charset="-120"/>
              </a:rPr>
              <a:t>, </a:t>
            </a:r>
            <a:r>
              <a:rPr lang="en-US" sz="900" dirty="0">
                <a:solidFill>
                  <a:srgbClr val="1E2A78"/>
                </a:solidFill>
                <a:latin typeface="Courier New" pitchFamily="34" charset="0"/>
                <a:ea typeface="Courier New" pitchFamily="34" charset="-122"/>
                <a:cs typeface="Courier New" pitchFamily="34" charset="-120"/>
              </a:rPr>
              <a:t>NUMERIC</a:t>
            </a:r>
            <a:r>
              <a:rPr lang="en-US" sz="900" dirty="0">
                <a:solidFill>
                  <a:srgbClr val="5A6485"/>
                </a:solidFill>
                <a:latin typeface="Carlito" pitchFamily="34" charset="0"/>
                <a:ea typeface="Carlito" pitchFamily="34" charset="-122"/>
                <a:cs typeface="Carlito" pitchFamily="34" charset="-120"/>
              </a:rPr>
              <a:t>. Plus other ALTERs you will use.</a:t>
            </a:r>
            <a:endParaRPr lang="en-US" sz="900" dirty="0"/>
          </a:p>
        </p:txBody>
      </p:sp>
      <p:sp>
        <p:nvSpPr>
          <p:cNvPr id="7" name="Text 5"/>
          <p:cNvSpPr/>
          <p:nvPr/>
        </p:nvSpPr>
        <p:spPr>
          <a:xfrm>
            <a:off x="457200" y="1428750"/>
            <a:ext cx="4996880" cy="147590"/>
          </a:xfrm>
          <a:prstGeom prst="rect">
            <a:avLst/>
          </a:prstGeom>
          <a:noFill/>
          <a:ln/>
        </p:spPr>
        <p:txBody>
          <a:bodyPr wrap="square" lIns="0" tIns="0" rIns="0" bIns="0" rtlCol="0" anchor="t">
            <a:normAutofit/>
          </a:bodyPr>
          <a:lstStyle/>
          <a:p>
            <a:pPr marL="0" indent="0" algn="l">
              <a:lnSpc>
                <a:spcPts val="928"/>
              </a:lnSpc>
              <a:buNone/>
            </a:pPr>
            <a:r>
              <a:rPr lang="en-US" sz="800" b="1" kern="0" spc="99" dirty="0">
                <a:solidFill>
                  <a:srgbClr val="1E2A78"/>
                </a:solidFill>
                <a:latin typeface="Carlito" pitchFamily="34" charset="0"/>
                <a:ea typeface="Carlito" pitchFamily="34" charset="-122"/>
                <a:cs typeface="Carlito" pitchFamily="34" charset="-120"/>
              </a:rPr>
              <a:t>THREE CLASSIC CONVERSIONS</a:t>
            </a:r>
            <a:endParaRPr lang="en-US" sz="800" dirty="0"/>
          </a:p>
        </p:txBody>
      </p:sp>
      <p:sp>
        <p:nvSpPr>
          <p:cNvPr id="8" name="Text 6"/>
          <p:cNvSpPr/>
          <p:nvPr/>
        </p:nvSpPr>
        <p:spPr>
          <a:xfrm>
            <a:off x="460772" y="1607344"/>
            <a:ext cx="4411489" cy="1135048"/>
          </a:xfrm>
          <a:prstGeom prst="roundRect">
            <a:avLst>
              <a:gd name="adj" fmla="val 14159"/>
            </a:avLst>
          </a:prstGeom>
          <a:solidFill>
            <a:srgbClr val="0F172A"/>
          </a:solidFill>
          <a:ln w="7144">
            <a:solidFill>
              <a:srgbClr val="1E293B"/>
            </a:solidFill>
            <a:prstDash val="solid"/>
          </a:ln>
          <a:effectLst>
            <a:outerShdw blurRad="133350" dist="38100" dir="5400000" algn="bl" rotWithShape="0">
              <a:srgbClr val="0F172A">
                <a:alpha val="18000"/>
              </a:srgbClr>
            </a:outerShdw>
          </a:effectLst>
        </p:spPr>
        <p:txBody>
          <a:bodyPr wrap="square" rtlCol="0" anchor="ctr"/>
          <a:lstStyle/>
          <a:p>
            <a:pPr marL="0" indent="0">
              <a:buNone/>
            </a:pPr>
            <a:endParaRPr lang="en-US" dirty="0"/>
          </a:p>
        </p:txBody>
      </p:sp>
      <p:sp>
        <p:nvSpPr>
          <p:cNvPr id="9" name="Text 7"/>
          <p:cNvSpPr/>
          <p:nvPr/>
        </p:nvSpPr>
        <p:spPr>
          <a:xfrm>
            <a:off x="457200" y="1603772"/>
            <a:ext cx="4418633" cy="1000719"/>
          </a:xfrm>
          <a:prstGeom prst="rect">
            <a:avLst/>
          </a:prstGeom>
          <a:noFill/>
          <a:ln/>
        </p:spPr>
        <p:txBody>
          <a:bodyPr wrap="square" lIns="128588" tIns="114300" rIns="128588" bIns="114300" rtlCol="0" anchor="t"/>
          <a:lstStyle/>
          <a:p>
            <a:pPr marL="171450" indent="-171450" algn="l">
              <a:lnSpc>
                <a:spcPts val="1125"/>
              </a:lnSpc>
              <a:buFont typeface="Wingdings" panose="05000000000000000000" pitchFamily="2" charset="2"/>
              <a:buChar char="n"/>
            </a:pPr>
            <a:r>
              <a:rPr lang="en-US" sz="800" i="1" dirty="0">
                <a:solidFill>
                  <a:srgbClr val="64748B"/>
                </a:solidFill>
                <a:latin typeface="Courier New" pitchFamily="34" charset="0"/>
                <a:ea typeface="Courier New" pitchFamily="34" charset="-122"/>
                <a:cs typeface="Courier New" pitchFamily="34" charset="-120"/>
              </a:rPr>
              <a:t>TEXT → DATE:</a:t>
            </a:r>
            <a:r>
              <a:rPr lang="en-US" sz="800" dirty="0">
                <a:solidFill>
                  <a:srgbClr val="E2E8F0"/>
                </a:solidFill>
                <a:latin typeface="Courier New" pitchFamily="34" charset="0"/>
                <a:ea typeface="Courier New" pitchFamily="34" charset="-122"/>
                <a:cs typeface="Courier New" pitchFamily="34" charset="-120"/>
              </a:rPr>
              <a:t> </a:t>
            </a:r>
            <a:r>
              <a:rPr lang="en-US" sz="800" dirty="0">
                <a:solidFill>
                  <a:srgbClr val="F472B6"/>
                </a:solidFill>
                <a:latin typeface="Courier New" pitchFamily="34" charset="0"/>
                <a:ea typeface="Courier New" pitchFamily="34" charset="-122"/>
                <a:cs typeface="Courier New" pitchFamily="34" charset="-120"/>
              </a:rPr>
              <a:t>ALTER TABLE</a:t>
            </a:r>
            <a:r>
              <a:rPr lang="en-US" sz="800" dirty="0">
                <a:solidFill>
                  <a:srgbClr val="E2E8F0"/>
                </a:solidFill>
                <a:latin typeface="Courier New" pitchFamily="34" charset="0"/>
                <a:ea typeface="Courier New" pitchFamily="34" charset="-122"/>
                <a:cs typeface="Courier New" pitchFamily="34" charset="-120"/>
              </a:rPr>
              <a:t> college.students </a:t>
            </a:r>
            <a:r>
              <a:rPr lang="en-US" sz="800" dirty="0">
                <a:solidFill>
                  <a:srgbClr val="F472B6"/>
                </a:solidFill>
                <a:latin typeface="Courier New" pitchFamily="34" charset="0"/>
                <a:ea typeface="Courier New" pitchFamily="34" charset="-122"/>
                <a:cs typeface="Courier New" pitchFamily="34" charset="-120"/>
              </a:rPr>
              <a:t>ALTER COLUMN</a:t>
            </a:r>
            <a:r>
              <a:rPr lang="en-US" sz="800" dirty="0">
                <a:solidFill>
                  <a:srgbClr val="E2E8F0"/>
                </a:solidFill>
                <a:latin typeface="Courier New" pitchFamily="34" charset="0"/>
                <a:ea typeface="Courier New" pitchFamily="34" charset="-122"/>
                <a:cs typeface="Courier New" pitchFamily="34" charset="-120"/>
              </a:rPr>
              <a:t> date_of_birth </a:t>
            </a:r>
            <a:r>
              <a:rPr lang="en-US" sz="800" dirty="0">
                <a:solidFill>
                  <a:srgbClr val="F472B6"/>
                </a:solidFill>
                <a:latin typeface="Courier New" pitchFamily="34" charset="0"/>
                <a:ea typeface="Courier New" pitchFamily="34" charset="-122"/>
                <a:cs typeface="Courier New" pitchFamily="34" charset="-120"/>
              </a:rPr>
              <a:t>TYPE DATE</a:t>
            </a:r>
            <a:r>
              <a:rPr lang="en-US" sz="800" dirty="0">
                <a:solidFill>
                  <a:srgbClr val="E2E8F0"/>
                </a:solidFill>
                <a:latin typeface="Courier New" pitchFamily="34" charset="0"/>
                <a:ea typeface="Courier New" pitchFamily="34" charset="-122"/>
                <a:cs typeface="Courier New" pitchFamily="34" charset="-120"/>
              </a:rPr>
              <a:t> </a:t>
            </a:r>
            <a:r>
              <a:rPr lang="en-US" sz="800" dirty="0">
                <a:solidFill>
                  <a:srgbClr val="F472B6"/>
                </a:solidFill>
                <a:latin typeface="Courier New" pitchFamily="34" charset="0"/>
                <a:ea typeface="Courier New" pitchFamily="34" charset="-122"/>
                <a:cs typeface="Courier New" pitchFamily="34" charset="-120"/>
              </a:rPr>
              <a:t>USING</a:t>
            </a:r>
            <a:r>
              <a:rPr lang="en-US" sz="800" dirty="0">
                <a:solidFill>
                  <a:srgbClr val="E2E8F0"/>
                </a:solidFill>
                <a:latin typeface="Courier New" pitchFamily="34" charset="0"/>
                <a:ea typeface="Courier New" pitchFamily="34" charset="-122"/>
                <a:cs typeface="Courier New" pitchFamily="34" charset="-120"/>
              </a:rPr>
              <a:t> date_of_birth::date; </a:t>
            </a:r>
            <a:r>
              <a:rPr lang="en-US" sz="800" i="1" dirty="0">
                <a:solidFill>
                  <a:srgbClr val="64748B"/>
                </a:solidFill>
                <a:latin typeface="Courier New" pitchFamily="34" charset="0"/>
                <a:ea typeface="Courier New" pitchFamily="34" charset="-122"/>
                <a:cs typeface="Courier New" pitchFamily="34" charset="-120"/>
              </a:rPr>
              <a:t>-- TEXT → BOOLEAN</a:t>
            </a:r>
            <a:r>
              <a:rPr lang="en-US" sz="800" i="1">
                <a:solidFill>
                  <a:srgbClr val="64748B"/>
                </a:solidFill>
                <a:latin typeface="Courier New" pitchFamily="34" charset="0"/>
                <a:ea typeface="Courier New" pitchFamily="34" charset="-122"/>
                <a:cs typeface="Courier New" pitchFamily="34" charset="-120"/>
              </a:rPr>
              <a:t>:</a:t>
            </a:r>
            <a:r>
              <a:rPr lang="en-US" sz="800">
                <a:solidFill>
                  <a:srgbClr val="E2E8F0"/>
                </a:solidFill>
                <a:latin typeface="Courier New" pitchFamily="34" charset="0"/>
                <a:ea typeface="Courier New" pitchFamily="34" charset="-122"/>
                <a:cs typeface="Courier New" pitchFamily="34" charset="-120"/>
              </a:rPr>
              <a:t> </a:t>
            </a:r>
          </a:p>
          <a:p>
            <a:pPr marL="171450" indent="-171450" algn="l">
              <a:lnSpc>
                <a:spcPts val="1125"/>
              </a:lnSpc>
              <a:buFont typeface="Wingdings" panose="05000000000000000000" pitchFamily="2" charset="2"/>
              <a:buChar char="n"/>
            </a:pPr>
            <a:r>
              <a:rPr lang="en-US" sz="800">
                <a:solidFill>
                  <a:srgbClr val="F472B6"/>
                </a:solidFill>
                <a:latin typeface="Courier New" pitchFamily="34" charset="0"/>
                <a:ea typeface="Courier New" pitchFamily="34" charset="-122"/>
                <a:cs typeface="Courier New" pitchFamily="34" charset="-120"/>
              </a:rPr>
              <a:t>ALTER </a:t>
            </a:r>
            <a:r>
              <a:rPr lang="en-US" sz="800" dirty="0">
                <a:solidFill>
                  <a:srgbClr val="F472B6"/>
                </a:solidFill>
                <a:latin typeface="Courier New" pitchFamily="34" charset="0"/>
                <a:ea typeface="Courier New" pitchFamily="34" charset="-122"/>
                <a:cs typeface="Courier New" pitchFamily="34" charset="-120"/>
              </a:rPr>
              <a:t>TABLE</a:t>
            </a:r>
            <a:r>
              <a:rPr lang="en-US" sz="800" dirty="0">
                <a:solidFill>
                  <a:srgbClr val="E2E8F0"/>
                </a:solidFill>
                <a:latin typeface="Courier New" pitchFamily="34" charset="0"/>
                <a:ea typeface="Courier New" pitchFamily="34" charset="-122"/>
                <a:cs typeface="Courier New" pitchFamily="34" charset="-120"/>
              </a:rPr>
              <a:t> college.students </a:t>
            </a:r>
            <a:r>
              <a:rPr lang="en-US" sz="800" dirty="0">
                <a:solidFill>
                  <a:srgbClr val="F472B6"/>
                </a:solidFill>
                <a:latin typeface="Courier New" pitchFamily="34" charset="0"/>
                <a:ea typeface="Courier New" pitchFamily="34" charset="-122"/>
                <a:cs typeface="Courier New" pitchFamily="34" charset="-120"/>
              </a:rPr>
              <a:t>ALTER COLUMN</a:t>
            </a:r>
            <a:r>
              <a:rPr lang="en-US" sz="800" dirty="0">
                <a:solidFill>
                  <a:srgbClr val="E2E8F0"/>
                </a:solidFill>
                <a:latin typeface="Courier New" pitchFamily="34" charset="0"/>
                <a:ea typeface="Courier New" pitchFamily="34" charset="-122"/>
                <a:cs typeface="Courier New" pitchFamily="34" charset="-120"/>
              </a:rPr>
              <a:t> is_active </a:t>
            </a:r>
            <a:r>
              <a:rPr lang="en-US" sz="800" dirty="0">
                <a:solidFill>
                  <a:srgbClr val="F472B6"/>
                </a:solidFill>
                <a:latin typeface="Courier New" pitchFamily="34" charset="0"/>
                <a:ea typeface="Courier New" pitchFamily="34" charset="-122"/>
                <a:cs typeface="Courier New" pitchFamily="34" charset="-120"/>
              </a:rPr>
              <a:t>TYPE BOOLEAN</a:t>
            </a:r>
            <a:r>
              <a:rPr lang="en-US" sz="800" dirty="0">
                <a:solidFill>
                  <a:srgbClr val="E2E8F0"/>
                </a:solidFill>
                <a:latin typeface="Courier New" pitchFamily="34" charset="0"/>
                <a:ea typeface="Courier New" pitchFamily="34" charset="-122"/>
                <a:cs typeface="Courier New" pitchFamily="34" charset="-120"/>
              </a:rPr>
              <a:t> </a:t>
            </a:r>
            <a:r>
              <a:rPr lang="en-US" sz="800" dirty="0">
                <a:solidFill>
                  <a:srgbClr val="F472B6"/>
                </a:solidFill>
                <a:latin typeface="Courier New" pitchFamily="34" charset="0"/>
                <a:ea typeface="Courier New" pitchFamily="34" charset="-122"/>
                <a:cs typeface="Courier New" pitchFamily="34" charset="-120"/>
              </a:rPr>
              <a:t>USING</a:t>
            </a:r>
            <a:r>
              <a:rPr lang="en-US" sz="800" dirty="0">
                <a:solidFill>
                  <a:srgbClr val="E2E8F0"/>
                </a:solidFill>
                <a:latin typeface="Courier New" pitchFamily="34" charset="0"/>
                <a:ea typeface="Courier New" pitchFamily="34" charset="-122"/>
                <a:cs typeface="Courier New" pitchFamily="34" charset="-120"/>
              </a:rPr>
              <a:t> is_active::boolean; </a:t>
            </a:r>
            <a:r>
              <a:rPr lang="en-US" sz="800" i="1" dirty="0">
                <a:solidFill>
                  <a:srgbClr val="64748B"/>
                </a:solidFill>
                <a:latin typeface="Courier New" pitchFamily="34" charset="0"/>
                <a:ea typeface="Courier New" pitchFamily="34" charset="-122"/>
                <a:cs typeface="Courier New" pitchFamily="34" charset="-120"/>
              </a:rPr>
              <a:t>-- TEXT → NUMERIC (money):</a:t>
            </a:r>
            <a:r>
              <a:rPr lang="en-US" sz="800" dirty="0">
                <a:solidFill>
                  <a:srgbClr val="E2E8F0"/>
                </a:solidFill>
                <a:latin typeface="Courier New" pitchFamily="34" charset="0"/>
                <a:ea typeface="Courier New" pitchFamily="34" charset="-122"/>
                <a:cs typeface="Courier New" pitchFamily="34" charset="-120"/>
              </a:rPr>
              <a:t> </a:t>
            </a:r>
            <a:r>
              <a:rPr lang="en-US" sz="800" dirty="0">
                <a:solidFill>
                  <a:srgbClr val="F472B6"/>
                </a:solidFill>
                <a:latin typeface="Courier New" pitchFamily="34" charset="0"/>
                <a:ea typeface="Courier New" pitchFamily="34" charset="-122"/>
                <a:cs typeface="Courier New" pitchFamily="34" charset="-120"/>
              </a:rPr>
              <a:t>ALTER TABLE</a:t>
            </a:r>
            <a:r>
              <a:rPr lang="en-US" sz="800" dirty="0">
                <a:solidFill>
                  <a:srgbClr val="E2E8F0"/>
                </a:solidFill>
                <a:latin typeface="Courier New" pitchFamily="34" charset="0"/>
                <a:ea typeface="Courier New" pitchFamily="34" charset="-122"/>
                <a:cs typeface="Courier New" pitchFamily="34" charset="-120"/>
              </a:rPr>
              <a:t> college.fee_payments </a:t>
            </a:r>
            <a:r>
              <a:rPr lang="en-US" sz="800" dirty="0">
                <a:solidFill>
                  <a:srgbClr val="F472B6"/>
                </a:solidFill>
                <a:latin typeface="Courier New" pitchFamily="34" charset="0"/>
                <a:ea typeface="Courier New" pitchFamily="34" charset="-122"/>
                <a:cs typeface="Courier New" pitchFamily="34" charset="-120"/>
              </a:rPr>
              <a:t>ALTER COLUMN</a:t>
            </a:r>
            <a:r>
              <a:rPr lang="en-US" sz="800" dirty="0">
                <a:solidFill>
                  <a:srgbClr val="E2E8F0"/>
                </a:solidFill>
                <a:latin typeface="Courier New" pitchFamily="34" charset="0"/>
                <a:ea typeface="Courier New" pitchFamily="34" charset="-122"/>
                <a:cs typeface="Courier New" pitchFamily="34" charset="-120"/>
              </a:rPr>
              <a:t> amount </a:t>
            </a:r>
            <a:r>
              <a:rPr lang="en-US" sz="800" dirty="0">
                <a:solidFill>
                  <a:srgbClr val="F472B6"/>
                </a:solidFill>
                <a:latin typeface="Courier New" pitchFamily="34" charset="0"/>
                <a:ea typeface="Courier New" pitchFamily="34" charset="-122"/>
                <a:cs typeface="Courier New" pitchFamily="34" charset="-120"/>
              </a:rPr>
              <a:t>TYPE NUMERIC</a:t>
            </a:r>
            <a:r>
              <a:rPr lang="en-US" sz="800" dirty="0">
                <a:solidFill>
                  <a:srgbClr val="E2E8F0"/>
                </a:solidFill>
                <a:latin typeface="Courier New" pitchFamily="34" charset="0"/>
                <a:ea typeface="Courier New" pitchFamily="34" charset="-122"/>
                <a:cs typeface="Courier New" pitchFamily="34" charset="-120"/>
              </a:rPr>
              <a:t>(</a:t>
            </a:r>
            <a:r>
              <a:rPr lang="en-US" sz="800" dirty="0">
                <a:solidFill>
                  <a:srgbClr val="FBBF24"/>
                </a:solidFill>
                <a:latin typeface="Liberation Sans Narrow" pitchFamily="34" charset="0"/>
                <a:ea typeface="Liberation Sans Narrow" pitchFamily="34" charset="-122"/>
                <a:cs typeface="Liberation Sans Narrow" pitchFamily="34" charset="-120"/>
              </a:rPr>
              <a:t>10</a:t>
            </a:r>
            <a:r>
              <a:rPr lang="en-US" sz="800" dirty="0">
                <a:solidFill>
                  <a:srgbClr val="E2E8F0"/>
                </a:solidFill>
                <a:latin typeface="Courier New" pitchFamily="34" charset="0"/>
                <a:ea typeface="Courier New" pitchFamily="34" charset="-122"/>
                <a:cs typeface="Courier New" pitchFamily="34" charset="-120"/>
              </a:rPr>
              <a:t>,</a:t>
            </a:r>
            <a:r>
              <a:rPr lang="en-US" sz="800" dirty="0">
                <a:solidFill>
                  <a:srgbClr val="FBBF24"/>
                </a:solidFill>
                <a:latin typeface="Liberation Sans Narrow" pitchFamily="34" charset="0"/>
                <a:ea typeface="Liberation Sans Narrow" pitchFamily="34" charset="-122"/>
                <a:cs typeface="Liberation Sans Narrow" pitchFamily="34" charset="-120"/>
              </a:rPr>
              <a:t>2</a:t>
            </a:r>
            <a:r>
              <a:rPr lang="en-US" sz="800" dirty="0">
                <a:solidFill>
                  <a:srgbClr val="E2E8F0"/>
                </a:solidFill>
                <a:latin typeface="Courier New" pitchFamily="34" charset="0"/>
                <a:ea typeface="Courier New" pitchFamily="34" charset="-122"/>
                <a:cs typeface="Courier New" pitchFamily="34" charset="-120"/>
              </a:rPr>
              <a:t>) </a:t>
            </a:r>
            <a:r>
              <a:rPr lang="en-US" sz="800" dirty="0">
                <a:solidFill>
                  <a:srgbClr val="F472B6"/>
                </a:solidFill>
                <a:latin typeface="Courier New" pitchFamily="34" charset="0"/>
                <a:ea typeface="Courier New" pitchFamily="34" charset="-122"/>
                <a:cs typeface="Courier New" pitchFamily="34" charset="-120"/>
              </a:rPr>
              <a:t>USING</a:t>
            </a:r>
            <a:r>
              <a:rPr lang="en-US" sz="800" dirty="0">
                <a:solidFill>
                  <a:srgbClr val="E2E8F0"/>
                </a:solidFill>
                <a:latin typeface="Courier New" pitchFamily="34" charset="0"/>
                <a:ea typeface="Courier New" pitchFamily="34" charset="-122"/>
                <a:cs typeface="Courier New" pitchFamily="34" charset="-120"/>
              </a:rPr>
              <a:t> amount::numeric;</a:t>
            </a:r>
            <a:endParaRPr lang="en-US" sz="800" dirty="0"/>
          </a:p>
        </p:txBody>
      </p:sp>
      <p:sp>
        <p:nvSpPr>
          <p:cNvPr id="10" name="Text 8"/>
          <p:cNvSpPr/>
          <p:nvPr/>
        </p:nvSpPr>
        <p:spPr>
          <a:xfrm>
            <a:off x="5004420" y="1428750"/>
            <a:ext cx="4139580" cy="147590"/>
          </a:xfrm>
          <a:prstGeom prst="rect">
            <a:avLst/>
          </a:prstGeom>
          <a:noFill/>
          <a:ln/>
        </p:spPr>
        <p:txBody>
          <a:bodyPr wrap="none" lIns="0" tIns="0" rIns="0" bIns="0" rtlCol="0" anchor="t">
            <a:normAutofit/>
          </a:bodyPr>
          <a:lstStyle/>
          <a:p>
            <a:pPr marL="0" indent="0" algn="l">
              <a:lnSpc>
                <a:spcPts val="928"/>
              </a:lnSpc>
              <a:buNone/>
            </a:pPr>
            <a:r>
              <a:rPr lang="en-US" sz="800" b="1" kern="0" spc="99" dirty="0">
                <a:solidFill>
                  <a:srgbClr val="D97706"/>
                </a:solidFill>
                <a:latin typeface="Carlito" pitchFamily="34" charset="0"/>
                <a:ea typeface="Carlito" pitchFamily="34" charset="-122"/>
                <a:cs typeface="Carlito" pitchFamily="34" charset="-120"/>
              </a:rPr>
              <a:t>OTHER ALTERS YOU WILL USE</a:t>
            </a:r>
            <a:endParaRPr lang="en-US" sz="800" dirty="0"/>
          </a:p>
        </p:txBody>
      </p:sp>
      <p:sp>
        <p:nvSpPr>
          <p:cNvPr id="11" name="Text 9"/>
          <p:cNvSpPr/>
          <p:nvPr/>
        </p:nvSpPr>
        <p:spPr>
          <a:xfrm>
            <a:off x="5007992" y="1607344"/>
            <a:ext cx="3675236" cy="472827"/>
          </a:xfrm>
          <a:prstGeom prst="roundRect">
            <a:avLst>
              <a:gd name="adj" fmla="val 24174"/>
            </a:avLst>
          </a:prstGeom>
          <a:solidFill>
            <a:srgbClr val="0F172A"/>
          </a:solidFill>
          <a:ln w="7144">
            <a:solidFill>
              <a:srgbClr val="1E293B"/>
            </a:solidFill>
            <a:prstDash val="solid"/>
          </a:ln>
          <a:effectLst>
            <a:outerShdw blurRad="133350" dist="38100" dir="5400000" algn="bl" rotWithShape="0">
              <a:srgbClr val="0F172A">
                <a:alpha val="18000"/>
              </a:srgbClr>
            </a:outerShdw>
          </a:effectLst>
        </p:spPr>
        <p:txBody>
          <a:bodyPr wrap="square" rtlCol="0" anchor="ctr"/>
          <a:lstStyle/>
          <a:p>
            <a:pPr marL="0" indent="0">
              <a:buNone/>
            </a:pPr>
            <a:endParaRPr lang="en-US" dirty="0"/>
          </a:p>
        </p:txBody>
      </p:sp>
      <p:sp>
        <p:nvSpPr>
          <p:cNvPr id="12" name="Text 10"/>
          <p:cNvSpPr/>
          <p:nvPr/>
        </p:nvSpPr>
        <p:spPr>
          <a:xfrm>
            <a:off x="5004420" y="1603772"/>
            <a:ext cx="3682380" cy="538264"/>
          </a:xfrm>
          <a:prstGeom prst="rect">
            <a:avLst/>
          </a:prstGeom>
          <a:noFill/>
          <a:ln/>
        </p:spPr>
        <p:txBody>
          <a:bodyPr wrap="square" lIns="114300" tIns="100013" rIns="114300" bIns="100013" rtlCol="0" anchor="t">
            <a:normAutofit fontScale="77500" lnSpcReduction="20000"/>
          </a:bodyPr>
          <a:lstStyle/>
          <a:p>
            <a:pPr marL="0" indent="0" algn="l">
              <a:lnSpc>
                <a:spcPts val="1046"/>
              </a:lnSpc>
              <a:buNone/>
            </a:pPr>
            <a:r>
              <a:rPr lang="en-US" sz="800" dirty="0">
                <a:solidFill>
                  <a:srgbClr val="F472B6"/>
                </a:solidFill>
                <a:latin typeface="Courier New" pitchFamily="34" charset="0"/>
                <a:ea typeface="Courier New" pitchFamily="34" charset="-122"/>
                <a:cs typeface="Courier New" pitchFamily="34" charset="-120"/>
              </a:rPr>
              <a:t>ALTER TABLE</a:t>
            </a:r>
            <a:r>
              <a:rPr lang="en-US" sz="800" dirty="0">
                <a:solidFill>
                  <a:srgbClr val="E2E8F0"/>
                </a:solidFill>
                <a:latin typeface="Courier New" pitchFamily="34" charset="0"/>
                <a:ea typeface="Courier New" pitchFamily="34" charset="-122"/>
                <a:cs typeface="Courier New" pitchFamily="34" charset="-120"/>
              </a:rPr>
              <a:t> t </a:t>
            </a:r>
            <a:r>
              <a:rPr lang="en-US" sz="800" dirty="0">
                <a:solidFill>
                  <a:srgbClr val="F472B6"/>
                </a:solidFill>
                <a:latin typeface="Courier New" pitchFamily="34" charset="0"/>
                <a:ea typeface="Courier New" pitchFamily="34" charset="-122"/>
                <a:cs typeface="Courier New" pitchFamily="34" charset="-120"/>
              </a:rPr>
              <a:t>ADD COLUMN</a:t>
            </a:r>
            <a:r>
              <a:rPr lang="en-US" sz="800" dirty="0">
                <a:solidFill>
                  <a:srgbClr val="E2E8F0"/>
                </a:solidFill>
                <a:latin typeface="Courier New" pitchFamily="34" charset="0"/>
                <a:ea typeface="Courier New" pitchFamily="34" charset="-122"/>
                <a:cs typeface="Courier New" pitchFamily="34" charset="-120"/>
              </a:rPr>
              <a:t> created_at </a:t>
            </a:r>
            <a:r>
              <a:rPr lang="en-US" sz="800" dirty="0">
                <a:solidFill>
                  <a:srgbClr val="F472B6"/>
                </a:solidFill>
                <a:latin typeface="Courier New" pitchFamily="34" charset="0"/>
                <a:ea typeface="Courier New" pitchFamily="34" charset="-122"/>
                <a:cs typeface="Courier New" pitchFamily="34" charset="-120"/>
              </a:rPr>
              <a:t>TIMESTAMP DEFAULT</a:t>
            </a:r>
            <a:r>
              <a:rPr lang="en-US" sz="800" dirty="0">
                <a:solidFill>
                  <a:srgbClr val="E2E8F0"/>
                </a:solidFill>
                <a:latin typeface="Courier New" pitchFamily="34" charset="0"/>
                <a:ea typeface="Courier New" pitchFamily="34" charset="-122"/>
                <a:cs typeface="Courier New" pitchFamily="34" charset="-120"/>
              </a:rPr>
              <a:t> now(); </a:t>
            </a:r>
            <a:r>
              <a:rPr lang="en-US" sz="800" dirty="0">
                <a:solidFill>
                  <a:srgbClr val="F472B6"/>
                </a:solidFill>
                <a:latin typeface="Courier New" pitchFamily="34" charset="0"/>
                <a:ea typeface="Courier New" pitchFamily="34" charset="-122"/>
                <a:cs typeface="Courier New" pitchFamily="34" charset="-120"/>
              </a:rPr>
              <a:t>ALTER TABLE</a:t>
            </a:r>
            <a:r>
              <a:rPr lang="en-US" sz="800" dirty="0">
                <a:solidFill>
                  <a:srgbClr val="E2E8F0"/>
                </a:solidFill>
                <a:latin typeface="Courier New" pitchFamily="34" charset="0"/>
                <a:ea typeface="Courier New" pitchFamily="34" charset="-122"/>
                <a:cs typeface="Courier New" pitchFamily="34" charset="-120"/>
              </a:rPr>
              <a:t> t </a:t>
            </a:r>
            <a:r>
              <a:rPr lang="en-US" sz="800" dirty="0">
                <a:solidFill>
                  <a:srgbClr val="F472B6"/>
                </a:solidFill>
                <a:latin typeface="Courier New" pitchFamily="34" charset="0"/>
                <a:ea typeface="Courier New" pitchFamily="34" charset="-122"/>
                <a:cs typeface="Courier New" pitchFamily="34" charset="-120"/>
              </a:rPr>
              <a:t>RENAME COLUMN</a:t>
            </a:r>
            <a:r>
              <a:rPr lang="en-US" sz="800" dirty="0">
                <a:solidFill>
                  <a:srgbClr val="E2E8F0"/>
                </a:solidFill>
                <a:latin typeface="Courier New" pitchFamily="34" charset="0"/>
                <a:ea typeface="Courier New" pitchFamily="34" charset="-122"/>
                <a:cs typeface="Courier New" pitchFamily="34" charset="-120"/>
              </a:rPr>
              <a:t> old_name </a:t>
            </a:r>
            <a:r>
              <a:rPr lang="en-US" sz="800" dirty="0">
                <a:solidFill>
                  <a:srgbClr val="F472B6"/>
                </a:solidFill>
                <a:latin typeface="Courier New" pitchFamily="34" charset="0"/>
                <a:ea typeface="Courier New" pitchFamily="34" charset="-122"/>
                <a:cs typeface="Courier New" pitchFamily="34" charset="-120"/>
              </a:rPr>
              <a:t>TO</a:t>
            </a:r>
            <a:r>
              <a:rPr lang="en-US" sz="800" dirty="0">
                <a:solidFill>
                  <a:srgbClr val="E2E8F0"/>
                </a:solidFill>
                <a:latin typeface="Courier New" pitchFamily="34" charset="0"/>
                <a:ea typeface="Courier New" pitchFamily="34" charset="-122"/>
                <a:cs typeface="Courier New" pitchFamily="34" charset="-120"/>
              </a:rPr>
              <a:t> new_name; </a:t>
            </a:r>
            <a:r>
              <a:rPr lang="en-US" sz="800" dirty="0">
                <a:solidFill>
                  <a:srgbClr val="F472B6"/>
                </a:solidFill>
                <a:latin typeface="Courier New" pitchFamily="34" charset="0"/>
                <a:ea typeface="Courier New" pitchFamily="34" charset="-122"/>
                <a:cs typeface="Courier New" pitchFamily="34" charset="-120"/>
              </a:rPr>
              <a:t>ALTER TABLE</a:t>
            </a:r>
            <a:r>
              <a:rPr lang="en-US" sz="800" dirty="0">
                <a:solidFill>
                  <a:srgbClr val="E2E8F0"/>
                </a:solidFill>
                <a:latin typeface="Courier New" pitchFamily="34" charset="0"/>
                <a:ea typeface="Courier New" pitchFamily="34" charset="-122"/>
                <a:cs typeface="Courier New" pitchFamily="34" charset="-120"/>
              </a:rPr>
              <a:t> t </a:t>
            </a:r>
            <a:r>
              <a:rPr lang="en-US" sz="800" dirty="0">
                <a:solidFill>
                  <a:srgbClr val="F472B6"/>
                </a:solidFill>
                <a:latin typeface="Courier New" pitchFamily="34" charset="0"/>
                <a:ea typeface="Courier New" pitchFamily="34" charset="-122"/>
                <a:cs typeface="Courier New" pitchFamily="34" charset="-120"/>
              </a:rPr>
              <a:t>DROP COLUMN</a:t>
            </a:r>
            <a:r>
              <a:rPr lang="en-US" sz="800" dirty="0">
                <a:solidFill>
                  <a:srgbClr val="E2E8F0"/>
                </a:solidFill>
                <a:latin typeface="Courier New" pitchFamily="34" charset="0"/>
                <a:ea typeface="Courier New" pitchFamily="34" charset="-122"/>
                <a:cs typeface="Courier New" pitchFamily="34" charset="-120"/>
              </a:rPr>
              <a:t> unused;</a:t>
            </a:r>
            <a:endParaRPr lang="en-US" sz="800" dirty="0"/>
          </a:p>
        </p:txBody>
      </p:sp>
      <p:sp>
        <p:nvSpPr>
          <p:cNvPr id="13" name="Text 11"/>
          <p:cNvSpPr/>
          <p:nvPr/>
        </p:nvSpPr>
        <p:spPr>
          <a:xfrm>
            <a:off x="5004420" y="2169468"/>
            <a:ext cx="3682380" cy="435023"/>
          </a:xfrm>
          <a:prstGeom prst="roundRect">
            <a:avLst>
              <a:gd name="adj" fmla="val 31008"/>
            </a:avLst>
          </a:prstGeom>
          <a:solidFill>
            <a:srgbClr val="F59E0B"/>
          </a:solidFill>
          <a:ln/>
          <a:effectLst>
            <a:outerShdw blurRad="133350" dist="57150" dir="5400000" algn="bl" rotWithShape="0">
              <a:srgbClr val="F59E0B">
                <a:alpha val="22000"/>
              </a:srgbClr>
            </a:outerShdw>
          </a:effectLst>
        </p:spPr>
        <p:txBody>
          <a:bodyPr wrap="square" rtlCol="0" anchor="ctr"/>
          <a:lstStyle/>
          <a:p>
            <a:pPr marL="0" indent="0">
              <a:buNone/>
            </a:pPr>
            <a:endParaRPr lang="en-US" dirty="0"/>
          </a:p>
        </p:txBody>
      </p:sp>
      <p:sp>
        <p:nvSpPr>
          <p:cNvPr id="14" name="Text 12"/>
          <p:cNvSpPr/>
          <p:nvPr/>
        </p:nvSpPr>
        <p:spPr>
          <a:xfrm>
            <a:off x="5107307" y="2276624"/>
            <a:ext cx="420400" cy="121444"/>
          </a:xfrm>
          <a:prstGeom prst="rect">
            <a:avLst/>
          </a:prstGeom>
          <a:noFill/>
          <a:ln/>
        </p:spPr>
        <p:txBody>
          <a:bodyPr wrap="none" lIns="0" tIns="0" rIns="0" bIns="0" rtlCol="0" anchor="t"/>
          <a:lstStyle/>
          <a:p>
            <a:pPr marL="0" indent="0" algn="l">
              <a:lnSpc>
                <a:spcPts val="928"/>
              </a:lnSpc>
              <a:buNone/>
            </a:pPr>
            <a:r>
              <a:rPr lang="en-US" sz="800" b="1" kern="0" spc="25" dirty="0">
                <a:solidFill>
                  <a:srgbClr val="FFFFFF">
                    <a:alpha val="85000"/>
                  </a:srgbClr>
                </a:solidFill>
                <a:latin typeface="Carlito" pitchFamily="34" charset="0"/>
                <a:ea typeface="Carlito" pitchFamily="34" charset="-122"/>
                <a:cs typeface="Carlito" pitchFamily="34" charset="-120"/>
              </a:rPr>
              <a:t>RULE —</a:t>
            </a:r>
            <a:endParaRPr lang="en-US" sz="800" dirty="0"/>
          </a:p>
        </p:txBody>
      </p:sp>
      <p:sp>
        <p:nvSpPr>
          <p:cNvPr id="15" name="Text 13"/>
          <p:cNvSpPr/>
          <p:nvPr/>
        </p:nvSpPr>
        <p:spPr>
          <a:xfrm>
            <a:off x="5480596" y="2262336"/>
            <a:ext cx="2862746" cy="133241"/>
          </a:xfrm>
          <a:prstGeom prst="rect">
            <a:avLst/>
          </a:prstGeom>
          <a:noFill/>
          <a:ln/>
        </p:spPr>
        <p:txBody>
          <a:bodyPr wrap="square" lIns="0" tIns="0" rIns="0" bIns="0" rtlCol="0" anchor="t"/>
          <a:lstStyle/>
          <a:p>
            <a:pPr marL="0" indent="0" algn="l">
              <a:lnSpc>
                <a:spcPts val="1181"/>
              </a:lnSpc>
              <a:buNone/>
            </a:pPr>
            <a:r>
              <a:rPr lang="en-US" sz="788" b="1" dirty="0">
                <a:solidFill>
                  <a:srgbClr val="FEF3C7"/>
                </a:solidFill>
                <a:latin typeface="Courier New" pitchFamily="34" charset="0"/>
                <a:ea typeface="Courier New" pitchFamily="34" charset="-122"/>
                <a:cs typeface="Courier New" pitchFamily="34" charset="-120"/>
              </a:rPr>
              <a:t>USING</a:t>
            </a:r>
            <a:r>
              <a:rPr lang="en-US" sz="788" dirty="0">
                <a:solidFill>
                  <a:srgbClr val="FFFFFF"/>
                </a:solidFill>
                <a:latin typeface="Carlito" pitchFamily="34" charset="0"/>
                <a:ea typeface="Carlito" pitchFamily="34" charset="-122"/>
                <a:cs typeface="Carlito" pitchFamily="34" charset="-120"/>
              </a:rPr>
              <a:t> is the cast recipe. A failing cast = the type defending itself.</a:t>
            </a:r>
            <a:endParaRPr lang="en-US" sz="788" dirty="0"/>
          </a:p>
        </p:txBody>
      </p:sp>
      <p:sp>
        <p:nvSpPr>
          <p:cNvPr id="16" name="Text 14"/>
          <p:cNvSpPr/>
          <p:nvPr/>
        </p:nvSpPr>
        <p:spPr>
          <a:xfrm>
            <a:off x="457200" y="4897041"/>
            <a:ext cx="8009148" cy="164592"/>
          </a:xfrm>
          <a:prstGeom prst="rect">
            <a:avLst/>
          </a:prstGeom>
          <a:noFill/>
          <a:ln/>
        </p:spPr>
        <p:txBody>
          <a:bodyPr wrap="square" lIns="0" tIns="0" rIns="0" bIns="0" rtlCol="0" anchor="t"/>
          <a:lstStyle/>
          <a:p>
            <a:pPr marL="0" indent="0" algn="l">
              <a:lnSpc>
                <a:spcPts val="928"/>
              </a:lnSpc>
              <a:buNone/>
            </a:pPr>
            <a:r>
              <a:rPr lang="en-US" sz="800" kern="0" spc="50" dirty="0">
                <a:solidFill>
                  <a:srgbClr val="5A6485"/>
                </a:solidFill>
                <a:latin typeface="Liberation Sans Narrow" pitchFamily="34" charset="0"/>
                <a:ea typeface="Liberation Sans Narrow" pitchFamily="34" charset="-122"/>
                <a:cs typeface="Liberation Sans Narrow" pitchFamily="34" charset="-120"/>
              </a:rPr>
              <a:t>DEFINITION · 2 OF 2</a:t>
            </a:r>
            <a:endParaRPr lang="en-US" sz="800" dirty="0"/>
          </a:p>
        </p:txBody>
      </p:sp>
      <p:sp>
        <p:nvSpPr>
          <p:cNvPr id="17" name="Text 15"/>
          <p:cNvSpPr/>
          <p:nvPr/>
        </p:nvSpPr>
        <p:spPr>
          <a:xfrm>
            <a:off x="8480636" y="4897041"/>
            <a:ext cx="455660" cy="164592"/>
          </a:xfrm>
          <a:prstGeom prst="rect">
            <a:avLst/>
          </a:prstGeom>
          <a:noFill/>
          <a:ln/>
        </p:spPr>
        <p:txBody>
          <a:bodyPr wrap="none" lIns="0" tIns="0" rIns="0" bIns="0" rtlCol="0" anchor="t"/>
          <a:lstStyle/>
          <a:p>
            <a:pPr marL="0" indent="0" algn="l">
              <a:lnSpc>
                <a:spcPts val="928"/>
              </a:lnSpc>
              <a:buNone/>
            </a:pPr>
            <a:r>
              <a:rPr lang="en-US" sz="800" kern="0" spc="50" dirty="0">
                <a:solidFill>
                  <a:srgbClr val="5A6485"/>
                </a:solidFill>
                <a:latin typeface="Liberation Sans Narrow" pitchFamily="34" charset="0"/>
                <a:ea typeface="Liberation Sans Narrow" pitchFamily="34" charset="-122"/>
                <a:cs typeface="Liberation Sans Narrow" pitchFamily="34" charset="-120"/>
              </a:rPr>
              <a:t>15 / 54</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434340" y="253817"/>
            <a:ext cx="706852" cy="196025"/>
          </a:xfrm>
          <a:prstGeom prst="roundRect">
            <a:avLst>
              <a:gd name="adj" fmla="val 4854215"/>
            </a:avLst>
          </a:prstGeom>
          <a:solidFill>
            <a:srgbClr val="DCFCE7"/>
          </a:solidFill>
          <a:ln/>
        </p:spPr>
        <p:txBody>
          <a:bodyPr wrap="square" rtlCol="0" anchor="ctr"/>
          <a:lstStyle/>
          <a:p>
            <a:pPr marL="0" indent="0">
              <a:buNone/>
            </a:pPr>
            <a:endParaRPr lang="en-US" dirty="0"/>
          </a:p>
        </p:txBody>
      </p:sp>
      <p:sp>
        <p:nvSpPr>
          <p:cNvPr id="3" name="Text 1"/>
          <p:cNvSpPr/>
          <p:nvPr/>
        </p:nvSpPr>
        <p:spPr>
          <a:xfrm>
            <a:off x="418714" y="264319"/>
            <a:ext cx="738104" cy="175022"/>
          </a:xfrm>
          <a:prstGeom prst="rect">
            <a:avLst/>
          </a:prstGeom>
          <a:noFill/>
          <a:ln/>
        </p:spPr>
        <p:txBody>
          <a:bodyPr wrap="none" lIns="0" tIns="0" rIns="0" bIns="0" rtlCol="0" anchor="ctr"/>
          <a:lstStyle/>
          <a:p>
            <a:pPr marL="0" indent="0" algn="ctr">
              <a:lnSpc>
                <a:spcPts val="928"/>
              </a:lnSpc>
              <a:buNone/>
            </a:pPr>
            <a:r>
              <a:rPr lang="en-US" sz="800" b="1" kern="0" spc="50" dirty="0">
                <a:solidFill>
                  <a:srgbClr val="16A34A"/>
                </a:solidFill>
                <a:latin typeface="Carlito" pitchFamily="34" charset="0"/>
                <a:ea typeface="Carlito" pitchFamily="34" charset="-122"/>
                <a:cs typeface="Carlito" pitchFamily="34" charset="-120"/>
              </a:rPr>
              <a:t>REAL WORLD</a:t>
            </a:r>
            <a:endParaRPr lang="en-US" sz="800" dirty="0"/>
          </a:p>
        </p:txBody>
      </p:sp>
      <p:sp>
        <p:nvSpPr>
          <p:cNvPr id="4" name="Text 2"/>
          <p:cNvSpPr/>
          <p:nvPr/>
        </p:nvSpPr>
        <p:spPr>
          <a:xfrm>
            <a:off x="8204262" y="257175"/>
            <a:ext cx="782585" cy="164592"/>
          </a:xfrm>
          <a:prstGeom prst="rect">
            <a:avLst/>
          </a:prstGeom>
          <a:noFill/>
          <a:ln/>
        </p:spPr>
        <p:txBody>
          <a:bodyPr wrap="none" lIns="0" tIns="0" rIns="0" bIns="0" rtlCol="0" anchor="t"/>
          <a:lstStyle/>
          <a:p>
            <a:pPr marL="0" indent="0" algn="l">
              <a:lnSpc>
                <a:spcPts val="928"/>
              </a:lnSpc>
              <a:buNone/>
            </a:pPr>
            <a:r>
              <a:rPr lang="en-US" sz="800" kern="0" spc="111" dirty="0">
                <a:solidFill>
                  <a:srgbClr val="5A6485"/>
                </a:solidFill>
                <a:latin typeface="Carlito" pitchFamily="34" charset="0"/>
                <a:ea typeface="Carlito" pitchFamily="34" charset="-122"/>
                <a:cs typeface="Carlito" pitchFamily="34" charset="-120"/>
              </a:rPr>
              <a:t>REAL WORLD</a:t>
            </a:r>
            <a:endParaRPr lang="en-US" sz="800" dirty="0"/>
          </a:p>
        </p:txBody>
      </p:sp>
      <p:sp>
        <p:nvSpPr>
          <p:cNvPr id="5" name="Text 3"/>
          <p:cNvSpPr/>
          <p:nvPr/>
        </p:nvSpPr>
        <p:spPr>
          <a:xfrm>
            <a:off x="457200" y="600075"/>
            <a:ext cx="8636000" cy="283991"/>
          </a:xfrm>
          <a:prstGeom prst="rect">
            <a:avLst/>
          </a:prstGeom>
          <a:noFill/>
          <a:ln/>
        </p:spPr>
        <p:txBody>
          <a:bodyPr wrap="none" lIns="0" tIns="0" rIns="0" bIns="0" rtlCol="0" anchor="t">
            <a:normAutofit/>
          </a:bodyPr>
          <a:lstStyle/>
          <a:p>
            <a:pPr marL="0" indent="0" algn="l">
              <a:lnSpc>
                <a:spcPts val="2228"/>
              </a:lnSpc>
              <a:buNone/>
            </a:pPr>
            <a:endParaRPr lang="en-US" sz="2025" dirty="0"/>
          </a:p>
        </p:txBody>
      </p:sp>
      <p:sp>
        <p:nvSpPr>
          <p:cNvPr id="6" name="Text 4"/>
          <p:cNvSpPr/>
          <p:nvPr/>
        </p:nvSpPr>
        <p:spPr>
          <a:xfrm>
            <a:off x="457200" y="911498"/>
            <a:ext cx="8229600" cy="185166"/>
          </a:xfrm>
          <a:prstGeom prst="rect">
            <a:avLst/>
          </a:prstGeom>
          <a:noFill/>
          <a:ln/>
        </p:spPr>
        <p:txBody>
          <a:bodyPr wrap="square" lIns="0" tIns="0" rIns="0" bIns="0" rtlCol="0" anchor="t"/>
          <a:lstStyle/>
          <a:p>
            <a:pPr marL="0" indent="0" algn="l">
              <a:lnSpc>
                <a:spcPts val="1350"/>
              </a:lnSpc>
              <a:buNone/>
            </a:pPr>
            <a:r>
              <a:rPr lang="en-US" sz="900" dirty="0">
                <a:solidFill>
                  <a:srgbClr val="5A6485"/>
                </a:solidFill>
                <a:latin typeface="Carlito" pitchFamily="34" charset="0"/>
                <a:ea typeface="Carlito" pitchFamily="34" charset="-122"/>
                <a:cs typeface="Carlito" pitchFamily="34" charset="-120"/>
              </a:rPr>
              <a:t>Learn from a real </a:t>
            </a:r>
            <a:r>
              <a:rPr lang="en-US" sz="900" dirty="0">
                <a:solidFill>
                  <a:srgbClr val="1E2A78"/>
                </a:solidFill>
                <a:latin typeface="Courier New" pitchFamily="34" charset="0"/>
                <a:ea typeface="Courier New" pitchFamily="34" charset="-122"/>
                <a:cs typeface="Courier New" pitchFamily="34" charset="-120"/>
              </a:rPr>
              <a:t>orders</a:t>
            </a:r>
            <a:r>
              <a:rPr lang="en-US" sz="900" dirty="0">
                <a:solidFill>
                  <a:srgbClr val="5A6485"/>
                </a:solidFill>
                <a:latin typeface="Carlito" pitchFamily="34" charset="0"/>
                <a:ea typeface="Carlito" pitchFamily="34" charset="-122"/>
                <a:cs typeface="Carlito" pitchFamily="34" charset="-120"/>
              </a:rPr>
              <a:t> table — every column has a deliberate type.</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271588"/>
          <a:ext cx="8229601" cy="2361255"/>
        </p:xfrm>
        <a:graphic>
          <a:graphicData uri="http://schemas.openxmlformats.org/drawingml/2006/table">
            <a:tbl>
              <a:tblPr/>
              <a:tblGrid>
                <a:gridCol w="2139665">
                  <a:extLst>
                    <a:ext uri="{9D8B030D-6E8A-4147-A177-3AD203B41FA5}">
                      <a16:colId xmlns:a16="http://schemas.microsoft.com/office/drawing/2014/main" val="20000"/>
                    </a:ext>
                  </a:extLst>
                </a:gridCol>
                <a:gridCol w="1975024">
                  <a:extLst>
                    <a:ext uri="{9D8B030D-6E8A-4147-A177-3AD203B41FA5}">
                      <a16:colId xmlns:a16="http://schemas.microsoft.com/office/drawing/2014/main" val="20001"/>
                    </a:ext>
                  </a:extLst>
                </a:gridCol>
                <a:gridCol w="4114912">
                  <a:extLst>
                    <a:ext uri="{9D8B030D-6E8A-4147-A177-3AD203B41FA5}">
                      <a16:colId xmlns:a16="http://schemas.microsoft.com/office/drawing/2014/main" val="20002"/>
                    </a:ext>
                  </a:extLst>
                </a:gridCol>
              </a:tblGrid>
              <a:tr h="0">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Column</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A78"/>
                    </a:solidFill>
                  </a:tcPr>
                </a:tc>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Type</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A78"/>
                    </a:solidFill>
                  </a:tcPr>
                </a:tc>
                <a:tc>
                  <a:txBody>
                    <a:bodyPr/>
                    <a:lstStyle/>
                    <a:p>
                      <a:pPr marL="0" indent="0" algn="l">
                        <a:buNone/>
                      </a:pPr>
                      <a:r>
                        <a:rPr lang="en-US" sz="800" b="1" dirty="0">
                          <a:solidFill>
                            <a:srgbClr val="FFFFFF"/>
                          </a:solidFill>
                          <a:latin typeface="Carlito" pitchFamily="34" charset="0"/>
                          <a:ea typeface="Carlito" pitchFamily="34" charset="-122"/>
                          <a:cs typeface="Carlito" pitchFamily="34" charset="-120"/>
                        </a:rPr>
                        <a:t>Why</a:t>
                      </a:r>
                      <a:endParaRPr lang="en-US" sz="800" dirty="0">
                        <a:latin typeface="Carlito" charset="0"/>
                        <a:ea typeface="Carlito" charset="0"/>
                        <a:cs typeface="Carlito" charset="0"/>
                      </a:endParaRPr>
                    </a:p>
                  </a:txBody>
                  <a:tcPr marL="85725" marR="100013" marT="100013" marB="85725"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A78"/>
                    </a:solidFill>
                  </a:tcPr>
                </a:tc>
                <a:extLst>
                  <a:ext uri="{0D108BD9-81ED-4DB2-BD59-A6C34878D82A}">
                    <a16:rowId xmlns:a16="http://schemas.microsoft.com/office/drawing/2014/main" val="10000"/>
                  </a:ext>
                </a:extLst>
              </a:tr>
              <a:tr h="0">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order_id</a:t>
                      </a:r>
                      <a:endParaRPr lang="en-US" sz="800" dirty="0">
                        <a:latin typeface="Carlito" charset="0"/>
                        <a:ea typeface="Carlito" charset="0"/>
                        <a:cs typeface="Carlito" charset="0"/>
                      </a:endParaRPr>
                    </a:p>
                  </a:txBody>
                  <a:tcPr marL="71438" marR="100013" marT="100013"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1E2A78"/>
                          </a:solidFill>
                          <a:latin typeface="Courier New" pitchFamily="34" charset="0"/>
                          <a:ea typeface="Courier New" pitchFamily="34" charset="-122"/>
                          <a:cs typeface="Courier New" pitchFamily="34" charset="-120"/>
                        </a:rPr>
                        <a:t>SERIAL</a:t>
                      </a:r>
                      <a:endParaRPr lang="en-US" sz="800" dirty="0">
                        <a:latin typeface="Courier New" charset="0"/>
                        <a:ea typeface="Courier New" charset="0"/>
                        <a:cs typeface="Courier New" charset="0"/>
                      </a:endParaRPr>
                    </a:p>
                  </a:txBody>
                  <a:tcPr marL="71438" marR="100013" marT="100013"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auto-increment primary key</a:t>
                      </a:r>
                      <a:endParaRPr lang="en-US" sz="800" dirty="0">
                        <a:latin typeface="Carlito" charset="0"/>
                        <a:ea typeface="Carlito" charset="0"/>
                        <a:cs typeface="Carlito" charset="0"/>
                      </a:endParaRPr>
                    </a:p>
                  </a:txBody>
                  <a:tcPr marL="71438" marR="100013" marT="100013"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cust_id</a:t>
                      </a:r>
                      <a:endParaRPr lang="en-US" sz="800" dirty="0">
                        <a:latin typeface="Carlito" charset="0"/>
                        <a:ea typeface="Carlito" charset="0"/>
                        <a:cs typeface="Carlito" charset="0"/>
                      </a:endParaRPr>
                    </a:p>
                  </a:txBody>
                  <a:tcPr marL="71438" marR="100013" marT="100013"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1E2A78"/>
                          </a:solidFill>
                          <a:latin typeface="Courier New" pitchFamily="34" charset="0"/>
                          <a:ea typeface="Courier New" pitchFamily="34" charset="-122"/>
                          <a:cs typeface="Courier New" pitchFamily="34" charset="-120"/>
                        </a:rPr>
                        <a:t>INT</a:t>
                      </a:r>
                      <a:endParaRPr lang="en-US" sz="800" dirty="0">
                        <a:latin typeface="Courier New" charset="0"/>
                        <a:ea typeface="Courier New" charset="0"/>
                        <a:cs typeface="Courier New" charset="0"/>
                      </a:endParaRPr>
                    </a:p>
                  </a:txBody>
                  <a:tcPr marL="71438" marR="100013" marT="100013"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references customers (a FK)</a:t>
                      </a:r>
                      <a:endParaRPr lang="en-US" sz="800" dirty="0">
                        <a:latin typeface="Carlito" charset="0"/>
                        <a:ea typeface="Carlito" charset="0"/>
                        <a:cs typeface="Carlito" charset="0"/>
                      </a:endParaRPr>
                    </a:p>
                  </a:txBody>
                  <a:tcPr marL="71438" marR="100013" marT="100013"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order_date</a:t>
                      </a:r>
                      <a:endParaRPr lang="en-US" sz="800" dirty="0">
                        <a:latin typeface="Carlito" charset="0"/>
                        <a:ea typeface="Carlito" charset="0"/>
                        <a:cs typeface="Carlito" charset="0"/>
                      </a:endParaRPr>
                    </a:p>
                  </a:txBody>
                  <a:tcPr marL="71438" marR="100013" marT="100013"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1E2A78"/>
                          </a:solidFill>
                          <a:latin typeface="Courier New" pitchFamily="34" charset="0"/>
                          <a:ea typeface="Courier New" pitchFamily="34" charset="-122"/>
                          <a:cs typeface="Courier New" pitchFamily="34" charset="-120"/>
                        </a:rPr>
                        <a:t>DATE</a:t>
                      </a:r>
                      <a:endParaRPr lang="en-US" sz="800" dirty="0">
                        <a:latin typeface="Courier New" charset="0"/>
                        <a:ea typeface="Courier New" charset="0"/>
                        <a:cs typeface="Courier New" charset="0"/>
                      </a:endParaRPr>
                    </a:p>
                  </a:txBody>
                  <a:tcPr marL="71438" marR="100013" marT="100013"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the DAY matters, not the hour</a:t>
                      </a:r>
                      <a:endParaRPr lang="en-US" sz="800" dirty="0">
                        <a:latin typeface="Carlito" charset="0"/>
                        <a:ea typeface="Carlito" charset="0"/>
                        <a:cs typeface="Carlito" charset="0"/>
                      </a:endParaRPr>
                    </a:p>
                  </a:txBody>
                  <a:tcPr marL="71438" marR="100013" marT="100013"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order_status</a:t>
                      </a:r>
                      <a:endParaRPr lang="en-US" sz="800" dirty="0">
                        <a:latin typeface="Carlito" charset="0"/>
                        <a:ea typeface="Carlito" charset="0"/>
                        <a:cs typeface="Carlito" charset="0"/>
                      </a:endParaRPr>
                    </a:p>
                  </a:txBody>
                  <a:tcPr marL="71438" marR="100013" marT="100013"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1E2A78"/>
                          </a:solidFill>
                          <a:latin typeface="Courier New" pitchFamily="34" charset="0"/>
                          <a:ea typeface="Courier New" pitchFamily="34" charset="-122"/>
                          <a:cs typeface="Courier New" pitchFamily="34" charset="-120"/>
                        </a:rPr>
                        <a:t>VARCHAR(30)</a:t>
                      </a:r>
                      <a:endParaRPr lang="en-US" sz="800" dirty="0">
                        <a:latin typeface="Courier New" charset="0"/>
                        <a:ea typeface="Courier New" charset="0"/>
                        <a:cs typeface="Courier New" charset="0"/>
                      </a:endParaRPr>
                    </a:p>
                  </a:txBody>
                  <a:tcPr marL="71438" marR="100013" marT="100013"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'Delivered', 'Processing'...</a:t>
                      </a:r>
                      <a:endParaRPr lang="en-US" sz="800" dirty="0">
                        <a:latin typeface="Carlito" charset="0"/>
                        <a:ea typeface="Carlito" charset="0"/>
                        <a:cs typeface="Carlito" charset="0"/>
                      </a:endParaRPr>
                    </a:p>
                  </a:txBody>
                  <a:tcPr marL="71438" marR="100013" marT="100013"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gross_total</a:t>
                      </a:r>
                      <a:endParaRPr lang="en-US" sz="800" dirty="0">
                        <a:latin typeface="Carlito" charset="0"/>
                        <a:ea typeface="Carlito" charset="0"/>
                        <a:cs typeface="Carlito" charset="0"/>
                      </a:endParaRPr>
                    </a:p>
                  </a:txBody>
                  <a:tcPr marL="71438" marR="100013" marT="100013"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1E2A78"/>
                          </a:solidFill>
                          <a:latin typeface="Courier New" pitchFamily="34" charset="0"/>
                          <a:ea typeface="Courier New" pitchFamily="34" charset="-122"/>
                          <a:cs typeface="Courier New" pitchFamily="34" charset="-120"/>
                        </a:rPr>
                        <a:t>NUMERIC(12,2)</a:t>
                      </a:r>
                      <a:endParaRPr lang="en-US" sz="800" dirty="0">
                        <a:latin typeface="Courier New" charset="0"/>
                        <a:ea typeface="Courier New" charset="0"/>
                        <a:cs typeface="Courier New" charset="0"/>
                      </a:endParaRPr>
                    </a:p>
                  </a:txBody>
                  <a:tcPr marL="71438" marR="100013" marT="100013"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money — MUST be exact</a:t>
                      </a:r>
                      <a:endParaRPr lang="en-US" sz="800" dirty="0">
                        <a:latin typeface="Carlito" charset="0"/>
                        <a:ea typeface="Carlito" charset="0"/>
                        <a:cs typeface="Carlito" charset="0"/>
                      </a:endParaRPr>
                    </a:p>
                  </a:txBody>
                  <a:tcPr marL="71438" marR="100013" marT="100013"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net_total</a:t>
                      </a:r>
                      <a:endParaRPr lang="en-US" sz="800" dirty="0">
                        <a:latin typeface="Carlito" charset="0"/>
                        <a:ea typeface="Carlito" charset="0"/>
                        <a:cs typeface="Carlito" charset="0"/>
                      </a:endParaRPr>
                    </a:p>
                  </a:txBody>
                  <a:tcPr marL="71438" marR="100013" marT="100013"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1E2A78"/>
                          </a:solidFill>
                          <a:latin typeface="Courier New" pitchFamily="34" charset="0"/>
                          <a:ea typeface="Courier New" pitchFamily="34" charset="-122"/>
                          <a:cs typeface="Courier New" pitchFamily="34" charset="-120"/>
                        </a:rPr>
                        <a:t>NUMERIC(12,2)</a:t>
                      </a:r>
                      <a:endParaRPr lang="en-US" sz="800" dirty="0">
                        <a:latin typeface="Courier New" charset="0"/>
                        <a:ea typeface="Courier New" charset="0"/>
                        <a:cs typeface="Courier New" charset="0"/>
                      </a:endParaRPr>
                    </a:p>
                  </a:txBody>
                  <a:tcPr marL="71438" marR="100013" marT="100013"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gross_total - discount</a:t>
                      </a:r>
                      <a:endParaRPr lang="en-US" sz="800" dirty="0">
                        <a:latin typeface="Carlito" charset="0"/>
                        <a:ea typeface="Carlito" charset="0"/>
                        <a:cs typeface="Carlito" charset="0"/>
                      </a:endParaRPr>
                    </a:p>
                  </a:txBody>
                  <a:tcPr marL="71438" marR="100013" marT="100013"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payment_mode_id</a:t>
                      </a:r>
                      <a:endParaRPr lang="en-US" sz="800" dirty="0">
                        <a:latin typeface="Carlito" charset="0"/>
                        <a:ea typeface="Carlito" charset="0"/>
                        <a:cs typeface="Carlito" charset="0"/>
                      </a:endParaRPr>
                    </a:p>
                  </a:txBody>
                  <a:tcPr marL="71438" marR="100013" marT="100013"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1E2A78"/>
                          </a:solidFill>
                          <a:latin typeface="Courier New" pitchFamily="34" charset="0"/>
                          <a:ea typeface="Courier New" pitchFamily="34" charset="-122"/>
                          <a:cs typeface="Courier New" pitchFamily="34" charset="-120"/>
                        </a:rPr>
                        <a:t>INT</a:t>
                      </a:r>
                      <a:endParaRPr lang="en-US" sz="800" dirty="0">
                        <a:latin typeface="Courier New" charset="0"/>
                        <a:ea typeface="Courier New" charset="0"/>
                        <a:cs typeface="Courier New" charset="0"/>
                      </a:endParaRPr>
                    </a:p>
                  </a:txBody>
                  <a:tcPr marL="71438" marR="100013" marT="100013"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marL="0" indent="0" algn="l">
                        <a:buNone/>
                      </a:pPr>
                      <a:r>
                        <a:rPr lang="en-US" sz="800" dirty="0">
                          <a:solidFill>
                            <a:srgbClr val="2B3361"/>
                          </a:solidFill>
                          <a:latin typeface="Carlito" pitchFamily="34" charset="0"/>
                          <a:ea typeface="Carlito" pitchFamily="34" charset="-122"/>
                          <a:cs typeface="Carlito" pitchFamily="34" charset="-120"/>
                        </a:rPr>
                        <a:t>references finance.payment_modes (FK)</a:t>
                      </a:r>
                      <a:endParaRPr lang="en-US" sz="800" dirty="0">
                        <a:latin typeface="Carlito" charset="0"/>
                        <a:ea typeface="Carlito" charset="0"/>
                        <a:cs typeface="Carlito" charset="0"/>
                      </a:endParaRPr>
                    </a:p>
                  </a:txBody>
                  <a:tcPr marL="71438" marR="100013" marT="100013" marB="71438"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8" name="Text 5"/>
          <p:cNvSpPr/>
          <p:nvPr/>
        </p:nvSpPr>
        <p:spPr>
          <a:xfrm>
            <a:off x="457200" y="4209566"/>
            <a:ext cx="8229600" cy="476734"/>
          </a:xfrm>
          <a:prstGeom prst="roundRect">
            <a:avLst>
              <a:gd name="adj" fmla="val 23976"/>
            </a:avLst>
          </a:prstGeom>
          <a:solidFill>
            <a:srgbClr val="1E2A78"/>
          </a:solidFill>
          <a:ln/>
          <a:effectLst>
            <a:outerShdw blurRad="152400" dist="57150" dir="5400000" algn="bl" rotWithShape="0">
              <a:srgbClr val="1E2A78">
                <a:alpha val="18000"/>
              </a:srgbClr>
            </a:outerShdw>
          </a:effectLst>
        </p:spPr>
        <p:txBody>
          <a:bodyPr wrap="square" rtlCol="0" anchor="ctr"/>
          <a:lstStyle/>
          <a:p>
            <a:pPr marL="0" indent="0">
              <a:buNone/>
            </a:pPr>
            <a:endParaRPr lang="en-US" dirty="0"/>
          </a:p>
        </p:txBody>
      </p:sp>
      <p:sp>
        <p:nvSpPr>
          <p:cNvPr id="9" name="Text 6"/>
          <p:cNvSpPr/>
          <p:nvPr/>
        </p:nvSpPr>
        <p:spPr>
          <a:xfrm>
            <a:off x="585788" y="4309579"/>
            <a:ext cx="7972425" cy="108634"/>
          </a:xfrm>
          <a:prstGeom prst="rect">
            <a:avLst/>
          </a:prstGeom>
          <a:noFill/>
          <a:ln/>
        </p:spPr>
        <p:txBody>
          <a:bodyPr wrap="none" lIns="0" tIns="0" rIns="0" bIns="0" rtlCol="0" anchor="t">
            <a:normAutofit fontScale="40000" lnSpcReduction="20000"/>
          </a:bodyPr>
          <a:lstStyle/>
          <a:p>
            <a:pPr marL="0" indent="0" algn="l">
              <a:lnSpc>
                <a:spcPts val="959"/>
              </a:lnSpc>
              <a:buNone/>
            </a:pPr>
            <a:r>
              <a:rPr lang="en-US" sz="800" b="1" kern="0" spc="62" dirty="0">
                <a:solidFill>
                  <a:srgbClr val="FBBF24"/>
                </a:solidFill>
                <a:latin typeface="Carlito" pitchFamily="34" charset="0"/>
                <a:ea typeface="Carlito" pitchFamily="34" charset="-122"/>
                <a:cs typeface="Carlito" pitchFamily="34" charset="-120"/>
              </a:rPr>
              <a:t>PATTERNS —</a:t>
            </a:r>
            <a:endParaRPr lang="en-US" sz="800" dirty="0"/>
          </a:p>
        </p:txBody>
      </p:sp>
      <p:sp>
        <p:nvSpPr>
          <p:cNvPr id="10" name="Text 7"/>
          <p:cNvSpPr/>
          <p:nvPr/>
        </p:nvSpPr>
        <p:spPr>
          <a:xfrm>
            <a:off x="870419" y="4445645"/>
            <a:ext cx="474019" cy="133241"/>
          </a:xfrm>
          <a:prstGeom prst="rect">
            <a:avLst/>
          </a:prstGeom>
          <a:noFill/>
          <a:ln/>
        </p:spPr>
        <p:txBody>
          <a:bodyPr wrap="square" lIns="0" tIns="0" rIns="0" bIns="0" rtlCol="0" anchor="t"/>
          <a:lstStyle/>
          <a:p>
            <a:pPr marL="0" indent="0" algn="l">
              <a:lnSpc>
                <a:spcPts val="1221"/>
              </a:lnSpc>
              <a:buNone/>
            </a:pPr>
            <a:r>
              <a:rPr lang="en-US" sz="788" dirty="0">
                <a:solidFill>
                  <a:srgbClr val="FBBF24"/>
                </a:solidFill>
                <a:latin typeface="Courier New" pitchFamily="34" charset="0"/>
                <a:ea typeface="Courier New" pitchFamily="34" charset="-122"/>
                <a:cs typeface="Courier New" pitchFamily="34" charset="-120"/>
              </a:rPr>
              <a:t>SERIAL</a:t>
            </a:r>
            <a:endParaRPr lang="en-US" sz="788" dirty="0"/>
          </a:p>
        </p:txBody>
      </p:sp>
      <p:sp>
        <p:nvSpPr>
          <p:cNvPr id="11" name="Text 8"/>
          <p:cNvSpPr/>
          <p:nvPr/>
        </p:nvSpPr>
        <p:spPr>
          <a:xfrm>
            <a:off x="1256696" y="4445645"/>
            <a:ext cx="258552" cy="133241"/>
          </a:xfrm>
          <a:prstGeom prst="rect">
            <a:avLst/>
          </a:prstGeom>
          <a:noFill/>
          <a:ln/>
        </p:spPr>
        <p:txBody>
          <a:bodyPr wrap="square" lIns="0" tIns="0" rIns="0" bIns="0" rtlCol="0" anchor="t"/>
          <a:lstStyle/>
          <a:p>
            <a:pPr marL="0" indent="0" algn="l">
              <a:lnSpc>
                <a:spcPts val="1221"/>
              </a:lnSpc>
              <a:buNone/>
            </a:pPr>
            <a:r>
              <a:rPr lang="en-US" sz="800" dirty="0">
                <a:solidFill>
                  <a:srgbClr val="FBBF24"/>
                </a:solidFill>
                <a:latin typeface="Courier New" pitchFamily="34" charset="0"/>
                <a:ea typeface="Courier New" pitchFamily="34" charset="-122"/>
                <a:cs typeface="Courier New" pitchFamily="34" charset="-120"/>
              </a:rPr>
              <a:t>INT</a:t>
            </a:r>
            <a:endParaRPr lang="en-US" sz="800" dirty="0"/>
          </a:p>
        </p:txBody>
      </p:sp>
      <p:sp>
        <p:nvSpPr>
          <p:cNvPr id="12" name="Text 9"/>
          <p:cNvSpPr/>
          <p:nvPr/>
        </p:nvSpPr>
        <p:spPr>
          <a:xfrm>
            <a:off x="1849443" y="4445645"/>
            <a:ext cx="547188" cy="133241"/>
          </a:xfrm>
          <a:prstGeom prst="rect">
            <a:avLst/>
          </a:prstGeom>
          <a:noFill/>
          <a:ln/>
        </p:spPr>
        <p:txBody>
          <a:bodyPr wrap="square" lIns="0" tIns="0" rIns="0" bIns="0" rtlCol="0" anchor="t"/>
          <a:lstStyle/>
          <a:p>
            <a:pPr marL="0" indent="0" algn="l">
              <a:lnSpc>
                <a:spcPts val="1221"/>
              </a:lnSpc>
              <a:buNone/>
            </a:pPr>
            <a:r>
              <a:rPr lang="en-US" sz="788" dirty="0">
                <a:solidFill>
                  <a:srgbClr val="FBBF24"/>
                </a:solidFill>
                <a:latin typeface="Courier New" pitchFamily="34" charset="0"/>
                <a:ea typeface="Courier New" pitchFamily="34" charset="-122"/>
                <a:cs typeface="Courier New" pitchFamily="34" charset="-120"/>
              </a:rPr>
              <a:t>NUMERIC</a:t>
            </a:r>
            <a:endParaRPr lang="en-US" sz="788" dirty="0"/>
          </a:p>
        </p:txBody>
      </p:sp>
      <p:sp>
        <p:nvSpPr>
          <p:cNvPr id="13" name="Text 10"/>
          <p:cNvSpPr/>
          <p:nvPr/>
        </p:nvSpPr>
        <p:spPr>
          <a:xfrm>
            <a:off x="2790031" y="4445645"/>
            <a:ext cx="332882" cy="133241"/>
          </a:xfrm>
          <a:prstGeom prst="rect">
            <a:avLst/>
          </a:prstGeom>
          <a:noFill/>
          <a:ln/>
        </p:spPr>
        <p:txBody>
          <a:bodyPr wrap="square" lIns="0" tIns="0" rIns="0" bIns="0" rtlCol="0" anchor="t"/>
          <a:lstStyle/>
          <a:p>
            <a:pPr marL="0" indent="0" algn="l">
              <a:lnSpc>
                <a:spcPts val="1221"/>
              </a:lnSpc>
              <a:buNone/>
            </a:pPr>
            <a:r>
              <a:rPr lang="en-US" sz="800" dirty="0">
                <a:solidFill>
                  <a:srgbClr val="FBBF24"/>
                </a:solidFill>
                <a:latin typeface="Courier New" pitchFamily="34" charset="0"/>
                <a:ea typeface="Courier New" pitchFamily="34" charset="-122"/>
                <a:cs typeface="Courier New" pitchFamily="34" charset="-120"/>
              </a:rPr>
              <a:t>DATE</a:t>
            </a:r>
            <a:endParaRPr lang="en-US" sz="800" dirty="0"/>
          </a:p>
        </p:txBody>
      </p:sp>
      <p:sp>
        <p:nvSpPr>
          <p:cNvPr id="14" name="Text 11"/>
          <p:cNvSpPr/>
          <p:nvPr/>
        </p:nvSpPr>
        <p:spPr>
          <a:xfrm>
            <a:off x="3420399" y="4445645"/>
            <a:ext cx="547188" cy="133241"/>
          </a:xfrm>
          <a:prstGeom prst="rect">
            <a:avLst/>
          </a:prstGeom>
          <a:noFill/>
          <a:ln/>
        </p:spPr>
        <p:txBody>
          <a:bodyPr wrap="square" lIns="0" tIns="0" rIns="0" bIns="0" rtlCol="0" anchor="t"/>
          <a:lstStyle/>
          <a:p>
            <a:pPr marL="0" indent="0" algn="l">
              <a:lnSpc>
                <a:spcPts val="1221"/>
              </a:lnSpc>
              <a:buNone/>
            </a:pPr>
            <a:r>
              <a:rPr lang="en-US" sz="788" dirty="0">
                <a:solidFill>
                  <a:srgbClr val="FBBF24"/>
                </a:solidFill>
                <a:latin typeface="Courier New" pitchFamily="34" charset="0"/>
                <a:ea typeface="Courier New" pitchFamily="34" charset="-122"/>
                <a:cs typeface="Courier New" pitchFamily="34" charset="-120"/>
              </a:rPr>
              <a:t>VARCHAR</a:t>
            </a:r>
            <a:endParaRPr lang="en-US" sz="788" dirty="0"/>
          </a:p>
        </p:txBody>
      </p:sp>
      <p:sp>
        <p:nvSpPr>
          <p:cNvPr id="15" name="Text 12"/>
          <p:cNvSpPr/>
          <p:nvPr/>
        </p:nvSpPr>
        <p:spPr>
          <a:xfrm>
            <a:off x="457200" y="4897041"/>
            <a:ext cx="8009148" cy="164592"/>
          </a:xfrm>
          <a:prstGeom prst="rect">
            <a:avLst/>
          </a:prstGeom>
          <a:noFill/>
          <a:ln/>
        </p:spPr>
        <p:txBody>
          <a:bodyPr wrap="none" lIns="0" tIns="0" rIns="0" bIns="0" rtlCol="0" anchor="t"/>
          <a:lstStyle/>
          <a:p>
            <a:pPr marL="0" indent="0" algn="l">
              <a:lnSpc>
                <a:spcPts val="928"/>
              </a:lnSpc>
              <a:buNone/>
            </a:pPr>
            <a:r>
              <a:rPr lang="en-US" sz="800" kern="0" spc="50" dirty="0">
                <a:solidFill>
                  <a:srgbClr val="5A6485"/>
                </a:solidFill>
                <a:latin typeface="Carlito" pitchFamily="34" charset="0"/>
                <a:ea typeface="Carlito" pitchFamily="34" charset="-122"/>
                <a:cs typeface="Carlito" pitchFamily="34" charset="-120"/>
              </a:rPr>
              <a:t>REAL WORLD</a:t>
            </a:r>
            <a:endParaRPr lang="en-US" sz="800" dirty="0"/>
          </a:p>
        </p:txBody>
      </p:sp>
      <p:sp>
        <p:nvSpPr>
          <p:cNvPr id="16" name="Text 13"/>
          <p:cNvSpPr/>
          <p:nvPr/>
        </p:nvSpPr>
        <p:spPr>
          <a:xfrm>
            <a:off x="8480636" y="4897041"/>
            <a:ext cx="455660" cy="164592"/>
          </a:xfrm>
          <a:prstGeom prst="rect">
            <a:avLst/>
          </a:prstGeom>
          <a:noFill/>
          <a:ln/>
        </p:spPr>
        <p:txBody>
          <a:bodyPr wrap="none" lIns="0" tIns="0" rIns="0" bIns="0" rtlCol="0" anchor="t"/>
          <a:lstStyle/>
          <a:p>
            <a:pPr marL="0" indent="0" algn="l">
              <a:lnSpc>
                <a:spcPts val="928"/>
              </a:lnSpc>
              <a:buNone/>
            </a:pPr>
            <a:r>
              <a:rPr lang="en-US" sz="800" kern="0" spc="50" dirty="0">
                <a:solidFill>
                  <a:srgbClr val="5A6485"/>
                </a:solidFill>
                <a:latin typeface="Liberation Sans Narrow" pitchFamily="34" charset="0"/>
                <a:ea typeface="Liberation Sans Narrow" pitchFamily="34" charset="-122"/>
                <a:cs typeface="Liberation Sans Narrow" pitchFamily="34" charset="-120"/>
              </a:rPr>
              <a:t>16 / 54</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8F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6294330" y="600075"/>
            <a:ext cx="2849670" cy="1697355"/>
          </a:xfrm>
          <a:prstGeom prst="rect">
            <a:avLst/>
          </a:prstGeom>
          <a:noFill/>
          <a:ln/>
        </p:spPr>
        <p:txBody>
          <a:bodyPr wrap="none" lIns="0" tIns="0" rIns="0" bIns="0" rtlCol="0" anchor="t"/>
          <a:lstStyle/>
          <a:p>
            <a:pPr marL="0" indent="0" algn="l">
              <a:lnSpc>
                <a:spcPts val="12375"/>
              </a:lnSpc>
              <a:buNone/>
            </a:pPr>
            <a:r>
              <a:rPr lang="en-US" sz="12375" b="1" kern="0" spc="-495" dirty="0">
                <a:solidFill>
                  <a:srgbClr val="FFFFFF">
                    <a:alpha val="8000"/>
                  </a:srgbClr>
                </a:solidFill>
                <a:latin typeface="Liberation Sans Narrow" pitchFamily="34" charset="0"/>
                <a:ea typeface="Liberation Sans Narrow" pitchFamily="34" charset="-122"/>
                <a:cs typeface="Liberation Sans Narrow" pitchFamily="34" charset="-120"/>
              </a:rPr>
              <a:t>01</a:t>
            </a:r>
            <a:endParaRPr lang="en-US" sz="12375" dirty="0"/>
          </a:p>
        </p:txBody>
      </p:sp>
      <p:sp>
        <p:nvSpPr>
          <p:cNvPr id="4" name="Text 1"/>
          <p:cNvSpPr/>
          <p:nvPr/>
        </p:nvSpPr>
        <p:spPr>
          <a:xfrm>
            <a:off x="395888" y="3457575"/>
            <a:ext cx="4787981" cy="740664"/>
          </a:xfrm>
          <a:prstGeom prst="rect">
            <a:avLst/>
          </a:prstGeom>
          <a:noFill/>
          <a:ln/>
        </p:spPr>
        <p:txBody>
          <a:bodyPr wrap="none" lIns="0" tIns="0" rIns="0" bIns="0" rtlCol="0" anchor="t"/>
          <a:lstStyle/>
          <a:p>
            <a:pPr marL="0" indent="0" algn="l">
              <a:lnSpc>
                <a:spcPts val="5400"/>
              </a:lnSpc>
              <a:buNone/>
            </a:pPr>
            <a:r>
              <a:rPr lang="en-US" sz="5400" b="1" kern="0" spc="-216" dirty="0">
                <a:solidFill>
                  <a:srgbClr val="F59E0B">
                    <a:alpha val="18000"/>
                  </a:srgbClr>
                </a:solidFill>
                <a:latin typeface="Courier New" pitchFamily="34" charset="0"/>
                <a:ea typeface="Courier New" pitchFamily="34" charset="-122"/>
                <a:cs typeface="Courier New" pitchFamily="34" charset="-120"/>
              </a:rPr>
              <a:t>{ practice }</a:t>
            </a:r>
            <a:endParaRPr lang="en-US" sz="5400" dirty="0"/>
          </a:p>
        </p:txBody>
      </p:sp>
      <p:sp>
        <p:nvSpPr>
          <p:cNvPr id="5" name="Text 2"/>
          <p:cNvSpPr/>
          <p:nvPr/>
        </p:nvSpPr>
        <p:spPr>
          <a:xfrm>
            <a:off x="434340" y="339542"/>
            <a:ext cx="958111" cy="196025"/>
          </a:xfrm>
          <a:prstGeom prst="roundRect">
            <a:avLst>
              <a:gd name="adj" fmla="val 4854215"/>
            </a:avLst>
          </a:prstGeom>
          <a:solidFill>
            <a:srgbClr val="FFE4E6"/>
          </a:solidFill>
          <a:ln/>
        </p:spPr>
        <p:txBody>
          <a:bodyPr wrap="square" rtlCol="0" anchor="ctr"/>
          <a:lstStyle/>
          <a:p>
            <a:pPr marL="0" indent="0">
              <a:buNone/>
            </a:pPr>
            <a:endParaRPr lang="en-US" dirty="0"/>
          </a:p>
        </p:txBody>
      </p:sp>
      <p:sp>
        <p:nvSpPr>
          <p:cNvPr id="6" name="Text 3"/>
          <p:cNvSpPr/>
          <p:nvPr/>
        </p:nvSpPr>
        <p:spPr>
          <a:xfrm>
            <a:off x="457200" y="350044"/>
            <a:ext cx="912391" cy="175022"/>
          </a:xfrm>
          <a:prstGeom prst="rect">
            <a:avLst/>
          </a:prstGeom>
          <a:noFill/>
          <a:ln/>
        </p:spPr>
        <p:txBody>
          <a:bodyPr wrap="none" lIns="0" tIns="0" rIns="0" bIns="0" rtlCol="0" anchor="ctr"/>
          <a:lstStyle/>
          <a:p>
            <a:pPr marL="0" indent="0" algn="ctr">
              <a:lnSpc>
                <a:spcPts val="928"/>
              </a:lnSpc>
              <a:buNone/>
            </a:pPr>
            <a:r>
              <a:rPr lang="en-US" sz="800" b="1" kern="0" spc="50" dirty="0">
                <a:solidFill>
                  <a:srgbClr val="DC2626"/>
                </a:solidFill>
                <a:latin typeface="Liberation Sans Narrow" pitchFamily="34" charset="0"/>
                <a:ea typeface="Liberation Sans Narrow" pitchFamily="34" charset="-122"/>
                <a:cs typeface="Liberation Sans Narrow" pitchFamily="34" charset="-120"/>
              </a:rPr>
              <a:t>PRACTICE BLOCK 1</a:t>
            </a:r>
            <a:endParaRPr lang="en-US" sz="800" dirty="0"/>
          </a:p>
        </p:txBody>
      </p:sp>
      <p:sp>
        <p:nvSpPr>
          <p:cNvPr id="7" name="Text 4"/>
          <p:cNvSpPr/>
          <p:nvPr/>
        </p:nvSpPr>
        <p:spPr>
          <a:xfrm>
            <a:off x="457200" y="1771650"/>
            <a:ext cx="8636000" cy="740664"/>
          </a:xfrm>
          <a:prstGeom prst="rect">
            <a:avLst/>
          </a:prstGeom>
          <a:noFill/>
          <a:ln/>
        </p:spPr>
        <p:txBody>
          <a:bodyPr wrap="none" lIns="0" tIns="0" rIns="0" bIns="0" rtlCol="0" anchor="t"/>
          <a:lstStyle/>
          <a:p>
            <a:pPr marL="0" indent="0" algn="l">
              <a:lnSpc>
                <a:spcPts val="5400"/>
              </a:lnSpc>
              <a:buNone/>
            </a:pPr>
            <a:r>
              <a:rPr lang="en-US" sz="5400" b="1" kern="0" spc="-216" dirty="0">
                <a:solidFill>
                  <a:srgbClr val="F59E0B">
                    <a:alpha val="55000"/>
                  </a:srgbClr>
                </a:solidFill>
                <a:latin typeface="Liberation Sans Narrow" pitchFamily="34" charset="0"/>
                <a:ea typeface="Liberation Sans Narrow" pitchFamily="34" charset="-122"/>
                <a:cs typeface="Liberation Sans Narrow" pitchFamily="34" charset="-120"/>
              </a:rPr>
              <a:t>01</a:t>
            </a:r>
            <a:endParaRPr lang="en-US" sz="5400" dirty="0"/>
          </a:p>
        </p:txBody>
      </p:sp>
      <p:sp>
        <p:nvSpPr>
          <p:cNvPr id="8" name="Text 5"/>
          <p:cNvSpPr/>
          <p:nvPr/>
        </p:nvSpPr>
        <p:spPr>
          <a:xfrm>
            <a:off x="457200" y="2543175"/>
            <a:ext cx="8636000" cy="523311"/>
          </a:xfrm>
          <a:prstGeom prst="rect">
            <a:avLst/>
          </a:prstGeom>
          <a:noFill/>
          <a:ln/>
        </p:spPr>
        <p:txBody>
          <a:bodyPr wrap="square" lIns="0" tIns="0" rIns="0" bIns="0" rtlCol="0" anchor="t"/>
          <a:lstStyle/>
          <a:p>
            <a:pPr marL="0" indent="0" algn="l">
              <a:lnSpc>
                <a:spcPts val="3816"/>
              </a:lnSpc>
              <a:buNone/>
            </a:pPr>
            <a:r>
              <a:rPr lang="en-US" sz="3600" b="1" kern="0" spc="-72" dirty="0">
                <a:solidFill>
                  <a:srgbClr val="FFFFFF"/>
                </a:solidFill>
                <a:latin typeface="Liberation Sans Narrow" pitchFamily="34" charset="0"/>
                <a:ea typeface="Liberation Sans Narrow" pitchFamily="34" charset="-122"/>
                <a:cs typeface="Liberation Sans Narrow" pitchFamily="34" charset="-120"/>
              </a:rPr>
              <a:t>Practice Block 1 — Data Types</a:t>
            </a:r>
            <a:endParaRPr lang="en-US" sz="3600" dirty="0"/>
          </a:p>
        </p:txBody>
      </p:sp>
      <p:sp>
        <p:nvSpPr>
          <p:cNvPr id="9" name="Text 6"/>
          <p:cNvSpPr/>
          <p:nvPr/>
        </p:nvSpPr>
        <p:spPr>
          <a:xfrm>
            <a:off x="457200" y="3113447"/>
            <a:ext cx="8229600" cy="254603"/>
          </a:xfrm>
          <a:prstGeom prst="rect">
            <a:avLst/>
          </a:prstGeom>
          <a:noFill/>
          <a:ln/>
        </p:spPr>
        <p:txBody>
          <a:bodyPr wrap="square" lIns="0" tIns="0" rIns="0" bIns="0" rtlCol="0" anchor="t"/>
          <a:lstStyle/>
          <a:p>
            <a:pPr marL="0" indent="0" algn="l">
              <a:lnSpc>
                <a:spcPts val="1856"/>
              </a:lnSpc>
              <a:buNone/>
            </a:pPr>
            <a:r>
              <a:rPr lang="en-US" sz="1238" dirty="0">
                <a:solidFill>
                  <a:srgbClr val="FFFFFF">
                    <a:alpha val="85000"/>
                  </a:srgbClr>
                </a:solidFill>
                <a:latin typeface="Liberation Sans Narrow" pitchFamily="34" charset="0"/>
                <a:ea typeface="Liberation Sans Narrow" pitchFamily="34" charset="-122"/>
                <a:cs typeface="Liberation Sans Narrow" pitchFamily="34" charset="-120"/>
              </a:rPr>
              <a:t>4 problems · </a:t>
            </a:r>
            <a:r>
              <a:rPr lang="en-US" sz="1238" dirty="0">
                <a:solidFill>
                  <a:srgbClr val="FBBF24">
                    <a:alpha val="85000"/>
                  </a:srgbClr>
                </a:solidFill>
                <a:latin typeface="Courier New" pitchFamily="34" charset="0"/>
                <a:ea typeface="Courier New" pitchFamily="34" charset="-122"/>
                <a:cs typeface="Courier New" pitchFamily="34" charset="-120"/>
              </a:rPr>
              <a:t>EASY</a:t>
            </a:r>
            <a:r>
              <a:rPr lang="en-US" sz="1238" dirty="0">
                <a:solidFill>
                  <a:srgbClr val="FFFFFF">
                    <a:alpha val="85000"/>
                  </a:srgbClr>
                </a:solidFill>
                <a:latin typeface="Carlito" pitchFamily="34" charset="0"/>
                <a:ea typeface="Carlito" pitchFamily="34" charset="-122"/>
                <a:cs typeface="Carlito" pitchFamily="34" charset="-120"/>
              </a:rPr>
              <a:t> → </a:t>
            </a:r>
            <a:r>
              <a:rPr lang="en-US" sz="1238" dirty="0">
                <a:solidFill>
                  <a:srgbClr val="FBBF24">
                    <a:alpha val="85000"/>
                  </a:srgbClr>
                </a:solidFill>
                <a:latin typeface="Courier New" pitchFamily="34" charset="0"/>
                <a:ea typeface="Courier New" pitchFamily="34" charset="-122"/>
                <a:cs typeface="Courier New" pitchFamily="34" charset="-120"/>
              </a:rPr>
              <a:t>MEDIUM</a:t>
            </a:r>
            <a:r>
              <a:rPr lang="en-US" sz="1238" dirty="0">
                <a:solidFill>
                  <a:srgbClr val="FFFFFF">
                    <a:alpha val="85000"/>
                  </a:srgbClr>
                </a:solidFill>
                <a:latin typeface="Carlito" pitchFamily="34" charset="0"/>
                <a:ea typeface="Carlito" pitchFamily="34" charset="-122"/>
                <a:cs typeface="Carlito" pitchFamily="34" charset="-120"/>
              </a:rPr>
              <a:t> → </a:t>
            </a:r>
            <a:r>
              <a:rPr lang="en-US" sz="1238" dirty="0">
                <a:solidFill>
                  <a:srgbClr val="FBBF24">
                    <a:alpha val="85000"/>
                  </a:srgbClr>
                </a:solidFill>
                <a:latin typeface="Courier New" pitchFamily="34" charset="0"/>
                <a:ea typeface="Courier New" pitchFamily="34" charset="-122"/>
                <a:cs typeface="Courier New" pitchFamily="34" charset="-120"/>
              </a:rPr>
              <a:t>HARD</a:t>
            </a:r>
            <a:r>
              <a:rPr lang="en-US" sz="1238" dirty="0">
                <a:solidFill>
                  <a:srgbClr val="FFFFFF">
                    <a:alpha val="85000"/>
                  </a:srgbClr>
                </a:solidFill>
                <a:latin typeface="Carlito" pitchFamily="34" charset="0"/>
                <a:ea typeface="Carlito" pitchFamily="34" charset="-122"/>
                <a:cs typeface="Carlito" pitchFamily="34" charset="-120"/>
              </a:rPr>
              <a:t> → </a:t>
            </a:r>
            <a:r>
              <a:rPr lang="en-US" sz="1238" dirty="0">
                <a:solidFill>
                  <a:srgbClr val="FBBF24">
                    <a:alpha val="85000"/>
                  </a:srgbClr>
                </a:solidFill>
                <a:latin typeface="Courier New" pitchFamily="34" charset="0"/>
                <a:ea typeface="Courier New" pitchFamily="34" charset="-122"/>
                <a:cs typeface="Courier New" pitchFamily="34" charset="-120"/>
              </a:rPr>
              <a:t>CRAZY</a:t>
            </a:r>
            <a:r>
              <a:rPr lang="en-US" sz="1238" dirty="0">
                <a:solidFill>
                  <a:srgbClr val="FFFFFF">
                    <a:alpha val="85000"/>
                  </a:srgbClr>
                </a:solidFill>
                <a:latin typeface="Liberation Sans Narrow" pitchFamily="34" charset="0"/>
                <a:ea typeface="Liberation Sans Narrow" pitchFamily="34" charset="-122"/>
                <a:cs typeface="Liberation Sans Narrow" pitchFamily="34" charset="-120"/>
              </a:rPr>
              <a:t> · ~25 minutes</a:t>
            </a:r>
            <a:endParaRPr lang="en-US" sz="1238" dirty="0"/>
          </a:p>
        </p:txBody>
      </p:sp>
      <p:sp>
        <p:nvSpPr>
          <p:cNvPr id="10" name="Text 7"/>
          <p:cNvSpPr/>
          <p:nvPr/>
        </p:nvSpPr>
        <p:spPr>
          <a:xfrm>
            <a:off x="457200" y="3406341"/>
            <a:ext cx="8229600" cy="173593"/>
          </a:xfrm>
          <a:prstGeom prst="rect">
            <a:avLst/>
          </a:prstGeom>
          <a:noFill/>
          <a:ln/>
        </p:spPr>
        <p:txBody>
          <a:bodyPr wrap="square" lIns="0" tIns="0" rIns="0" bIns="0" rtlCol="0" anchor="t"/>
          <a:lstStyle/>
          <a:p>
            <a:pPr marL="0" indent="0" algn="l">
              <a:lnSpc>
                <a:spcPts val="1266"/>
              </a:lnSpc>
              <a:buNone/>
            </a:pPr>
            <a:r>
              <a:rPr lang="en-US" sz="844" i="1" dirty="0">
                <a:solidFill>
                  <a:srgbClr val="FFFFFF">
                    <a:alpha val="65000"/>
                  </a:srgbClr>
                </a:solidFill>
                <a:latin typeface="Carlito" pitchFamily="34" charset="0"/>
                <a:ea typeface="Carlito" pitchFamily="34" charset="-122"/>
                <a:cs typeface="Carlito" pitchFamily="34" charset="-120"/>
              </a:rPr>
              <a:t>All practice in your </a:t>
            </a:r>
            <a:r>
              <a:rPr lang="en-US" sz="844" i="1" dirty="0">
                <a:solidFill>
                  <a:srgbClr val="FBBF24">
                    <a:alpha val="65000"/>
                  </a:srgbClr>
                </a:solidFill>
                <a:latin typeface="Courier New" pitchFamily="34" charset="0"/>
                <a:ea typeface="Courier New" pitchFamily="34" charset="-122"/>
                <a:cs typeface="Courier New" pitchFamily="34" charset="-120"/>
              </a:rPr>
              <a:t>accio_NN</a:t>
            </a:r>
            <a:r>
              <a:rPr lang="en-US" sz="844" i="1" dirty="0">
                <a:solidFill>
                  <a:srgbClr val="FFFFFF">
                    <a:alpha val="65000"/>
                  </a:srgbClr>
                </a:solidFill>
                <a:latin typeface="Carlito" pitchFamily="34" charset="0"/>
                <a:ea typeface="Carlito" pitchFamily="34" charset="-122"/>
                <a:cs typeface="Carlito" pitchFamily="34" charset="-120"/>
              </a:rPr>
              <a:t> schema. Share your screen if you want a code review.</a:t>
            </a:r>
            <a:endParaRPr lang="en-US" sz="844" dirty="0"/>
          </a:p>
        </p:txBody>
      </p:sp>
      <p:sp>
        <p:nvSpPr>
          <p:cNvPr id="11" name="Text 8"/>
          <p:cNvSpPr/>
          <p:nvPr/>
        </p:nvSpPr>
        <p:spPr>
          <a:xfrm>
            <a:off x="457200" y="4374877"/>
            <a:ext cx="8229600" cy="311423"/>
          </a:xfrm>
          <a:prstGeom prst="roundRect">
            <a:avLst>
              <a:gd name="adj" fmla="val 18351"/>
            </a:avLst>
          </a:prstGeom>
          <a:solidFill>
            <a:srgbClr val="F59E0B"/>
          </a:solidFill>
          <a:ln/>
          <a:effectLst>
            <a:outerShdw blurRad="171450" dist="57150" dir="5400000" algn="bl" rotWithShape="0">
              <a:srgbClr val="F59E0B">
                <a:alpha val="30000"/>
              </a:srgbClr>
            </a:outerShdw>
          </a:effectLst>
        </p:spPr>
        <p:txBody>
          <a:bodyPr wrap="square" rtlCol="0" anchor="ctr"/>
          <a:lstStyle/>
          <a:p>
            <a:pPr marL="0" indent="0">
              <a:buNone/>
            </a:pPr>
            <a:endParaRPr lang="en-US" dirty="0"/>
          </a:p>
        </p:txBody>
      </p:sp>
      <p:sp>
        <p:nvSpPr>
          <p:cNvPr id="12" name="Text 9"/>
          <p:cNvSpPr/>
          <p:nvPr/>
        </p:nvSpPr>
        <p:spPr>
          <a:xfrm>
            <a:off x="457200" y="4374877"/>
            <a:ext cx="8229600" cy="341675"/>
          </a:xfrm>
          <a:prstGeom prst="rect">
            <a:avLst/>
          </a:prstGeom>
          <a:noFill/>
          <a:ln/>
        </p:spPr>
        <p:txBody>
          <a:bodyPr wrap="square" lIns="157163" tIns="85725" rIns="157163" bIns="85725" rtlCol="0" anchor="t"/>
          <a:lstStyle/>
          <a:p>
            <a:pPr marL="0" indent="0" algn="l">
              <a:lnSpc>
                <a:spcPts val="1103"/>
              </a:lnSpc>
              <a:buNone/>
            </a:pPr>
            <a:r>
              <a:rPr lang="en-US" sz="800" kern="0" spc="32" dirty="0">
                <a:solidFill>
                  <a:srgbClr val="FFFFFF"/>
                </a:solidFill>
                <a:latin typeface="Carlito" pitchFamily="34" charset="0"/>
                <a:ea typeface="Carlito" pitchFamily="34" charset="-122"/>
                <a:cs typeface="Carlito" pitchFamily="34" charset="-120"/>
              </a:rPr>
              <a:t>Choosing the RIGHT type is the skill — every wrong type is a future bug.</a:t>
            </a:r>
            <a:endParaRPr lang="en-US" sz="800" dirty="0"/>
          </a:p>
        </p:txBody>
      </p:sp>
      <p:sp>
        <p:nvSpPr>
          <p:cNvPr id="13" name="Text 10"/>
          <p:cNvSpPr/>
          <p:nvPr/>
        </p:nvSpPr>
        <p:spPr>
          <a:xfrm>
            <a:off x="457200" y="4897041"/>
            <a:ext cx="8009148" cy="164592"/>
          </a:xfrm>
          <a:prstGeom prst="rect">
            <a:avLst/>
          </a:prstGeom>
          <a:noFill/>
          <a:ln/>
        </p:spPr>
        <p:txBody>
          <a:bodyPr wrap="square" lIns="0" tIns="0" rIns="0" bIns="0" rtlCol="0" anchor="t"/>
          <a:lstStyle/>
          <a:p>
            <a:pPr marL="0" indent="0" algn="l">
              <a:lnSpc>
                <a:spcPts val="928"/>
              </a:lnSpc>
              <a:buNone/>
            </a:pPr>
            <a:r>
              <a:rPr lang="en-US" sz="800" kern="0" spc="50" dirty="0">
                <a:solidFill>
                  <a:srgbClr val="FFFFFF">
                    <a:alpha val="65000"/>
                  </a:srgbClr>
                </a:solidFill>
                <a:latin typeface="Liberation Sans Narrow" pitchFamily="34" charset="0"/>
                <a:ea typeface="Liberation Sans Narrow" pitchFamily="34" charset="-122"/>
                <a:cs typeface="Liberation Sans Narrow" pitchFamily="34" charset="-120"/>
              </a:rPr>
              <a:t>PRACTICE BLOCK 1</a:t>
            </a:r>
            <a:endParaRPr lang="en-US" sz="800" dirty="0"/>
          </a:p>
        </p:txBody>
      </p:sp>
      <p:sp>
        <p:nvSpPr>
          <p:cNvPr id="14" name="Text 11"/>
          <p:cNvSpPr/>
          <p:nvPr/>
        </p:nvSpPr>
        <p:spPr>
          <a:xfrm>
            <a:off x="8480636" y="4897041"/>
            <a:ext cx="455660" cy="164592"/>
          </a:xfrm>
          <a:prstGeom prst="rect">
            <a:avLst/>
          </a:prstGeom>
          <a:noFill/>
          <a:ln/>
        </p:spPr>
        <p:txBody>
          <a:bodyPr wrap="none" lIns="0" tIns="0" rIns="0" bIns="0" rtlCol="0" anchor="t"/>
          <a:lstStyle/>
          <a:p>
            <a:pPr marL="0" indent="0" algn="l">
              <a:lnSpc>
                <a:spcPts val="928"/>
              </a:lnSpc>
              <a:buNone/>
            </a:pPr>
            <a:r>
              <a:rPr lang="en-US" sz="800" kern="0" spc="50" dirty="0">
                <a:solidFill>
                  <a:srgbClr val="FFFFFF">
                    <a:alpha val="65000"/>
                  </a:srgbClr>
                </a:solidFill>
                <a:latin typeface="Liberation Sans Narrow" pitchFamily="34" charset="0"/>
                <a:ea typeface="Liberation Sans Narrow" pitchFamily="34" charset="-122"/>
                <a:cs typeface="Liberation Sans Narrow" pitchFamily="34" charset="-120"/>
              </a:rPr>
              <a:t>17 / 54</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638" y="-353"/>
            <a:ext cx="8766782" cy="5137158"/>
          </a:xfrm>
          <a:custGeom>
            <a:avLst/>
            <a:gdLst/>
            <a:ahLst/>
            <a:cxnLst/>
            <a:rect l="l" t="t" r="r" b="b"/>
            <a:pathLst>
              <a:path w="8777605" h="5143500">
                <a:moveTo>
                  <a:pt x="109435" y="0"/>
                </a:moveTo>
                <a:lnTo>
                  <a:pt x="0" y="0"/>
                </a:lnTo>
                <a:lnTo>
                  <a:pt x="0" y="5143309"/>
                </a:lnTo>
                <a:lnTo>
                  <a:pt x="54724" y="5143309"/>
                </a:lnTo>
                <a:lnTo>
                  <a:pt x="109435" y="5143309"/>
                </a:lnTo>
                <a:lnTo>
                  <a:pt x="109435" y="0"/>
                </a:lnTo>
                <a:close/>
              </a:path>
              <a:path w="8777605" h="5143500">
                <a:moveTo>
                  <a:pt x="8777516" y="183235"/>
                </a:moveTo>
                <a:lnTo>
                  <a:pt x="7589164" y="183235"/>
                </a:lnTo>
                <a:lnTo>
                  <a:pt x="7589164" y="594360"/>
                </a:lnTo>
                <a:lnTo>
                  <a:pt x="8183524" y="594360"/>
                </a:lnTo>
                <a:lnTo>
                  <a:pt x="8777516" y="594360"/>
                </a:lnTo>
                <a:lnTo>
                  <a:pt x="8777516" y="183235"/>
                </a:lnTo>
                <a:close/>
              </a:path>
            </a:pathLst>
          </a:custGeom>
          <a:solidFill>
            <a:srgbClr val="4CAE50"/>
          </a:solidFill>
        </p:spPr>
        <p:txBody>
          <a:bodyPr wrap="square" lIns="0" tIns="0" rIns="0" bIns="0" rtlCol="0"/>
          <a:lstStyle/>
          <a:p>
            <a:endParaRPr sz="1798"/>
          </a:p>
        </p:txBody>
      </p:sp>
      <p:sp>
        <p:nvSpPr>
          <p:cNvPr id="3" name="object 3" descr="$PPTXTitle"/>
          <p:cNvSpPr txBox="1">
            <a:spLocks noGrp="1"/>
          </p:cNvSpPr>
          <p:nvPr>
            <p:ph type="title"/>
          </p:nvPr>
        </p:nvSpPr>
        <p:spPr>
          <a:xfrm>
            <a:off x="5637" y="0"/>
            <a:ext cx="0" cy="917990"/>
          </a:xfrm>
          <a:prstGeom prst="rect">
            <a:avLst/>
          </a:prstGeom>
        </p:spPr>
        <p:txBody>
          <a:bodyPr vert="horz" wrap="square" lIns="0" tIns="57992" rIns="0" bIns="0" rtlCol="0">
            <a:spAutoFit/>
          </a:bodyPr>
          <a:lstStyle/>
          <a:p>
            <a:pPr marL="7546798">
              <a:spcBef>
                <a:spcPts val="100"/>
              </a:spcBef>
            </a:pPr>
            <a:r>
              <a:rPr sz="1398" spc="-20" dirty="0">
                <a:solidFill>
                  <a:srgbClr val="FFFFFF"/>
                </a:solidFill>
              </a:rPr>
              <a:t>EASY</a:t>
            </a:r>
            <a:endParaRPr sz="1398"/>
          </a:p>
        </p:txBody>
      </p:sp>
      <p:sp>
        <p:nvSpPr>
          <p:cNvPr id="4" name="object 4"/>
          <p:cNvSpPr txBox="1"/>
          <p:nvPr/>
        </p:nvSpPr>
        <p:spPr>
          <a:xfrm>
            <a:off x="447788" y="716783"/>
            <a:ext cx="8027919" cy="2857782"/>
          </a:xfrm>
          <a:prstGeom prst="rect">
            <a:avLst/>
          </a:prstGeom>
        </p:spPr>
        <p:txBody>
          <a:bodyPr vert="horz" wrap="square" lIns="0" tIns="12684" rIns="0" bIns="0" rtlCol="0">
            <a:spAutoFit/>
          </a:bodyPr>
          <a:lstStyle/>
          <a:p>
            <a:pPr marL="12685" marR="182661">
              <a:lnSpc>
                <a:spcPct val="120100"/>
              </a:lnSpc>
              <a:spcBef>
                <a:spcPts val="100"/>
              </a:spcBef>
            </a:pPr>
            <a:r>
              <a:rPr sz="1298" b="1" spc="-10" dirty="0">
                <a:solidFill>
                  <a:srgbClr val="1D3A5E"/>
                </a:solidFill>
                <a:latin typeface="Calibri"/>
                <a:cs typeface="Calibri"/>
              </a:rPr>
              <a:t>SCENARIO:</a:t>
            </a:r>
            <a:r>
              <a:rPr sz="1298" b="1" spc="-50" dirty="0">
                <a:solidFill>
                  <a:srgbClr val="1D3A5E"/>
                </a:solidFill>
                <a:latin typeface="Calibri"/>
                <a:cs typeface="Calibri"/>
              </a:rPr>
              <a:t> </a:t>
            </a:r>
            <a:r>
              <a:rPr sz="1298" spc="-25" dirty="0">
                <a:solidFill>
                  <a:srgbClr val="202020"/>
                </a:solidFill>
                <a:latin typeface="Calibri"/>
                <a:cs typeface="Calibri"/>
              </a:rPr>
              <a:t>Yesterday</a:t>
            </a:r>
            <a:r>
              <a:rPr sz="1298" spc="-40" dirty="0">
                <a:solidFill>
                  <a:srgbClr val="202020"/>
                </a:solidFill>
                <a:latin typeface="Calibri"/>
                <a:cs typeface="Calibri"/>
              </a:rPr>
              <a:t> </a:t>
            </a:r>
            <a:r>
              <a:rPr sz="1298" dirty="0">
                <a:solidFill>
                  <a:srgbClr val="202020"/>
                </a:solidFill>
                <a:latin typeface="Calibri"/>
                <a:cs typeface="Calibri"/>
              </a:rPr>
              <a:t>you</a:t>
            </a:r>
            <a:r>
              <a:rPr sz="1298" spc="-35" dirty="0">
                <a:solidFill>
                  <a:srgbClr val="202020"/>
                </a:solidFill>
                <a:latin typeface="Calibri"/>
                <a:cs typeface="Calibri"/>
              </a:rPr>
              <a:t> </a:t>
            </a:r>
            <a:r>
              <a:rPr sz="1298" dirty="0">
                <a:solidFill>
                  <a:srgbClr val="202020"/>
                </a:solidFill>
                <a:latin typeface="Calibri"/>
                <a:cs typeface="Calibri"/>
              </a:rPr>
              <a:t>built</a:t>
            </a:r>
            <a:r>
              <a:rPr sz="1298" spc="-40" dirty="0">
                <a:solidFill>
                  <a:srgbClr val="202020"/>
                </a:solidFill>
                <a:latin typeface="Calibri"/>
                <a:cs typeface="Calibri"/>
              </a:rPr>
              <a:t> </a:t>
            </a:r>
            <a:r>
              <a:rPr sz="1298" spc="-10" dirty="0">
                <a:solidFill>
                  <a:srgbClr val="202020"/>
                </a:solidFill>
                <a:latin typeface="Calibri"/>
                <a:cs typeface="Calibri"/>
              </a:rPr>
              <a:t>college.students</a:t>
            </a:r>
            <a:r>
              <a:rPr sz="1298" spc="-35" dirty="0">
                <a:solidFill>
                  <a:srgbClr val="202020"/>
                </a:solidFill>
                <a:latin typeface="Calibri"/>
                <a:cs typeface="Calibri"/>
              </a:rPr>
              <a:t> </a:t>
            </a:r>
            <a:r>
              <a:rPr sz="1298" dirty="0">
                <a:solidFill>
                  <a:srgbClr val="202020"/>
                </a:solidFill>
                <a:latin typeface="Calibri"/>
                <a:cs typeface="Calibri"/>
              </a:rPr>
              <a:t>with</a:t>
            </a:r>
            <a:r>
              <a:rPr sz="1298" spc="-40" dirty="0">
                <a:solidFill>
                  <a:srgbClr val="202020"/>
                </a:solidFill>
                <a:latin typeface="Calibri"/>
                <a:cs typeface="Calibri"/>
              </a:rPr>
              <a:t> </a:t>
            </a:r>
            <a:r>
              <a:rPr sz="1298" dirty="0">
                <a:solidFill>
                  <a:srgbClr val="202020"/>
                </a:solidFill>
                <a:latin typeface="Calibri"/>
                <a:cs typeface="Calibri"/>
              </a:rPr>
              <a:t>EVERY</a:t>
            </a:r>
            <a:r>
              <a:rPr sz="1298" spc="-35" dirty="0">
                <a:solidFill>
                  <a:srgbClr val="202020"/>
                </a:solidFill>
                <a:latin typeface="Calibri"/>
                <a:cs typeface="Calibri"/>
              </a:rPr>
              <a:t> </a:t>
            </a:r>
            <a:r>
              <a:rPr sz="1298" dirty="0">
                <a:solidFill>
                  <a:srgbClr val="202020"/>
                </a:solidFill>
                <a:latin typeface="Calibri"/>
                <a:cs typeface="Calibri"/>
              </a:rPr>
              <a:t>column</a:t>
            </a:r>
            <a:r>
              <a:rPr sz="1298" spc="-40" dirty="0">
                <a:solidFill>
                  <a:srgbClr val="202020"/>
                </a:solidFill>
                <a:latin typeface="Calibri"/>
                <a:cs typeface="Calibri"/>
              </a:rPr>
              <a:t> </a:t>
            </a:r>
            <a:r>
              <a:rPr sz="1298" dirty="0">
                <a:solidFill>
                  <a:srgbClr val="202020"/>
                </a:solidFill>
                <a:latin typeface="Calibri"/>
                <a:cs typeface="Calibri"/>
              </a:rPr>
              <a:t>as</a:t>
            </a:r>
            <a:r>
              <a:rPr sz="1298" spc="-35" dirty="0">
                <a:solidFill>
                  <a:srgbClr val="202020"/>
                </a:solidFill>
                <a:latin typeface="Calibri"/>
                <a:cs typeface="Calibri"/>
              </a:rPr>
              <a:t> </a:t>
            </a:r>
            <a:r>
              <a:rPr sz="1298" spc="-30" dirty="0">
                <a:solidFill>
                  <a:srgbClr val="202020"/>
                </a:solidFill>
                <a:latin typeface="Calibri"/>
                <a:cs typeface="Calibri"/>
              </a:rPr>
              <a:t>TEXT.</a:t>
            </a:r>
            <a:r>
              <a:rPr sz="1298" spc="-35" dirty="0">
                <a:solidFill>
                  <a:srgbClr val="202020"/>
                </a:solidFill>
                <a:latin typeface="Calibri"/>
                <a:cs typeface="Calibri"/>
              </a:rPr>
              <a:t> </a:t>
            </a:r>
            <a:r>
              <a:rPr sz="1298" spc="-45" dirty="0">
                <a:solidFill>
                  <a:srgbClr val="202020"/>
                </a:solidFill>
                <a:latin typeface="Calibri"/>
                <a:cs typeface="Calibri"/>
              </a:rPr>
              <a:t>Today,</a:t>
            </a:r>
            <a:r>
              <a:rPr sz="1298" spc="-30" dirty="0">
                <a:solidFill>
                  <a:srgbClr val="202020"/>
                </a:solidFill>
                <a:latin typeface="Calibri"/>
                <a:cs typeface="Calibri"/>
              </a:rPr>
              <a:t> </a:t>
            </a:r>
            <a:r>
              <a:rPr sz="1298" dirty="0">
                <a:solidFill>
                  <a:srgbClr val="202020"/>
                </a:solidFill>
                <a:latin typeface="Calibri"/>
                <a:cs typeface="Calibri"/>
              </a:rPr>
              <a:t>give</a:t>
            </a:r>
            <a:r>
              <a:rPr sz="1298" spc="-40" dirty="0">
                <a:solidFill>
                  <a:srgbClr val="202020"/>
                </a:solidFill>
                <a:latin typeface="Calibri"/>
                <a:cs typeface="Calibri"/>
              </a:rPr>
              <a:t> </a:t>
            </a:r>
            <a:r>
              <a:rPr sz="1298" dirty="0">
                <a:solidFill>
                  <a:srgbClr val="202020"/>
                </a:solidFill>
                <a:latin typeface="Calibri"/>
                <a:cs typeface="Calibri"/>
              </a:rPr>
              <a:t>each</a:t>
            </a:r>
            <a:r>
              <a:rPr sz="1298" spc="-35" dirty="0">
                <a:solidFill>
                  <a:srgbClr val="202020"/>
                </a:solidFill>
                <a:latin typeface="Calibri"/>
                <a:cs typeface="Calibri"/>
              </a:rPr>
              <a:t> </a:t>
            </a:r>
            <a:r>
              <a:rPr sz="1298" dirty="0">
                <a:solidFill>
                  <a:srgbClr val="202020"/>
                </a:solidFill>
                <a:latin typeface="Calibri"/>
                <a:cs typeface="Calibri"/>
              </a:rPr>
              <a:t>column</a:t>
            </a:r>
            <a:r>
              <a:rPr sz="1298" spc="-40" dirty="0">
                <a:solidFill>
                  <a:srgbClr val="202020"/>
                </a:solidFill>
                <a:latin typeface="Calibri"/>
                <a:cs typeface="Calibri"/>
              </a:rPr>
              <a:t> </a:t>
            </a:r>
            <a:r>
              <a:rPr sz="1298" dirty="0">
                <a:solidFill>
                  <a:srgbClr val="202020"/>
                </a:solidFill>
                <a:latin typeface="Calibri"/>
                <a:cs typeface="Calibri"/>
              </a:rPr>
              <a:t>its</a:t>
            </a:r>
            <a:r>
              <a:rPr sz="1298" spc="-35" dirty="0">
                <a:solidFill>
                  <a:srgbClr val="202020"/>
                </a:solidFill>
                <a:latin typeface="Calibri"/>
                <a:cs typeface="Calibri"/>
              </a:rPr>
              <a:t> </a:t>
            </a:r>
            <a:r>
              <a:rPr sz="1298" spc="-10" dirty="0">
                <a:solidFill>
                  <a:srgbClr val="202020"/>
                </a:solidFill>
                <a:latin typeface="Calibri"/>
                <a:cs typeface="Calibri"/>
              </a:rPr>
              <a:t>proper</a:t>
            </a:r>
            <a:r>
              <a:rPr sz="1298" spc="-40" dirty="0">
                <a:solidFill>
                  <a:srgbClr val="202020"/>
                </a:solidFill>
                <a:latin typeface="Calibri"/>
                <a:cs typeface="Calibri"/>
              </a:rPr>
              <a:t> </a:t>
            </a:r>
            <a:r>
              <a:rPr sz="1298" dirty="0">
                <a:solidFill>
                  <a:srgbClr val="202020"/>
                </a:solidFill>
                <a:latin typeface="Calibri"/>
                <a:cs typeface="Calibri"/>
              </a:rPr>
              <a:t>type</a:t>
            </a:r>
            <a:r>
              <a:rPr sz="1298" spc="-35" dirty="0">
                <a:solidFill>
                  <a:srgbClr val="202020"/>
                </a:solidFill>
                <a:latin typeface="Calibri"/>
                <a:cs typeface="Calibri"/>
              </a:rPr>
              <a:t> </a:t>
            </a:r>
            <a:r>
              <a:rPr sz="1298" spc="-50" dirty="0">
                <a:solidFill>
                  <a:srgbClr val="202020"/>
                </a:solidFill>
                <a:latin typeface="Calibri"/>
                <a:cs typeface="Calibri"/>
              </a:rPr>
              <a:t>- </a:t>
            </a:r>
            <a:r>
              <a:rPr sz="1298" dirty="0">
                <a:solidFill>
                  <a:srgbClr val="202020"/>
                </a:solidFill>
                <a:latin typeface="Calibri"/>
                <a:cs typeface="Calibri"/>
              </a:rPr>
              <a:t>without</a:t>
            </a:r>
            <a:r>
              <a:rPr sz="1298" spc="-45" dirty="0">
                <a:solidFill>
                  <a:srgbClr val="202020"/>
                </a:solidFill>
                <a:latin typeface="Calibri"/>
                <a:cs typeface="Calibri"/>
              </a:rPr>
              <a:t> </a:t>
            </a:r>
            <a:r>
              <a:rPr sz="1298" spc="-10" dirty="0">
                <a:solidFill>
                  <a:srgbClr val="202020"/>
                </a:solidFill>
                <a:latin typeface="Calibri"/>
                <a:cs typeface="Calibri"/>
              </a:rPr>
              <a:t>dropping</a:t>
            </a:r>
            <a:r>
              <a:rPr sz="1298" spc="-45" dirty="0">
                <a:solidFill>
                  <a:srgbClr val="202020"/>
                </a:solidFill>
                <a:latin typeface="Calibri"/>
                <a:cs typeface="Calibri"/>
              </a:rPr>
              <a:t> </a:t>
            </a:r>
            <a:r>
              <a:rPr sz="1298" dirty="0">
                <a:solidFill>
                  <a:srgbClr val="202020"/>
                </a:solidFill>
                <a:latin typeface="Calibri"/>
                <a:cs typeface="Calibri"/>
              </a:rPr>
              <a:t>the</a:t>
            </a:r>
            <a:r>
              <a:rPr sz="1298" spc="-40" dirty="0">
                <a:solidFill>
                  <a:srgbClr val="202020"/>
                </a:solidFill>
                <a:latin typeface="Calibri"/>
                <a:cs typeface="Calibri"/>
              </a:rPr>
              <a:t> </a:t>
            </a:r>
            <a:r>
              <a:rPr sz="1298" spc="-10" dirty="0">
                <a:solidFill>
                  <a:srgbClr val="202020"/>
                </a:solidFill>
                <a:latin typeface="Calibri"/>
                <a:cs typeface="Calibri"/>
              </a:rPr>
              <a:t>table.</a:t>
            </a:r>
            <a:endParaRPr sz="1298">
              <a:latin typeface="Calibri"/>
              <a:cs typeface="Calibri"/>
            </a:endParaRPr>
          </a:p>
          <a:p>
            <a:pPr marL="12685">
              <a:spcBef>
                <a:spcPts val="884"/>
              </a:spcBef>
            </a:pPr>
            <a:r>
              <a:rPr sz="1298" b="1" spc="-10" dirty="0">
                <a:solidFill>
                  <a:srgbClr val="1D3A5E"/>
                </a:solidFill>
                <a:latin typeface="Calibri"/>
                <a:cs typeface="Calibri"/>
              </a:rPr>
              <a:t>YOUR</a:t>
            </a:r>
            <a:r>
              <a:rPr sz="1298" b="1" spc="-50" dirty="0">
                <a:solidFill>
                  <a:srgbClr val="1D3A5E"/>
                </a:solidFill>
                <a:latin typeface="Calibri"/>
                <a:cs typeface="Calibri"/>
              </a:rPr>
              <a:t> </a:t>
            </a:r>
            <a:r>
              <a:rPr sz="1298" b="1" spc="-10" dirty="0">
                <a:solidFill>
                  <a:srgbClr val="1D3A5E"/>
                </a:solidFill>
                <a:latin typeface="Calibri"/>
                <a:cs typeface="Calibri"/>
              </a:rPr>
              <a:t>TASK:</a:t>
            </a:r>
            <a:endParaRPr sz="1298">
              <a:latin typeface="Calibri"/>
              <a:cs typeface="Calibri"/>
            </a:endParaRPr>
          </a:p>
          <a:p>
            <a:pPr marL="12685" marR="5074" indent="169342">
              <a:lnSpc>
                <a:spcPct val="120100"/>
              </a:lnSpc>
              <a:spcBef>
                <a:spcPts val="569"/>
              </a:spcBef>
              <a:buAutoNum type="alphaLcParenR"/>
              <a:tabLst>
                <a:tab pos="182026" algn="l"/>
              </a:tabLst>
            </a:pPr>
            <a:r>
              <a:rPr sz="1298" b="1" dirty="0">
                <a:solidFill>
                  <a:srgbClr val="1D3A5E"/>
                </a:solidFill>
                <a:latin typeface="Calibri"/>
                <a:cs typeface="Calibri"/>
              </a:rPr>
              <a:t>:</a:t>
            </a:r>
            <a:r>
              <a:rPr sz="1298" b="1" spc="-40" dirty="0">
                <a:solidFill>
                  <a:srgbClr val="1D3A5E"/>
                </a:solidFill>
                <a:latin typeface="Calibri"/>
                <a:cs typeface="Calibri"/>
              </a:rPr>
              <a:t> </a:t>
            </a:r>
            <a:r>
              <a:rPr sz="1298" spc="-10" dirty="0">
                <a:solidFill>
                  <a:srgbClr val="202020"/>
                </a:solidFill>
                <a:latin typeface="Calibri"/>
                <a:cs typeface="Calibri"/>
              </a:rPr>
              <a:t>Make</a:t>
            </a:r>
            <a:r>
              <a:rPr sz="1298" spc="-40" dirty="0">
                <a:solidFill>
                  <a:srgbClr val="202020"/>
                </a:solidFill>
                <a:latin typeface="Calibri"/>
                <a:cs typeface="Calibri"/>
              </a:rPr>
              <a:t> </a:t>
            </a:r>
            <a:r>
              <a:rPr sz="1298" dirty="0">
                <a:solidFill>
                  <a:srgbClr val="202020"/>
                </a:solidFill>
                <a:latin typeface="Calibri"/>
                <a:cs typeface="Calibri"/>
              </a:rPr>
              <a:t>sure</a:t>
            </a:r>
            <a:r>
              <a:rPr sz="1298" spc="-40" dirty="0">
                <a:solidFill>
                  <a:srgbClr val="202020"/>
                </a:solidFill>
                <a:latin typeface="Calibri"/>
                <a:cs typeface="Calibri"/>
              </a:rPr>
              <a:t> </a:t>
            </a:r>
            <a:r>
              <a:rPr sz="1298" spc="-10" dirty="0">
                <a:solidFill>
                  <a:srgbClr val="202020"/>
                </a:solidFill>
                <a:latin typeface="Calibri"/>
                <a:cs typeface="Calibri"/>
              </a:rPr>
              <a:t>college.students</a:t>
            </a:r>
            <a:r>
              <a:rPr sz="1298" spc="-40" dirty="0">
                <a:solidFill>
                  <a:srgbClr val="202020"/>
                </a:solidFill>
                <a:latin typeface="Calibri"/>
                <a:cs typeface="Calibri"/>
              </a:rPr>
              <a:t> </a:t>
            </a:r>
            <a:r>
              <a:rPr sz="1298" dirty="0">
                <a:solidFill>
                  <a:srgbClr val="202020"/>
                </a:solidFill>
                <a:latin typeface="Calibri"/>
                <a:cs typeface="Calibri"/>
              </a:rPr>
              <a:t>has</a:t>
            </a:r>
            <a:r>
              <a:rPr sz="1298" spc="-40" dirty="0">
                <a:solidFill>
                  <a:srgbClr val="202020"/>
                </a:solidFill>
                <a:latin typeface="Calibri"/>
                <a:cs typeface="Calibri"/>
              </a:rPr>
              <a:t> </a:t>
            </a:r>
            <a:r>
              <a:rPr sz="1298" dirty="0">
                <a:solidFill>
                  <a:srgbClr val="202020"/>
                </a:solidFill>
                <a:latin typeface="Calibri"/>
                <a:cs typeface="Calibri"/>
              </a:rPr>
              <a:t>a</a:t>
            </a:r>
            <a:r>
              <a:rPr sz="1298" spc="-40" dirty="0">
                <a:solidFill>
                  <a:srgbClr val="202020"/>
                </a:solidFill>
                <a:latin typeface="Calibri"/>
                <a:cs typeface="Calibri"/>
              </a:rPr>
              <a:t> </a:t>
            </a:r>
            <a:r>
              <a:rPr sz="1298" dirty="0">
                <a:solidFill>
                  <a:srgbClr val="202020"/>
                </a:solidFill>
                <a:latin typeface="Calibri"/>
                <a:cs typeface="Calibri"/>
              </a:rPr>
              <a:t>few</a:t>
            </a:r>
            <a:r>
              <a:rPr sz="1298" spc="-40" dirty="0">
                <a:solidFill>
                  <a:srgbClr val="202020"/>
                </a:solidFill>
                <a:latin typeface="Calibri"/>
                <a:cs typeface="Calibri"/>
              </a:rPr>
              <a:t> </a:t>
            </a:r>
            <a:r>
              <a:rPr sz="1298" dirty="0">
                <a:solidFill>
                  <a:srgbClr val="202020"/>
                </a:solidFill>
                <a:latin typeface="Calibri"/>
                <a:cs typeface="Calibri"/>
              </a:rPr>
              <a:t>rows</a:t>
            </a:r>
            <a:r>
              <a:rPr sz="1298" spc="-40" dirty="0">
                <a:solidFill>
                  <a:srgbClr val="202020"/>
                </a:solidFill>
                <a:latin typeface="Calibri"/>
                <a:cs typeface="Calibri"/>
              </a:rPr>
              <a:t> </a:t>
            </a:r>
            <a:r>
              <a:rPr sz="1298" dirty="0">
                <a:solidFill>
                  <a:srgbClr val="202020"/>
                </a:solidFill>
                <a:latin typeface="Calibri"/>
                <a:cs typeface="Calibri"/>
              </a:rPr>
              <a:t>(from</a:t>
            </a:r>
            <a:r>
              <a:rPr sz="1298" spc="-40" dirty="0">
                <a:solidFill>
                  <a:srgbClr val="202020"/>
                </a:solidFill>
                <a:latin typeface="Calibri"/>
                <a:cs typeface="Calibri"/>
              </a:rPr>
              <a:t> </a:t>
            </a:r>
            <a:r>
              <a:rPr sz="1298" spc="-10" dirty="0">
                <a:solidFill>
                  <a:srgbClr val="202020"/>
                </a:solidFill>
                <a:latin typeface="Calibri"/>
                <a:cs typeface="Calibri"/>
              </a:rPr>
              <a:t>yesterday).</a:t>
            </a:r>
            <a:r>
              <a:rPr sz="1298" spc="-40" dirty="0">
                <a:solidFill>
                  <a:srgbClr val="202020"/>
                </a:solidFill>
                <a:latin typeface="Calibri"/>
                <a:cs typeface="Calibri"/>
              </a:rPr>
              <a:t> </a:t>
            </a:r>
            <a:r>
              <a:rPr sz="1298" dirty="0">
                <a:solidFill>
                  <a:srgbClr val="202020"/>
                </a:solidFill>
                <a:latin typeface="Calibri"/>
                <a:cs typeface="Calibri"/>
              </a:rPr>
              <a:t>If</a:t>
            </a:r>
            <a:r>
              <a:rPr sz="1298" spc="-40" dirty="0">
                <a:solidFill>
                  <a:srgbClr val="202020"/>
                </a:solidFill>
                <a:latin typeface="Calibri"/>
                <a:cs typeface="Calibri"/>
              </a:rPr>
              <a:t> </a:t>
            </a:r>
            <a:r>
              <a:rPr sz="1298" spc="-25" dirty="0">
                <a:solidFill>
                  <a:srgbClr val="202020"/>
                </a:solidFill>
                <a:latin typeface="Calibri"/>
                <a:cs typeface="Calibri"/>
              </a:rPr>
              <a:t>empty,</a:t>
            </a:r>
            <a:r>
              <a:rPr sz="1298" spc="-40" dirty="0">
                <a:solidFill>
                  <a:srgbClr val="202020"/>
                </a:solidFill>
                <a:latin typeface="Calibri"/>
                <a:cs typeface="Calibri"/>
              </a:rPr>
              <a:t> </a:t>
            </a:r>
            <a:r>
              <a:rPr sz="1298" dirty="0">
                <a:solidFill>
                  <a:srgbClr val="202020"/>
                </a:solidFill>
                <a:latin typeface="Calibri"/>
                <a:cs typeface="Calibri"/>
              </a:rPr>
              <a:t>INSERT</a:t>
            </a:r>
            <a:r>
              <a:rPr sz="1298" spc="-40" dirty="0">
                <a:solidFill>
                  <a:srgbClr val="202020"/>
                </a:solidFill>
                <a:latin typeface="Calibri"/>
                <a:cs typeface="Calibri"/>
              </a:rPr>
              <a:t> </a:t>
            </a:r>
            <a:r>
              <a:rPr sz="1298" spc="-20" dirty="0">
                <a:solidFill>
                  <a:srgbClr val="202020"/>
                </a:solidFill>
                <a:latin typeface="Calibri"/>
                <a:cs typeface="Calibri"/>
              </a:rPr>
              <a:t>2-</a:t>
            </a:r>
            <a:r>
              <a:rPr sz="1298" dirty="0">
                <a:solidFill>
                  <a:srgbClr val="202020"/>
                </a:solidFill>
                <a:latin typeface="Calibri"/>
                <a:cs typeface="Calibri"/>
              </a:rPr>
              <a:t>3</a:t>
            </a:r>
            <a:r>
              <a:rPr sz="1298" spc="-40" dirty="0">
                <a:solidFill>
                  <a:srgbClr val="202020"/>
                </a:solidFill>
                <a:latin typeface="Calibri"/>
                <a:cs typeface="Calibri"/>
              </a:rPr>
              <a:t> </a:t>
            </a:r>
            <a:r>
              <a:rPr sz="1298" dirty="0">
                <a:solidFill>
                  <a:srgbClr val="202020"/>
                </a:solidFill>
                <a:latin typeface="Calibri"/>
                <a:cs typeface="Calibri"/>
              </a:rPr>
              <a:t>rows</a:t>
            </a:r>
            <a:r>
              <a:rPr sz="1298" spc="-40" dirty="0">
                <a:solidFill>
                  <a:srgbClr val="202020"/>
                </a:solidFill>
                <a:latin typeface="Calibri"/>
                <a:cs typeface="Calibri"/>
              </a:rPr>
              <a:t> </a:t>
            </a:r>
            <a:r>
              <a:rPr sz="1298" spc="-10" dirty="0">
                <a:solidFill>
                  <a:srgbClr val="202020"/>
                </a:solidFill>
                <a:latin typeface="Calibri"/>
                <a:cs typeface="Calibri"/>
              </a:rPr>
              <a:t>(text</a:t>
            </a:r>
            <a:r>
              <a:rPr sz="1298" spc="-40" dirty="0">
                <a:solidFill>
                  <a:srgbClr val="202020"/>
                </a:solidFill>
                <a:latin typeface="Calibri"/>
                <a:cs typeface="Calibri"/>
              </a:rPr>
              <a:t> </a:t>
            </a:r>
            <a:r>
              <a:rPr sz="1298" spc="-10" dirty="0">
                <a:solidFill>
                  <a:srgbClr val="202020"/>
                </a:solidFill>
                <a:latin typeface="Calibri"/>
                <a:cs typeface="Calibri"/>
              </a:rPr>
              <a:t>values</a:t>
            </a:r>
            <a:r>
              <a:rPr sz="1298" spc="-40" dirty="0">
                <a:solidFill>
                  <a:srgbClr val="202020"/>
                </a:solidFill>
                <a:latin typeface="Calibri"/>
                <a:cs typeface="Calibri"/>
              </a:rPr>
              <a:t> </a:t>
            </a:r>
            <a:r>
              <a:rPr sz="1298" dirty="0">
                <a:solidFill>
                  <a:srgbClr val="202020"/>
                </a:solidFill>
                <a:latin typeface="Calibri"/>
                <a:cs typeface="Calibri"/>
              </a:rPr>
              <a:t>like</a:t>
            </a:r>
            <a:r>
              <a:rPr sz="1298" spc="-40" dirty="0">
                <a:solidFill>
                  <a:srgbClr val="202020"/>
                </a:solidFill>
                <a:latin typeface="Calibri"/>
                <a:cs typeface="Calibri"/>
              </a:rPr>
              <a:t> </a:t>
            </a:r>
            <a:r>
              <a:rPr sz="1298" dirty="0">
                <a:solidFill>
                  <a:srgbClr val="202020"/>
                </a:solidFill>
                <a:latin typeface="Calibri"/>
                <a:cs typeface="Calibri"/>
              </a:rPr>
              <a:t>'1',</a:t>
            </a:r>
            <a:r>
              <a:rPr sz="1298" spc="-40" dirty="0">
                <a:solidFill>
                  <a:srgbClr val="202020"/>
                </a:solidFill>
                <a:latin typeface="Calibri"/>
                <a:cs typeface="Calibri"/>
              </a:rPr>
              <a:t> </a:t>
            </a:r>
            <a:r>
              <a:rPr sz="1298" spc="-20" dirty="0">
                <a:solidFill>
                  <a:srgbClr val="202020"/>
                </a:solidFill>
                <a:latin typeface="Calibri"/>
                <a:cs typeface="Calibri"/>
              </a:rPr>
              <a:t>'2004-</a:t>
            </a:r>
            <a:r>
              <a:rPr sz="1298" spc="-25" dirty="0">
                <a:solidFill>
                  <a:srgbClr val="202020"/>
                </a:solidFill>
                <a:latin typeface="Calibri"/>
                <a:cs typeface="Calibri"/>
              </a:rPr>
              <a:t>03-</a:t>
            </a:r>
            <a:r>
              <a:rPr sz="1298" dirty="0">
                <a:solidFill>
                  <a:srgbClr val="202020"/>
                </a:solidFill>
                <a:latin typeface="Calibri"/>
                <a:cs typeface="Calibri"/>
              </a:rPr>
              <a:t>15',</a:t>
            </a:r>
            <a:r>
              <a:rPr sz="1298" spc="-40" dirty="0">
                <a:solidFill>
                  <a:srgbClr val="202020"/>
                </a:solidFill>
                <a:latin typeface="Calibri"/>
                <a:cs typeface="Calibri"/>
              </a:rPr>
              <a:t> </a:t>
            </a:r>
            <a:r>
              <a:rPr sz="1298" spc="-10" dirty="0">
                <a:solidFill>
                  <a:srgbClr val="202020"/>
                </a:solidFill>
                <a:latin typeface="Calibri"/>
                <a:cs typeface="Calibri"/>
              </a:rPr>
              <a:t>'true').</a:t>
            </a:r>
            <a:endParaRPr sz="1298">
              <a:latin typeface="Calibri"/>
              <a:cs typeface="Calibri"/>
            </a:endParaRPr>
          </a:p>
          <a:p>
            <a:pPr marL="189003" indent="-176318">
              <a:spcBef>
                <a:spcPts val="315"/>
              </a:spcBef>
              <a:buAutoNum type="alphaLcParenR"/>
              <a:tabLst>
                <a:tab pos="189003" algn="l"/>
              </a:tabLst>
            </a:pPr>
            <a:r>
              <a:rPr sz="1298" b="1" dirty="0">
                <a:solidFill>
                  <a:srgbClr val="1D3A5E"/>
                </a:solidFill>
                <a:latin typeface="Calibri"/>
                <a:cs typeface="Calibri"/>
              </a:rPr>
              <a:t>:</a:t>
            </a:r>
            <a:r>
              <a:rPr sz="1298" b="1" spc="-35" dirty="0">
                <a:solidFill>
                  <a:srgbClr val="1D3A5E"/>
                </a:solidFill>
                <a:latin typeface="Calibri"/>
                <a:cs typeface="Calibri"/>
              </a:rPr>
              <a:t> </a:t>
            </a:r>
            <a:r>
              <a:rPr sz="1298" spc="-20" dirty="0">
                <a:solidFill>
                  <a:srgbClr val="202020"/>
                </a:solidFill>
                <a:latin typeface="Calibri"/>
                <a:cs typeface="Calibri"/>
              </a:rPr>
              <a:t>ALTER</a:t>
            </a:r>
            <a:r>
              <a:rPr sz="1298" spc="-35" dirty="0">
                <a:solidFill>
                  <a:srgbClr val="202020"/>
                </a:solidFill>
                <a:latin typeface="Calibri"/>
                <a:cs typeface="Calibri"/>
              </a:rPr>
              <a:t> </a:t>
            </a:r>
            <a:r>
              <a:rPr sz="1298" spc="-10" dirty="0">
                <a:solidFill>
                  <a:srgbClr val="202020"/>
                </a:solidFill>
                <a:latin typeface="Calibri"/>
                <a:cs typeface="Calibri"/>
              </a:rPr>
              <a:t>student_id</a:t>
            </a:r>
            <a:r>
              <a:rPr sz="1298" spc="-35" dirty="0">
                <a:solidFill>
                  <a:srgbClr val="202020"/>
                </a:solidFill>
                <a:latin typeface="Calibri"/>
                <a:cs typeface="Calibri"/>
              </a:rPr>
              <a:t> </a:t>
            </a:r>
            <a:r>
              <a:rPr sz="1298" dirty="0">
                <a:solidFill>
                  <a:srgbClr val="202020"/>
                </a:solidFill>
                <a:latin typeface="Calibri"/>
                <a:cs typeface="Calibri"/>
              </a:rPr>
              <a:t>from</a:t>
            </a:r>
            <a:r>
              <a:rPr sz="1298" spc="-35" dirty="0">
                <a:solidFill>
                  <a:srgbClr val="202020"/>
                </a:solidFill>
                <a:latin typeface="Calibri"/>
                <a:cs typeface="Calibri"/>
              </a:rPr>
              <a:t> </a:t>
            </a:r>
            <a:r>
              <a:rPr sz="1298" dirty="0">
                <a:solidFill>
                  <a:srgbClr val="202020"/>
                </a:solidFill>
                <a:latin typeface="Calibri"/>
                <a:cs typeface="Calibri"/>
              </a:rPr>
              <a:t>TEXT</a:t>
            </a:r>
            <a:r>
              <a:rPr sz="1298" spc="-35" dirty="0">
                <a:solidFill>
                  <a:srgbClr val="202020"/>
                </a:solidFill>
                <a:latin typeface="Calibri"/>
                <a:cs typeface="Calibri"/>
              </a:rPr>
              <a:t> </a:t>
            </a:r>
            <a:r>
              <a:rPr sz="1298" dirty="0">
                <a:solidFill>
                  <a:srgbClr val="202020"/>
                </a:solidFill>
                <a:latin typeface="Calibri"/>
                <a:cs typeface="Calibri"/>
              </a:rPr>
              <a:t>to</a:t>
            </a:r>
            <a:r>
              <a:rPr sz="1298" spc="-35" dirty="0">
                <a:solidFill>
                  <a:srgbClr val="202020"/>
                </a:solidFill>
                <a:latin typeface="Calibri"/>
                <a:cs typeface="Calibri"/>
              </a:rPr>
              <a:t> </a:t>
            </a:r>
            <a:r>
              <a:rPr sz="1298" dirty="0">
                <a:solidFill>
                  <a:srgbClr val="202020"/>
                </a:solidFill>
                <a:latin typeface="Calibri"/>
                <a:cs typeface="Calibri"/>
              </a:rPr>
              <a:t>INT</a:t>
            </a:r>
            <a:r>
              <a:rPr sz="1298" spc="-35" dirty="0">
                <a:solidFill>
                  <a:srgbClr val="202020"/>
                </a:solidFill>
                <a:latin typeface="Calibri"/>
                <a:cs typeface="Calibri"/>
              </a:rPr>
              <a:t> </a:t>
            </a:r>
            <a:r>
              <a:rPr sz="1298" dirty="0">
                <a:solidFill>
                  <a:srgbClr val="202020"/>
                </a:solidFill>
                <a:latin typeface="Calibri"/>
                <a:cs typeface="Calibri"/>
              </a:rPr>
              <a:t>(use</a:t>
            </a:r>
            <a:r>
              <a:rPr sz="1298" spc="-35" dirty="0">
                <a:solidFill>
                  <a:srgbClr val="202020"/>
                </a:solidFill>
                <a:latin typeface="Calibri"/>
                <a:cs typeface="Calibri"/>
              </a:rPr>
              <a:t> </a:t>
            </a:r>
            <a:r>
              <a:rPr sz="1298" dirty="0">
                <a:solidFill>
                  <a:srgbClr val="202020"/>
                </a:solidFill>
                <a:latin typeface="Calibri"/>
                <a:cs typeface="Calibri"/>
              </a:rPr>
              <a:t>USING</a:t>
            </a:r>
            <a:r>
              <a:rPr sz="1298" spc="-35" dirty="0">
                <a:solidFill>
                  <a:srgbClr val="202020"/>
                </a:solidFill>
                <a:latin typeface="Calibri"/>
                <a:cs typeface="Calibri"/>
              </a:rPr>
              <a:t> </a:t>
            </a:r>
            <a:r>
              <a:rPr sz="1298" spc="-10" dirty="0">
                <a:solidFill>
                  <a:srgbClr val="202020"/>
                </a:solidFill>
                <a:latin typeface="Calibri"/>
                <a:cs typeface="Calibri"/>
              </a:rPr>
              <a:t>student_id::int).</a:t>
            </a:r>
            <a:endParaRPr sz="1298">
              <a:latin typeface="Calibri"/>
              <a:cs typeface="Calibri"/>
            </a:endParaRPr>
          </a:p>
          <a:p>
            <a:pPr marL="169342" indent="-156657">
              <a:spcBef>
                <a:spcPts val="315"/>
              </a:spcBef>
              <a:buAutoNum type="alphaLcParenR"/>
              <a:tabLst>
                <a:tab pos="169342" algn="l"/>
              </a:tabLst>
            </a:pPr>
            <a:r>
              <a:rPr sz="1298" b="1" dirty="0">
                <a:solidFill>
                  <a:srgbClr val="1D3A5E"/>
                </a:solidFill>
                <a:latin typeface="Calibri"/>
                <a:cs typeface="Calibri"/>
              </a:rPr>
              <a:t>:</a:t>
            </a:r>
            <a:r>
              <a:rPr sz="1298" b="1" spc="-35" dirty="0">
                <a:solidFill>
                  <a:srgbClr val="1D3A5E"/>
                </a:solidFill>
                <a:latin typeface="Calibri"/>
                <a:cs typeface="Calibri"/>
              </a:rPr>
              <a:t> </a:t>
            </a:r>
            <a:r>
              <a:rPr sz="1298" spc="-20" dirty="0">
                <a:solidFill>
                  <a:srgbClr val="202020"/>
                </a:solidFill>
                <a:latin typeface="Calibri"/>
                <a:cs typeface="Calibri"/>
              </a:rPr>
              <a:t>ALTER</a:t>
            </a:r>
            <a:r>
              <a:rPr sz="1298" spc="-35" dirty="0">
                <a:solidFill>
                  <a:srgbClr val="202020"/>
                </a:solidFill>
                <a:latin typeface="Calibri"/>
                <a:cs typeface="Calibri"/>
              </a:rPr>
              <a:t> </a:t>
            </a:r>
            <a:r>
              <a:rPr sz="1298" spc="-10" dirty="0">
                <a:solidFill>
                  <a:srgbClr val="202020"/>
                </a:solidFill>
                <a:latin typeface="Calibri"/>
                <a:cs typeface="Calibri"/>
              </a:rPr>
              <a:t>date_of_birth</a:t>
            </a:r>
            <a:r>
              <a:rPr sz="1298" spc="-30" dirty="0">
                <a:solidFill>
                  <a:srgbClr val="202020"/>
                </a:solidFill>
                <a:latin typeface="Calibri"/>
                <a:cs typeface="Calibri"/>
              </a:rPr>
              <a:t> </a:t>
            </a:r>
            <a:r>
              <a:rPr sz="1298" dirty="0">
                <a:solidFill>
                  <a:srgbClr val="202020"/>
                </a:solidFill>
                <a:latin typeface="Calibri"/>
                <a:cs typeface="Calibri"/>
              </a:rPr>
              <a:t>from</a:t>
            </a:r>
            <a:r>
              <a:rPr sz="1298" spc="-35" dirty="0">
                <a:solidFill>
                  <a:srgbClr val="202020"/>
                </a:solidFill>
                <a:latin typeface="Calibri"/>
                <a:cs typeface="Calibri"/>
              </a:rPr>
              <a:t> </a:t>
            </a:r>
            <a:r>
              <a:rPr sz="1298" dirty="0">
                <a:solidFill>
                  <a:srgbClr val="202020"/>
                </a:solidFill>
                <a:latin typeface="Calibri"/>
                <a:cs typeface="Calibri"/>
              </a:rPr>
              <a:t>TEXT</a:t>
            </a:r>
            <a:r>
              <a:rPr sz="1298" spc="-35" dirty="0">
                <a:solidFill>
                  <a:srgbClr val="202020"/>
                </a:solidFill>
                <a:latin typeface="Calibri"/>
                <a:cs typeface="Calibri"/>
              </a:rPr>
              <a:t> </a:t>
            </a:r>
            <a:r>
              <a:rPr sz="1298" dirty="0">
                <a:solidFill>
                  <a:srgbClr val="202020"/>
                </a:solidFill>
                <a:latin typeface="Calibri"/>
                <a:cs typeface="Calibri"/>
              </a:rPr>
              <a:t>to</a:t>
            </a:r>
            <a:r>
              <a:rPr sz="1298" spc="-30" dirty="0">
                <a:solidFill>
                  <a:srgbClr val="202020"/>
                </a:solidFill>
                <a:latin typeface="Calibri"/>
                <a:cs typeface="Calibri"/>
              </a:rPr>
              <a:t> </a:t>
            </a:r>
            <a:r>
              <a:rPr sz="1298" spc="-20" dirty="0">
                <a:solidFill>
                  <a:srgbClr val="202020"/>
                </a:solidFill>
                <a:latin typeface="Calibri"/>
                <a:cs typeface="Calibri"/>
              </a:rPr>
              <a:t>DATE.</a:t>
            </a:r>
            <a:endParaRPr sz="1298">
              <a:latin typeface="Calibri"/>
              <a:cs typeface="Calibri"/>
            </a:endParaRPr>
          </a:p>
          <a:p>
            <a:pPr marL="189003" indent="-176318">
              <a:spcBef>
                <a:spcPts val="315"/>
              </a:spcBef>
              <a:buAutoNum type="alphaLcParenR"/>
              <a:tabLst>
                <a:tab pos="189003" algn="l"/>
              </a:tabLst>
            </a:pPr>
            <a:r>
              <a:rPr sz="1298" b="1" dirty="0">
                <a:solidFill>
                  <a:srgbClr val="1D3A5E"/>
                </a:solidFill>
                <a:latin typeface="Calibri"/>
                <a:cs typeface="Calibri"/>
              </a:rPr>
              <a:t>:</a:t>
            </a:r>
            <a:r>
              <a:rPr sz="1298" b="1" spc="-30" dirty="0">
                <a:solidFill>
                  <a:srgbClr val="1D3A5E"/>
                </a:solidFill>
                <a:latin typeface="Calibri"/>
                <a:cs typeface="Calibri"/>
              </a:rPr>
              <a:t> </a:t>
            </a:r>
            <a:r>
              <a:rPr sz="1298" spc="-20" dirty="0">
                <a:solidFill>
                  <a:srgbClr val="202020"/>
                </a:solidFill>
                <a:latin typeface="Calibri"/>
                <a:cs typeface="Calibri"/>
              </a:rPr>
              <a:t>ALTER</a:t>
            </a:r>
            <a:r>
              <a:rPr sz="1298" spc="-35" dirty="0">
                <a:solidFill>
                  <a:srgbClr val="202020"/>
                </a:solidFill>
                <a:latin typeface="Calibri"/>
                <a:cs typeface="Calibri"/>
              </a:rPr>
              <a:t> </a:t>
            </a:r>
            <a:r>
              <a:rPr sz="1298" spc="-10" dirty="0">
                <a:solidFill>
                  <a:srgbClr val="202020"/>
                </a:solidFill>
                <a:latin typeface="Calibri"/>
                <a:cs typeface="Calibri"/>
              </a:rPr>
              <a:t>is_active</a:t>
            </a:r>
            <a:r>
              <a:rPr sz="1298" spc="-30" dirty="0">
                <a:solidFill>
                  <a:srgbClr val="202020"/>
                </a:solidFill>
                <a:latin typeface="Calibri"/>
                <a:cs typeface="Calibri"/>
              </a:rPr>
              <a:t> </a:t>
            </a:r>
            <a:r>
              <a:rPr sz="1298" dirty="0">
                <a:solidFill>
                  <a:srgbClr val="202020"/>
                </a:solidFill>
                <a:latin typeface="Calibri"/>
                <a:cs typeface="Calibri"/>
              </a:rPr>
              <a:t>from</a:t>
            </a:r>
            <a:r>
              <a:rPr sz="1298" spc="-30" dirty="0">
                <a:solidFill>
                  <a:srgbClr val="202020"/>
                </a:solidFill>
                <a:latin typeface="Calibri"/>
                <a:cs typeface="Calibri"/>
              </a:rPr>
              <a:t> </a:t>
            </a:r>
            <a:r>
              <a:rPr sz="1298" dirty="0">
                <a:solidFill>
                  <a:srgbClr val="202020"/>
                </a:solidFill>
                <a:latin typeface="Calibri"/>
                <a:cs typeface="Calibri"/>
              </a:rPr>
              <a:t>TEXT</a:t>
            </a:r>
            <a:r>
              <a:rPr sz="1298" spc="-30" dirty="0">
                <a:solidFill>
                  <a:srgbClr val="202020"/>
                </a:solidFill>
                <a:latin typeface="Calibri"/>
                <a:cs typeface="Calibri"/>
              </a:rPr>
              <a:t> </a:t>
            </a:r>
            <a:r>
              <a:rPr sz="1298" dirty="0">
                <a:solidFill>
                  <a:srgbClr val="202020"/>
                </a:solidFill>
                <a:latin typeface="Calibri"/>
                <a:cs typeface="Calibri"/>
              </a:rPr>
              <a:t>to</a:t>
            </a:r>
            <a:r>
              <a:rPr sz="1298" spc="-30" dirty="0">
                <a:solidFill>
                  <a:srgbClr val="202020"/>
                </a:solidFill>
                <a:latin typeface="Calibri"/>
                <a:cs typeface="Calibri"/>
              </a:rPr>
              <a:t> </a:t>
            </a:r>
            <a:r>
              <a:rPr sz="1298" spc="-10" dirty="0">
                <a:solidFill>
                  <a:srgbClr val="202020"/>
                </a:solidFill>
                <a:latin typeface="Calibri"/>
                <a:cs typeface="Calibri"/>
              </a:rPr>
              <a:t>BOOLEAN.</a:t>
            </a:r>
            <a:endParaRPr sz="1298">
              <a:latin typeface="Calibri"/>
              <a:cs typeface="Calibri"/>
            </a:endParaRPr>
          </a:p>
          <a:p>
            <a:pPr marL="183929" indent="-171244">
              <a:spcBef>
                <a:spcPts val="310"/>
              </a:spcBef>
              <a:buAutoNum type="alphaLcParenR"/>
              <a:tabLst>
                <a:tab pos="183929" algn="l"/>
              </a:tabLst>
            </a:pPr>
            <a:r>
              <a:rPr sz="1298" b="1" dirty="0">
                <a:solidFill>
                  <a:srgbClr val="1D3A5E"/>
                </a:solidFill>
                <a:latin typeface="Calibri"/>
                <a:cs typeface="Calibri"/>
              </a:rPr>
              <a:t>:</a:t>
            </a:r>
            <a:r>
              <a:rPr sz="1298" b="1" spc="-40" dirty="0">
                <a:solidFill>
                  <a:srgbClr val="1D3A5E"/>
                </a:solidFill>
                <a:latin typeface="Calibri"/>
                <a:cs typeface="Calibri"/>
              </a:rPr>
              <a:t> </a:t>
            </a:r>
            <a:r>
              <a:rPr sz="1298" dirty="0">
                <a:solidFill>
                  <a:srgbClr val="202020"/>
                </a:solidFill>
                <a:latin typeface="Calibri"/>
                <a:cs typeface="Calibri"/>
              </a:rPr>
              <a:t>Run</a:t>
            </a:r>
            <a:r>
              <a:rPr sz="1298" spc="-35" dirty="0">
                <a:solidFill>
                  <a:srgbClr val="202020"/>
                </a:solidFill>
                <a:latin typeface="Calibri"/>
                <a:cs typeface="Calibri"/>
              </a:rPr>
              <a:t> </a:t>
            </a:r>
            <a:r>
              <a:rPr sz="1298" dirty="0">
                <a:solidFill>
                  <a:srgbClr val="202020"/>
                </a:solidFill>
                <a:latin typeface="Calibri"/>
                <a:cs typeface="Calibri"/>
              </a:rPr>
              <a:t>\d</a:t>
            </a:r>
            <a:r>
              <a:rPr sz="1298" spc="-35" dirty="0">
                <a:solidFill>
                  <a:srgbClr val="202020"/>
                </a:solidFill>
                <a:latin typeface="Calibri"/>
                <a:cs typeface="Calibri"/>
              </a:rPr>
              <a:t> </a:t>
            </a:r>
            <a:r>
              <a:rPr sz="1298" spc="-10" dirty="0">
                <a:solidFill>
                  <a:srgbClr val="202020"/>
                </a:solidFill>
                <a:latin typeface="Calibri"/>
                <a:cs typeface="Calibri"/>
              </a:rPr>
              <a:t>college.students</a:t>
            </a:r>
            <a:r>
              <a:rPr sz="1298" spc="-35" dirty="0">
                <a:solidFill>
                  <a:srgbClr val="202020"/>
                </a:solidFill>
                <a:latin typeface="Calibri"/>
                <a:cs typeface="Calibri"/>
              </a:rPr>
              <a:t> </a:t>
            </a:r>
            <a:r>
              <a:rPr sz="1298" dirty="0">
                <a:solidFill>
                  <a:srgbClr val="202020"/>
                </a:solidFill>
                <a:latin typeface="Calibri"/>
                <a:cs typeface="Calibri"/>
              </a:rPr>
              <a:t>and</a:t>
            </a:r>
            <a:r>
              <a:rPr sz="1298" spc="-35" dirty="0">
                <a:solidFill>
                  <a:srgbClr val="202020"/>
                </a:solidFill>
                <a:latin typeface="Calibri"/>
                <a:cs typeface="Calibri"/>
              </a:rPr>
              <a:t> </a:t>
            </a:r>
            <a:r>
              <a:rPr sz="1298" dirty="0">
                <a:solidFill>
                  <a:srgbClr val="202020"/>
                </a:solidFill>
                <a:latin typeface="Calibri"/>
                <a:cs typeface="Calibri"/>
              </a:rPr>
              <a:t>confirm</a:t>
            </a:r>
            <a:r>
              <a:rPr sz="1298" spc="-35" dirty="0">
                <a:solidFill>
                  <a:srgbClr val="202020"/>
                </a:solidFill>
                <a:latin typeface="Calibri"/>
                <a:cs typeface="Calibri"/>
              </a:rPr>
              <a:t> </a:t>
            </a:r>
            <a:r>
              <a:rPr sz="1298" dirty="0">
                <a:solidFill>
                  <a:srgbClr val="202020"/>
                </a:solidFill>
                <a:latin typeface="Calibri"/>
                <a:cs typeface="Calibri"/>
              </a:rPr>
              <a:t>the</a:t>
            </a:r>
            <a:r>
              <a:rPr sz="1298" spc="-35" dirty="0">
                <a:solidFill>
                  <a:srgbClr val="202020"/>
                </a:solidFill>
                <a:latin typeface="Calibri"/>
                <a:cs typeface="Calibri"/>
              </a:rPr>
              <a:t> </a:t>
            </a:r>
            <a:r>
              <a:rPr sz="1298" dirty="0">
                <a:solidFill>
                  <a:srgbClr val="202020"/>
                </a:solidFill>
                <a:latin typeface="Calibri"/>
                <a:cs typeface="Calibri"/>
              </a:rPr>
              <a:t>new</a:t>
            </a:r>
            <a:r>
              <a:rPr sz="1298" spc="-35" dirty="0">
                <a:solidFill>
                  <a:srgbClr val="202020"/>
                </a:solidFill>
                <a:latin typeface="Calibri"/>
                <a:cs typeface="Calibri"/>
              </a:rPr>
              <a:t> </a:t>
            </a:r>
            <a:r>
              <a:rPr sz="1298" dirty="0">
                <a:solidFill>
                  <a:srgbClr val="202020"/>
                </a:solidFill>
                <a:latin typeface="Calibri"/>
                <a:cs typeface="Calibri"/>
              </a:rPr>
              <a:t>types.</a:t>
            </a:r>
            <a:r>
              <a:rPr sz="1298" spc="-35" dirty="0">
                <a:solidFill>
                  <a:srgbClr val="202020"/>
                </a:solidFill>
                <a:latin typeface="Calibri"/>
                <a:cs typeface="Calibri"/>
              </a:rPr>
              <a:t> </a:t>
            </a:r>
            <a:r>
              <a:rPr sz="1298" dirty="0">
                <a:solidFill>
                  <a:srgbClr val="202020"/>
                </a:solidFill>
                <a:latin typeface="Calibri"/>
                <a:cs typeface="Calibri"/>
              </a:rPr>
              <a:t>Now</a:t>
            </a:r>
            <a:r>
              <a:rPr sz="1298" spc="-35" dirty="0">
                <a:solidFill>
                  <a:srgbClr val="202020"/>
                </a:solidFill>
                <a:latin typeface="Calibri"/>
                <a:cs typeface="Calibri"/>
              </a:rPr>
              <a:t> </a:t>
            </a:r>
            <a:r>
              <a:rPr sz="1298" spc="-10" dirty="0">
                <a:solidFill>
                  <a:srgbClr val="202020"/>
                </a:solidFill>
                <a:latin typeface="Calibri"/>
                <a:cs typeface="Calibri"/>
              </a:rPr>
              <a:t>student_id</a:t>
            </a:r>
            <a:r>
              <a:rPr sz="1298" spc="-35" dirty="0">
                <a:solidFill>
                  <a:srgbClr val="202020"/>
                </a:solidFill>
                <a:latin typeface="Calibri"/>
                <a:cs typeface="Calibri"/>
              </a:rPr>
              <a:t> </a:t>
            </a:r>
            <a:r>
              <a:rPr sz="1298" dirty="0">
                <a:solidFill>
                  <a:srgbClr val="202020"/>
                </a:solidFill>
                <a:latin typeface="Calibri"/>
                <a:cs typeface="Calibri"/>
              </a:rPr>
              <a:t>math</a:t>
            </a:r>
            <a:r>
              <a:rPr sz="1298" spc="-35" dirty="0">
                <a:solidFill>
                  <a:srgbClr val="202020"/>
                </a:solidFill>
                <a:latin typeface="Calibri"/>
                <a:cs typeface="Calibri"/>
              </a:rPr>
              <a:t> </a:t>
            </a:r>
            <a:r>
              <a:rPr sz="1298" dirty="0">
                <a:solidFill>
                  <a:srgbClr val="202020"/>
                </a:solidFill>
                <a:latin typeface="Calibri"/>
                <a:cs typeface="Calibri"/>
              </a:rPr>
              <a:t>and</a:t>
            </a:r>
            <a:r>
              <a:rPr sz="1298" spc="-35" dirty="0">
                <a:solidFill>
                  <a:srgbClr val="202020"/>
                </a:solidFill>
                <a:latin typeface="Calibri"/>
                <a:cs typeface="Calibri"/>
              </a:rPr>
              <a:t> </a:t>
            </a:r>
            <a:r>
              <a:rPr sz="1298" dirty="0">
                <a:solidFill>
                  <a:srgbClr val="202020"/>
                </a:solidFill>
                <a:latin typeface="Calibri"/>
                <a:cs typeface="Calibri"/>
              </a:rPr>
              <a:t>date</a:t>
            </a:r>
            <a:r>
              <a:rPr sz="1298" spc="-35" dirty="0">
                <a:solidFill>
                  <a:srgbClr val="202020"/>
                </a:solidFill>
                <a:latin typeface="Calibri"/>
                <a:cs typeface="Calibri"/>
              </a:rPr>
              <a:t> </a:t>
            </a:r>
            <a:r>
              <a:rPr sz="1298" spc="-10" dirty="0">
                <a:solidFill>
                  <a:srgbClr val="202020"/>
                </a:solidFill>
                <a:latin typeface="Calibri"/>
                <a:cs typeface="Calibri"/>
              </a:rPr>
              <a:t>comparisons</a:t>
            </a:r>
            <a:r>
              <a:rPr sz="1298" spc="-35" dirty="0">
                <a:solidFill>
                  <a:srgbClr val="202020"/>
                </a:solidFill>
                <a:latin typeface="Calibri"/>
                <a:cs typeface="Calibri"/>
              </a:rPr>
              <a:t> </a:t>
            </a:r>
            <a:r>
              <a:rPr sz="1298" spc="-10" dirty="0">
                <a:solidFill>
                  <a:srgbClr val="202020"/>
                </a:solidFill>
                <a:latin typeface="Calibri"/>
                <a:cs typeface="Calibri"/>
              </a:rPr>
              <a:t>work.</a:t>
            </a:r>
            <a:endParaRPr sz="1298">
              <a:latin typeface="Calibri"/>
              <a:cs typeface="Calibri"/>
            </a:endParaRPr>
          </a:p>
          <a:p>
            <a:pPr marL="12685" marR="195980">
              <a:lnSpc>
                <a:spcPct val="120100"/>
              </a:lnSpc>
              <a:spcBef>
                <a:spcPts val="574"/>
              </a:spcBef>
            </a:pPr>
            <a:r>
              <a:rPr sz="1298" b="1" dirty="0">
                <a:solidFill>
                  <a:srgbClr val="1D3A5E"/>
                </a:solidFill>
                <a:latin typeface="Calibri"/>
                <a:cs typeface="Calibri"/>
              </a:rPr>
              <a:t>Hint:</a:t>
            </a:r>
            <a:r>
              <a:rPr sz="1298" b="1" spc="-40" dirty="0">
                <a:solidFill>
                  <a:srgbClr val="1D3A5E"/>
                </a:solidFill>
                <a:latin typeface="Calibri"/>
                <a:cs typeface="Calibri"/>
              </a:rPr>
              <a:t> </a:t>
            </a:r>
            <a:r>
              <a:rPr sz="1298" dirty="0">
                <a:solidFill>
                  <a:srgbClr val="202020"/>
                </a:solidFill>
                <a:latin typeface="Calibri"/>
                <a:cs typeface="Calibri"/>
              </a:rPr>
              <a:t>TYPE</a:t>
            </a:r>
            <a:r>
              <a:rPr sz="1298" spc="-40" dirty="0">
                <a:solidFill>
                  <a:srgbClr val="202020"/>
                </a:solidFill>
                <a:latin typeface="Calibri"/>
                <a:cs typeface="Calibri"/>
              </a:rPr>
              <a:t> </a:t>
            </a:r>
            <a:r>
              <a:rPr sz="1298" dirty="0">
                <a:solidFill>
                  <a:srgbClr val="202020"/>
                </a:solidFill>
                <a:latin typeface="Calibri"/>
                <a:cs typeface="Calibri"/>
              </a:rPr>
              <a:t>...</a:t>
            </a:r>
            <a:r>
              <a:rPr sz="1298" spc="-40" dirty="0">
                <a:solidFill>
                  <a:srgbClr val="202020"/>
                </a:solidFill>
                <a:latin typeface="Calibri"/>
                <a:cs typeface="Calibri"/>
              </a:rPr>
              <a:t> </a:t>
            </a:r>
            <a:r>
              <a:rPr sz="1298" dirty="0">
                <a:solidFill>
                  <a:srgbClr val="202020"/>
                </a:solidFill>
                <a:latin typeface="Calibri"/>
                <a:cs typeface="Calibri"/>
              </a:rPr>
              <a:t>USING</a:t>
            </a:r>
            <a:r>
              <a:rPr sz="1298" spc="-40" dirty="0">
                <a:solidFill>
                  <a:srgbClr val="202020"/>
                </a:solidFill>
                <a:latin typeface="Calibri"/>
                <a:cs typeface="Calibri"/>
              </a:rPr>
              <a:t> </a:t>
            </a:r>
            <a:r>
              <a:rPr sz="1298" spc="-10" dirty="0">
                <a:solidFill>
                  <a:srgbClr val="202020"/>
                </a:solidFill>
                <a:latin typeface="Calibri"/>
                <a:cs typeface="Calibri"/>
              </a:rPr>
              <a:t>column::newtype</a:t>
            </a:r>
            <a:r>
              <a:rPr sz="1298" spc="-40" dirty="0">
                <a:solidFill>
                  <a:srgbClr val="202020"/>
                </a:solidFill>
                <a:latin typeface="Calibri"/>
                <a:cs typeface="Calibri"/>
              </a:rPr>
              <a:t> </a:t>
            </a:r>
            <a:r>
              <a:rPr sz="1298" dirty="0">
                <a:solidFill>
                  <a:srgbClr val="202020"/>
                </a:solidFill>
                <a:latin typeface="Calibri"/>
                <a:cs typeface="Calibri"/>
              </a:rPr>
              <a:t>tells</a:t>
            </a:r>
            <a:r>
              <a:rPr sz="1298" spc="-40" dirty="0">
                <a:solidFill>
                  <a:srgbClr val="202020"/>
                </a:solidFill>
                <a:latin typeface="Calibri"/>
                <a:cs typeface="Calibri"/>
              </a:rPr>
              <a:t> </a:t>
            </a:r>
            <a:r>
              <a:rPr sz="1298" spc="-10" dirty="0">
                <a:solidFill>
                  <a:srgbClr val="202020"/>
                </a:solidFill>
                <a:latin typeface="Calibri"/>
                <a:cs typeface="Calibri"/>
              </a:rPr>
              <a:t>PostgreSQL</a:t>
            </a:r>
            <a:r>
              <a:rPr sz="1298" spc="-40" dirty="0">
                <a:solidFill>
                  <a:srgbClr val="202020"/>
                </a:solidFill>
                <a:latin typeface="Calibri"/>
                <a:cs typeface="Calibri"/>
              </a:rPr>
              <a:t> </a:t>
            </a:r>
            <a:r>
              <a:rPr sz="1298" dirty="0">
                <a:solidFill>
                  <a:srgbClr val="202020"/>
                </a:solidFill>
                <a:latin typeface="Calibri"/>
                <a:cs typeface="Calibri"/>
              </a:rPr>
              <a:t>how</a:t>
            </a:r>
            <a:r>
              <a:rPr sz="1298" spc="-40" dirty="0">
                <a:solidFill>
                  <a:srgbClr val="202020"/>
                </a:solidFill>
                <a:latin typeface="Calibri"/>
                <a:cs typeface="Calibri"/>
              </a:rPr>
              <a:t> </a:t>
            </a:r>
            <a:r>
              <a:rPr sz="1298" dirty="0">
                <a:solidFill>
                  <a:srgbClr val="202020"/>
                </a:solidFill>
                <a:latin typeface="Calibri"/>
                <a:cs typeface="Calibri"/>
              </a:rPr>
              <a:t>to</a:t>
            </a:r>
            <a:r>
              <a:rPr sz="1298" spc="-40" dirty="0">
                <a:solidFill>
                  <a:srgbClr val="202020"/>
                </a:solidFill>
                <a:latin typeface="Calibri"/>
                <a:cs typeface="Calibri"/>
              </a:rPr>
              <a:t> </a:t>
            </a:r>
            <a:r>
              <a:rPr sz="1298" spc="-10" dirty="0">
                <a:solidFill>
                  <a:srgbClr val="202020"/>
                </a:solidFill>
                <a:latin typeface="Calibri"/>
                <a:cs typeface="Calibri"/>
              </a:rPr>
              <a:t>convert</a:t>
            </a:r>
            <a:r>
              <a:rPr sz="1298" spc="-35" dirty="0">
                <a:solidFill>
                  <a:srgbClr val="202020"/>
                </a:solidFill>
                <a:latin typeface="Calibri"/>
                <a:cs typeface="Calibri"/>
              </a:rPr>
              <a:t> </a:t>
            </a:r>
            <a:r>
              <a:rPr sz="1298" dirty="0">
                <a:solidFill>
                  <a:srgbClr val="202020"/>
                </a:solidFill>
                <a:latin typeface="Calibri"/>
                <a:cs typeface="Calibri"/>
              </a:rPr>
              <a:t>the</a:t>
            </a:r>
            <a:r>
              <a:rPr sz="1298" spc="-40" dirty="0">
                <a:solidFill>
                  <a:srgbClr val="202020"/>
                </a:solidFill>
                <a:latin typeface="Calibri"/>
                <a:cs typeface="Calibri"/>
              </a:rPr>
              <a:t> </a:t>
            </a:r>
            <a:r>
              <a:rPr sz="1298" spc="-10" dirty="0">
                <a:solidFill>
                  <a:srgbClr val="202020"/>
                </a:solidFill>
                <a:latin typeface="Calibri"/>
                <a:cs typeface="Calibri"/>
              </a:rPr>
              <a:t>existing</a:t>
            </a:r>
            <a:r>
              <a:rPr sz="1298" spc="-40" dirty="0">
                <a:solidFill>
                  <a:srgbClr val="202020"/>
                </a:solidFill>
                <a:latin typeface="Calibri"/>
                <a:cs typeface="Calibri"/>
              </a:rPr>
              <a:t> </a:t>
            </a:r>
            <a:r>
              <a:rPr sz="1298" dirty="0">
                <a:solidFill>
                  <a:srgbClr val="202020"/>
                </a:solidFill>
                <a:latin typeface="Calibri"/>
                <a:cs typeface="Calibri"/>
              </a:rPr>
              <a:t>text.</a:t>
            </a:r>
            <a:r>
              <a:rPr sz="1298" spc="-40" dirty="0">
                <a:solidFill>
                  <a:srgbClr val="202020"/>
                </a:solidFill>
                <a:latin typeface="Calibri"/>
                <a:cs typeface="Calibri"/>
              </a:rPr>
              <a:t> </a:t>
            </a:r>
            <a:r>
              <a:rPr sz="1298" dirty="0">
                <a:solidFill>
                  <a:srgbClr val="202020"/>
                </a:solidFill>
                <a:latin typeface="Calibri"/>
                <a:cs typeface="Calibri"/>
              </a:rPr>
              <a:t>If</a:t>
            </a:r>
            <a:r>
              <a:rPr sz="1298" spc="-40" dirty="0">
                <a:solidFill>
                  <a:srgbClr val="202020"/>
                </a:solidFill>
                <a:latin typeface="Calibri"/>
                <a:cs typeface="Calibri"/>
              </a:rPr>
              <a:t> </a:t>
            </a:r>
            <a:r>
              <a:rPr sz="1298" dirty="0">
                <a:solidFill>
                  <a:srgbClr val="202020"/>
                </a:solidFill>
                <a:latin typeface="Calibri"/>
                <a:cs typeface="Calibri"/>
              </a:rPr>
              <a:t>a</a:t>
            </a:r>
            <a:r>
              <a:rPr sz="1298" spc="-40" dirty="0">
                <a:solidFill>
                  <a:srgbClr val="202020"/>
                </a:solidFill>
                <a:latin typeface="Calibri"/>
                <a:cs typeface="Calibri"/>
              </a:rPr>
              <a:t> </a:t>
            </a:r>
            <a:r>
              <a:rPr sz="1298" dirty="0">
                <a:solidFill>
                  <a:srgbClr val="202020"/>
                </a:solidFill>
                <a:latin typeface="Calibri"/>
                <a:cs typeface="Calibri"/>
              </a:rPr>
              <a:t>value</a:t>
            </a:r>
            <a:r>
              <a:rPr sz="1298" spc="-40" dirty="0">
                <a:solidFill>
                  <a:srgbClr val="202020"/>
                </a:solidFill>
                <a:latin typeface="Calibri"/>
                <a:cs typeface="Calibri"/>
              </a:rPr>
              <a:t> </a:t>
            </a:r>
            <a:r>
              <a:rPr sz="1298" dirty="0">
                <a:solidFill>
                  <a:srgbClr val="202020"/>
                </a:solidFill>
                <a:latin typeface="Calibri"/>
                <a:cs typeface="Calibri"/>
              </a:rPr>
              <a:t>cannot</a:t>
            </a:r>
            <a:r>
              <a:rPr sz="1298" spc="-40" dirty="0">
                <a:solidFill>
                  <a:srgbClr val="202020"/>
                </a:solidFill>
                <a:latin typeface="Calibri"/>
                <a:cs typeface="Calibri"/>
              </a:rPr>
              <a:t> </a:t>
            </a:r>
            <a:r>
              <a:rPr sz="1298" spc="-10" dirty="0">
                <a:solidFill>
                  <a:srgbClr val="202020"/>
                </a:solidFill>
                <a:latin typeface="Calibri"/>
                <a:cs typeface="Calibri"/>
              </a:rPr>
              <a:t>convert,</a:t>
            </a:r>
            <a:r>
              <a:rPr sz="1298" spc="-40" dirty="0">
                <a:solidFill>
                  <a:srgbClr val="202020"/>
                </a:solidFill>
                <a:latin typeface="Calibri"/>
                <a:cs typeface="Calibri"/>
              </a:rPr>
              <a:t> </a:t>
            </a:r>
            <a:r>
              <a:rPr sz="1298" spc="-25" dirty="0">
                <a:solidFill>
                  <a:srgbClr val="202020"/>
                </a:solidFill>
                <a:latin typeface="Calibri"/>
                <a:cs typeface="Calibri"/>
              </a:rPr>
              <a:t>the </a:t>
            </a:r>
            <a:r>
              <a:rPr sz="1298" spc="-20" dirty="0">
                <a:solidFill>
                  <a:srgbClr val="202020"/>
                </a:solidFill>
                <a:latin typeface="Calibri"/>
                <a:cs typeface="Calibri"/>
              </a:rPr>
              <a:t>ALTER</a:t>
            </a:r>
            <a:r>
              <a:rPr sz="1298" spc="-40" dirty="0">
                <a:solidFill>
                  <a:srgbClr val="202020"/>
                </a:solidFill>
                <a:latin typeface="Calibri"/>
                <a:cs typeface="Calibri"/>
              </a:rPr>
              <a:t> </a:t>
            </a:r>
            <a:r>
              <a:rPr sz="1298" dirty="0">
                <a:solidFill>
                  <a:srgbClr val="202020"/>
                </a:solidFill>
                <a:latin typeface="Calibri"/>
                <a:cs typeface="Calibri"/>
              </a:rPr>
              <a:t>fails</a:t>
            </a:r>
            <a:r>
              <a:rPr sz="1298" spc="-40" dirty="0">
                <a:solidFill>
                  <a:srgbClr val="202020"/>
                </a:solidFill>
                <a:latin typeface="Calibri"/>
                <a:cs typeface="Calibri"/>
              </a:rPr>
              <a:t> </a:t>
            </a:r>
            <a:r>
              <a:rPr sz="1298" dirty="0">
                <a:solidFill>
                  <a:srgbClr val="202020"/>
                </a:solidFill>
                <a:latin typeface="Calibri"/>
                <a:cs typeface="Calibri"/>
              </a:rPr>
              <a:t>-</a:t>
            </a:r>
            <a:r>
              <a:rPr sz="1298" spc="-40" dirty="0">
                <a:solidFill>
                  <a:srgbClr val="202020"/>
                </a:solidFill>
                <a:latin typeface="Calibri"/>
                <a:cs typeface="Calibri"/>
              </a:rPr>
              <a:t> </a:t>
            </a:r>
            <a:r>
              <a:rPr sz="1298" dirty="0">
                <a:solidFill>
                  <a:srgbClr val="202020"/>
                </a:solidFill>
                <a:latin typeface="Calibri"/>
                <a:cs typeface="Calibri"/>
              </a:rPr>
              <a:t>that</a:t>
            </a:r>
            <a:r>
              <a:rPr sz="1298" spc="-40" dirty="0">
                <a:solidFill>
                  <a:srgbClr val="202020"/>
                </a:solidFill>
                <a:latin typeface="Calibri"/>
                <a:cs typeface="Calibri"/>
              </a:rPr>
              <a:t> </a:t>
            </a:r>
            <a:r>
              <a:rPr sz="1298" dirty="0">
                <a:solidFill>
                  <a:srgbClr val="202020"/>
                </a:solidFill>
                <a:latin typeface="Calibri"/>
                <a:cs typeface="Calibri"/>
              </a:rPr>
              <a:t>is</a:t>
            </a:r>
            <a:r>
              <a:rPr sz="1298" spc="-40" dirty="0">
                <a:solidFill>
                  <a:srgbClr val="202020"/>
                </a:solidFill>
                <a:latin typeface="Calibri"/>
                <a:cs typeface="Calibri"/>
              </a:rPr>
              <a:t> </a:t>
            </a:r>
            <a:r>
              <a:rPr sz="1298" dirty="0">
                <a:solidFill>
                  <a:srgbClr val="202020"/>
                </a:solidFill>
                <a:latin typeface="Calibri"/>
                <a:cs typeface="Calibri"/>
              </a:rPr>
              <a:t>the</a:t>
            </a:r>
            <a:r>
              <a:rPr sz="1298" spc="-40" dirty="0">
                <a:solidFill>
                  <a:srgbClr val="202020"/>
                </a:solidFill>
                <a:latin typeface="Calibri"/>
                <a:cs typeface="Calibri"/>
              </a:rPr>
              <a:t> </a:t>
            </a:r>
            <a:r>
              <a:rPr sz="1298" dirty="0">
                <a:solidFill>
                  <a:srgbClr val="202020"/>
                </a:solidFill>
                <a:latin typeface="Calibri"/>
                <a:cs typeface="Calibri"/>
              </a:rPr>
              <a:t>type</a:t>
            </a:r>
            <a:r>
              <a:rPr sz="1298" spc="-40" dirty="0">
                <a:solidFill>
                  <a:srgbClr val="202020"/>
                </a:solidFill>
                <a:latin typeface="Calibri"/>
                <a:cs typeface="Calibri"/>
              </a:rPr>
              <a:t> </a:t>
            </a:r>
            <a:r>
              <a:rPr sz="1298" spc="-10" dirty="0">
                <a:solidFill>
                  <a:srgbClr val="202020"/>
                </a:solidFill>
                <a:latin typeface="Calibri"/>
                <a:cs typeface="Calibri"/>
              </a:rPr>
              <a:t>defending</a:t>
            </a:r>
            <a:r>
              <a:rPr sz="1298" spc="-40" dirty="0">
                <a:solidFill>
                  <a:srgbClr val="202020"/>
                </a:solidFill>
                <a:latin typeface="Calibri"/>
                <a:cs typeface="Calibri"/>
              </a:rPr>
              <a:t> </a:t>
            </a:r>
            <a:r>
              <a:rPr sz="1298" dirty="0">
                <a:solidFill>
                  <a:srgbClr val="202020"/>
                </a:solidFill>
                <a:latin typeface="Calibri"/>
                <a:cs typeface="Calibri"/>
              </a:rPr>
              <a:t>your</a:t>
            </a:r>
            <a:r>
              <a:rPr sz="1298" spc="-40" dirty="0">
                <a:solidFill>
                  <a:srgbClr val="202020"/>
                </a:solidFill>
                <a:latin typeface="Calibri"/>
                <a:cs typeface="Calibri"/>
              </a:rPr>
              <a:t> </a:t>
            </a:r>
            <a:r>
              <a:rPr sz="1298" spc="-10" dirty="0">
                <a:solidFill>
                  <a:srgbClr val="202020"/>
                </a:solidFill>
                <a:latin typeface="Calibri"/>
                <a:cs typeface="Calibri"/>
              </a:rPr>
              <a:t>data.</a:t>
            </a:r>
            <a:endParaRPr sz="1298">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638" y="3"/>
            <a:ext cx="9132725" cy="5137792"/>
          </a:xfrm>
          <a:custGeom>
            <a:avLst/>
            <a:gdLst/>
            <a:ahLst/>
            <a:cxnLst/>
            <a:rect l="l" t="t" r="r" b="b"/>
            <a:pathLst>
              <a:path w="9144000" h="5144135">
                <a:moveTo>
                  <a:pt x="9144000" y="0"/>
                </a:moveTo>
                <a:lnTo>
                  <a:pt x="0" y="0"/>
                </a:lnTo>
                <a:lnTo>
                  <a:pt x="0" y="5143677"/>
                </a:lnTo>
                <a:lnTo>
                  <a:pt x="9144000" y="5143677"/>
                </a:lnTo>
                <a:lnTo>
                  <a:pt x="9144000" y="0"/>
                </a:lnTo>
                <a:close/>
              </a:path>
            </a:pathLst>
          </a:custGeom>
          <a:solidFill>
            <a:srgbClr val="1D1D1D"/>
          </a:solidFill>
        </p:spPr>
        <p:txBody>
          <a:bodyPr wrap="square" lIns="0" tIns="0" rIns="0" bIns="0" rtlCol="0"/>
          <a:lstStyle/>
          <a:p>
            <a:endParaRPr sz="1798"/>
          </a:p>
        </p:txBody>
      </p:sp>
      <p:sp>
        <p:nvSpPr>
          <p:cNvPr id="3" name="object 3"/>
          <p:cNvSpPr/>
          <p:nvPr/>
        </p:nvSpPr>
        <p:spPr>
          <a:xfrm>
            <a:off x="5283" y="4839990"/>
            <a:ext cx="9132725" cy="296814"/>
          </a:xfrm>
          <a:custGeom>
            <a:avLst/>
            <a:gdLst/>
            <a:ahLst/>
            <a:cxnLst/>
            <a:rect l="l" t="t" r="r" b="b"/>
            <a:pathLst>
              <a:path w="9144000" h="297179">
                <a:moveTo>
                  <a:pt x="9143631" y="0"/>
                </a:moveTo>
                <a:lnTo>
                  <a:pt x="0" y="0"/>
                </a:lnTo>
                <a:lnTo>
                  <a:pt x="0" y="296989"/>
                </a:lnTo>
                <a:lnTo>
                  <a:pt x="4572000" y="296989"/>
                </a:lnTo>
                <a:lnTo>
                  <a:pt x="9143631" y="296989"/>
                </a:lnTo>
                <a:lnTo>
                  <a:pt x="9143631" y="0"/>
                </a:lnTo>
                <a:close/>
              </a:path>
            </a:pathLst>
          </a:custGeom>
          <a:solidFill>
            <a:srgbClr val="333333"/>
          </a:solidFill>
        </p:spPr>
        <p:txBody>
          <a:bodyPr wrap="square" lIns="0" tIns="0" rIns="0" bIns="0" rtlCol="0"/>
          <a:lstStyle/>
          <a:p>
            <a:endParaRPr sz="1798"/>
          </a:p>
        </p:txBody>
      </p:sp>
      <p:sp>
        <p:nvSpPr>
          <p:cNvPr id="4" name="object 4"/>
          <p:cNvSpPr/>
          <p:nvPr/>
        </p:nvSpPr>
        <p:spPr>
          <a:xfrm>
            <a:off x="5283" y="-353"/>
            <a:ext cx="9132725" cy="54543"/>
          </a:xfrm>
          <a:custGeom>
            <a:avLst/>
            <a:gdLst/>
            <a:ahLst/>
            <a:cxnLst/>
            <a:rect l="l" t="t" r="r" b="b"/>
            <a:pathLst>
              <a:path w="9144000" h="54610">
                <a:moveTo>
                  <a:pt x="9143631" y="0"/>
                </a:moveTo>
                <a:lnTo>
                  <a:pt x="0" y="0"/>
                </a:lnTo>
                <a:lnTo>
                  <a:pt x="0" y="54355"/>
                </a:lnTo>
                <a:lnTo>
                  <a:pt x="4572000" y="54355"/>
                </a:lnTo>
                <a:lnTo>
                  <a:pt x="9143631" y="54355"/>
                </a:lnTo>
                <a:lnTo>
                  <a:pt x="9143631" y="0"/>
                </a:lnTo>
                <a:close/>
              </a:path>
            </a:pathLst>
          </a:custGeom>
          <a:solidFill>
            <a:srgbClr val="4CAE50"/>
          </a:solidFill>
        </p:spPr>
        <p:txBody>
          <a:bodyPr wrap="square" lIns="0" tIns="0" rIns="0" bIns="0" rtlCol="0"/>
          <a:lstStyle/>
          <a:p>
            <a:endParaRPr sz="1798"/>
          </a:p>
        </p:txBody>
      </p:sp>
      <p:sp>
        <p:nvSpPr>
          <p:cNvPr id="5" name="object 5"/>
          <p:cNvSpPr/>
          <p:nvPr/>
        </p:nvSpPr>
        <p:spPr>
          <a:xfrm>
            <a:off x="7311462" y="136637"/>
            <a:ext cx="1461236" cy="365309"/>
          </a:xfrm>
          <a:custGeom>
            <a:avLst/>
            <a:gdLst/>
            <a:ahLst/>
            <a:cxnLst/>
            <a:rect l="l" t="t" r="r" b="b"/>
            <a:pathLst>
              <a:path w="1463040" h="365759">
                <a:moveTo>
                  <a:pt x="1462671" y="0"/>
                </a:moveTo>
                <a:lnTo>
                  <a:pt x="0" y="0"/>
                </a:lnTo>
                <a:lnTo>
                  <a:pt x="0" y="365391"/>
                </a:lnTo>
                <a:lnTo>
                  <a:pt x="731520" y="365391"/>
                </a:lnTo>
                <a:lnTo>
                  <a:pt x="1462671" y="365391"/>
                </a:lnTo>
                <a:lnTo>
                  <a:pt x="1462671" y="0"/>
                </a:lnTo>
                <a:close/>
              </a:path>
            </a:pathLst>
          </a:custGeom>
          <a:solidFill>
            <a:srgbClr val="4CAE50"/>
          </a:solidFill>
        </p:spPr>
        <p:txBody>
          <a:bodyPr wrap="square" lIns="0" tIns="0" rIns="0" bIns="0" rtlCol="0"/>
          <a:lstStyle/>
          <a:p>
            <a:endParaRPr sz="1798"/>
          </a:p>
        </p:txBody>
      </p:sp>
      <p:sp>
        <p:nvSpPr>
          <p:cNvPr id="6" name="object 6"/>
          <p:cNvSpPr txBox="1"/>
          <p:nvPr/>
        </p:nvSpPr>
        <p:spPr>
          <a:xfrm>
            <a:off x="7685650" y="187953"/>
            <a:ext cx="712226" cy="223183"/>
          </a:xfrm>
          <a:prstGeom prst="rect">
            <a:avLst/>
          </a:prstGeom>
        </p:spPr>
        <p:txBody>
          <a:bodyPr vert="horz" wrap="square" lIns="0" tIns="15855" rIns="0" bIns="0" rtlCol="0">
            <a:spAutoFit/>
          </a:bodyPr>
          <a:lstStyle/>
          <a:p>
            <a:pPr marL="12685">
              <a:spcBef>
                <a:spcPts val="125"/>
              </a:spcBef>
            </a:pPr>
            <a:r>
              <a:rPr sz="1348" spc="-155" dirty="0">
                <a:solidFill>
                  <a:srgbClr val="FFFFFF"/>
                </a:solidFill>
                <a:latin typeface="Segoe UI Symbol"/>
                <a:cs typeface="Segoe UI Symbol"/>
              </a:rPr>
              <a:t>✅</a:t>
            </a:r>
            <a:r>
              <a:rPr sz="1348" spc="-225" dirty="0">
                <a:solidFill>
                  <a:srgbClr val="FFFFFF"/>
                </a:solidFill>
                <a:latin typeface="Segoe UI Symbol"/>
                <a:cs typeface="Segoe UI Symbol"/>
              </a:rPr>
              <a:t> </a:t>
            </a:r>
            <a:r>
              <a:rPr sz="1099" b="1" spc="-10" dirty="0">
                <a:solidFill>
                  <a:srgbClr val="FFFFFF"/>
                </a:solidFill>
                <a:latin typeface="Calibri"/>
                <a:cs typeface="Calibri"/>
              </a:rPr>
              <a:t>ANSWER</a:t>
            </a:r>
            <a:endParaRPr sz="1099">
              <a:latin typeface="Calibri"/>
              <a:cs typeface="Calibri"/>
            </a:endParaRPr>
          </a:p>
        </p:txBody>
      </p:sp>
      <p:sp>
        <p:nvSpPr>
          <p:cNvPr id="7" name="object 7" descr="$PPTXTitle"/>
          <p:cNvSpPr txBox="1">
            <a:spLocks noGrp="1"/>
          </p:cNvSpPr>
          <p:nvPr>
            <p:ph type="title"/>
          </p:nvPr>
        </p:nvSpPr>
        <p:spPr>
          <a:xfrm>
            <a:off x="357907" y="180766"/>
            <a:ext cx="818140" cy="257766"/>
          </a:xfrm>
          <a:prstGeom prst="rect">
            <a:avLst/>
          </a:prstGeom>
        </p:spPr>
        <p:txBody>
          <a:bodyPr vert="horz" wrap="square" lIns="0" tIns="12050" rIns="0" bIns="0" rtlCol="0">
            <a:spAutoFit/>
          </a:bodyPr>
          <a:lstStyle/>
          <a:p>
            <a:pPr marL="12685">
              <a:spcBef>
                <a:spcPts val="95"/>
              </a:spcBef>
            </a:pPr>
            <a:r>
              <a:rPr spc="-10" dirty="0">
                <a:latin typeface="Georgia"/>
                <a:cs typeface="Georgia"/>
              </a:rPr>
              <a:t>Answer</a:t>
            </a:r>
          </a:p>
        </p:txBody>
      </p:sp>
      <p:sp>
        <p:nvSpPr>
          <p:cNvPr id="8" name="object 8"/>
          <p:cNvSpPr txBox="1"/>
          <p:nvPr/>
        </p:nvSpPr>
        <p:spPr>
          <a:xfrm>
            <a:off x="356461" y="625393"/>
            <a:ext cx="5733956" cy="2874272"/>
          </a:xfrm>
          <a:prstGeom prst="rect">
            <a:avLst/>
          </a:prstGeom>
        </p:spPr>
        <p:txBody>
          <a:bodyPr vert="horz" wrap="square" lIns="0" tIns="12684" rIns="0" bIns="0" rtlCol="0">
            <a:spAutoFit/>
          </a:bodyPr>
          <a:lstStyle/>
          <a:p>
            <a:pPr marL="12685" marR="3429958">
              <a:lnSpc>
                <a:spcPct val="110100"/>
              </a:lnSpc>
              <a:spcBef>
                <a:spcPts val="100"/>
              </a:spcBef>
            </a:pPr>
            <a:r>
              <a:rPr sz="999" spc="-10" dirty="0">
                <a:solidFill>
                  <a:srgbClr val="699954"/>
                </a:solidFill>
                <a:latin typeface="Courier New"/>
                <a:cs typeface="Courier New"/>
              </a:rPr>
              <a:t>-</a:t>
            </a:r>
            <a:r>
              <a:rPr sz="999" dirty="0">
                <a:solidFill>
                  <a:srgbClr val="699954"/>
                </a:solidFill>
                <a:latin typeface="Courier New"/>
                <a:cs typeface="Courier New"/>
              </a:rPr>
              <a:t>-</a:t>
            </a:r>
            <a:r>
              <a:rPr sz="999" spc="-20" dirty="0">
                <a:solidFill>
                  <a:srgbClr val="699954"/>
                </a:solidFill>
                <a:latin typeface="Courier New"/>
                <a:cs typeface="Courier New"/>
              </a:rPr>
              <a:t> </a:t>
            </a:r>
            <a:r>
              <a:rPr sz="999" dirty="0">
                <a:solidFill>
                  <a:srgbClr val="699954"/>
                </a:solidFill>
                <a:latin typeface="Courier New"/>
                <a:cs typeface="Courier New"/>
              </a:rPr>
              <a:t>(a)</a:t>
            </a:r>
            <a:r>
              <a:rPr sz="999" spc="-15" dirty="0">
                <a:solidFill>
                  <a:srgbClr val="699954"/>
                </a:solidFill>
                <a:latin typeface="Courier New"/>
                <a:cs typeface="Courier New"/>
              </a:rPr>
              <a:t> </a:t>
            </a:r>
            <a:r>
              <a:rPr sz="999" dirty="0">
                <a:solidFill>
                  <a:srgbClr val="699954"/>
                </a:solidFill>
                <a:latin typeface="Courier New"/>
                <a:cs typeface="Courier New"/>
              </a:rPr>
              <a:t>ensure</a:t>
            </a:r>
            <a:r>
              <a:rPr sz="999" spc="-20" dirty="0">
                <a:solidFill>
                  <a:srgbClr val="699954"/>
                </a:solidFill>
                <a:latin typeface="Courier New"/>
                <a:cs typeface="Courier New"/>
              </a:rPr>
              <a:t> </a:t>
            </a:r>
            <a:r>
              <a:rPr sz="999" dirty="0">
                <a:solidFill>
                  <a:srgbClr val="699954"/>
                </a:solidFill>
                <a:latin typeface="Courier New"/>
                <a:cs typeface="Courier New"/>
              </a:rPr>
              <a:t>some</a:t>
            </a:r>
            <a:r>
              <a:rPr sz="999" spc="-15" dirty="0">
                <a:solidFill>
                  <a:srgbClr val="699954"/>
                </a:solidFill>
                <a:latin typeface="Courier New"/>
                <a:cs typeface="Courier New"/>
              </a:rPr>
              <a:t> </a:t>
            </a:r>
            <a:r>
              <a:rPr sz="999" dirty="0">
                <a:solidFill>
                  <a:srgbClr val="699954"/>
                </a:solidFill>
                <a:latin typeface="Courier New"/>
                <a:cs typeface="Courier New"/>
              </a:rPr>
              <a:t>data</a:t>
            </a:r>
            <a:r>
              <a:rPr sz="999" spc="-15" dirty="0">
                <a:solidFill>
                  <a:srgbClr val="699954"/>
                </a:solidFill>
                <a:latin typeface="Courier New"/>
                <a:cs typeface="Courier New"/>
              </a:rPr>
              <a:t> </a:t>
            </a:r>
            <a:r>
              <a:rPr sz="999" spc="-10" dirty="0">
                <a:solidFill>
                  <a:srgbClr val="699954"/>
                </a:solidFill>
                <a:latin typeface="Courier New"/>
                <a:cs typeface="Courier New"/>
              </a:rPr>
              <a:t>exists </a:t>
            </a:r>
            <a:r>
              <a:rPr sz="999" dirty="0">
                <a:solidFill>
                  <a:srgbClr val="D3D3D3"/>
                </a:solidFill>
                <a:latin typeface="Courier New"/>
                <a:cs typeface="Courier New"/>
              </a:rPr>
              <a:t>INSERT</a:t>
            </a:r>
            <a:r>
              <a:rPr sz="999" spc="-25" dirty="0">
                <a:solidFill>
                  <a:srgbClr val="D3D3D3"/>
                </a:solidFill>
                <a:latin typeface="Courier New"/>
                <a:cs typeface="Courier New"/>
              </a:rPr>
              <a:t> </a:t>
            </a:r>
            <a:r>
              <a:rPr sz="999" dirty="0">
                <a:solidFill>
                  <a:srgbClr val="D3D3D3"/>
                </a:solidFill>
                <a:latin typeface="Courier New"/>
                <a:cs typeface="Courier New"/>
              </a:rPr>
              <a:t>INTO</a:t>
            </a:r>
            <a:r>
              <a:rPr sz="999" spc="-25" dirty="0">
                <a:solidFill>
                  <a:srgbClr val="D3D3D3"/>
                </a:solidFill>
                <a:latin typeface="Courier New"/>
                <a:cs typeface="Courier New"/>
              </a:rPr>
              <a:t> </a:t>
            </a:r>
            <a:r>
              <a:rPr sz="999" spc="-10" dirty="0">
                <a:solidFill>
                  <a:srgbClr val="D3D3D3"/>
                </a:solidFill>
                <a:latin typeface="Courier New"/>
                <a:cs typeface="Courier New"/>
              </a:rPr>
              <a:t>college.students</a:t>
            </a:r>
            <a:endParaRPr sz="999">
              <a:latin typeface="Courier New"/>
              <a:cs typeface="Courier New"/>
            </a:endParaRPr>
          </a:p>
          <a:p>
            <a:pPr marL="12685" marR="5074" indent="151583">
              <a:lnSpc>
                <a:spcPct val="110100"/>
              </a:lnSpc>
            </a:pPr>
            <a:r>
              <a:rPr sz="999" dirty="0">
                <a:solidFill>
                  <a:srgbClr val="D3D3D3"/>
                </a:solidFill>
                <a:latin typeface="Courier New"/>
                <a:cs typeface="Courier New"/>
              </a:rPr>
              <a:t>(student_id,</a:t>
            </a:r>
            <a:r>
              <a:rPr sz="999" spc="-55" dirty="0">
                <a:solidFill>
                  <a:srgbClr val="D3D3D3"/>
                </a:solidFill>
                <a:latin typeface="Courier New"/>
                <a:cs typeface="Courier New"/>
              </a:rPr>
              <a:t> </a:t>
            </a:r>
            <a:r>
              <a:rPr sz="999" dirty="0">
                <a:solidFill>
                  <a:srgbClr val="D3D3D3"/>
                </a:solidFill>
                <a:latin typeface="Courier New"/>
                <a:cs typeface="Courier New"/>
              </a:rPr>
              <a:t>first_name,</a:t>
            </a:r>
            <a:r>
              <a:rPr sz="999" spc="-55" dirty="0">
                <a:solidFill>
                  <a:srgbClr val="D3D3D3"/>
                </a:solidFill>
                <a:latin typeface="Courier New"/>
                <a:cs typeface="Courier New"/>
              </a:rPr>
              <a:t> </a:t>
            </a:r>
            <a:r>
              <a:rPr sz="999" dirty="0">
                <a:solidFill>
                  <a:srgbClr val="D3D3D3"/>
                </a:solidFill>
                <a:latin typeface="Courier New"/>
                <a:cs typeface="Courier New"/>
              </a:rPr>
              <a:t>last_name,</a:t>
            </a:r>
            <a:r>
              <a:rPr sz="999" spc="-50" dirty="0">
                <a:solidFill>
                  <a:srgbClr val="D3D3D3"/>
                </a:solidFill>
                <a:latin typeface="Courier New"/>
                <a:cs typeface="Courier New"/>
              </a:rPr>
              <a:t> </a:t>
            </a:r>
            <a:r>
              <a:rPr sz="999" dirty="0">
                <a:solidFill>
                  <a:srgbClr val="D3D3D3"/>
                </a:solidFill>
                <a:latin typeface="Courier New"/>
                <a:cs typeface="Courier New"/>
              </a:rPr>
              <a:t>email,</a:t>
            </a:r>
            <a:r>
              <a:rPr sz="999" spc="-55" dirty="0">
                <a:solidFill>
                  <a:srgbClr val="D3D3D3"/>
                </a:solidFill>
                <a:latin typeface="Courier New"/>
                <a:cs typeface="Courier New"/>
              </a:rPr>
              <a:t> </a:t>
            </a:r>
            <a:r>
              <a:rPr sz="999" dirty="0">
                <a:solidFill>
                  <a:srgbClr val="D3D3D3"/>
                </a:solidFill>
                <a:latin typeface="Courier New"/>
                <a:cs typeface="Courier New"/>
              </a:rPr>
              <a:t>date_of_birth,</a:t>
            </a:r>
            <a:r>
              <a:rPr sz="999" spc="-50" dirty="0">
                <a:solidFill>
                  <a:srgbClr val="D3D3D3"/>
                </a:solidFill>
                <a:latin typeface="Courier New"/>
                <a:cs typeface="Courier New"/>
              </a:rPr>
              <a:t> </a:t>
            </a:r>
            <a:r>
              <a:rPr sz="999" spc="-10" dirty="0">
                <a:solidFill>
                  <a:srgbClr val="D3D3D3"/>
                </a:solidFill>
                <a:latin typeface="Courier New"/>
                <a:cs typeface="Courier New"/>
              </a:rPr>
              <a:t>is_active) </a:t>
            </a:r>
            <a:r>
              <a:rPr sz="999" dirty="0">
                <a:solidFill>
                  <a:srgbClr val="D3D3D3"/>
                </a:solidFill>
                <a:latin typeface="Courier New"/>
                <a:cs typeface="Courier New"/>
              </a:rPr>
              <a:t>VALUES</a:t>
            </a:r>
            <a:r>
              <a:rPr sz="999" spc="-40" dirty="0">
                <a:solidFill>
                  <a:srgbClr val="D3D3D3"/>
                </a:solidFill>
                <a:latin typeface="Courier New"/>
                <a:cs typeface="Courier New"/>
              </a:rPr>
              <a:t> </a:t>
            </a:r>
            <a:r>
              <a:rPr sz="999" dirty="0">
                <a:solidFill>
                  <a:srgbClr val="D3D3D3"/>
                </a:solidFill>
                <a:latin typeface="Courier New"/>
                <a:cs typeface="Courier New"/>
              </a:rPr>
              <a:t>('1',</a:t>
            </a:r>
            <a:r>
              <a:rPr sz="999" spc="-30" dirty="0">
                <a:solidFill>
                  <a:srgbClr val="D3D3D3"/>
                </a:solidFill>
                <a:latin typeface="Courier New"/>
                <a:cs typeface="Courier New"/>
              </a:rPr>
              <a:t> </a:t>
            </a:r>
            <a:r>
              <a:rPr sz="999" dirty="0">
                <a:solidFill>
                  <a:srgbClr val="D3D3D3"/>
                </a:solidFill>
                <a:latin typeface="Courier New"/>
                <a:cs typeface="Courier New"/>
              </a:rPr>
              <a:t>'Aarav',</a:t>
            </a:r>
            <a:r>
              <a:rPr sz="999" spc="-35" dirty="0">
                <a:solidFill>
                  <a:srgbClr val="D3D3D3"/>
                </a:solidFill>
                <a:latin typeface="Courier New"/>
                <a:cs typeface="Courier New"/>
              </a:rPr>
              <a:t> </a:t>
            </a:r>
            <a:r>
              <a:rPr sz="999" dirty="0">
                <a:solidFill>
                  <a:srgbClr val="D3D3D3"/>
                </a:solidFill>
                <a:latin typeface="Courier New"/>
                <a:cs typeface="Courier New"/>
              </a:rPr>
              <a:t>'Sharma',</a:t>
            </a:r>
            <a:r>
              <a:rPr sz="999" spc="-35" dirty="0">
                <a:solidFill>
                  <a:srgbClr val="D3D3D3"/>
                </a:solidFill>
                <a:latin typeface="Courier New"/>
                <a:cs typeface="Courier New"/>
              </a:rPr>
              <a:t> </a:t>
            </a:r>
            <a:r>
              <a:rPr sz="999" dirty="0">
                <a:solidFill>
                  <a:srgbClr val="D3D3D3"/>
                </a:solidFill>
                <a:latin typeface="Courier New"/>
                <a:cs typeface="Courier New"/>
                <a:hlinkClick r:id="rId2"/>
              </a:rPr>
              <a:t>'aarav@college.edu'</a:t>
            </a:r>
            <a:r>
              <a:rPr sz="999" dirty="0">
                <a:solidFill>
                  <a:srgbClr val="D3D3D3"/>
                </a:solidFill>
                <a:latin typeface="Courier New"/>
                <a:cs typeface="Courier New"/>
              </a:rPr>
              <a:t>,</a:t>
            </a:r>
            <a:r>
              <a:rPr sz="999" spc="-35" dirty="0">
                <a:solidFill>
                  <a:srgbClr val="D3D3D3"/>
                </a:solidFill>
                <a:latin typeface="Courier New"/>
                <a:cs typeface="Courier New"/>
              </a:rPr>
              <a:t> </a:t>
            </a:r>
            <a:r>
              <a:rPr sz="999" spc="-10" dirty="0">
                <a:solidFill>
                  <a:srgbClr val="D3D3D3"/>
                </a:solidFill>
                <a:latin typeface="Courier New"/>
                <a:cs typeface="Courier New"/>
              </a:rPr>
              <a:t>'2004-03-</a:t>
            </a:r>
            <a:r>
              <a:rPr sz="999" dirty="0">
                <a:solidFill>
                  <a:srgbClr val="D3D3D3"/>
                </a:solidFill>
                <a:latin typeface="Courier New"/>
                <a:cs typeface="Courier New"/>
              </a:rPr>
              <a:t>15',</a:t>
            </a:r>
            <a:r>
              <a:rPr sz="999" spc="-35" dirty="0">
                <a:solidFill>
                  <a:srgbClr val="D3D3D3"/>
                </a:solidFill>
                <a:latin typeface="Courier New"/>
                <a:cs typeface="Courier New"/>
              </a:rPr>
              <a:t> </a:t>
            </a:r>
            <a:r>
              <a:rPr sz="999" spc="-10" dirty="0">
                <a:solidFill>
                  <a:srgbClr val="D3D3D3"/>
                </a:solidFill>
                <a:latin typeface="Courier New"/>
                <a:cs typeface="Courier New"/>
              </a:rPr>
              <a:t>'true');</a:t>
            </a:r>
            <a:endParaRPr sz="999">
              <a:latin typeface="Courier New"/>
              <a:cs typeface="Courier New"/>
            </a:endParaRPr>
          </a:p>
          <a:p>
            <a:pPr>
              <a:spcBef>
                <a:spcPts val="185"/>
              </a:spcBef>
            </a:pPr>
            <a:endParaRPr sz="999">
              <a:latin typeface="Courier New"/>
              <a:cs typeface="Courier New"/>
            </a:endParaRPr>
          </a:p>
          <a:p>
            <a:pPr marL="12685" marR="2592765">
              <a:lnSpc>
                <a:spcPct val="110100"/>
              </a:lnSpc>
            </a:pPr>
            <a:r>
              <a:rPr sz="999" spc="-10" dirty="0">
                <a:solidFill>
                  <a:srgbClr val="699954"/>
                </a:solidFill>
                <a:latin typeface="Courier New"/>
                <a:cs typeface="Courier New"/>
              </a:rPr>
              <a:t>-</a:t>
            </a:r>
            <a:r>
              <a:rPr sz="999" dirty="0">
                <a:solidFill>
                  <a:srgbClr val="699954"/>
                </a:solidFill>
                <a:latin typeface="Courier New"/>
                <a:cs typeface="Courier New"/>
              </a:rPr>
              <a:t>-</a:t>
            </a:r>
            <a:r>
              <a:rPr sz="999" spc="-35" dirty="0">
                <a:solidFill>
                  <a:srgbClr val="699954"/>
                </a:solidFill>
                <a:latin typeface="Courier New"/>
                <a:cs typeface="Courier New"/>
              </a:rPr>
              <a:t> </a:t>
            </a:r>
            <a:r>
              <a:rPr sz="999" dirty="0">
                <a:solidFill>
                  <a:srgbClr val="699954"/>
                </a:solidFill>
                <a:latin typeface="Courier New"/>
                <a:cs typeface="Courier New"/>
              </a:rPr>
              <a:t>(b)(c)(d)</a:t>
            </a:r>
            <a:r>
              <a:rPr sz="999" spc="-15" dirty="0">
                <a:solidFill>
                  <a:srgbClr val="699954"/>
                </a:solidFill>
                <a:latin typeface="Courier New"/>
                <a:cs typeface="Courier New"/>
              </a:rPr>
              <a:t> </a:t>
            </a:r>
            <a:r>
              <a:rPr sz="999" dirty="0">
                <a:solidFill>
                  <a:srgbClr val="699954"/>
                </a:solidFill>
                <a:latin typeface="Courier New"/>
                <a:cs typeface="Courier New"/>
              </a:rPr>
              <a:t>convert</a:t>
            </a:r>
            <a:r>
              <a:rPr sz="999" spc="-20" dirty="0">
                <a:solidFill>
                  <a:srgbClr val="699954"/>
                </a:solidFill>
                <a:latin typeface="Courier New"/>
                <a:cs typeface="Courier New"/>
              </a:rPr>
              <a:t> </a:t>
            </a:r>
            <a:r>
              <a:rPr sz="999" dirty="0">
                <a:solidFill>
                  <a:srgbClr val="699954"/>
                </a:solidFill>
                <a:latin typeface="Courier New"/>
                <a:cs typeface="Courier New"/>
              </a:rPr>
              <a:t>TEXT</a:t>
            </a:r>
            <a:r>
              <a:rPr sz="999" spc="-20" dirty="0">
                <a:solidFill>
                  <a:srgbClr val="699954"/>
                </a:solidFill>
                <a:latin typeface="Courier New"/>
                <a:cs typeface="Courier New"/>
              </a:rPr>
              <a:t> </a:t>
            </a:r>
            <a:r>
              <a:rPr sz="999" spc="-10" dirty="0">
                <a:solidFill>
                  <a:srgbClr val="699954"/>
                </a:solidFill>
                <a:latin typeface="Courier New"/>
                <a:cs typeface="Courier New"/>
              </a:rPr>
              <a:t>-</a:t>
            </a:r>
            <a:r>
              <a:rPr sz="999" dirty="0">
                <a:solidFill>
                  <a:srgbClr val="699954"/>
                </a:solidFill>
                <a:latin typeface="Courier New"/>
                <a:cs typeface="Courier New"/>
              </a:rPr>
              <a:t>&gt;</a:t>
            </a:r>
            <a:r>
              <a:rPr sz="999" spc="-20" dirty="0">
                <a:solidFill>
                  <a:srgbClr val="699954"/>
                </a:solidFill>
                <a:latin typeface="Courier New"/>
                <a:cs typeface="Courier New"/>
              </a:rPr>
              <a:t> </a:t>
            </a:r>
            <a:r>
              <a:rPr sz="999" dirty="0">
                <a:solidFill>
                  <a:srgbClr val="699954"/>
                </a:solidFill>
                <a:latin typeface="Courier New"/>
                <a:cs typeface="Courier New"/>
              </a:rPr>
              <a:t>proper</a:t>
            </a:r>
            <a:r>
              <a:rPr sz="999" spc="-20" dirty="0">
                <a:solidFill>
                  <a:srgbClr val="699954"/>
                </a:solidFill>
                <a:latin typeface="Courier New"/>
                <a:cs typeface="Courier New"/>
              </a:rPr>
              <a:t> </a:t>
            </a:r>
            <a:r>
              <a:rPr sz="999" spc="-10" dirty="0">
                <a:solidFill>
                  <a:srgbClr val="699954"/>
                </a:solidFill>
                <a:latin typeface="Courier New"/>
                <a:cs typeface="Courier New"/>
              </a:rPr>
              <a:t>types </a:t>
            </a:r>
            <a:r>
              <a:rPr sz="999" dirty="0">
                <a:solidFill>
                  <a:srgbClr val="D3D3D3"/>
                </a:solidFill>
                <a:latin typeface="Courier New"/>
                <a:cs typeface="Courier New"/>
              </a:rPr>
              <a:t>ALTER</a:t>
            </a:r>
            <a:r>
              <a:rPr sz="999" spc="-35" dirty="0">
                <a:solidFill>
                  <a:srgbClr val="D3D3D3"/>
                </a:solidFill>
                <a:latin typeface="Courier New"/>
                <a:cs typeface="Courier New"/>
              </a:rPr>
              <a:t> </a:t>
            </a:r>
            <a:r>
              <a:rPr sz="999" dirty="0">
                <a:solidFill>
                  <a:srgbClr val="D3D3D3"/>
                </a:solidFill>
                <a:latin typeface="Courier New"/>
                <a:cs typeface="Courier New"/>
              </a:rPr>
              <a:t>TABLE</a:t>
            </a:r>
            <a:r>
              <a:rPr sz="999" spc="-25" dirty="0">
                <a:solidFill>
                  <a:srgbClr val="D3D3D3"/>
                </a:solidFill>
                <a:latin typeface="Courier New"/>
                <a:cs typeface="Courier New"/>
              </a:rPr>
              <a:t> </a:t>
            </a:r>
            <a:r>
              <a:rPr sz="999" spc="-10" dirty="0">
                <a:solidFill>
                  <a:srgbClr val="D3D3D3"/>
                </a:solidFill>
                <a:latin typeface="Courier New"/>
                <a:cs typeface="Courier New"/>
              </a:rPr>
              <a:t>college.students</a:t>
            </a:r>
            <a:endParaRPr sz="999">
              <a:latin typeface="Courier New"/>
              <a:cs typeface="Courier New"/>
            </a:endParaRPr>
          </a:p>
          <a:p>
            <a:pPr marL="12685" marR="1375028" indent="151583">
              <a:lnSpc>
                <a:spcPct val="110100"/>
              </a:lnSpc>
            </a:pPr>
            <a:r>
              <a:rPr sz="999" dirty="0">
                <a:solidFill>
                  <a:srgbClr val="D3D3D3"/>
                </a:solidFill>
                <a:latin typeface="Courier New"/>
                <a:cs typeface="Courier New"/>
              </a:rPr>
              <a:t>ALTER</a:t>
            </a:r>
            <a:r>
              <a:rPr sz="999" spc="-30" dirty="0">
                <a:solidFill>
                  <a:srgbClr val="D3D3D3"/>
                </a:solidFill>
                <a:latin typeface="Courier New"/>
                <a:cs typeface="Courier New"/>
              </a:rPr>
              <a:t> </a:t>
            </a:r>
            <a:r>
              <a:rPr sz="999" dirty="0">
                <a:solidFill>
                  <a:srgbClr val="D3D3D3"/>
                </a:solidFill>
                <a:latin typeface="Courier New"/>
                <a:cs typeface="Courier New"/>
              </a:rPr>
              <a:t>COLUMN</a:t>
            </a:r>
            <a:r>
              <a:rPr sz="999" spc="-25" dirty="0">
                <a:solidFill>
                  <a:srgbClr val="D3D3D3"/>
                </a:solidFill>
                <a:latin typeface="Courier New"/>
                <a:cs typeface="Courier New"/>
              </a:rPr>
              <a:t> </a:t>
            </a:r>
            <a:r>
              <a:rPr sz="999" dirty="0">
                <a:solidFill>
                  <a:srgbClr val="D3D3D3"/>
                </a:solidFill>
                <a:latin typeface="Courier New"/>
                <a:cs typeface="Courier New"/>
              </a:rPr>
              <a:t>student_id</a:t>
            </a:r>
            <a:r>
              <a:rPr sz="999" spc="-25" dirty="0">
                <a:solidFill>
                  <a:srgbClr val="D3D3D3"/>
                </a:solidFill>
                <a:latin typeface="Courier New"/>
                <a:cs typeface="Courier New"/>
              </a:rPr>
              <a:t> </a:t>
            </a:r>
            <a:r>
              <a:rPr sz="999" dirty="0">
                <a:solidFill>
                  <a:srgbClr val="D3D3D3"/>
                </a:solidFill>
                <a:latin typeface="Courier New"/>
                <a:cs typeface="Courier New"/>
              </a:rPr>
              <a:t>TYPE</a:t>
            </a:r>
            <a:r>
              <a:rPr sz="999" spc="-30" dirty="0">
                <a:solidFill>
                  <a:srgbClr val="D3D3D3"/>
                </a:solidFill>
                <a:latin typeface="Courier New"/>
                <a:cs typeface="Courier New"/>
              </a:rPr>
              <a:t> </a:t>
            </a:r>
            <a:r>
              <a:rPr sz="999" dirty="0">
                <a:solidFill>
                  <a:srgbClr val="D3D3D3"/>
                </a:solidFill>
                <a:latin typeface="Courier New"/>
                <a:cs typeface="Courier New"/>
              </a:rPr>
              <a:t>INT</a:t>
            </a:r>
            <a:r>
              <a:rPr sz="999" spc="-25" dirty="0">
                <a:solidFill>
                  <a:srgbClr val="D3D3D3"/>
                </a:solidFill>
                <a:latin typeface="Courier New"/>
                <a:cs typeface="Courier New"/>
              </a:rPr>
              <a:t> </a:t>
            </a:r>
            <a:r>
              <a:rPr sz="999" dirty="0">
                <a:solidFill>
                  <a:srgbClr val="D3D3D3"/>
                </a:solidFill>
                <a:latin typeface="Courier New"/>
                <a:cs typeface="Courier New"/>
              </a:rPr>
              <a:t>USING</a:t>
            </a:r>
            <a:r>
              <a:rPr sz="999" spc="-25" dirty="0">
                <a:solidFill>
                  <a:srgbClr val="D3D3D3"/>
                </a:solidFill>
                <a:latin typeface="Courier New"/>
                <a:cs typeface="Courier New"/>
              </a:rPr>
              <a:t> </a:t>
            </a:r>
            <a:r>
              <a:rPr sz="999" spc="-10" dirty="0">
                <a:solidFill>
                  <a:srgbClr val="D3D3D3"/>
                </a:solidFill>
                <a:latin typeface="Courier New"/>
                <a:cs typeface="Courier New"/>
              </a:rPr>
              <a:t>student_id::int; </a:t>
            </a:r>
            <a:r>
              <a:rPr sz="999" dirty="0">
                <a:solidFill>
                  <a:srgbClr val="D3D3D3"/>
                </a:solidFill>
                <a:latin typeface="Courier New"/>
                <a:cs typeface="Courier New"/>
              </a:rPr>
              <a:t>ALTER</a:t>
            </a:r>
            <a:r>
              <a:rPr sz="999" spc="-35" dirty="0">
                <a:solidFill>
                  <a:srgbClr val="D3D3D3"/>
                </a:solidFill>
                <a:latin typeface="Courier New"/>
                <a:cs typeface="Courier New"/>
              </a:rPr>
              <a:t> </a:t>
            </a:r>
            <a:r>
              <a:rPr sz="999" dirty="0">
                <a:solidFill>
                  <a:srgbClr val="D3D3D3"/>
                </a:solidFill>
                <a:latin typeface="Courier New"/>
                <a:cs typeface="Courier New"/>
              </a:rPr>
              <a:t>TABLE</a:t>
            </a:r>
            <a:r>
              <a:rPr sz="999" spc="-25" dirty="0">
                <a:solidFill>
                  <a:srgbClr val="D3D3D3"/>
                </a:solidFill>
                <a:latin typeface="Courier New"/>
                <a:cs typeface="Courier New"/>
              </a:rPr>
              <a:t> </a:t>
            </a:r>
            <a:r>
              <a:rPr sz="999" spc="-10" dirty="0">
                <a:solidFill>
                  <a:srgbClr val="D3D3D3"/>
                </a:solidFill>
                <a:latin typeface="Courier New"/>
                <a:cs typeface="Courier New"/>
              </a:rPr>
              <a:t>college.students</a:t>
            </a:r>
            <a:endParaRPr sz="999">
              <a:latin typeface="Courier New"/>
              <a:cs typeface="Courier New"/>
            </a:endParaRPr>
          </a:p>
          <a:p>
            <a:pPr marL="12685" marR="766160" indent="151583">
              <a:lnSpc>
                <a:spcPct val="110100"/>
              </a:lnSpc>
            </a:pPr>
            <a:r>
              <a:rPr sz="999" dirty="0">
                <a:solidFill>
                  <a:srgbClr val="D3D3D3"/>
                </a:solidFill>
                <a:latin typeface="Courier New"/>
                <a:cs typeface="Courier New"/>
              </a:rPr>
              <a:t>ALTER</a:t>
            </a:r>
            <a:r>
              <a:rPr sz="999" spc="-45" dirty="0">
                <a:solidFill>
                  <a:srgbClr val="D3D3D3"/>
                </a:solidFill>
                <a:latin typeface="Courier New"/>
                <a:cs typeface="Courier New"/>
              </a:rPr>
              <a:t> </a:t>
            </a:r>
            <a:r>
              <a:rPr sz="999" dirty="0">
                <a:solidFill>
                  <a:srgbClr val="D3D3D3"/>
                </a:solidFill>
                <a:latin typeface="Courier New"/>
                <a:cs typeface="Courier New"/>
              </a:rPr>
              <a:t>COLUMN</a:t>
            </a:r>
            <a:r>
              <a:rPr sz="999" spc="-30" dirty="0">
                <a:solidFill>
                  <a:srgbClr val="D3D3D3"/>
                </a:solidFill>
                <a:latin typeface="Courier New"/>
                <a:cs typeface="Courier New"/>
              </a:rPr>
              <a:t> </a:t>
            </a:r>
            <a:r>
              <a:rPr sz="999" dirty="0">
                <a:solidFill>
                  <a:srgbClr val="D3D3D3"/>
                </a:solidFill>
                <a:latin typeface="Courier New"/>
                <a:cs typeface="Courier New"/>
              </a:rPr>
              <a:t>date_of_birth</a:t>
            </a:r>
            <a:r>
              <a:rPr sz="999" spc="-30" dirty="0">
                <a:solidFill>
                  <a:srgbClr val="D3D3D3"/>
                </a:solidFill>
                <a:latin typeface="Courier New"/>
                <a:cs typeface="Courier New"/>
              </a:rPr>
              <a:t> </a:t>
            </a:r>
            <a:r>
              <a:rPr sz="999" dirty="0">
                <a:solidFill>
                  <a:srgbClr val="D3D3D3"/>
                </a:solidFill>
                <a:latin typeface="Courier New"/>
                <a:cs typeface="Courier New"/>
              </a:rPr>
              <a:t>TYPE</a:t>
            </a:r>
            <a:r>
              <a:rPr sz="999" spc="-30" dirty="0">
                <a:solidFill>
                  <a:srgbClr val="D3D3D3"/>
                </a:solidFill>
                <a:latin typeface="Courier New"/>
                <a:cs typeface="Courier New"/>
              </a:rPr>
              <a:t> </a:t>
            </a:r>
            <a:r>
              <a:rPr sz="999" dirty="0">
                <a:solidFill>
                  <a:srgbClr val="D3D3D3"/>
                </a:solidFill>
                <a:latin typeface="Courier New"/>
                <a:cs typeface="Courier New"/>
              </a:rPr>
              <a:t>DATE</a:t>
            </a:r>
            <a:r>
              <a:rPr sz="999" spc="-30" dirty="0">
                <a:solidFill>
                  <a:srgbClr val="D3D3D3"/>
                </a:solidFill>
                <a:latin typeface="Courier New"/>
                <a:cs typeface="Courier New"/>
              </a:rPr>
              <a:t> </a:t>
            </a:r>
            <a:r>
              <a:rPr sz="999" dirty="0">
                <a:solidFill>
                  <a:srgbClr val="D3D3D3"/>
                </a:solidFill>
                <a:latin typeface="Courier New"/>
                <a:cs typeface="Courier New"/>
              </a:rPr>
              <a:t>USING</a:t>
            </a:r>
            <a:r>
              <a:rPr sz="999" spc="-30" dirty="0">
                <a:solidFill>
                  <a:srgbClr val="D3D3D3"/>
                </a:solidFill>
                <a:latin typeface="Courier New"/>
                <a:cs typeface="Courier New"/>
              </a:rPr>
              <a:t> </a:t>
            </a:r>
            <a:r>
              <a:rPr sz="999" spc="-10" dirty="0">
                <a:solidFill>
                  <a:srgbClr val="D3D3D3"/>
                </a:solidFill>
                <a:latin typeface="Courier New"/>
                <a:cs typeface="Courier New"/>
              </a:rPr>
              <a:t>date_of_birth::date; </a:t>
            </a:r>
            <a:r>
              <a:rPr sz="999" dirty="0">
                <a:solidFill>
                  <a:srgbClr val="D3D3D3"/>
                </a:solidFill>
                <a:latin typeface="Courier New"/>
                <a:cs typeface="Courier New"/>
              </a:rPr>
              <a:t>ALTER</a:t>
            </a:r>
            <a:r>
              <a:rPr sz="999" spc="-35" dirty="0">
                <a:solidFill>
                  <a:srgbClr val="D3D3D3"/>
                </a:solidFill>
                <a:latin typeface="Courier New"/>
                <a:cs typeface="Courier New"/>
              </a:rPr>
              <a:t> </a:t>
            </a:r>
            <a:r>
              <a:rPr sz="999" dirty="0">
                <a:solidFill>
                  <a:srgbClr val="D3D3D3"/>
                </a:solidFill>
                <a:latin typeface="Courier New"/>
                <a:cs typeface="Courier New"/>
              </a:rPr>
              <a:t>TABLE</a:t>
            </a:r>
            <a:r>
              <a:rPr sz="999" spc="-25" dirty="0">
                <a:solidFill>
                  <a:srgbClr val="D3D3D3"/>
                </a:solidFill>
                <a:latin typeface="Courier New"/>
                <a:cs typeface="Courier New"/>
              </a:rPr>
              <a:t> </a:t>
            </a:r>
            <a:r>
              <a:rPr sz="999" spc="-10" dirty="0">
                <a:solidFill>
                  <a:srgbClr val="D3D3D3"/>
                </a:solidFill>
                <a:latin typeface="Courier New"/>
                <a:cs typeface="Courier New"/>
              </a:rPr>
              <a:t>college.students</a:t>
            </a:r>
            <a:endParaRPr sz="999">
              <a:latin typeface="Courier New"/>
              <a:cs typeface="Courier New"/>
            </a:endParaRPr>
          </a:p>
          <a:p>
            <a:pPr marL="164268">
              <a:spcBef>
                <a:spcPts val="120"/>
              </a:spcBef>
            </a:pPr>
            <a:r>
              <a:rPr sz="999" dirty="0">
                <a:solidFill>
                  <a:srgbClr val="D3D3D3"/>
                </a:solidFill>
                <a:latin typeface="Courier New"/>
                <a:cs typeface="Courier New"/>
              </a:rPr>
              <a:t>ALTER</a:t>
            </a:r>
            <a:r>
              <a:rPr sz="999" spc="-30" dirty="0">
                <a:solidFill>
                  <a:srgbClr val="D3D3D3"/>
                </a:solidFill>
                <a:latin typeface="Courier New"/>
                <a:cs typeface="Courier New"/>
              </a:rPr>
              <a:t> </a:t>
            </a:r>
            <a:r>
              <a:rPr sz="999" dirty="0">
                <a:solidFill>
                  <a:srgbClr val="D3D3D3"/>
                </a:solidFill>
                <a:latin typeface="Courier New"/>
                <a:cs typeface="Courier New"/>
              </a:rPr>
              <a:t>COLUMN</a:t>
            </a:r>
            <a:r>
              <a:rPr sz="999" spc="-30" dirty="0">
                <a:solidFill>
                  <a:srgbClr val="D3D3D3"/>
                </a:solidFill>
                <a:latin typeface="Courier New"/>
                <a:cs typeface="Courier New"/>
              </a:rPr>
              <a:t> </a:t>
            </a:r>
            <a:r>
              <a:rPr sz="999" dirty="0">
                <a:solidFill>
                  <a:srgbClr val="D3D3D3"/>
                </a:solidFill>
                <a:latin typeface="Courier New"/>
                <a:cs typeface="Courier New"/>
              </a:rPr>
              <a:t>is_active</a:t>
            </a:r>
            <a:r>
              <a:rPr sz="999" spc="-30" dirty="0">
                <a:solidFill>
                  <a:srgbClr val="D3D3D3"/>
                </a:solidFill>
                <a:latin typeface="Courier New"/>
                <a:cs typeface="Courier New"/>
              </a:rPr>
              <a:t> </a:t>
            </a:r>
            <a:r>
              <a:rPr sz="999" dirty="0">
                <a:solidFill>
                  <a:srgbClr val="D3D3D3"/>
                </a:solidFill>
                <a:latin typeface="Courier New"/>
                <a:cs typeface="Courier New"/>
              </a:rPr>
              <a:t>TYPE</a:t>
            </a:r>
            <a:r>
              <a:rPr sz="999" spc="-30" dirty="0">
                <a:solidFill>
                  <a:srgbClr val="D3D3D3"/>
                </a:solidFill>
                <a:latin typeface="Courier New"/>
                <a:cs typeface="Courier New"/>
              </a:rPr>
              <a:t> </a:t>
            </a:r>
            <a:r>
              <a:rPr sz="999" dirty="0">
                <a:solidFill>
                  <a:srgbClr val="D3D3D3"/>
                </a:solidFill>
                <a:latin typeface="Courier New"/>
                <a:cs typeface="Courier New"/>
              </a:rPr>
              <a:t>BOOLEAN</a:t>
            </a:r>
            <a:r>
              <a:rPr sz="999" spc="-30" dirty="0">
                <a:solidFill>
                  <a:srgbClr val="D3D3D3"/>
                </a:solidFill>
                <a:latin typeface="Courier New"/>
                <a:cs typeface="Courier New"/>
              </a:rPr>
              <a:t> </a:t>
            </a:r>
            <a:r>
              <a:rPr sz="999" dirty="0">
                <a:solidFill>
                  <a:srgbClr val="D3D3D3"/>
                </a:solidFill>
                <a:latin typeface="Courier New"/>
                <a:cs typeface="Courier New"/>
              </a:rPr>
              <a:t>USING</a:t>
            </a:r>
            <a:r>
              <a:rPr sz="999" spc="-30" dirty="0">
                <a:solidFill>
                  <a:srgbClr val="D3D3D3"/>
                </a:solidFill>
                <a:latin typeface="Courier New"/>
                <a:cs typeface="Courier New"/>
              </a:rPr>
              <a:t> </a:t>
            </a:r>
            <a:r>
              <a:rPr sz="999" spc="-10" dirty="0">
                <a:solidFill>
                  <a:srgbClr val="D3D3D3"/>
                </a:solidFill>
                <a:latin typeface="Courier New"/>
                <a:cs typeface="Courier New"/>
              </a:rPr>
              <a:t>is_active::boolean;</a:t>
            </a:r>
            <a:endParaRPr sz="999">
              <a:latin typeface="Courier New"/>
              <a:cs typeface="Courier New"/>
            </a:endParaRPr>
          </a:p>
          <a:p>
            <a:pPr>
              <a:spcBef>
                <a:spcPts val="310"/>
              </a:spcBef>
            </a:pPr>
            <a:endParaRPr sz="999">
              <a:latin typeface="Courier New"/>
              <a:cs typeface="Courier New"/>
            </a:endParaRPr>
          </a:p>
          <a:p>
            <a:pPr marL="12685"/>
            <a:r>
              <a:rPr sz="999" spc="-10" dirty="0">
                <a:solidFill>
                  <a:srgbClr val="699954"/>
                </a:solidFill>
                <a:latin typeface="Courier New"/>
                <a:cs typeface="Courier New"/>
              </a:rPr>
              <a:t>-</a:t>
            </a:r>
            <a:r>
              <a:rPr sz="999" dirty="0">
                <a:solidFill>
                  <a:srgbClr val="699954"/>
                </a:solidFill>
                <a:latin typeface="Courier New"/>
                <a:cs typeface="Courier New"/>
              </a:rPr>
              <a:t>-</a:t>
            </a:r>
            <a:r>
              <a:rPr sz="999" spc="-10" dirty="0">
                <a:solidFill>
                  <a:srgbClr val="699954"/>
                </a:solidFill>
                <a:latin typeface="Courier New"/>
                <a:cs typeface="Courier New"/>
              </a:rPr>
              <a:t> </a:t>
            </a:r>
            <a:r>
              <a:rPr sz="999" dirty="0">
                <a:solidFill>
                  <a:srgbClr val="699954"/>
                </a:solidFill>
                <a:latin typeface="Courier New"/>
                <a:cs typeface="Courier New"/>
              </a:rPr>
              <a:t>(e)</a:t>
            </a:r>
            <a:r>
              <a:rPr sz="999" spc="-5" dirty="0">
                <a:solidFill>
                  <a:srgbClr val="699954"/>
                </a:solidFill>
                <a:latin typeface="Courier New"/>
                <a:cs typeface="Courier New"/>
              </a:rPr>
              <a:t> </a:t>
            </a:r>
            <a:r>
              <a:rPr sz="999" spc="-10" dirty="0">
                <a:solidFill>
                  <a:srgbClr val="699954"/>
                </a:solidFill>
                <a:latin typeface="Courier New"/>
                <a:cs typeface="Courier New"/>
              </a:rPr>
              <a:t>verify</a:t>
            </a:r>
            <a:endParaRPr sz="999">
              <a:latin typeface="Courier New"/>
              <a:cs typeface="Courier New"/>
            </a:endParaRPr>
          </a:p>
          <a:p>
            <a:pPr marL="12685" marR="1070594">
              <a:lnSpc>
                <a:spcPct val="110100"/>
              </a:lnSpc>
            </a:pPr>
            <a:r>
              <a:rPr sz="999" dirty="0">
                <a:solidFill>
                  <a:srgbClr val="D3D3D3"/>
                </a:solidFill>
                <a:latin typeface="Courier New"/>
                <a:cs typeface="Courier New"/>
              </a:rPr>
              <a:t>SELECT</a:t>
            </a:r>
            <a:r>
              <a:rPr sz="999" spc="-40" dirty="0">
                <a:solidFill>
                  <a:srgbClr val="D3D3D3"/>
                </a:solidFill>
                <a:latin typeface="Courier New"/>
                <a:cs typeface="Courier New"/>
              </a:rPr>
              <a:t> </a:t>
            </a:r>
            <a:r>
              <a:rPr sz="999" dirty="0">
                <a:solidFill>
                  <a:srgbClr val="D3D3D3"/>
                </a:solidFill>
                <a:latin typeface="Courier New"/>
                <a:cs typeface="Courier New"/>
              </a:rPr>
              <a:t>column_name,</a:t>
            </a:r>
            <a:r>
              <a:rPr sz="999" spc="-40" dirty="0">
                <a:solidFill>
                  <a:srgbClr val="D3D3D3"/>
                </a:solidFill>
                <a:latin typeface="Courier New"/>
                <a:cs typeface="Courier New"/>
              </a:rPr>
              <a:t> </a:t>
            </a:r>
            <a:r>
              <a:rPr sz="999" dirty="0">
                <a:solidFill>
                  <a:srgbClr val="D3D3D3"/>
                </a:solidFill>
                <a:latin typeface="Courier New"/>
                <a:cs typeface="Courier New"/>
              </a:rPr>
              <a:t>data_type</a:t>
            </a:r>
            <a:r>
              <a:rPr sz="999" spc="-40" dirty="0">
                <a:solidFill>
                  <a:srgbClr val="D3D3D3"/>
                </a:solidFill>
                <a:latin typeface="Courier New"/>
                <a:cs typeface="Courier New"/>
              </a:rPr>
              <a:t> </a:t>
            </a:r>
            <a:r>
              <a:rPr sz="999" dirty="0">
                <a:solidFill>
                  <a:srgbClr val="D3D3D3"/>
                </a:solidFill>
                <a:latin typeface="Courier New"/>
                <a:cs typeface="Courier New"/>
              </a:rPr>
              <a:t>FROM</a:t>
            </a:r>
            <a:r>
              <a:rPr sz="999" spc="-35" dirty="0">
                <a:solidFill>
                  <a:srgbClr val="D3D3D3"/>
                </a:solidFill>
                <a:latin typeface="Courier New"/>
                <a:cs typeface="Courier New"/>
              </a:rPr>
              <a:t> </a:t>
            </a:r>
            <a:r>
              <a:rPr sz="999" spc="-10" dirty="0">
                <a:solidFill>
                  <a:srgbClr val="D3D3D3"/>
                </a:solidFill>
                <a:latin typeface="Courier New"/>
                <a:cs typeface="Courier New"/>
              </a:rPr>
              <a:t>information_schema.columns </a:t>
            </a:r>
            <a:r>
              <a:rPr sz="999" dirty="0">
                <a:solidFill>
                  <a:srgbClr val="D3D3D3"/>
                </a:solidFill>
                <a:latin typeface="Courier New"/>
                <a:cs typeface="Courier New"/>
              </a:rPr>
              <a:t>WHERE</a:t>
            </a:r>
            <a:r>
              <a:rPr sz="999" spc="-50" dirty="0">
                <a:solidFill>
                  <a:srgbClr val="D3D3D3"/>
                </a:solidFill>
                <a:latin typeface="Courier New"/>
                <a:cs typeface="Courier New"/>
              </a:rPr>
              <a:t> </a:t>
            </a:r>
            <a:r>
              <a:rPr sz="999" dirty="0">
                <a:solidFill>
                  <a:srgbClr val="D3D3D3"/>
                </a:solidFill>
                <a:latin typeface="Courier New"/>
                <a:cs typeface="Courier New"/>
              </a:rPr>
              <a:t>table_schema='college'</a:t>
            </a:r>
            <a:r>
              <a:rPr sz="999" spc="-50" dirty="0">
                <a:solidFill>
                  <a:srgbClr val="D3D3D3"/>
                </a:solidFill>
                <a:latin typeface="Courier New"/>
                <a:cs typeface="Courier New"/>
              </a:rPr>
              <a:t> </a:t>
            </a:r>
            <a:r>
              <a:rPr sz="999" dirty="0">
                <a:solidFill>
                  <a:srgbClr val="D3D3D3"/>
                </a:solidFill>
                <a:latin typeface="Courier New"/>
                <a:cs typeface="Courier New"/>
              </a:rPr>
              <a:t>AND</a:t>
            </a:r>
            <a:r>
              <a:rPr sz="999" spc="-50" dirty="0">
                <a:solidFill>
                  <a:srgbClr val="D3D3D3"/>
                </a:solidFill>
                <a:latin typeface="Courier New"/>
                <a:cs typeface="Courier New"/>
              </a:rPr>
              <a:t> </a:t>
            </a:r>
            <a:r>
              <a:rPr sz="999" spc="-10" dirty="0">
                <a:solidFill>
                  <a:srgbClr val="D3D3D3"/>
                </a:solidFill>
                <a:latin typeface="Courier New"/>
                <a:cs typeface="Courier New"/>
              </a:rPr>
              <a:t>table_name='students'</a:t>
            </a:r>
            <a:endParaRPr sz="999">
              <a:latin typeface="Courier New"/>
              <a:cs typeface="Courier New"/>
            </a:endParaRPr>
          </a:p>
          <a:p>
            <a:pPr marL="12685">
              <a:spcBef>
                <a:spcPts val="120"/>
              </a:spcBef>
            </a:pPr>
            <a:r>
              <a:rPr sz="999" dirty="0">
                <a:solidFill>
                  <a:srgbClr val="D3D3D3"/>
                </a:solidFill>
                <a:latin typeface="Courier New"/>
                <a:cs typeface="Courier New"/>
              </a:rPr>
              <a:t>ORDER</a:t>
            </a:r>
            <a:r>
              <a:rPr sz="999" spc="-20" dirty="0">
                <a:solidFill>
                  <a:srgbClr val="D3D3D3"/>
                </a:solidFill>
                <a:latin typeface="Courier New"/>
                <a:cs typeface="Courier New"/>
              </a:rPr>
              <a:t> </a:t>
            </a:r>
            <a:r>
              <a:rPr sz="999" dirty="0">
                <a:solidFill>
                  <a:srgbClr val="D3D3D3"/>
                </a:solidFill>
                <a:latin typeface="Courier New"/>
                <a:cs typeface="Courier New"/>
              </a:rPr>
              <a:t>BY</a:t>
            </a:r>
            <a:r>
              <a:rPr sz="999" spc="-15" dirty="0">
                <a:solidFill>
                  <a:srgbClr val="D3D3D3"/>
                </a:solidFill>
                <a:latin typeface="Courier New"/>
                <a:cs typeface="Courier New"/>
              </a:rPr>
              <a:t> </a:t>
            </a:r>
            <a:r>
              <a:rPr sz="999" spc="-10" dirty="0">
                <a:solidFill>
                  <a:srgbClr val="D3D3D3"/>
                </a:solidFill>
                <a:latin typeface="Courier New"/>
                <a:cs typeface="Courier New"/>
              </a:rPr>
              <a:t>ordinal_position;</a:t>
            </a:r>
            <a:endParaRPr sz="999">
              <a:latin typeface="Courier New"/>
              <a:cs typeface="Courier New"/>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638" y="-353"/>
            <a:ext cx="8766782" cy="5137158"/>
          </a:xfrm>
          <a:custGeom>
            <a:avLst/>
            <a:gdLst/>
            <a:ahLst/>
            <a:cxnLst/>
            <a:rect l="l" t="t" r="r" b="b"/>
            <a:pathLst>
              <a:path w="8777605" h="5143500">
                <a:moveTo>
                  <a:pt x="109435" y="0"/>
                </a:moveTo>
                <a:lnTo>
                  <a:pt x="0" y="0"/>
                </a:lnTo>
                <a:lnTo>
                  <a:pt x="0" y="5143309"/>
                </a:lnTo>
                <a:lnTo>
                  <a:pt x="54724" y="5143309"/>
                </a:lnTo>
                <a:lnTo>
                  <a:pt x="109435" y="5143309"/>
                </a:lnTo>
                <a:lnTo>
                  <a:pt x="109435" y="0"/>
                </a:lnTo>
                <a:close/>
              </a:path>
              <a:path w="8777605" h="5143500">
                <a:moveTo>
                  <a:pt x="8777516" y="183235"/>
                </a:moveTo>
                <a:lnTo>
                  <a:pt x="7589164" y="183235"/>
                </a:lnTo>
                <a:lnTo>
                  <a:pt x="7589164" y="594360"/>
                </a:lnTo>
                <a:lnTo>
                  <a:pt x="8183524" y="594360"/>
                </a:lnTo>
                <a:lnTo>
                  <a:pt x="8777516" y="594360"/>
                </a:lnTo>
                <a:lnTo>
                  <a:pt x="8777516" y="183235"/>
                </a:lnTo>
                <a:close/>
              </a:path>
            </a:pathLst>
          </a:custGeom>
          <a:solidFill>
            <a:srgbClr val="FF9800"/>
          </a:solidFill>
        </p:spPr>
        <p:txBody>
          <a:bodyPr wrap="square" lIns="0" tIns="0" rIns="0" bIns="0" rtlCol="0"/>
          <a:lstStyle/>
          <a:p>
            <a:endParaRPr sz="1798"/>
          </a:p>
        </p:txBody>
      </p:sp>
      <p:sp>
        <p:nvSpPr>
          <p:cNvPr id="3" name="object 3" descr="$PPTXTitle"/>
          <p:cNvSpPr txBox="1">
            <a:spLocks noGrp="1"/>
          </p:cNvSpPr>
          <p:nvPr>
            <p:ph type="title"/>
          </p:nvPr>
        </p:nvSpPr>
        <p:spPr>
          <a:xfrm>
            <a:off x="5637" y="1"/>
            <a:ext cx="0" cy="1347705"/>
          </a:xfrm>
          <a:prstGeom prst="rect">
            <a:avLst/>
          </a:prstGeom>
        </p:spPr>
        <p:txBody>
          <a:bodyPr vert="horz" wrap="square" lIns="0" tIns="57992" rIns="0" bIns="0" rtlCol="0">
            <a:spAutoFit/>
          </a:bodyPr>
          <a:lstStyle/>
          <a:p>
            <a:pPr marL="7392677">
              <a:spcBef>
                <a:spcPts val="100"/>
              </a:spcBef>
            </a:pPr>
            <a:r>
              <a:rPr sz="1398" spc="-10" dirty="0">
                <a:solidFill>
                  <a:srgbClr val="FFFFFF"/>
                </a:solidFill>
              </a:rPr>
              <a:t>MEDIUM</a:t>
            </a:r>
            <a:endParaRPr sz="1398"/>
          </a:p>
        </p:txBody>
      </p:sp>
      <p:sp>
        <p:nvSpPr>
          <p:cNvPr id="4" name="object 4"/>
          <p:cNvSpPr txBox="1"/>
          <p:nvPr/>
        </p:nvSpPr>
        <p:spPr>
          <a:xfrm>
            <a:off x="447788" y="756408"/>
            <a:ext cx="8128124" cy="1154909"/>
          </a:xfrm>
          <a:prstGeom prst="rect">
            <a:avLst/>
          </a:prstGeom>
        </p:spPr>
        <p:txBody>
          <a:bodyPr vert="horz" wrap="square" lIns="0" tIns="12684" rIns="0" bIns="0" rtlCol="0">
            <a:spAutoFit/>
          </a:bodyPr>
          <a:lstStyle/>
          <a:p>
            <a:pPr marL="12685">
              <a:spcBef>
                <a:spcPts val="100"/>
              </a:spcBef>
            </a:pPr>
            <a:r>
              <a:rPr sz="1298" b="1" spc="-10" dirty="0">
                <a:solidFill>
                  <a:srgbClr val="1D3A5E"/>
                </a:solidFill>
                <a:latin typeface="Calibri"/>
                <a:cs typeface="Calibri"/>
              </a:rPr>
              <a:t>SCENARIO:</a:t>
            </a:r>
            <a:r>
              <a:rPr sz="1298" b="1" spc="-40" dirty="0">
                <a:solidFill>
                  <a:srgbClr val="1D3A5E"/>
                </a:solidFill>
                <a:latin typeface="Calibri"/>
                <a:cs typeface="Calibri"/>
              </a:rPr>
              <a:t> </a:t>
            </a:r>
            <a:r>
              <a:rPr sz="1298" dirty="0">
                <a:solidFill>
                  <a:srgbClr val="202020"/>
                </a:solidFill>
                <a:latin typeface="Calibri"/>
                <a:cs typeface="Calibri"/>
              </a:rPr>
              <a:t>A</a:t>
            </a:r>
            <a:r>
              <a:rPr sz="1298" spc="-35" dirty="0">
                <a:solidFill>
                  <a:srgbClr val="202020"/>
                </a:solidFill>
                <a:latin typeface="Calibri"/>
                <a:cs typeface="Calibri"/>
              </a:rPr>
              <a:t> </a:t>
            </a:r>
            <a:r>
              <a:rPr sz="1298" dirty="0">
                <a:solidFill>
                  <a:srgbClr val="202020"/>
                </a:solidFill>
                <a:latin typeface="Calibri"/>
                <a:cs typeface="Calibri"/>
              </a:rPr>
              <a:t>junior</a:t>
            </a:r>
            <a:r>
              <a:rPr sz="1298" spc="-35" dirty="0">
                <a:solidFill>
                  <a:srgbClr val="202020"/>
                </a:solidFill>
                <a:latin typeface="Calibri"/>
                <a:cs typeface="Calibri"/>
              </a:rPr>
              <a:t> </a:t>
            </a:r>
            <a:r>
              <a:rPr sz="1298" spc="-10" dirty="0">
                <a:solidFill>
                  <a:srgbClr val="202020"/>
                </a:solidFill>
                <a:latin typeface="Calibri"/>
                <a:cs typeface="Calibri"/>
              </a:rPr>
              <a:t>developer</a:t>
            </a:r>
            <a:r>
              <a:rPr sz="1298" spc="-30" dirty="0">
                <a:solidFill>
                  <a:srgbClr val="202020"/>
                </a:solidFill>
                <a:latin typeface="Calibri"/>
                <a:cs typeface="Calibri"/>
              </a:rPr>
              <a:t> </a:t>
            </a:r>
            <a:r>
              <a:rPr sz="1298" dirty="0">
                <a:solidFill>
                  <a:srgbClr val="202020"/>
                </a:solidFill>
                <a:latin typeface="Calibri"/>
                <a:cs typeface="Calibri"/>
              </a:rPr>
              <a:t>sent</a:t>
            </a:r>
            <a:r>
              <a:rPr sz="1298" spc="-35" dirty="0">
                <a:solidFill>
                  <a:srgbClr val="202020"/>
                </a:solidFill>
                <a:latin typeface="Calibri"/>
                <a:cs typeface="Calibri"/>
              </a:rPr>
              <a:t> </a:t>
            </a:r>
            <a:r>
              <a:rPr sz="1298" dirty="0">
                <a:solidFill>
                  <a:srgbClr val="202020"/>
                </a:solidFill>
                <a:latin typeface="Calibri"/>
                <a:cs typeface="Calibri"/>
              </a:rPr>
              <a:t>this</a:t>
            </a:r>
            <a:r>
              <a:rPr sz="1298" spc="-35" dirty="0">
                <a:solidFill>
                  <a:srgbClr val="202020"/>
                </a:solidFill>
                <a:latin typeface="Calibri"/>
                <a:cs typeface="Calibri"/>
              </a:rPr>
              <a:t> </a:t>
            </a:r>
            <a:r>
              <a:rPr sz="1298" spc="-20" dirty="0">
                <a:solidFill>
                  <a:srgbClr val="202020"/>
                </a:solidFill>
                <a:latin typeface="Calibri"/>
                <a:cs typeface="Calibri"/>
              </a:rPr>
              <a:t>CREATE</a:t>
            </a:r>
            <a:r>
              <a:rPr sz="1298" spc="-35" dirty="0">
                <a:solidFill>
                  <a:srgbClr val="202020"/>
                </a:solidFill>
                <a:latin typeface="Calibri"/>
                <a:cs typeface="Calibri"/>
              </a:rPr>
              <a:t> </a:t>
            </a:r>
            <a:r>
              <a:rPr sz="1298" spc="-20" dirty="0">
                <a:solidFill>
                  <a:srgbClr val="202020"/>
                </a:solidFill>
                <a:latin typeface="Calibri"/>
                <a:cs typeface="Calibri"/>
              </a:rPr>
              <a:t>TABLE.</a:t>
            </a:r>
            <a:r>
              <a:rPr sz="1298" spc="-30" dirty="0">
                <a:solidFill>
                  <a:srgbClr val="202020"/>
                </a:solidFill>
                <a:latin typeface="Calibri"/>
                <a:cs typeface="Calibri"/>
              </a:rPr>
              <a:t> </a:t>
            </a:r>
            <a:r>
              <a:rPr sz="1298" dirty="0">
                <a:solidFill>
                  <a:srgbClr val="202020"/>
                </a:solidFill>
                <a:latin typeface="Calibri"/>
                <a:cs typeface="Calibri"/>
              </a:rPr>
              <a:t>It</a:t>
            </a:r>
            <a:r>
              <a:rPr sz="1298" spc="-35" dirty="0">
                <a:solidFill>
                  <a:srgbClr val="202020"/>
                </a:solidFill>
                <a:latin typeface="Calibri"/>
                <a:cs typeface="Calibri"/>
              </a:rPr>
              <a:t> </a:t>
            </a:r>
            <a:r>
              <a:rPr sz="1298" dirty="0">
                <a:solidFill>
                  <a:srgbClr val="202020"/>
                </a:solidFill>
                <a:latin typeface="Calibri"/>
                <a:cs typeface="Calibri"/>
              </a:rPr>
              <a:t>is</a:t>
            </a:r>
            <a:r>
              <a:rPr sz="1298" spc="-35" dirty="0">
                <a:solidFill>
                  <a:srgbClr val="202020"/>
                </a:solidFill>
                <a:latin typeface="Calibri"/>
                <a:cs typeface="Calibri"/>
              </a:rPr>
              <a:t> </a:t>
            </a:r>
            <a:r>
              <a:rPr sz="1298" dirty="0">
                <a:solidFill>
                  <a:srgbClr val="202020"/>
                </a:solidFill>
                <a:latin typeface="Calibri"/>
                <a:cs typeface="Calibri"/>
              </a:rPr>
              <a:t>full</a:t>
            </a:r>
            <a:r>
              <a:rPr sz="1298" spc="-35" dirty="0">
                <a:solidFill>
                  <a:srgbClr val="202020"/>
                </a:solidFill>
                <a:latin typeface="Calibri"/>
                <a:cs typeface="Calibri"/>
              </a:rPr>
              <a:t> </a:t>
            </a:r>
            <a:r>
              <a:rPr sz="1298" dirty="0">
                <a:solidFill>
                  <a:srgbClr val="202020"/>
                </a:solidFill>
                <a:latin typeface="Calibri"/>
                <a:cs typeface="Calibri"/>
              </a:rPr>
              <a:t>of</a:t>
            </a:r>
            <a:r>
              <a:rPr sz="1298" spc="-30" dirty="0">
                <a:solidFill>
                  <a:srgbClr val="202020"/>
                </a:solidFill>
                <a:latin typeface="Calibri"/>
                <a:cs typeface="Calibri"/>
              </a:rPr>
              <a:t> </a:t>
            </a:r>
            <a:r>
              <a:rPr sz="1298" dirty="0">
                <a:solidFill>
                  <a:srgbClr val="202020"/>
                </a:solidFill>
                <a:latin typeface="Calibri"/>
                <a:cs typeface="Calibri"/>
              </a:rPr>
              <a:t>WRONG</a:t>
            </a:r>
            <a:r>
              <a:rPr sz="1298" spc="-35" dirty="0">
                <a:solidFill>
                  <a:srgbClr val="202020"/>
                </a:solidFill>
                <a:latin typeface="Calibri"/>
                <a:cs typeface="Calibri"/>
              </a:rPr>
              <a:t> </a:t>
            </a:r>
            <a:r>
              <a:rPr sz="1298" dirty="0">
                <a:solidFill>
                  <a:srgbClr val="202020"/>
                </a:solidFill>
                <a:latin typeface="Calibri"/>
                <a:cs typeface="Calibri"/>
              </a:rPr>
              <a:t>type</a:t>
            </a:r>
            <a:r>
              <a:rPr sz="1298" spc="-35" dirty="0">
                <a:solidFill>
                  <a:srgbClr val="202020"/>
                </a:solidFill>
                <a:latin typeface="Calibri"/>
                <a:cs typeface="Calibri"/>
              </a:rPr>
              <a:t> </a:t>
            </a:r>
            <a:r>
              <a:rPr sz="1298" dirty="0">
                <a:solidFill>
                  <a:srgbClr val="202020"/>
                </a:solidFill>
                <a:latin typeface="Calibri"/>
                <a:cs typeface="Calibri"/>
              </a:rPr>
              <a:t>choices.</a:t>
            </a:r>
            <a:r>
              <a:rPr sz="1298" spc="-35" dirty="0">
                <a:solidFill>
                  <a:srgbClr val="202020"/>
                </a:solidFill>
                <a:latin typeface="Calibri"/>
                <a:cs typeface="Calibri"/>
              </a:rPr>
              <a:t> </a:t>
            </a:r>
            <a:r>
              <a:rPr sz="1298" dirty="0">
                <a:solidFill>
                  <a:srgbClr val="202020"/>
                </a:solidFill>
                <a:latin typeface="Calibri"/>
                <a:cs typeface="Calibri"/>
              </a:rPr>
              <a:t>Find</a:t>
            </a:r>
            <a:r>
              <a:rPr sz="1298" spc="-30" dirty="0">
                <a:solidFill>
                  <a:srgbClr val="202020"/>
                </a:solidFill>
                <a:latin typeface="Calibri"/>
                <a:cs typeface="Calibri"/>
              </a:rPr>
              <a:t> </a:t>
            </a:r>
            <a:r>
              <a:rPr sz="1298" dirty="0">
                <a:solidFill>
                  <a:srgbClr val="202020"/>
                </a:solidFill>
                <a:latin typeface="Calibri"/>
                <a:cs typeface="Calibri"/>
              </a:rPr>
              <a:t>and</a:t>
            </a:r>
            <a:r>
              <a:rPr sz="1298" spc="-35" dirty="0">
                <a:solidFill>
                  <a:srgbClr val="202020"/>
                </a:solidFill>
                <a:latin typeface="Calibri"/>
                <a:cs typeface="Calibri"/>
              </a:rPr>
              <a:t> </a:t>
            </a:r>
            <a:r>
              <a:rPr sz="1298" dirty="0">
                <a:solidFill>
                  <a:srgbClr val="202020"/>
                </a:solidFill>
                <a:latin typeface="Calibri"/>
                <a:cs typeface="Calibri"/>
              </a:rPr>
              <a:t>fix</a:t>
            </a:r>
            <a:r>
              <a:rPr sz="1298" spc="-35" dirty="0">
                <a:solidFill>
                  <a:srgbClr val="202020"/>
                </a:solidFill>
                <a:latin typeface="Calibri"/>
                <a:cs typeface="Calibri"/>
              </a:rPr>
              <a:t> </a:t>
            </a:r>
            <a:r>
              <a:rPr sz="1298" dirty="0">
                <a:solidFill>
                  <a:srgbClr val="202020"/>
                </a:solidFill>
                <a:latin typeface="Calibri"/>
                <a:cs typeface="Calibri"/>
              </a:rPr>
              <a:t>every</a:t>
            </a:r>
            <a:r>
              <a:rPr sz="1298" spc="-30" dirty="0">
                <a:solidFill>
                  <a:srgbClr val="202020"/>
                </a:solidFill>
                <a:latin typeface="Calibri"/>
                <a:cs typeface="Calibri"/>
              </a:rPr>
              <a:t> </a:t>
            </a:r>
            <a:r>
              <a:rPr sz="1298" spc="-10" dirty="0">
                <a:solidFill>
                  <a:srgbClr val="202020"/>
                </a:solidFill>
                <a:latin typeface="Calibri"/>
                <a:cs typeface="Calibri"/>
              </a:rPr>
              <a:t>mistake.</a:t>
            </a:r>
            <a:endParaRPr sz="1298">
              <a:latin typeface="Calibri"/>
              <a:cs typeface="Calibri"/>
            </a:endParaRPr>
          </a:p>
          <a:p>
            <a:pPr marL="12685">
              <a:spcBef>
                <a:spcPts val="1458"/>
              </a:spcBef>
            </a:pPr>
            <a:r>
              <a:rPr sz="1298" b="1" spc="-10" dirty="0">
                <a:solidFill>
                  <a:srgbClr val="1D3A5E"/>
                </a:solidFill>
                <a:latin typeface="Calibri"/>
                <a:cs typeface="Calibri"/>
              </a:rPr>
              <a:t>YOUR</a:t>
            </a:r>
            <a:r>
              <a:rPr sz="1298" b="1" spc="-40" dirty="0">
                <a:solidFill>
                  <a:srgbClr val="1D3A5E"/>
                </a:solidFill>
                <a:latin typeface="Calibri"/>
                <a:cs typeface="Calibri"/>
              </a:rPr>
              <a:t> </a:t>
            </a:r>
            <a:r>
              <a:rPr sz="1298" b="1" spc="-20" dirty="0">
                <a:solidFill>
                  <a:srgbClr val="1D3A5E"/>
                </a:solidFill>
                <a:latin typeface="Calibri"/>
                <a:cs typeface="Calibri"/>
              </a:rPr>
              <a:t>TASK:</a:t>
            </a:r>
            <a:r>
              <a:rPr sz="1298" b="1" spc="-40" dirty="0">
                <a:solidFill>
                  <a:srgbClr val="1D3A5E"/>
                </a:solidFill>
                <a:latin typeface="Calibri"/>
                <a:cs typeface="Calibri"/>
              </a:rPr>
              <a:t> </a:t>
            </a:r>
            <a:r>
              <a:rPr sz="1298" spc="-10" dirty="0">
                <a:solidFill>
                  <a:srgbClr val="202020"/>
                </a:solidFill>
                <a:latin typeface="Calibri"/>
                <a:cs typeface="Calibri"/>
              </a:rPr>
              <a:t>Write</a:t>
            </a:r>
            <a:r>
              <a:rPr sz="1298" spc="-35" dirty="0">
                <a:solidFill>
                  <a:srgbClr val="202020"/>
                </a:solidFill>
                <a:latin typeface="Calibri"/>
                <a:cs typeface="Calibri"/>
              </a:rPr>
              <a:t> </a:t>
            </a:r>
            <a:r>
              <a:rPr sz="1298" dirty="0">
                <a:solidFill>
                  <a:srgbClr val="202020"/>
                </a:solidFill>
                <a:latin typeface="Calibri"/>
                <a:cs typeface="Calibri"/>
              </a:rPr>
              <a:t>the</a:t>
            </a:r>
            <a:r>
              <a:rPr sz="1298" spc="-40" dirty="0">
                <a:solidFill>
                  <a:srgbClr val="202020"/>
                </a:solidFill>
                <a:latin typeface="Calibri"/>
                <a:cs typeface="Calibri"/>
              </a:rPr>
              <a:t> </a:t>
            </a:r>
            <a:r>
              <a:rPr sz="1298" spc="-10" dirty="0">
                <a:solidFill>
                  <a:srgbClr val="202020"/>
                </a:solidFill>
                <a:latin typeface="Calibri"/>
                <a:cs typeface="Calibri"/>
              </a:rPr>
              <a:t>corrected</a:t>
            </a:r>
            <a:r>
              <a:rPr sz="1298" spc="-35" dirty="0">
                <a:solidFill>
                  <a:srgbClr val="202020"/>
                </a:solidFill>
                <a:latin typeface="Calibri"/>
                <a:cs typeface="Calibri"/>
              </a:rPr>
              <a:t> </a:t>
            </a:r>
            <a:r>
              <a:rPr sz="1298" spc="-20" dirty="0">
                <a:solidFill>
                  <a:srgbClr val="202020"/>
                </a:solidFill>
                <a:latin typeface="Calibri"/>
                <a:cs typeface="Calibri"/>
              </a:rPr>
              <a:t>CREATE</a:t>
            </a:r>
            <a:r>
              <a:rPr sz="1298" spc="-35" dirty="0">
                <a:solidFill>
                  <a:srgbClr val="202020"/>
                </a:solidFill>
                <a:latin typeface="Calibri"/>
                <a:cs typeface="Calibri"/>
              </a:rPr>
              <a:t> </a:t>
            </a:r>
            <a:r>
              <a:rPr sz="1298" spc="-20" dirty="0">
                <a:solidFill>
                  <a:srgbClr val="202020"/>
                </a:solidFill>
                <a:latin typeface="Calibri"/>
                <a:cs typeface="Calibri"/>
              </a:rPr>
              <a:t>TABLE,</a:t>
            </a:r>
            <a:r>
              <a:rPr sz="1298" spc="-35" dirty="0">
                <a:solidFill>
                  <a:srgbClr val="202020"/>
                </a:solidFill>
                <a:latin typeface="Calibri"/>
                <a:cs typeface="Calibri"/>
              </a:rPr>
              <a:t> </a:t>
            </a:r>
            <a:r>
              <a:rPr sz="1298" spc="-20" dirty="0">
                <a:solidFill>
                  <a:srgbClr val="202020"/>
                </a:solidFill>
                <a:latin typeface="Calibri"/>
                <a:cs typeface="Calibri"/>
              </a:rPr>
              <a:t>execute</a:t>
            </a:r>
            <a:r>
              <a:rPr sz="1298" spc="-40" dirty="0">
                <a:solidFill>
                  <a:srgbClr val="202020"/>
                </a:solidFill>
                <a:latin typeface="Calibri"/>
                <a:cs typeface="Calibri"/>
              </a:rPr>
              <a:t> </a:t>
            </a:r>
            <a:r>
              <a:rPr sz="1298" dirty="0">
                <a:solidFill>
                  <a:srgbClr val="202020"/>
                </a:solidFill>
                <a:latin typeface="Calibri"/>
                <a:cs typeface="Calibri"/>
              </a:rPr>
              <a:t>it</a:t>
            </a:r>
            <a:r>
              <a:rPr sz="1298" spc="-35" dirty="0">
                <a:solidFill>
                  <a:srgbClr val="202020"/>
                </a:solidFill>
                <a:latin typeface="Calibri"/>
                <a:cs typeface="Calibri"/>
              </a:rPr>
              <a:t> </a:t>
            </a:r>
            <a:r>
              <a:rPr sz="1298" dirty="0">
                <a:solidFill>
                  <a:srgbClr val="202020"/>
                </a:solidFill>
                <a:latin typeface="Calibri"/>
                <a:cs typeface="Calibri"/>
              </a:rPr>
              <a:t>in</a:t>
            </a:r>
            <a:r>
              <a:rPr sz="1298" spc="-35" dirty="0">
                <a:solidFill>
                  <a:srgbClr val="202020"/>
                </a:solidFill>
                <a:latin typeface="Calibri"/>
                <a:cs typeface="Calibri"/>
              </a:rPr>
              <a:t> </a:t>
            </a:r>
            <a:r>
              <a:rPr sz="1298" dirty="0">
                <a:solidFill>
                  <a:srgbClr val="202020"/>
                </a:solidFill>
                <a:latin typeface="Calibri"/>
                <a:cs typeface="Calibri"/>
              </a:rPr>
              <a:t>accio_NN,</a:t>
            </a:r>
            <a:r>
              <a:rPr sz="1298" spc="-40" dirty="0">
                <a:solidFill>
                  <a:srgbClr val="202020"/>
                </a:solidFill>
                <a:latin typeface="Calibri"/>
                <a:cs typeface="Calibri"/>
              </a:rPr>
              <a:t> </a:t>
            </a:r>
            <a:r>
              <a:rPr sz="1298" dirty="0">
                <a:solidFill>
                  <a:srgbClr val="202020"/>
                </a:solidFill>
                <a:latin typeface="Calibri"/>
                <a:cs typeface="Calibri"/>
              </a:rPr>
              <a:t>and</a:t>
            </a:r>
            <a:r>
              <a:rPr sz="1298" spc="-35" dirty="0">
                <a:solidFill>
                  <a:srgbClr val="202020"/>
                </a:solidFill>
                <a:latin typeface="Calibri"/>
                <a:cs typeface="Calibri"/>
              </a:rPr>
              <a:t> </a:t>
            </a:r>
            <a:r>
              <a:rPr sz="1298" dirty="0">
                <a:solidFill>
                  <a:srgbClr val="202020"/>
                </a:solidFill>
                <a:latin typeface="Calibri"/>
                <a:cs typeface="Calibri"/>
              </a:rPr>
              <a:t>insert</a:t>
            </a:r>
            <a:r>
              <a:rPr sz="1298" spc="-35" dirty="0">
                <a:solidFill>
                  <a:srgbClr val="202020"/>
                </a:solidFill>
                <a:latin typeface="Calibri"/>
                <a:cs typeface="Calibri"/>
              </a:rPr>
              <a:t> </a:t>
            </a:r>
            <a:r>
              <a:rPr sz="1298" dirty="0">
                <a:solidFill>
                  <a:srgbClr val="202020"/>
                </a:solidFill>
                <a:latin typeface="Calibri"/>
                <a:cs typeface="Calibri"/>
              </a:rPr>
              <a:t>2</a:t>
            </a:r>
            <a:r>
              <a:rPr sz="1298" spc="-35" dirty="0">
                <a:solidFill>
                  <a:srgbClr val="202020"/>
                </a:solidFill>
                <a:latin typeface="Calibri"/>
                <a:cs typeface="Calibri"/>
              </a:rPr>
              <a:t> </a:t>
            </a:r>
            <a:r>
              <a:rPr sz="1298" dirty="0">
                <a:solidFill>
                  <a:srgbClr val="202020"/>
                </a:solidFill>
                <a:latin typeface="Calibri"/>
                <a:cs typeface="Calibri"/>
              </a:rPr>
              <a:t>rows</a:t>
            </a:r>
            <a:r>
              <a:rPr sz="1298" spc="-40" dirty="0">
                <a:solidFill>
                  <a:srgbClr val="202020"/>
                </a:solidFill>
                <a:latin typeface="Calibri"/>
                <a:cs typeface="Calibri"/>
              </a:rPr>
              <a:t> </a:t>
            </a:r>
            <a:r>
              <a:rPr sz="1298" dirty="0">
                <a:solidFill>
                  <a:srgbClr val="202020"/>
                </a:solidFill>
                <a:latin typeface="Calibri"/>
                <a:cs typeface="Calibri"/>
              </a:rPr>
              <a:t>to</a:t>
            </a:r>
            <a:r>
              <a:rPr sz="1298" spc="-35" dirty="0">
                <a:solidFill>
                  <a:srgbClr val="202020"/>
                </a:solidFill>
                <a:latin typeface="Calibri"/>
                <a:cs typeface="Calibri"/>
              </a:rPr>
              <a:t> </a:t>
            </a:r>
            <a:r>
              <a:rPr sz="1298" spc="-10" dirty="0">
                <a:solidFill>
                  <a:srgbClr val="202020"/>
                </a:solidFill>
                <a:latin typeface="Calibri"/>
                <a:cs typeface="Calibri"/>
              </a:rPr>
              <a:t>prove</a:t>
            </a:r>
            <a:r>
              <a:rPr sz="1298" spc="-35" dirty="0">
                <a:solidFill>
                  <a:srgbClr val="202020"/>
                </a:solidFill>
                <a:latin typeface="Calibri"/>
                <a:cs typeface="Calibri"/>
              </a:rPr>
              <a:t> </a:t>
            </a:r>
            <a:r>
              <a:rPr sz="1298" dirty="0">
                <a:solidFill>
                  <a:srgbClr val="202020"/>
                </a:solidFill>
                <a:latin typeface="Calibri"/>
                <a:cs typeface="Calibri"/>
              </a:rPr>
              <a:t>the</a:t>
            </a:r>
            <a:r>
              <a:rPr sz="1298" spc="-40" dirty="0">
                <a:solidFill>
                  <a:srgbClr val="202020"/>
                </a:solidFill>
                <a:latin typeface="Calibri"/>
                <a:cs typeface="Calibri"/>
              </a:rPr>
              <a:t> </a:t>
            </a:r>
            <a:r>
              <a:rPr sz="1298" dirty="0">
                <a:solidFill>
                  <a:srgbClr val="202020"/>
                </a:solidFill>
                <a:latin typeface="Calibri"/>
                <a:cs typeface="Calibri"/>
              </a:rPr>
              <a:t>types</a:t>
            </a:r>
            <a:r>
              <a:rPr sz="1298" spc="-35" dirty="0">
                <a:solidFill>
                  <a:srgbClr val="202020"/>
                </a:solidFill>
                <a:latin typeface="Calibri"/>
                <a:cs typeface="Calibri"/>
              </a:rPr>
              <a:t> </a:t>
            </a:r>
            <a:r>
              <a:rPr sz="1298" spc="-10" dirty="0">
                <a:solidFill>
                  <a:srgbClr val="202020"/>
                </a:solidFill>
                <a:latin typeface="Calibri"/>
                <a:cs typeface="Calibri"/>
              </a:rPr>
              <a:t>work.</a:t>
            </a:r>
            <a:endParaRPr sz="1298">
              <a:latin typeface="Calibri"/>
              <a:cs typeface="Calibri"/>
            </a:endParaRPr>
          </a:p>
          <a:p>
            <a:pPr marL="12685">
              <a:spcBef>
                <a:spcPts val="884"/>
              </a:spcBef>
            </a:pPr>
            <a:r>
              <a:rPr sz="1298" b="1" dirty="0">
                <a:solidFill>
                  <a:srgbClr val="1D3A5E"/>
                </a:solidFill>
                <a:latin typeface="Calibri"/>
                <a:cs typeface="Calibri"/>
              </a:rPr>
              <a:t>Hint:</a:t>
            </a:r>
            <a:r>
              <a:rPr sz="1298" b="1" spc="-25" dirty="0">
                <a:solidFill>
                  <a:srgbClr val="1D3A5E"/>
                </a:solidFill>
                <a:latin typeface="Calibri"/>
                <a:cs typeface="Calibri"/>
              </a:rPr>
              <a:t> </a:t>
            </a:r>
            <a:r>
              <a:rPr sz="1298" dirty="0">
                <a:solidFill>
                  <a:srgbClr val="202020"/>
                </a:solidFill>
                <a:latin typeface="Calibri"/>
                <a:cs typeface="Calibri"/>
              </a:rPr>
              <a:t>money</a:t>
            </a:r>
            <a:r>
              <a:rPr sz="1298" spc="-20" dirty="0">
                <a:solidFill>
                  <a:srgbClr val="202020"/>
                </a:solidFill>
                <a:latin typeface="Calibri"/>
                <a:cs typeface="Calibri"/>
              </a:rPr>
              <a:t> </a:t>
            </a:r>
            <a:r>
              <a:rPr sz="1298" spc="-10" dirty="0">
                <a:solidFill>
                  <a:srgbClr val="202020"/>
                </a:solidFill>
                <a:latin typeface="Calibri"/>
                <a:cs typeface="Calibri"/>
              </a:rPr>
              <a:t>-</a:t>
            </a:r>
            <a:r>
              <a:rPr sz="1298" dirty="0">
                <a:solidFill>
                  <a:srgbClr val="202020"/>
                </a:solidFill>
                <a:latin typeface="Calibri"/>
                <a:cs typeface="Calibri"/>
              </a:rPr>
              <a:t>&gt;</a:t>
            </a:r>
            <a:r>
              <a:rPr sz="1298" spc="-20" dirty="0">
                <a:solidFill>
                  <a:srgbClr val="202020"/>
                </a:solidFill>
                <a:latin typeface="Calibri"/>
                <a:cs typeface="Calibri"/>
              </a:rPr>
              <a:t> </a:t>
            </a:r>
            <a:r>
              <a:rPr sz="1298" spc="-10" dirty="0">
                <a:solidFill>
                  <a:srgbClr val="202020"/>
                </a:solidFill>
                <a:latin typeface="Calibri"/>
                <a:cs typeface="Calibri"/>
              </a:rPr>
              <a:t>NUMERIC(12,2);</a:t>
            </a:r>
            <a:r>
              <a:rPr sz="1298" spc="-20" dirty="0">
                <a:solidFill>
                  <a:srgbClr val="202020"/>
                </a:solidFill>
                <a:latin typeface="Calibri"/>
                <a:cs typeface="Calibri"/>
              </a:rPr>
              <a:t> </a:t>
            </a:r>
            <a:r>
              <a:rPr sz="1298" spc="-10" dirty="0">
                <a:solidFill>
                  <a:srgbClr val="202020"/>
                </a:solidFill>
                <a:latin typeface="Calibri"/>
                <a:cs typeface="Calibri"/>
              </a:rPr>
              <a:t>phone/pincode</a:t>
            </a:r>
            <a:r>
              <a:rPr sz="1298" spc="-20" dirty="0">
                <a:solidFill>
                  <a:srgbClr val="202020"/>
                </a:solidFill>
                <a:latin typeface="Calibri"/>
                <a:cs typeface="Calibri"/>
              </a:rPr>
              <a:t> </a:t>
            </a:r>
            <a:r>
              <a:rPr sz="1298" spc="-10" dirty="0">
                <a:solidFill>
                  <a:srgbClr val="202020"/>
                </a:solidFill>
                <a:latin typeface="Calibri"/>
                <a:cs typeface="Calibri"/>
              </a:rPr>
              <a:t>-</a:t>
            </a:r>
            <a:r>
              <a:rPr sz="1298" dirty="0">
                <a:solidFill>
                  <a:srgbClr val="202020"/>
                </a:solidFill>
                <a:latin typeface="Calibri"/>
                <a:cs typeface="Calibri"/>
              </a:rPr>
              <a:t>&gt;</a:t>
            </a:r>
            <a:r>
              <a:rPr sz="1298" spc="-20" dirty="0">
                <a:solidFill>
                  <a:srgbClr val="202020"/>
                </a:solidFill>
                <a:latin typeface="Calibri"/>
                <a:cs typeface="Calibri"/>
              </a:rPr>
              <a:t> </a:t>
            </a:r>
            <a:r>
              <a:rPr sz="1298" spc="-10" dirty="0">
                <a:solidFill>
                  <a:srgbClr val="202020"/>
                </a:solidFill>
                <a:latin typeface="Calibri"/>
                <a:cs typeface="Calibri"/>
              </a:rPr>
              <a:t>VARCHAR;</a:t>
            </a:r>
            <a:r>
              <a:rPr sz="1298" spc="-20" dirty="0">
                <a:solidFill>
                  <a:srgbClr val="202020"/>
                </a:solidFill>
                <a:latin typeface="Calibri"/>
                <a:cs typeface="Calibri"/>
              </a:rPr>
              <a:t> </a:t>
            </a:r>
            <a:r>
              <a:rPr sz="1298" spc="-10" dirty="0">
                <a:solidFill>
                  <a:srgbClr val="202020"/>
                </a:solidFill>
                <a:latin typeface="Calibri"/>
                <a:cs typeface="Calibri"/>
              </a:rPr>
              <a:t>yes/no</a:t>
            </a:r>
            <a:r>
              <a:rPr sz="1298" spc="-20" dirty="0">
                <a:solidFill>
                  <a:srgbClr val="202020"/>
                </a:solidFill>
                <a:latin typeface="Calibri"/>
                <a:cs typeface="Calibri"/>
              </a:rPr>
              <a:t> </a:t>
            </a:r>
            <a:r>
              <a:rPr sz="1298" spc="-10" dirty="0">
                <a:solidFill>
                  <a:srgbClr val="202020"/>
                </a:solidFill>
                <a:latin typeface="Calibri"/>
                <a:cs typeface="Calibri"/>
              </a:rPr>
              <a:t>-</a:t>
            </a:r>
            <a:r>
              <a:rPr sz="1298" dirty="0">
                <a:solidFill>
                  <a:srgbClr val="202020"/>
                </a:solidFill>
                <a:latin typeface="Calibri"/>
                <a:cs typeface="Calibri"/>
              </a:rPr>
              <a:t>&gt;</a:t>
            </a:r>
            <a:r>
              <a:rPr sz="1298" spc="-20" dirty="0">
                <a:solidFill>
                  <a:srgbClr val="202020"/>
                </a:solidFill>
                <a:latin typeface="Calibri"/>
                <a:cs typeface="Calibri"/>
              </a:rPr>
              <a:t> </a:t>
            </a:r>
            <a:r>
              <a:rPr sz="1298" spc="-10" dirty="0">
                <a:solidFill>
                  <a:srgbClr val="202020"/>
                </a:solidFill>
                <a:latin typeface="Calibri"/>
                <a:cs typeface="Calibri"/>
              </a:rPr>
              <a:t>BOOLEAN;</a:t>
            </a:r>
            <a:r>
              <a:rPr sz="1298" spc="-20" dirty="0">
                <a:solidFill>
                  <a:srgbClr val="202020"/>
                </a:solidFill>
                <a:latin typeface="Calibri"/>
                <a:cs typeface="Calibri"/>
              </a:rPr>
              <a:t> </a:t>
            </a:r>
            <a:r>
              <a:rPr sz="1298" spc="-10" dirty="0">
                <a:solidFill>
                  <a:srgbClr val="202020"/>
                </a:solidFill>
                <a:latin typeface="Calibri"/>
                <a:cs typeface="Calibri"/>
              </a:rPr>
              <a:t>rating</a:t>
            </a:r>
            <a:r>
              <a:rPr sz="1298" spc="-20" dirty="0">
                <a:solidFill>
                  <a:srgbClr val="202020"/>
                </a:solidFill>
                <a:latin typeface="Calibri"/>
                <a:cs typeface="Calibri"/>
              </a:rPr>
              <a:t> 1-</a:t>
            </a:r>
            <a:r>
              <a:rPr sz="1298" dirty="0">
                <a:solidFill>
                  <a:srgbClr val="202020"/>
                </a:solidFill>
                <a:latin typeface="Calibri"/>
                <a:cs typeface="Calibri"/>
              </a:rPr>
              <a:t>5</a:t>
            </a:r>
            <a:r>
              <a:rPr sz="1298" spc="-20" dirty="0">
                <a:solidFill>
                  <a:srgbClr val="202020"/>
                </a:solidFill>
                <a:latin typeface="Calibri"/>
                <a:cs typeface="Calibri"/>
              </a:rPr>
              <a:t> </a:t>
            </a:r>
            <a:r>
              <a:rPr sz="1298" spc="-10" dirty="0">
                <a:solidFill>
                  <a:srgbClr val="202020"/>
                </a:solidFill>
                <a:latin typeface="Calibri"/>
                <a:cs typeface="Calibri"/>
              </a:rPr>
              <a:t>-</a:t>
            </a:r>
            <a:r>
              <a:rPr sz="1298" dirty="0">
                <a:solidFill>
                  <a:srgbClr val="202020"/>
                </a:solidFill>
                <a:latin typeface="Calibri"/>
                <a:cs typeface="Calibri"/>
              </a:rPr>
              <a:t>&gt;</a:t>
            </a:r>
            <a:r>
              <a:rPr sz="1298" spc="-20" dirty="0">
                <a:solidFill>
                  <a:srgbClr val="202020"/>
                </a:solidFill>
                <a:latin typeface="Calibri"/>
                <a:cs typeface="Calibri"/>
              </a:rPr>
              <a:t> </a:t>
            </a:r>
            <a:r>
              <a:rPr sz="1298" spc="-10" dirty="0">
                <a:solidFill>
                  <a:srgbClr val="202020"/>
                </a:solidFill>
                <a:latin typeface="Calibri"/>
                <a:cs typeface="Calibri"/>
              </a:rPr>
              <a:t>NUMERIC(2,1);</a:t>
            </a:r>
            <a:r>
              <a:rPr sz="1298" spc="-20" dirty="0">
                <a:solidFill>
                  <a:srgbClr val="202020"/>
                </a:solidFill>
                <a:latin typeface="Calibri"/>
                <a:cs typeface="Calibri"/>
              </a:rPr>
              <a:t> </a:t>
            </a:r>
            <a:r>
              <a:rPr sz="1298" dirty="0">
                <a:solidFill>
                  <a:srgbClr val="202020"/>
                </a:solidFill>
                <a:latin typeface="Calibri"/>
                <a:cs typeface="Calibri"/>
              </a:rPr>
              <a:t>long</a:t>
            </a:r>
            <a:r>
              <a:rPr sz="1298" spc="-20" dirty="0">
                <a:solidFill>
                  <a:srgbClr val="202020"/>
                </a:solidFill>
                <a:latin typeface="Calibri"/>
                <a:cs typeface="Calibri"/>
              </a:rPr>
              <a:t> </a:t>
            </a:r>
            <a:r>
              <a:rPr sz="1298" spc="-10" dirty="0">
                <a:solidFill>
                  <a:srgbClr val="202020"/>
                </a:solidFill>
                <a:latin typeface="Calibri"/>
                <a:cs typeface="Calibri"/>
              </a:rPr>
              <a:t>notes</a:t>
            </a:r>
            <a:endParaRPr sz="1298">
              <a:latin typeface="Calibri"/>
              <a:cs typeface="Calibri"/>
            </a:endParaRPr>
          </a:p>
          <a:p>
            <a:pPr marL="12685">
              <a:spcBef>
                <a:spcPts val="315"/>
              </a:spcBef>
            </a:pPr>
            <a:r>
              <a:rPr sz="1298" spc="-10" dirty="0">
                <a:solidFill>
                  <a:srgbClr val="202020"/>
                </a:solidFill>
                <a:latin typeface="Calibri"/>
                <a:cs typeface="Calibri"/>
              </a:rPr>
              <a:t>-</a:t>
            </a:r>
            <a:r>
              <a:rPr sz="1298" dirty="0">
                <a:solidFill>
                  <a:srgbClr val="202020"/>
                </a:solidFill>
                <a:latin typeface="Calibri"/>
                <a:cs typeface="Calibri"/>
              </a:rPr>
              <a:t>&gt;</a:t>
            </a:r>
            <a:r>
              <a:rPr sz="1298" spc="-20" dirty="0">
                <a:solidFill>
                  <a:srgbClr val="202020"/>
                </a:solidFill>
                <a:latin typeface="Calibri"/>
                <a:cs typeface="Calibri"/>
              </a:rPr>
              <a:t> TEXT;</a:t>
            </a:r>
            <a:r>
              <a:rPr sz="1298" spc="-15" dirty="0">
                <a:solidFill>
                  <a:srgbClr val="202020"/>
                </a:solidFill>
                <a:latin typeface="Calibri"/>
                <a:cs typeface="Calibri"/>
              </a:rPr>
              <a:t> </a:t>
            </a:r>
            <a:r>
              <a:rPr sz="1298" dirty="0">
                <a:solidFill>
                  <a:srgbClr val="202020"/>
                </a:solidFill>
                <a:latin typeface="Calibri"/>
                <a:cs typeface="Calibri"/>
              </a:rPr>
              <a:t>id</a:t>
            </a:r>
            <a:r>
              <a:rPr sz="1298" spc="-15" dirty="0">
                <a:solidFill>
                  <a:srgbClr val="202020"/>
                </a:solidFill>
                <a:latin typeface="Calibri"/>
                <a:cs typeface="Calibri"/>
              </a:rPr>
              <a:t> </a:t>
            </a:r>
            <a:r>
              <a:rPr sz="1298" spc="-10" dirty="0">
                <a:solidFill>
                  <a:srgbClr val="202020"/>
                </a:solidFill>
                <a:latin typeface="Calibri"/>
                <a:cs typeface="Calibri"/>
              </a:rPr>
              <a:t>-</a:t>
            </a:r>
            <a:r>
              <a:rPr sz="1298" dirty="0">
                <a:solidFill>
                  <a:srgbClr val="202020"/>
                </a:solidFill>
                <a:latin typeface="Calibri"/>
                <a:cs typeface="Calibri"/>
              </a:rPr>
              <a:t>&gt;</a:t>
            </a:r>
            <a:r>
              <a:rPr sz="1298" spc="-20" dirty="0">
                <a:solidFill>
                  <a:srgbClr val="202020"/>
                </a:solidFill>
                <a:latin typeface="Calibri"/>
                <a:cs typeface="Calibri"/>
              </a:rPr>
              <a:t> </a:t>
            </a:r>
            <a:r>
              <a:rPr sz="1298" spc="-10" dirty="0">
                <a:solidFill>
                  <a:srgbClr val="202020"/>
                </a:solidFill>
                <a:latin typeface="Calibri"/>
                <a:cs typeface="Calibri"/>
              </a:rPr>
              <a:t>SERIAL.</a:t>
            </a:r>
            <a:endParaRPr sz="1298">
              <a:latin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638" y="3"/>
            <a:ext cx="9132725" cy="5137792"/>
          </a:xfrm>
          <a:custGeom>
            <a:avLst/>
            <a:gdLst/>
            <a:ahLst/>
            <a:cxnLst/>
            <a:rect l="l" t="t" r="r" b="b"/>
            <a:pathLst>
              <a:path w="9144000" h="5144135">
                <a:moveTo>
                  <a:pt x="9144000" y="0"/>
                </a:moveTo>
                <a:lnTo>
                  <a:pt x="0" y="0"/>
                </a:lnTo>
                <a:lnTo>
                  <a:pt x="0" y="5143677"/>
                </a:lnTo>
                <a:lnTo>
                  <a:pt x="9144000" y="5143677"/>
                </a:lnTo>
                <a:lnTo>
                  <a:pt x="9144000" y="0"/>
                </a:lnTo>
                <a:close/>
              </a:path>
            </a:pathLst>
          </a:custGeom>
          <a:solidFill>
            <a:srgbClr val="1D1D1D"/>
          </a:solidFill>
        </p:spPr>
        <p:txBody>
          <a:bodyPr wrap="square" lIns="0" tIns="0" rIns="0" bIns="0" rtlCol="0"/>
          <a:lstStyle/>
          <a:p>
            <a:endParaRPr sz="1798"/>
          </a:p>
        </p:txBody>
      </p:sp>
      <p:sp>
        <p:nvSpPr>
          <p:cNvPr id="3" name="object 3"/>
          <p:cNvSpPr/>
          <p:nvPr/>
        </p:nvSpPr>
        <p:spPr>
          <a:xfrm>
            <a:off x="5283" y="4839990"/>
            <a:ext cx="9132725" cy="296814"/>
          </a:xfrm>
          <a:custGeom>
            <a:avLst/>
            <a:gdLst/>
            <a:ahLst/>
            <a:cxnLst/>
            <a:rect l="l" t="t" r="r" b="b"/>
            <a:pathLst>
              <a:path w="9144000" h="297179">
                <a:moveTo>
                  <a:pt x="9143631" y="0"/>
                </a:moveTo>
                <a:lnTo>
                  <a:pt x="0" y="0"/>
                </a:lnTo>
                <a:lnTo>
                  <a:pt x="0" y="296989"/>
                </a:lnTo>
                <a:lnTo>
                  <a:pt x="4572000" y="296989"/>
                </a:lnTo>
                <a:lnTo>
                  <a:pt x="9143631" y="296989"/>
                </a:lnTo>
                <a:lnTo>
                  <a:pt x="9143631" y="0"/>
                </a:lnTo>
                <a:close/>
              </a:path>
            </a:pathLst>
          </a:custGeom>
          <a:solidFill>
            <a:srgbClr val="333333"/>
          </a:solidFill>
        </p:spPr>
        <p:txBody>
          <a:bodyPr wrap="square" lIns="0" tIns="0" rIns="0" bIns="0" rtlCol="0"/>
          <a:lstStyle/>
          <a:p>
            <a:endParaRPr sz="1798"/>
          </a:p>
        </p:txBody>
      </p:sp>
      <p:sp>
        <p:nvSpPr>
          <p:cNvPr id="4" name="object 4"/>
          <p:cNvSpPr/>
          <p:nvPr/>
        </p:nvSpPr>
        <p:spPr>
          <a:xfrm>
            <a:off x="5283" y="-353"/>
            <a:ext cx="9132725" cy="54543"/>
          </a:xfrm>
          <a:custGeom>
            <a:avLst/>
            <a:gdLst/>
            <a:ahLst/>
            <a:cxnLst/>
            <a:rect l="l" t="t" r="r" b="b"/>
            <a:pathLst>
              <a:path w="9144000" h="54610">
                <a:moveTo>
                  <a:pt x="9143631" y="0"/>
                </a:moveTo>
                <a:lnTo>
                  <a:pt x="0" y="0"/>
                </a:lnTo>
                <a:lnTo>
                  <a:pt x="0" y="54355"/>
                </a:lnTo>
                <a:lnTo>
                  <a:pt x="4572000" y="54355"/>
                </a:lnTo>
                <a:lnTo>
                  <a:pt x="9143631" y="54355"/>
                </a:lnTo>
                <a:lnTo>
                  <a:pt x="9143631" y="0"/>
                </a:lnTo>
                <a:close/>
              </a:path>
            </a:pathLst>
          </a:custGeom>
          <a:solidFill>
            <a:srgbClr val="FF9800"/>
          </a:solidFill>
        </p:spPr>
        <p:txBody>
          <a:bodyPr wrap="square" lIns="0" tIns="0" rIns="0" bIns="0" rtlCol="0"/>
          <a:lstStyle/>
          <a:p>
            <a:endParaRPr sz="1798"/>
          </a:p>
        </p:txBody>
      </p:sp>
      <p:sp>
        <p:nvSpPr>
          <p:cNvPr id="5" name="object 5"/>
          <p:cNvSpPr/>
          <p:nvPr/>
        </p:nvSpPr>
        <p:spPr>
          <a:xfrm>
            <a:off x="7311462" y="136637"/>
            <a:ext cx="1461236" cy="365309"/>
          </a:xfrm>
          <a:custGeom>
            <a:avLst/>
            <a:gdLst/>
            <a:ahLst/>
            <a:cxnLst/>
            <a:rect l="l" t="t" r="r" b="b"/>
            <a:pathLst>
              <a:path w="1463040" h="365759">
                <a:moveTo>
                  <a:pt x="1462671" y="0"/>
                </a:moveTo>
                <a:lnTo>
                  <a:pt x="0" y="0"/>
                </a:lnTo>
                <a:lnTo>
                  <a:pt x="0" y="365391"/>
                </a:lnTo>
                <a:lnTo>
                  <a:pt x="731520" y="365391"/>
                </a:lnTo>
                <a:lnTo>
                  <a:pt x="1462671" y="365391"/>
                </a:lnTo>
                <a:lnTo>
                  <a:pt x="1462671" y="0"/>
                </a:lnTo>
                <a:close/>
              </a:path>
            </a:pathLst>
          </a:custGeom>
          <a:solidFill>
            <a:srgbClr val="FF9800"/>
          </a:solidFill>
        </p:spPr>
        <p:txBody>
          <a:bodyPr wrap="square" lIns="0" tIns="0" rIns="0" bIns="0" rtlCol="0"/>
          <a:lstStyle/>
          <a:p>
            <a:endParaRPr sz="1798"/>
          </a:p>
        </p:txBody>
      </p:sp>
      <p:sp>
        <p:nvSpPr>
          <p:cNvPr id="6" name="object 6"/>
          <p:cNvSpPr txBox="1"/>
          <p:nvPr/>
        </p:nvSpPr>
        <p:spPr>
          <a:xfrm>
            <a:off x="7685650" y="187953"/>
            <a:ext cx="712226" cy="223183"/>
          </a:xfrm>
          <a:prstGeom prst="rect">
            <a:avLst/>
          </a:prstGeom>
        </p:spPr>
        <p:txBody>
          <a:bodyPr vert="horz" wrap="square" lIns="0" tIns="15855" rIns="0" bIns="0" rtlCol="0">
            <a:spAutoFit/>
          </a:bodyPr>
          <a:lstStyle/>
          <a:p>
            <a:pPr marL="12685">
              <a:spcBef>
                <a:spcPts val="125"/>
              </a:spcBef>
            </a:pPr>
            <a:r>
              <a:rPr sz="1348" spc="-155" dirty="0">
                <a:solidFill>
                  <a:srgbClr val="FFFFFF"/>
                </a:solidFill>
                <a:latin typeface="Segoe UI Symbol"/>
                <a:cs typeface="Segoe UI Symbol"/>
              </a:rPr>
              <a:t>✅</a:t>
            </a:r>
            <a:r>
              <a:rPr sz="1348" spc="-225" dirty="0">
                <a:solidFill>
                  <a:srgbClr val="FFFFFF"/>
                </a:solidFill>
                <a:latin typeface="Segoe UI Symbol"/>
                <a:cs typeface="Segoe UI Symbol"/>
              </a:rPr>
              <a:t> </a:t>
            </a:r>
            <a:r>
              <a:rPr sz="1099" b="1" spc="-10" dirty="0">
                <a:solidFill>
                  <a:srgbClr val="FFFFFF"/>
                </a:solidFill>
                <a:latin typeface="Calibri"/>
                <a:cs typeface="Calibri"/>
              </a:rPr>
              <a:t>ANSWER</a:t>
            </a:r>
            <a:endParaRPr sz="1099">
              <a:latin typeface="Calibri"/>
              <a:cs typeface="Calibri"/>
            </a:endParaRPr>
          </a:p>
        </p:txBody>
      </p:sp>
      <p:sp>
        <p:nvSpPr>
          <p:cNvPr id="7" name="object 7" descr="$PPTXTitle"/>
          <p:cNvSpPr txBox="1">
            <a:spLocks noGrp="1"/>
          </p:cNvSpPr>
          <p:nvPr>
            <p:ph type="title"/>
          </p:nvPr>
        </p:nvSpPr>
        <p:spPr>
          <a:xfrm>
            <a:off x="357907" y="180766"/>
            <a:ext cx="2498815" cy="257766"/>
          </a:xfrm>
          <a:prstGeom prst="rect">
            <a:avLst/>
          </a:prstGeom>
        </p:spPr>
        <p:txBody>
          <a:bodyPr vert="horz" wrap="square" lIns="0" tIns="12050" rIns="0" bIns="0" rtlCol="0">
            <a:spAutoFit/>
          </a:bodyPr>
          <a:lstStyle/>
          <a:p>
            <a:pPr marL="12685">
              <a:spcBef>
                <a:spcPts val="95"/>
              </a:spcBef>
            </a:pPr>
            <a:r>
              <a:rPr dirty="0">
                <a:latin typeface="Georgia"/>
                <a:cs typeface="Georgia"/>
              </a:rPr>
              <a:t>Find</a:t>
            </a:r>
            <a:r>
              <a:rPr spc="-45" dirty="0">
                <a:latin typeface="Georgia"/>
                <a:cs typeface="Georgia"/>
              </a:rPr>
              <a:t> </a:t>
            </a:r>
            <a:r>
              <a:rPr dirty="0">
                <a:latin typeface="Georgia"/>
                <a:cs typeface="Georgia"/>
              </a:rPr>
              <a:t>the</a:t>
            </a:r>
            <a:r>
              <a:rPr spc="-40" dirty="0">
                <a:latin typeface="Georgia"/>
                <a:cs typeface="Georgia"/>
              </a:rPr>
              <a:t> </a:t>
            </a:r>
            <a:r>
              <a:rPr dirty="0">
                <a:latin typeface="Georgia"/>
                <a:cs typeface="Georgia"/>
              </a:rPr>
              <a:t>9</a:t>
            </a:r>
            <a:r>
              <a:rPr spc="-40" dirty="0">
                <a:latin typeface="Georgia"/>
                <a:cs typeface="Georgia"/>
              </a:rPr>
              <a:t> </a:t>
            </a:r>
            <a:r>
              <a:rPr dirty="0">
                <a:latin typeface="Georgia"/>
                <a:cs typeface="Georgia"/>
              </a:rPr>
              <a:t>Wrong</a:t>
            </a:r>
            <a:r>
              <a:rPr spc="-45" dirty="0">
                <a:latin typeface="Georgia"/>
                <a:cs typeface="Georgia"/>
              </a:rPr>
              <a:t> </a:t>
            </a:r>
            <a:r>
              <a:rPr spc="-20" dirty="0">
                <a:latin typeface="Georgia"/>
                <a:cs typeface="Georgia"/>
              </a:rPr>
              <a:t>Types</a:t>
            </a:r>
          </a:p>
        </p:txBody>
      </p:sp>
      <p:sp>
        <p:nvSpPr>
          <p:cNvPr id="8" name="object 8"/>
          <p:cNvSpPr txBox="1"/>
          <p:nvPr/>
        </p:nvSpPr>
        <p:spPr>
          <a:xfrm>
            <a:off x="356461" y="640637"/>
            <a:ext cx="2841926" cy="166379"/>
          </a:xfrm>
          <a:prstGeom prst="rect">
            <a:avLst/>
          </a:prstGeom>
        </p:spPr>
        <p:txBody>
          <a:bodyPr vert="horz" wrap="square" lIns="0" tIns="12684" rIns="0" bIns="0" rtlCol="0">
            <a:spAutoFit/>
          </a:bodyPr>
          <a:lstStyle/>
          <a:p>
            <a:pPr marL="12685">
              <a:spcBef>
                <a:spcPts val="100"/>
              </a:spcBef>
            </a:pPr>
            <a:r>
              <a:rPr sz="999" dirty="0">
                <a:solidFill>
                  <a:srgbClr val="D3D3D3"/>
                </a:solidFill>
                <a:latin typeface="Courier New"/>
                <a:cs typeface="Courier New"/>
              </a:rPr>
              <a:t>CREATE</a:t>
            </a:r>
            <a:r>
              <a:rPr sz="999" spc="-55" dirty="0">
                <a:solidFill>
                  <a:srgbClr val="D3D3D3"/>
                </a:solidFill>
                <a:latin typeface="Courier New"/>
                <a:cs typeface="Courier New"/>
              </a:rPr>
              <a:t> </a:t>
            </a:r>
            <a:r>
              <a:rPr sz="999" dirty="0">
                <a:solidFill>
                  <a:srgbClr val="D3D3D3"/>
                </a:solidFill>
                <a:latin typeface="Courier New"/>
                <a:cs typeface="Courier New"/>
              </a:rPr>
              <a:t>TABLE</a:t>
            </a:r>
            <a:r>
              <a:rPr sz="999" spc="-55" dirty="0">
                <a:solidFill>
                  <a:srgbClr val="D3D3D3"/>
                </a:solidFill>
                <a:latin typeface="Courier New"/>
                <a:cs typeface="Courier New"/>
              </a:rPr>
              <a:t> </a:t>
            </a:r>
            <a:r>
              <a:rPr sz="999" dirty="0">
                <a:solidFill>
                  <a:srgbClr val="D3D3D3"/>
                </a:solidFill>
                <a:latin typeface="Courier New"/>
                <a:cs typeface="Courier New"/>
              </a:rPr>
              <a:t>public.customer_orders</a:t>
            </a:r>
            <a:r>
              <a:rPr sz="999" spc="-50" dirty="0">
                <a:solidFill>
                  <a:srgbClr val="D3D3D3"/>
                </a:solidFill>
                <a:latin typeface="Courier New"/>
                <a:cs typeface="Courier New"/>
              </a:rPr>
              <a:t> (</a:t>
            </a:r>
            <a:endParaRPr sz="999">
              <a:latin typeface="Courier New"/>
              <a:cs typeface="Courier New"/>
            </a:endParaRPr>
          </a:p>
        </p:txBody>
      </p:sp>
      <p:sp>
        <p:nvSpPr>
          <p:cNvPr id="9" name="object 9"/>
          <p:cNvSpPr txBox="1"/>
          <p:nvPr/>
        </p:nvSpPr>
        <p:spPr>
          <a:xfrm>
            <a:off x="660814" y="792928"/>
            <a:ext cx="1015381" cy="1533537"/>
          </a:xfrm>
          <a:prstGeom prst="rect">
            <a:avLst/>
          </a:prstGeom>
        </p:spPr>
        <p:txBody>
          <a:bodyPr vert="horz" wrap="square" lIns="0" tIns="12684" rIns="0" bIns="0" rtlCol="0">
            <a:spAutoFit/>
          </a:bodyPr>
          <a:lstStyle/>
          <a:p>
            <a:pPr marL="12685" marR="5074">
              <a:lnSpc>
                <a:spcPct val="110100"/>
              </a:lnSpc>
              <a:spcBef>
                <a:spcPts val="100"/>
              </a:spcBef>
            </a:pPr>
            <a:r>
              <a:rPr sz="999" spc="-10" dirty="0">
                <a:solidFill>
                  <a:srgbClr val="D3D3D3"/>
                </a:solidFill>
                <a:latin typeface="Courier New"/>
                <a:cs typeface="Courier New"/>
              </a:rPr>
              <a:t>order_id customer_name order_date total_amount phone</a:t>
            </a:r>
            <a:r>
              <a:rPr sz="999" spc="499" dirty="0">
                <a:solidFill>
                  <a:srgbClr val="D3D3D3"/>
                </a:solidFill>
                <a:latin typeface="Courier New"/>
                <a:cs typeface="Courier New"/>
              </a:rPr>
              <a:t> </a:t>
            </a:r>
            <a:r>
              <a:rPr sz="999" spc="-10" dirty="0">
                <a:solidFill>
                  <a:srgbClr val="D3D3D3"/>
                </a:solidFill>
                <a:latin typeface="Courier New"/>
                <a:cs typeface="Courier New"/>
              </a:rPr>
              <a:t>pincode is_delivered rating</a:t>
            </a:r>
            <a:endParaRPr sz="999">
              <a:latin typeface="Courier New"/>
              <a:cs typeface="Courier New"/>
            </a:endParaRPr>
          </a:p>
          <a:p>
            <a:pPr marL="12685">
              <a:spcBef>
                <a:spcPts val="120"/>
              </a:spcBef>
            </a:pPr>
            <a:r>
              <a:rPr sz="999" spc="-10" dirty="0">
                <a:solidFill>
                  <a:srgbClr val="D3D3D3"/>
                </a:solidFill>
                <a:latin typeface="Courier New"/>
                <a:cs typeface="Courier New"/>
              </a:rPr>
              <a:t>notes</a:t>
            </a:r>
            <a:endParaRPr sz="999">
              <a:latin typeface="Courier New"/>
              <a:cs typeface="Courier New"/>
            </a:endParaRPr>
          </a:p>
        </p:txBody>
      </p:sp>
      <p:sp>
        <p:nvSpPr>
          <p:cNvPr id="10" name="object 10"/>
          <p:cNvSpPr txBox="1"/>
          <p:nvPr/>
        </p:nvSpPr>
        <p:spPr>
          <a:xfrm>
            <a:off x="1802328" y="792928"/>
            <a:ext cx="1091487" cy="1533537"/>
          </a:xfrm>
          <a:prstGeom prst="rect">
            <a:avLst/>
          </a:prstGeom>
        </p:spPr>
        <p:txBody>
          <a:bodyPr vert="horz" wrap="square" lIns="0" tIns="12684" rIns="0" bIns="0" rtlCol="0">
            <a:spAutoFit/>
          </a:bodyPr>
          <a:lstStyle/>
          <a:p>
            <a:pPr marL="12685" marR="156657">
              <a:lnSpc>
                <a:spcPct val="110100"/>
              </a:lnSpc>
              <a:spcBef>
                <a:spcPts val="100"/>
              </a:spcBef>
            </a:pPr>
            <a:r>
              <a:rPr sz="999" spc="-10" dirty="0">
                <a:solidFill>
                  <a:srgbClr val="D3D3D3"/>
                </a:solidFill>
                <a:latin typeface="Courier New"/>
                <a:cs typeface="Courier New"/>
              </a:rPr>
              <a:t>VARCHAR(10), CHAR(200), VARCHAR(20), </a:t>
            </a:r>
            <a:r>
              <a:rPr sz="999" spc="-20" dirty="0">
                <a:solidFill>
                  <a:srgbClr val="D3D3D3"/>
                </a:solidFill>
                <a:latin typeface="Courier New"/>
                <a:cs typeface="Courier New"/>
              </a:rPr>
              <a:t>INT,</a:t>
            </a:r>
            <a:r>
              <a:rPr sz="999" spc="499" dirty="0">
                <a:solidFill>
                  <a:srgbClr val="D3D3D3"/>
                </a:solidFill>
                <a:latin typeface="Courier New"/>
                <a:cs typeface="Courier New"/>
              </a:rPr>
              <a:t> </a:t>
            </a:r>
            <a:r>
              <a:rPr sz="999" spc="-10" dirty="0">
                <a:solidFill>
                  <a:srgbClr val="D3D3D3"/>
                </a:solidFill>
                <a:latin typeface="Courier New"/>
                <a:cs typeface="Courier New"/>
              </a:rPr>
              <a:t>BIGINT,</a:t>
            </a:r>
            <a:r>
              <a:rPr sz="999" spc="499" dirty="0">
                <a:solidFill>
                  <a:srgbClr val="D3D3D3"/>
                </a:solidFill>
                <a:latin typeface="Courier New"/>
                <a:cs typeface="Courier New"/>
              </a:rPr>
              <a:t> </a:t>
            </a:r>
            <a:r>
              <a:rPr sz="999" spc="-20" dirty="0">
                <a:solidFill>
                  <a:srgbClr val="D3D3D3"/>
                </a:solidFill>
                <a:latin typeface="Courier New"/>
                <a:cs typeface="Courier New"/>
              </a:rPr>
              <a:t>INT, </a:t>
            </a:r>
            <a:r>
              <a:rPr sz="999" spc="-10" dirty="0">
                <a:solidFill>
                  <a:srgbClr val="D3D3D3"/>
                </a:solidFill>
                <a:latin typeface="Courier New"/>
                <a:cs typeface="Courier New"/>
              </a:rPr>
              <a:t>VARCHAR(5),</a:t>
            </a:r>
            <a:endParaRPr sz="999">
              <a:latin typeface="Courier New"/>
              <a:cs typeface="Courier New"/>
            </a:endParaRPr>
          </a:p>
          <a:p>
            <a:pPr marL="12685" marR="5074">
              <a:lnSpc>
                <a:spcPct val="110100"/>
              </a:lnSpc>
            </a:pPr>
            <a:r>
              <a:rPr sz="999" spc="-10" dirty="0">
                <a:solidFill>
                  <a:srgbClr val="D3D3D3"/>
                </a:solidFill>
                <a:latin typeface="Courier New"/>
                <a:cs typeface="Courier New"/>
              </a:rPr>
              <a:t>NUMERIC(10,5), VARCHAR(50)</a:t>
            </a:r>
            <a:endParaRPr sz="999">
              <a:latin typeface="Courier New"/>
              <a:cs typeface="Courier New"/>
            </a:endParaRPr>
          </a:p>
        </p:txBody>
      </p:sp>
      <p:sp>
        <p:nvSpPr>
          <p:cNvPr id="11" name="object 11"/>
          <p:cNvSpPr txBox="1"/>
          <p:nvPr/>
        </p:nvSpPr>
        <p:spPr>
          <a:xfrm>
            <a:off x="3019740" y="792928"/>
            <a:ext cx="2537502" cy="1533537"/>
          </a:xfrm>
          <a:prstGeom prst="rect">
            <a:avLst/>
          </a:prstGeom>
        </p:spPr>
        <p:txBody>
          <a:bodyPr vert="horz" wrap="square" lIns="0" tIns="27906" rIns="0" bIns="0" rtlCol="0">
            <a:spAutoFit/>
          </a:bodyPr>
          <a:lstStyle/>
          <a:p>
            <a:pPr marL="12685">
              <a:spcBef>
                <a:spcPts val="220"/>
              </a:spcBef>
            </a:pPr>
            <a:r>
              <a:rPr sz="999" spc="-10" dirty="0">
                <a:solidFill>
                  <a:srgbClr val="D3D3D3"/>
                </a:solidFill>
                <a:latin typeface="Courier New"/>
                <a:cs typeface="Courier New"/>
              </a:rPr>
              <a:t>-</a:t>
            </a:r>
            <a:r>
              <a:rPr sz="999" dirty="0">
                <a:solidFill>
                  <a:srgbClr val="D3D3D3"/>
                </a:solidFill>
                <a:latin typeface="Courier New"/>
                <a:cs typeface="Courier New"/>
              </a:rPr>
              <a:t>-</a:t>
            </a:r>
            <a:r>
              <a:rPr sz="999" spc="-10" dirty="0">
                <a:solidFill>
                  <a:srgbClr val="D3D3D3"/>
                </a:solidFill>
                <a:latin typeface="Courier New"/>
                <a:cs typeface="Courier New"/>
              </a:rPr>
              <a:t> </a:t>
            </a:r>
            <a:r>
              <a:rPr sz="999" dirty="0">
                <a:solidFill>
                  <a:srgbClr val="D3D3D3"/>
                </a:solidFill>
                <a:latin typeface="Courier New"/>
                <a:cs typeface="Courier New"/>
              </a:rPr>
              <a:t>ids</a:t>
            </a:r>
            <a:r>
              <a:rPr sz="999" spc="-10" dirty="0">
                <a:solidFill>
                  <a:srgbClr val="D3D3D3"/>
                </a:solidFill>
                <a:latin typeface="Courier New"/>
                <a:cs typeface="Courier New"/>
              </a:rPr>
              <a:t> </a:t>
            </a:r>
            <a:r>
              <a:rPr sz="999" dirty="0">
                <a:solidFill>
                  <a:srgbClr val="D3D3D3"/>
                </a:solidFill>
                <a:latin typeface="Courier New"/>
                <a:cs typeface="Courier New"/>
              </a:rPr>
              <a:t>are</a:t>
            </a:r>
            <a:r>
              <a:rPr sz="999" spc="-10" dirty="0">
                <a:solidFill>
                  <a:srgbClr val="D3D3D3"/>
                </a:solidFill>
                <a:latin typeface="Courier New"/>
                <a:cs typeface="Courier New"/>
              </a:rPr>
              <a:t> integers</a:t>
            </a:r>
            <a:endParaRPr sz="999">
              <a:latin typeface="Courier New"/>
              <a:cs typeface="Courier New"/>
            </a:endParaRPr>
          </a:p>
          <a:p>
            <a:pPr marL="12685">
              <a:spcBef>
                <a:spcPts val="120"/>
              </a:spcBef>
            </a:pPr>
            <a:r>
              <a:rPr sz="999" spc="-10" dirty="0">
                <a:solidFill>
                  <a:srgbClr val="D3D3D3"/>
                </a:solidFill>
                <a:latin typeface="Courier New"/>
                <a:cs typeface="Courier New"/>
              </a:rPr>
              <a:t>-</a:t>
            </a:r>
            <a:r>
              <a:rPr sz="999" dirty="0">
                <a:solidFill>
                  <a:srgbClr val="D3D3D3"/>
                </a:solidFill>
                <a:latin typeface="Courier New"/>
                <a:cs typeface="Courier New"/>
              </a:rPr>
              <a:t>-</a:t>
            </a:r>
            <a:r>
              <a:rPr sz="999" spc="-20" dirty="0">
                <a:solidFill>
                  <a:srgbClr val="D3D3D3"/>
                </a:solidFill>
                <a:latin typeface="Courier New"/>
                <a:cs typeface="Courier New"/>
              </a:rPr>
              <a:t> </a:t>
            </a:r>
            <a:r>
              <a:rPr sz="999" dirty="0">
                <a:solidFill>
                  <a:srgbClr val="D3D3D3"/>
                </a:solidFill>
                <a:latin typeface="Courier New"/>
                <a:cs typeface="Courier New"/>
              </a:rPr>
              <a:t>CHAR</a:t>
            </a:r>
            <a:r>
              <a:rPr sz="999" spc="-15" dirty="0">
                <a:solidFill>
                  <a:srgbClr val="D3D3D3"/>
                </a:solidFill>
                <a:latin typeface="Courier New"/>
                <a:cs typeface="Courier New"/>
              </a:rPr>
              <a:t> </a:t>
            </a:r>
            <a:r>
              <a:rPr sz="999" dirty="0">
                <a:solidFill>
                  <a:srgbClr val="D3D3D3"/>
                </a:solidFill>
                <a:latin typeface="Courier New"/>
                <a:cs typeface="Courier New"/>
              </a:rPr>
              <a:t>pads;</a:t>
            </a:r>
            <a:r>
              <a:rPr sz="999" spc="-20" dirty="0">
                <a:solidFill>
                  <a:srgbClr val="D3D3D3"/>
                </a:solidFill>
                <a:latin typeface="Courier New"/>
                <a:cs typeface="Courier New"/>
              </a:rPr>
              <a:t> </a:t>
            </a:r>
            <a:r>
              <a:rPr sz="999" dirty="0">
                <a:solidFill>
                  <a:srgbClr val="D3D3D3"/>
                </a:solidFill>
                <a:latin typeface="Courier New"/>
                <a:cs typeface="Courier New"/>
              </a:rPr>
              <a:t>names</a:t>
            </a:r>
            <a:r>
              <a:rPr sz="999" spc="-15" dirty="0">
                <a:solidFill>
                  <a:srgbClr val="D3D3D3"/>
                </a:solidFill>
                <a:latin typeface="Courier New"/>
                <a:cs typeface="Courier New"/>
              </a:rPr>
              <a:t> </a:t>
            </a:r>
            <a:r>
              <a:rPr sz="999" spc="-20" dirty="0">
                <a:solidFill>
                  <a:srgbClr val="D3D3D3"/>
                </a:solidFill>
                <a:latin typeface="Courier New"/>
                <a:cs typeface="Courier New"/>
              </a:rPr>
              <a:t>vary</a:t>
            </a:r>
            <a:endParaRPr sz="999">
              <a:latin typeface="Courier New"/>
              <a:cs typeface="Courier New"/>
            </a:endParaRPr>
          </a:p>
          <a:p>
            <a:pPr marL="12685">
              <a:spcBef>
                <a:spcPts val="120"/>
              </a:spcBef>
            </a:pPr>
            <a:r>
              <a:rPr sz="999" spc="-10" dirty="0">
                <a:solidFill>
                  <a:srgbClr val="D3D3D3"/>
                </a:solidFill>
                <a:latin typeface="Courier New"/>
                <a:cs typeface="Courier New"/>
              </a:rPr>
              <a:t>-</a:t>
            </a:r>
            <a:r>
              <a:rPr sz="999" dirty="0">
                <a:solidFill>
                  <a:srgbClr val="D3D3D3"/>
                </a:solidFill>
                <a:latin typeface="Courier New"/>
                <a:cs typeface="Courier New"/>
              </a:rPr>
              <a:t>-</a:t>
            </a:r>
            <a:r>
              <a:rPr sz="999" spc="-10" dirty="0">
                <a:solidFill>
                  <a:srgbClr val="D3D3D3"/>
                </a:solidFill>
                <a:latin typeface="Courier New"/>
                <a:cs typeface="Courier New"/>
              </a:rPr>
              <a:t> </a:t>
            </a:r>
            <a:r>
              <a:rPr sz="999" dirty="0">
                <a:solidFill>
                  <a:srgbClr val="D3D3D3"/>
                </a:solidFill>
                <a:latin typeface="Courier New"/>
                <a:cs typeface="Courier New"/>
              </a:rPr>
              <a:t>use</a:t>
            </a:r>
            <a:r>
              <a:rPr sz="999" spc="-10" dirty="0">
                <a:solidFill>
                  <a:srgbClr val="D3D3D3"/>
                </a:solidFill>
                <a:latin typeface="Courier New"/>
                <a:cs typeface="Courier New"/>
              </a:rPr>
              <a:t> </a:t>
            </a:r>
            <a:r>
              <a:rPr sz="999" dirty="0">
                <a:solidFill>
                  <a:srgbClr val="D3D3D3"/>
                </a:solidFill>
                <a:latin typeface="Courier New"/>
                <a:cs typeface="Courier New"/>
              </a:rPr>
              <a:t>a</a:t>
            </a:r>
            <a:r>
              <a:rPr sz="999" spc="-10" dirty="0">
                <a:solidFill>
                  <a:srgbClr val="D3D3D3"/>
                </a:solidFill>
                <a:latin typeface="Courier New"/>
                <a:cs typeface="Courier New"/>
              </a:rPr>
              <a:t> </a:t>
            </a:r>
            <a:r>
              <a:rPr sz="999" dirty="0">
                <a:solidFill>
                  <a:srgbClr val="D3D3D3"/>
                </a:solidFill>
                <a:latin typeface="Courier New"/>
                <a:cs typeface="Courier New"/>
              </a:rPr>
              <a:t>real</a:t>
            </a:r>
            <a:r>
              <a:rPr sz="999" spc="-10" dirty="0">
                <a:solidFill>
                  <a:srgbClr val="D3D3D3"/>
                </a:solidFill>
                <a:latin typeface="Courier New"/>
                <a:cs typeface="Courier New"/>
              </a:rPr>
              <a:t> </a:t>
            </a:r>
            <a:r>
              <a:rPr sz="999" spc="-20" dirty="0">
                <a:solidFill>
                  <a:srgbClr val="D3D3D3"/>
                </a:solidFill>
                <a:latin typeface="Courier New"/>
                <a:cs typeface="Courier New"/>
              </a:rPr>
              <a:t>date</a:t>
            </a:r>
            <a:endParaRPr sz="999">
              <a:latin typeface="Courier New"/>
              <a:cs typeface="Courier New"/>
            </a:endParaRPr>
          </a:p>
          <a:p>
            <a:pPr marL="12685">
              <a:spcBef>
                <a:spcPts val="120"/>
              </a:spcBef>
            </a:pPr>
            <a:r>
              <a:rPr sz="999" spc="-10" dirty="0">
                <a:solidFill>
                  <a:srgbClr val="D3D3D3"/>
                </a:solidFill>
                <a:latin typeface="Courier New"/>
                <a:cs typeface="Courier New"/>
              </a:rPr>
              <a:t>-</a:t>
            </a:r>
            <a:r>
              <a:rPr sz="999" dirty="0">
                <a:solidFill>
                  <a:srgbClr val="D3D3D3"/>
                </a:solidFill>
                <a:latin typeface="Courier New"/>
                <a:cs typeface="Courier New"/>
              </a:rPr>
              <a:t>-</a:t>
            </a:r>
            <a:r>
              <a:rPr sz="999" spc="-15" dirty="0">
                <a:solidFill>
                  <a:srgbClr val="D3D3D3"/>
                </a:solidFill>
                <a:latin typeface="Courier New"/>
                <a:cs typeface="Courier New"/>
              </a:rPr>
              <a:t> </a:t>
            </a:r>
            <a:r>
              <a:rPr sz="999" dirty="0">
                <a:solidFill>
                  <a:srgbClr val="D3D3D3"/>
                </a:solidFill>
                <a:latin typeface="Courier New"/>
                <a:cs typeface="Courier New"/>
              </a:rPr>
              <a:t>money</a:t>
            </a:r>
            <a:r>
              <a:rPr sz="999" spc="-15" dirty="0">
                <a:solidFill>
                  <a:srgbClr val="D3D3D3"/>
                </a:solidFill>
                <a:latin typeface="Courier New"/>
                <a:cs typeface="Courier New"/>
              </a:rPr>
              <a:t> </a:t>
            </a:r>
            <a:r>
              <a:rPr sz="999" dirty="0">
                <a:solidFill>
                  <a:srgbClr val="D3D3D3"/>
                </a:solidFill>
                <a:latin typeface="Courier New"/>
                <a:cs typeface="Courier New"/>
              </a:rPr>
              <a:t>has</a:t>
            </a:r>
            <a:r>
              <a:rPr sz="999" spc="-10" dirty="0">
                <a:solidFill>
                  <a:srgbClr val="D3D3D3"/>
                </a:solidFill>
                <a:latin typeface="Courier New"/>
                <a:cs typeface="Courier New"/>
              </a:rPr>
              <a:t> paisa!</a:t>
            </a:r>
            <a:endParaRPr sz="999">
              <a:latin typeface="Courier New"/>
              <a:cs typeface="Courier New"/>
            </a:endParaRPr>
          </a:p>
          <a:p>
            <a:pPr marL="12685">
              <a:spcBef>
                <a:spcPts val="125"/>
              </a:spcBef>
            </a:pPr>
            <a:r>
              <a:rPr sz="999" spc="-10" dirty="0">
                <a:solidFill>
                  <a:srgbClr val="D3D3D3"/>
                </a:solidFill>
                <a:latin typeface="Courier New"/>
                <a:cs typeface="Courier New"/>
              </a:rPr>
              <a:t>-</a:t>
            </a:r>
            <a:r>
              <a:rPr sz="999" dirty="0">
                <a:solidFill>
                  <a:srgbClr val="D3D3D3"/>
                </a:solidFill>
                <a:latin typeface="Courier New"/>
                <a:cs typeface="Courier New"/>
              </a:rPr>
              <a:t>-</a:t>
            </a:r>
            <a:r>
              <a:rPr sz="999" spc="-20" dirty="0">
                <a:solidFill>
                  <a:srgbClr val="D3D3D3"/>
                </a:solidFill>
                <a:latin typeface="Courier New"/>
                <a:cs typeface="Courier New"/>
              </a:rPr>
              <a:t> </a:t>
            </a:r>
            <a:r>
              <a:rPr sz="999" dirty="0">
                <a:solidFill>
                  <a:srgbClr val="D3D3D3"/>
                </a:solidFill>
                <a:latin typeface="Courier New"/>
                <a:cs typeface="Courier New"/>
              </a:rPr>
              <a:t>loses</a:t>
            </a:r>
            <a:r>
              <a:rPr sz="999" spc="-15" dirty="0">
                <a:solidFill>
                  <a:srgbClr val="D3D3D3"/>
                </a:solidFill>
                <a:latin typeface="Courier New"/>
                <a:cs typeface="Courier New"/>
              </a:rPr>
              <a:t> </a:t>
            </a:r>
            <a:r>
              <a:rPr sz="999" dirty="0">
                <a:solidFill>
                  <a:srgbClr val="D3D3D3"/>
                </a:solidFill>
                <a:latin typeface="Courier New"/>
                <a:cs typeface="Courier New"/>
              </a:rPr>
              <a:t>+91</a:t>
            </a:r>
            <a:r>
              <a:rPr sz="999" spc="-15" dirty="0">
                <a:solidFill>
                  <a:srgbClr val="D3D3D3"/>
                </a:solidFill>
                <a:latin typeface="Courier New"/>
                <a:cs typeface="Courier New"/>
              </a:rPr>
              <a:t> </a:t>
            </a:r>
            <a:r>
              <a:rPr sz="999" dirty="0">
                <a:solidFill>
                  <a:srgbClr val="D3D3D3"/>
                </a:solidFill>
                <a:latin typeface="Courier New"/>
                <a:cs typeface="Courier New"/>
              </a:rPr>
              <a:t>/</a:t>
            </a:r>
            <a:r>
              <a:rPr sz="999" spc="-10" dirty="0">
                <a:solidFill>
                  <a:srgbClr val="D3D3D3"/>
                </a:solidFill>
                <a:latin typeface="Courier New"/>
                <a:cs typeface="Courier New"/>
              </a:rPr>
              <a:t> </a:t>
            </a:r>
            <a:r>
              <a:rPr sz="999" dirty="0">
                <a:solidFill>
                  <a:srgbClr val="D3D3D3"/>
                </a:solidFill>
                <a:latin typeface="Courier New"/>
                <a:cs typeface="Courier New"/>
              </a:rPr>
              <a:t>leading</a:t>
            </a:r>
            <a:r>
              <a:rPr sz="999" spc="-15" dirty="0">
                <a:solidFill>
                  <a:srgbClr val="D3D3D3"/>
                </a:solidFill>
                <a:latin typeface="Courier New"/>
                <a:cs typeface="Courier New"/>
              </a:rPr>
              <a:t> </a:t>
            </a:r>
            <a:r>
              <a:rPr sz="999" spc="-50" dirty="0">
                <a:solidFill>
                  <a:srgbClr val="D3D3D3"/>
                </a:solidFill>
                <a:latin typeface="Courier New"/>
                <a:cs typeface="Courier New"/>
              </a:rPr>
              <a:t>0</a:t>
            </a:r>
            <a:endParaRPr sz="999">
              <a:latin typeface="Courier New"/>
              <a:cs typeface="Courier New"/>
            </a:endParaRPr>
          </a:p>
          <a:p>
            <a:pPr marL="12685">
              <a:spcBef>
                <a:spcPts val="120"/>
              </a:spcBef>
            </a:pPr>
            <a:r>
              <a:rPr sz="999" spc="-10" dirty="0">
                <a:solidFill>
                  <a:srgbClr val="D3D3D3"/>
                </a:solidFill>
                <a:latin typeface="Courier New"/>
                <a:cs typeface="Courier New"/>
              </a:rPr>
              <a:t>-</a:t>
            </a:r>
            <a:r>
              <a:rPr sz="999" dirty="0">
                <a:solidFill>
                  <a:srgbClr val="D3D3D3"/>
                </a:solidFill>
                <a:latin typeface="Courier New"/>
                <a:cs typeface="Courier New"/>
              </a:rPr>
              <a:t>-</a:t>
            </a:r>
            <a:r>
              <a:rPr sz="999" spc="-20" dirty="0">
                <a:solidFill>
                  <a:srgbClr val="D3D3D3"/>
                </a:solidFill>
                <a:latin typeface="Courier New"/>
                <a:cs typeface="Courier New"/>
              </a:rPr>
              <a:t> </a:t>
            </a:r>
            <a:r>
              <a:rPr sz="999" dirty="0">
                <a:solidFill>
                  <a:srgbClr val="D3D3D3"/>
                </a:solidFill>
                <a:latin typeface="Courier New"/>
                <a:cs typeface="Courier New"/>
              </a:rPr>
              <a:t>loses</a:t>
            </a:r>
            <a:r>
              <a:rPr sz="999" spc="-20" dirty="0">
                <a:solidFill>
                  <a:srgbClr val="D3D3D3"/>
                </a:solidFill>
                <a:latin typeface="Courier New"/>
                <a:cs typeface="Courier New"/>
              </a:rPr>
              <a:t> </a:t>
            </a:r>
            <a:r>
              <a:rPr sz="999" dirty="0">
                <a:solidFill>
                  <a:srgbClr val="D3D3D3"/>
                </a:solidFill>
                <a:latin typeface="Courier New"/>
                <a:cs typeface="Courier New"/>
              </a:rPr>
              <a:t>leading</a:t>
            </a:r>
            <a:r>
              <a:rPr sz="999" spc="-20" dirty="0">
                <a:solidFill>
                  <a:srgbClr val="D3D3D3"/>
                </a:solidFill>
                <a:latin typeface="Courier New"/>
                <a:cs typeface="Courier New"/>
              </a:rPr>
              <a:t> </a:t>
            </a:r>
            <a:r>
              <a:rPr sz="999" spc="-50" dirty="0">
                <a:solidFill>
                  <a:srgbClr val="D3D3D3"/>
                </a:solidFill>
                <a:latin typeface="Courier New"/>
                <a:cs typeface="Courier New"/>
              </a:rPr>
              <a:t>0</a:t>
            </a:r>
            <a:endParaRPr sz="999">
              <a:latin typeface="Courier New"/>
              <a:cs typeface="Courier New"/>
            </a:endParaRPr>
          </a:p>
          <a:p>
            <a:pPr marL="12685">
              <a:spcBef>
                <a:spcPts val="120"/>
              </a:spcBef>
            </a:pPr>
            <a:r>
              <a:rPr sz="999" spc="-10" dirty="0">
                <a:solidFill>
                  <a:srgbClr val="D3D3D3"/>
                </a:solidFill>
                <a:latin typeface="Courier New"/>
                <a:cs typeface="Courier New"/>
              </a:rPr>
              <a:t>-</a:t>
            </a:r>
            <a:r>
              <a:rPr sz="999" dirty="0">
                <a:solidFill>
                  <a:srgbClr val="D3D3D3"/>
                </a:solidFill>
                <a:latin typeface="Courier New"/>
                <a:cs typeface="Courier New"/>
              </a:rPr>
              <a:t>- </a:t>
            </a:r>
            <a:r>
              <a:rPr sz="999" spc="-10" dirty="0">
                <a:solidFill>
                  <a:srgbClr val="D3D3D3"/>
                </a:solidFill>
                <a:latin typeface="Courier New"/>
                <a:cs typeface="Courier New"/>
              </a:rPr>
              <a:t>true/false</a:t>
            </a:r>
            <a:endParaRPr sz="999">
              <a:latin typeface="Courier New"/>
              <a:cs typeface="Courier New"/>
            </a:endParaRPr>
          </a:p>
          <a:p>
            <a:pPr marL="12685">
              <a:spcBef>
                <a:spcPts val="120"/>
              </a:spcBef>
            </a:pPr>
            <a:r>
              <a:rPr sz="999" spc="-10" dirty="0">
                <a:solidFill>
                  <a:srgbClr val="D3D3D3"/>
                </a:solidFill>
                <a:latin typeface="Courier New"/>
                <a:cs typeface="Courier New"/>
              </a:rPr>
              <a:t>-</a:t>
            </a:r>
            <a:r>
              <a:rPr sz="999" dirty="0">
                <a:solidFill>
                  <a:srgbClr val="D3D3D3"/>
                </a:solidFill>
                <a:latin typeface="Courier New"/>
                <a:cs typeface="Courier New"/>
              </a:rPr>
              <a:t>-</a:t>
            </a:r>
            <a:r>
              <a:rPr sz="999" spc="-15" dirty="0">
                <a:solidFill>
                  <a:srgbClr val="D3D3D3"/>
                </a:solidFill>
                <a:latin typeface="Courier New"/>
                <a:cs typeface="Courier New"/>
              </a:rPr>
              <a:t> </a:t>
            </a:r>
            <a:r>
              <a:rPr sz="999" dirty="0">
                <a:solidFill>
                  <a:srgbClr val="D3D3D3"/>
                </a:solidFill>
                <a:latin typeface="Courier New"/>
                <a:cs typeface="Courier New"/>
              </a:rPr>
              <a:t>rating</a:t>
            </a:r>
            <a:r>
              <a:rPr sz="999" spc="-10" dirty="0">
                <a:solidFill>
                  <a:srgbClr val="D3D3D3"/>
                </a:solidFill>
                <a:latin typeface="Courier New"/>
                <a:cs typeface="Courier New"/>
              </a:rPr>
              <a:t> </a:t>
            </a:r>
            <a:r>
              <a:rPr sz="999" dirty="0">
                <a:solidFill>
                  <a:srgbClr val="D3D3D3"/>
                </a:solidFill>
                <a:latin typeface="Courier New"/>
                <a:cs typeface="Courier New"/>
              </a:rPr>
              <a:t>is</a:t>
            </a:r>
            <a:r>
              <a:rPr sz="999" spc="-10" dirty="0">
                <a:solidFill>
                  <a:srgbClr val="D3D3D3"/>
                </a:solidFill>
                <a:latin typeface="Courier New"/>
                <a:cs typeface="Courier New"/>
              </a:rPr>
              <a:t> 1-</a:t>
            </a:r>
            <a:r>
              <a:rPr sz="999" dirty="0">
                <a:solidFill>
                  <a:srgbClr val="D3D3D3"/>
                </a:solidFill>
                <a:latin typeface="Courier New"/>
                <a:cs typeface="Courier New"/>
              </a:rPr>
              <a:t>5,</a:t>
            </a:r>
            <a:r>
              <a:rPr sz="999" spc="-10" dirty="0">
                <a:solidFill>
                  <a:srgbClr val="D3D3D3"/>
                </a:solidFill>
                <a:latin typeface="Courier New"/>
                <a:cs typeface="Courier New"/>
              </a:rPr>
              <a:t> </a:t>
            </a:r>
            <a:r>
              <a:rPr sz="999" dirty="0">
                <a:solidFill>
                  <a:srgbClr val="D3D3D3"/>
                </a:solidFill>
                <a:latin typeface="Courier New"/>
                <a:cs typeface="Courier New"/>
              </a:rPr>
              <a:t>not</a:t>
            </a:r>
            <a:r>
              <a:rPr sz="999" spc="-10" dirty="0">
                <a:solidFill>
                  <a:srgbClr val="D3D3D3"/>
                </a:solidFill>
                <a:latin typeface="Courier New"/>
                <a:cs typeface="Courier New"/>
              </a:rPr>
              <a:t> 99999.99999</a:t>
            </a:r>
            <a:endParaRPr sz="999">
              <a:latin typeface="Courier New"/>
              <a:cs typeface="Courier New"/>
            </a:endParaRPr>
          </a:p>
          <a:p>
            <a:pPr marL="12685">
              <a:spcBef>
                <a:spcPts val="120"/>
              </a:spcBef>
            </a:pPr>
            <a:r>
              <a:rPr sz="999" spc="-10" dirty="0">
                <a:solidFill>
                  <a:srgbClr val="D3D3D3"/>
                </a:solidFill>
                <a:latin typeface="Courier New"/>
                <a:cs typeface="Courier New"/>
              </a:rPr>
              <a:t>-</a:t>
            </a:r>
            <a:r>
              <a:rPr sz="999" dirty="0">
                <a:solidFill>
                  <a:srgbClr val="D3D3D3"/>
                </a:solidFill>
                <a:latin typeface="Courier New"/>
                <a:cs typeface="Courier New"/>
              </a:rPr>
              <a:t>-</a:t>
            </a:r>
            <a:r>
              <a:rPr sz="999" spc="-15" dirty="0">
                <a:solidFill>
                  <a:srgbClr val="D3D3D3"/>
                </a:solidFill>
                <a:latin typeface="Courier New"/>
                <a:cs typeface="Courier New"/>
              </a:rPr>
              <a:t> </a:t>
            </a:r>
            <a:r>
              <a:rPr sz="999" dirty="0">
                <a:solidFill>
                  <a:srgbClr val="D3D3D3"/>
                </a:solidFill>
                <a:latin typeface="Courier New"/>
                <a:cs typeface="Courier New"/>
              </a:rPr>
              <a:t>notes</a:t>
            </a:r>
            <a:r>
              <a:rPr sz="999" spc="-10" dirty="0">
                <a:solidFill>
                  <a:srgbClr val="D3D3D3"/>
                </a:solidFill>
                <a:latin typeface="Courier New"/>
                <a:cs typeface="Courier New"/>
              </a:rPr>
              <a:t> </a:t>
            </a:r>
            <a:r>
              <a:rPr sz="999" dirty="0">
                <a:solidFill>
                  <a:srgbClr val="D3D3D3"/>
                </a:solidFill>
                <a:latin typeface="Courier New"/>
                <a:cs typeface="Courier New"/>
              </a:rPr>
              <a:t>can</a:t>
            </a:r>
            <a:r>
              <a:rPr sz="999" spc="-15" dirty="0">
                <a:solidFill>
                  <a:srgbClr val="D3D3D3"/>
                </a:solidFill>
                <a:latin typeface="Courier New"/>
                <a:cs typeface="Courier New"/>
              </a:rPr>
              <a:t> </a:t>
            </a:r>
            <a:r>
              <a:rPr sz="999" dirty="0">
                <a:solidFill>
                  <a:srgbClr val="D3D3D3"/>
                </a:solidFill>
                <a:latin typeface="Courier New"/>
                <a:cs typeface="Courier New"/>
              </a:rPr>
              <a:t>be</a:t>
            </a:r>
            <a:r>
              <a:rPr sz="999" spc="-10" dirty="0">
                <a:solidFill>
                  <a:srgbClr val="D3D3D3"/>
                </a:solidFill>
                <a:latin typeface="Courier New"/>
                <a:cs typeface="Courier New"/>
              </a:rPr>
              <a:t> </a:t>
            </a:r>
            <a:r>
              <a:rPr sz="999" spc="-20" dirty="0">
                <a:solidFill>
                  <a:srgbClr val="D3D3D3"/>
                </a:solidFill>
                <a:latin typeface="Courier New"/>
                <a:cs typeface="Courier New"/>
              </a:rPr>
              <a:t>long</a:t>
            </a:r>
            <a:endParaRPr sz="999">
              <a:latin typeface="Courier New"/>
              <a:cs typeface="Courier New"/>
            </a:endParaRPr>
          </a:p>
        </p:txBody>
      </p:sp>
      <p:sp>
        <p:nvSpPr>
          <p:cNvPr id="12" name="object 12"/>
          <p:cNvSpPr txBox="1"/>
          <p:nvPr/>
        </p:nvSpPr>
        <p:spPr>
          <a:xfrm>
            <a:off x="356461" y="2316162"/>
            <a:ext cx="178215" cy="166379"/>
          </a:xfrm>
          <a:prstGeom prst="rect">
            <a:avLst/>
          </a:prstGeom>
        </p:spPr>
        <p:txBody>
          <a:bodyPr vert="horz" wrap="square" lIns="0" tIns="12684" rIns="0" bIns="0" rtlCol="0">
            <a:spAutoFit/>
          </a:bodyPr>
          <a:lstStyle/>
          <a:p>
            <a:pPr marL="12685">
              <a:spcBef>
                <a:spcPts val="100"/>
              </a:spcBef>
            </a:pPr>
            <a:r>
              <a:rPr sz="999" spc="-25" dirty="0">
                <a:solidFill>
                  <a:srgbClr val="D3D3D3"/>
                </a:solidFill>
                <a:latin typeface="Courier New"/>
                <a:cs typeface="Courier New"/>
              </a:rPr>
              <a:t>);</a:t>
            </a:r>
            <a:endParaRPr sz="999">
              <a:latin typeface="Courier New"/>
              <a:cs typeface="Courier New"/>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638" y="3"/>
            <a:ext cx="9132725" cy="5137792"/>
          </a:xfrm>
          <a:custGeom>
            <a:avLst/>
            <a:gdLst/>
            <a:ahLst/>
            <a:cxnLst/>
            <a:rect l="l" t="t" r="r" b="b"/>
            <a:pathLst>
              <a:path w="9144000" h="5144135">
                <a:moveTo>
                  <a:pt x="9144000" y="0"/>
                </a:moveTo>
                <a:lnTo>
                  <a:pt x="0" y="0"/>
                </a:lnTo>
                <a:lnTo>
                  <a:pt x="0" y="5143677"/>
                </a:lnTo>
                <a:lnTo>
                  <a:pt x="9144000" y="5143677"/>
                </a:lnTo>
                <a:lnTo>
                  <a:pt x="9144000" y="0"/>
                </a:lnTo>
                <a:close/>
              </a:path>
            </a:pathLst>
          </a:custGeom>
          <a:solidFill>
            <a:srgbClr val="1D1D1D"/>
          </a:solidFill>
        </p:spPr>
        <p:txBody>
          <a:bodyPr wrap="square" lIns="0" tIns="0" rIns="0" bIns="0" rtlCol="0"/>
          <a:lstStyle/>
          <a:p>
            <a:endParaRPr sz="1798"/>
          </a:p>
        </p:txBody>
      </p:sp>
      <p:sp>
        <p:nvSpPr>
          <p:cNvPr id="3" name="object 3"/>
          <p:cNvSpPr/>
          <p:nvPr/>
        </p:nvSpPr>
        <p:spPr>
          <a:xfrm>
            <a:off x="5283" y="4839990"/>
            <a:ext cx="9132725" cy="296814"/>
          </a:xfrm>
          <a:custGeom>
            <a:avLst/>
            <a:gdLst/>
            <a:ahLst/>
            <a:cxnLst/>
            <a:rect l="l" t="t" r="r" b="b"/>
            <a:pathLst>
              <a:path w="9144000" h="297179">
                <a:moveTo>
                  <a:pt x="9143631" y="0"/>
                </a:moveTo>
                <a:lnTo>
                  <a:pt x="0" y="0"/>
                </a:lnTo>
                <a:lnTo>
                  <a:pt x="0" y="296989"/>
                </a:lnTo>
                <a:lnTo>
                  <a:pt x="4572000" y="296989"/>
                </a:lnTo>
                <a:lnTo>
                  <a:pt x="9143631" y="296989"/>
                </a:lnTo>
                <a:lnTo>
                  <a:pt x="9143631" y="0"/>
                </a:lnTo>
                <a:close/>
              </a:path>
            </a:pathLst>
          </a:custGeom>
          <a:solidFill>
            <a:srgbClr val="333333"/>
          </a:solidFill>
        </p:spPr>
        <p:txBody>
          <a:bodyPr wrap="square" lIns="0" tIns="0" rIns="0" bIns="0" rtlCol="0"/>
          <a:lstStyle/>
          <a:p>
            <a:endParaRPr sz="1798"/>
          </a:p>
        </p:txBody>
      </p:sp>
      <p:sp>
        <p:nvSpPr>
          <p:cNvPr id="4" name="object 4"/>
          <p:cNvSpPr/>
          <p:nvPr/>
        </p:nvSpPr>
        <p:spPr>
          <a:xfrm>
            <a:off x="5283" y="-353"/>
            <a:ext cx="9132725" cy="54543"/>
          </a:xfrm>
          <a:custGeom>
            <a:avLst/>
            <a:gdLst/>
            <a:ahLst/>
            <a:cxnLst/>
            <a:rect l="l" t="t" r="r" b="b"/>
            <a:pathLst>
              <a:path w="9144000" h="54610">
                <a:moveTo>
                  <a:pt x="9143631" y="0"/>
                </a:moveTo>
                <a:lnTo>
                  <a:pt x="0" y="0"/>
                </a:lnTo>
                <a:lnTo>
                  <a:pt x="0" y="54355"/>
                </a:lnTo>
                <a:lnTo>
                  <a:pt x="4572000" y="54355"/>
                </a:lnTo>
                <a:lnTo>
                  <a:pt x="9143631" y="54355"/>
                </a:lnTo>
                <a:lnTo>
                  <a:pt x="9143631" y="0"/>
                </a:lnTo>
                <a:close/>
              </a:path>
            </a:pathLst>
          </a:custGeom>
          <a:solidFill>
            <a:srgbClr val="FF9800"/>
          </a:solidFill>
        </p:spPr>
        <p:txBody>
          <a:bodyPr wrap="square" lIns="0" tIns="0" rIns="0" bIns="0" rtlCol="0"/>
          <a:lstStyle/>
          <a:p>
            <a:endParaRPr sz="1798"/>
          </a:p>
        </p:txBody>
      </p:sp>
      <p:sp>
        <p:nvSpPr>
          <p:cNvPr id="5" name="object 5"/>
          <p:cNvSpPr/>
          <p:nvPr/>
        </p:nvSpPr>
        <p:spPr>
          <a:xfrm>
            <a:off x="7311462" y="136637"/>
            <a:ext cx="1461236" cy="365309"/>
          </a:xfrm>
          <a:custGeom>
            <a:avLst/>
            <a:gdLst/>
            <a:ahLst/>
            <a:cxnLst/>
            <a:rect l="l" t="t" r="r" b="b"/>
            <a:pathLst>
              <a:path w="1463040" h="365759">
                <a:moveTo>
                  <a:pt x="1462671" y="0"/>
                </a:moveTo>
                <a:lnTo>
                  <a:pt x="0" y="0"/>
                </a:lnTo>
                <a:lnTo>
                  <a:pt x="0" y="365391"/>
                </a:lnTo>
                <a:lnTo>
                  <a:pt x="731520" y="365391"/>
                </a:lnTo>
                <a:lnTo>
                  <a:pt x="1462671" y="365391"/>
                </a:lnTo>
                <a:lnTo>
                  <a:pt x="1462671" y="0"/>
                </a:lnTo>
                <a:close/>
              </a:path>
            </a:pathLst>
          </a:custGeom>
          <a:solidFill>
            <a:srgbClr val="FF9800"/>
          </a:solidFill>
        </p:spPr>
        <p:txBody>
          <a:bodyPr wrap="square" lIns="0" tIns="0" rIns="0" bIns="0" rtlCol="0"/>
          <a:lstStyle/>
          <a:p>
            <a:endParaRPr sz="1798"/>
          </a:p>
        </p:txBody>
      </p:sp>
      <p:sp>
        <p:nvSpPr>
          <p:cNvPr id="6" name="object 6"/>
          <p:cNvSpPr txBox="1"/>
          <p:nvPr/>
        </p:nvSpPr>
        <p:spPr>
          <a:xfrm>
            <a:off x="7685650" y="187953"/>
            <a:ext cx="712226" cy="223183"/>
          </a:xfrm>
          <a:prstGeom prst="rect">
            <a:avLst/>
          </a:prstGeom>
        </p:spPr>
        <p:txBody>
          <a:bodyPr vert="horz" wrap="square" lIns="0" tIns="15855" rIns="0" bIns="0" rtlCol="0">
            <a:spAutoFit/>
          </a:bodyPr>
          <a:lstStyle/>
          <a:p>
            <a:pPr marL="12685">
              <a:spcBef>
                <a:spcPts val="125"/>
              </a:spcBef>
            </a:pPr>
            <a:r>
              <a:rPr sz="1348" spc="-155" dirty="0">
                <a:solidFill>
                  <a:srgbClr val="FFFFFF"/>
                </a:solidFill>
                <a:latin typeface="Segoe UI Symbol"/>
                <a:cs typeface="Segoe UI Symbol"/>
              </a:rPr>
              <a:t>✅</a:t>
            </a:r>
            <a:r>
              <a:rPr sz="1348" spc="-225" dirty="0">
                <a:solidFill>
                  <a:srgbClr val="FFFFFF"/>
                </a:solidFill>
                <a:latin typeface="Segoe UI Symbol"/>
                <a:cs typeface="Segoe UI Symbol"/>
              </a:rPr>
              <a:t> </a:t>
            </a:r>
            <a:r>
              <a:rPr sz="1099" b="1" spc="-10" dirty="0">
                <a:solidFill>
                  <a:srgbClr val="FFFFFF"/>
                </a:solidFill>
                <a:latin typeface="Calibri"/>
                <a:cs typeface="Calibri"/>
              </a:rPr>
              <a:t>ANSWER</a:t>
            </a:r>
            <a:endParaRPr sz="1099">
              <a:latin typeface="Calibri"/>
              <a:cs typeface="Calibri"/>
            </a:endParaRPr>
          </a:p>
        </p:txBody>
      </p:sp>
      <p:sp>
        <p:nvSpPr>
          <p:cNvPr id="7" name="object 7" descr="$PPTXTitle"/>
          <p:cNvSpPr txBox="1">
            <a:spLocks noGrp="1"/>
          </p:cNvSpPr>
          <p:nvPr>
            <p:ph type="title"/>
          </p:nvPr>
        </p:nvSpPr>
        <p:spPr>
          <a:xfrm>
            <a:off x="357907" y="180766"/>
            <a:ext cx="818140" cy="257766"/>
          </a:xfrm>
          <a:prstGeom prst="rect">
            <a:avLst/>
          </a:prstGeom>
        </p:spPr>
        <p:txBody>
          <a:bodyPr vert="horz" wrap="square" lIns="0" tIns="12050" rIns="0" bIns="0" rtlCol="0">
            <a:spAutoFit/>
          </a:bodyPr>
          <a:lstStyle/>
          <a:p>
            <a:pPr marL="12685">
              <a:spcBef>
                <a:spcPts val="95"/>
              </a:spcBef>
            </a:pPr>
            <a:r>
              <a:rPr spc="-10" dirty="0">
                <a:latin typeface="Georgia"/>
                <a:cs typeface="Georgia"/>
              </a:rPr>
              <a:t>Answer</a:t>
            </a:r>
          </a:p>
        </p:txBody>
      </p:sp>
      <p:sp>
        <p:nvSpPr>
          <p:cNvPr id="8" name="object 8"/>
          <p:cNvSpPr txBox="1"/>
          <p:nvPr/>
        </p:nvSpPr>
        <p:spPr>
          <a:xfrm>
            <a:off x="356461" y="640637"/>
            <a:ext cx="2841926" cy="166379"/>
          </a:xfrm>
          <a:prstGeom prst="rect">
            <a:avLst/>
          </a:prstGeom>
        </p:spPr>
        <p:txBody>
          <a:bodyPr vert="horz" wrap="square" lIns="0" tIns="12684" rIns="0" bIns="0" rtlCol="0">
            <a:spAutoFit/>
          </a:bodyPr>
          <a:lstStyle/>
          <a:p>
            <a:pPr marL="12685">
              <a:spcBef>
                <a:spcPts val="100"/>
              </a:spcBef>
            </a:pPr>
            <a:r>
              <a:rPr sz="999" dirty="0">
                <a:solidFill>
                  <a:srgbClr val="D3D3D3"/>
                </a:solidFill>
                <a:latin typeface="Courier New"/>
                <a:cs typeface="Courier New"/>
              </a:rPr>
              <a:t>CREATE</a:t>
            </a:r>
            <a:r>
              <a:rPr sz="999" spc="-55" dirty="0">
                <a:solidFill>
                  <a:srgbClr val="D3D3D3"/>
                </a:solidFill>
                <a:latin typeface="Courier New"/>
                <a:cs typeface="Courier New"/>
              </a:rPr>
              <a:t> </a:t>
            </a:r>
            <a:r>
              <a:rPr sz="999" dirty="0">
                <a:solidFill>
                  <a:srgbClr val="D3D3D3"/>
                </a:solidFill>
                <a:latin typeface="Courier New"/>
                <a:cs typeface="Courier New"/>
              </a:rPr>
              <a:t>TABLE</a:t>
            </a:r>
            <a:r>
              <a:rPr sz="999" spc="-55" dirty="0">
                <a:solidFill>
                  <a:srgbClr val="D3D3D3"/>
                </a:solidFill>
                <a:latin typeface="Courier New"/>
                <a:cs typeface="Courier New"/>
              </a:rPr>
              <a:t> </a:t>
            </a:r>
            <a:r>
              <a:rPr sz="999" dirty="0">
                <a:solidFill>
                  <a:srgbClr val="D3D3D3"/>
                </a:solidFill>
                <a:latin typeface="Courier New"/>
                <a:cs typeface="Courier New"/>
              </a:rPr>
              <a:t>public.customer_orders</a:t>
            </a:r>
            <a:r>
              <a:rPr sz="999" spc="-50" dirty="0">
                <a:solidFill>
                  <a:srgbClr val="D3D3D3"/>
                </a:solidFill>
                <a:latin typeface="Courier New"/>
                <a:cs typeface="Courier New"/>
              </a:rPr>
              <a:t> (</a:t>
            </a:r>
            <a:endParaRPr sz="999">
              <a:latin typeface="Courier New"/>
              <a:cs typeface="Courier New"/>
            </a:endParaRPr>
          </a:p>
        </p:txBody>
      </p:sp>
      <p:graphicFrame>
        <p:nvGraphicFramePr>
          <p:cNvPr id="9" name="object 9"/>
          <p:cNvGraphicFramePr>
            <a:graphicFrameLocks noGrp="1"/>
          </p:cNvGraphicFramePr>
          <p:nvPr/>
        </p:nvGraphicFramePr>
        <p:xfrm>
          <a:off x="489610" y="829978"/>
          <a:ext cx="4475666" cy="1486603"/>
        </p:xfrm>
        <a:graphic>
          <a:graphicData uri="http://schemas.openxmlformats.org/drawingml/2006/table">
            <a:tbl>
              <a:tblPr firstRow="1" bandRow="1">
                <a:tableStyleId>{2D5ABB26-0587-4C30-8999-92F81FD0307C}</a:tableStyleId>
              </a:tblPr>
              <a:tblGrid>
                <a:gridCol w="1059142">
                  <a:extLst>
                    <a:ext uri="{9D8B030D-6E8A-4147-A177-3AD203B41FA5}">
                      <a16:colId xmlns:a16="http://schemas.microsoft.com/office/drawing/2014/main" val="20000"/>
                    </a:ext>
                  </a:extLst>
                </a:gridCol>
                <a:gridCol w="1141591">
                  <a:extLst>
                    <a:ext uri="{9D8B030D-6E8A-4147-A177-3AD203B41FA5}">
                      <a16:colId xmlns:a16="http://schemas.microsoft.com/office/drawing/2014/main" val="20001"/>
                    </a:ext>
                  </a:extLst>
                </a:gridCol>
                <a:gridCol w="418583">
                  <a:extLst>
                    <a:ext uri="{9D8B030D-6E8A-4147-A177-3AD203B41FA5}">
                      <a16:colId xmlns:a16="http://schemas.microsoft.com/office/drawing/2014/main" val="20002"/>
                    </a:ext>
                  </a:extLst>
                </a:gridCol>
                <a:gridCol w="265736">
                  <a:extLst>
                    <a:ext uri="{9D8B030D-6E8A-4147-A177-3AD203B41FA5}">
                      <a16:colId xmlns:a16="http://schemas.microsoft.com/office/drawing/2014/main" val="20003"/>
                    </a:ext>
                  </a:extLst>
                </a:gridCol>
                <a:gridCol w="303789">
                  <a:extLst>
                    <a:ext uri="{9D8B030D-6E8A-4147-A177-3AD203B41FA5}">
                      <a16:colId xmlns:a16="http://schemas.microsoft.com/office/drawing/2014/main" val="20004"/>
                    </a:ext>
                  </a:extLst>
                </a:gridCol>
                <a:gridCol w="1286825">
                  <a:extLst>
                    <a:ext uri="{9D8B030D-6E8A-4147-A177-3AD203B41FA5}">
                      <a16:colId xmlns:a16="http://schemas.microsoft.com/office/drawing/2014/main" val="20005"/>
                    </a:ext>
                  </a:extLst>
                </a:gridCol>
              </a:tblGrid>
              <a:tr h="157286">
                <a:tc>
                  <a:txBody>
                    <a:bodyPr/>
                    <a:lstStyle/>
                    <a:p>
                      <a:pPr marL="31750">
                        <a:lnSpc>
                          <a:spcPts val="1130"/>
                        </a:lnSpc>
                      </a:pPr>
                      <a:r>
                        <a:rPr sz="1000" spc="-10" dirty="0">
                          <a:solidFill>
                            <a:srgbClr val="D3D3D3"/>
                          </a:solidFill>
                          <a:latin typeface="Courier New"/>
                          <a:cs typeface="Courier New"/>
                        </a:rPr>
                        <a:t>order_id</a:t>
                      </a:r>
                      <a:endParaRPr sz="1000">
                        <a:latin typeface="Courier New"/>
                        <a:cs typeface="Courier New"/>
                      </a:endParaRPr>
                    </a:p>
                  </a:txBody>
                  <a:tcPr marL="0" marR="0" marT="0" marB="0"/>
                </a:tc>
                <a:tc>
                  <a:txBody>
                    <a:bodyPr/>
                    <a:lstStyle/>
                    <a:p>
                      <a:pPr marL="37465">
                        <a:lnSpc>
                          <a:spcPts val="1130"/>
                        </a:lnSpc>
                      </a:pPr>
                      <a:r>
                        <a:rPr sz="1000" dirty="0">
                          <a:solidFill>
                            <a:srgbClr val="D3D3D3"/>
                          </a:solidFill>
                          <a:latin typeface="Courier New"/>
                          <a:cs typeface="Courier New"/>
                        </a:rPr>
                        <a:t>SERIAL</a:t>
                      </a:r>
                      <a:r>
                        <a:rPr sz="1000" spc="-30" dirty="0">
                          <a:solidFill>
                            <a:srgbClr val="D3D3D3"/>
                          </a:solidFill>
                          <a:latin typeface="Courier New"/>
                          <a:cs typeface="Courier New"/>
                        </a:rPr>
                        <a:t> </a:t>
                      </a:r>
                      <a:r>
                        <a:rPr sz="1000" spc="-10" dirty="0">
                          <a:solidFill>
                            <a:srgbClr val="D3D3D3"/>
                          </a:solidFill>
                          <a:latin typeface="Courier New"/>
                          <a:cs typeface="Courier New"/>
                        </a:rPr>
                        <a:t>PRIMARY</a:t>
                      </a:r>
                      <a:endParaRPr sz="1000">
                        <a:latin typeface="Courier New"/>
                        <a:cs typeface="Courier New"/>
                      </a:endParaRPr>
                    </a:p>
                  </a:txBody>
                  <a:tcPr marL="0" marR="0" marT="0" marB="0"/>
                </a:tc>
                <a:tc>
                  <a:txBody>
                    <a:bodyPr/>
                    <a:lstStyle/>
                    <a:p>
                      <a:pPr marL="37465">
                        <a:lnSpc>
                          <a:spcPts val="1130"/>
                        </a:lnSpc>
                      </a:pPr>
                      <a:r>
                        <a:rPr sz="1000" spc="-20" dirty="0">
                          <a:solidFill>
                            <a:srgbClr val="D3D3D3"/>
                          </a:solidFill>
                          <a:latin typeface="Courier New"/>
                          <a:cs typeface="Courier New"/>
                        </a:rPr>
                        <a:t>KEY,</a:t>
                      </a:r>
                      <a:endParaRPr sz="1000">
                        <a:latin typeface="Courier New"/>
                        <a:cs typeface="Courier New"/>
                      </a:endParaRPr>
                    </a:p>
                  </a:txBody>
                  <a:tcPr marL="0" marR="0" marT="0" marB="0"/>
                </a:tc>
                <a:tc>
                  <a:txBody>
                    <a:bodyPr/>
                    <a:lstStyle/>
                    <a:p>
                      <a:pPr marR="29845" algn="r">
                        <a:lnSpc>
                          <a:spcPts val="1130"/>
                        </a:lnSpc>
                      </a:pPr>
                      <a:r>
                        <a:rPr sz="1000" spc="-10" dirty="0">
                          <a:solidFill>
                            <a:srgbClr val="D3D3D3"/>
                          </a:solidFill>
                          <a:latin typeface="Courier New"/>
                          <a:cs typeface="Courier New"/>
                        </a:rPr>
                        <a:t>-</a:t>
                      </a:r>
                      <a:r>
                        <a:rPr sz="1000" dirty="0">
                          <a:solidFill>
                            <a:srgbClr val="D3D3D3"/>
                          </a:solidFill>
                          <a:latin typeface="Courier New"/>
                          <a:cs typeface="Courier New"/>
                        </a:rPr>
                        <a:t>-</a:t>
                      </a:r>
                      <a:endParaRPr sz="1000">
                        <a:latin typeface="Courier New"/>
                        <a:cs typeface="Courier New"/>
                      </a:endParaRPr>
                    </a:p>
                  </a:txBody>
                  <a:tcPr marL="0" marR="0" marT="0" marB="0"/>
                </a:tc>
                <a:tc>
                  <a:txBody>
                    <a:bodyPr/>
                    <a:lstStyle/>
                    <a:p>
                      <a:pPr algn="ctr">
                        <a:lnSpc>
                          <a:spcPts val="1130"/>
                        </a:lnSpc>
                      </a:pPr>
                      <a:r>
                        <a:rPr sz="1000" spc="-25" dirty="0">
                          <a:solidFill>
                            <a:srgbClr val="D3D3D3"/>
                          </a:solidFill>
                          <a:latin typeface="Courier New"/>
                          <a:cs typeface="Courier New"/>
                        </a:rPr>
                        <a:t>was</a:t>
                      </a:r>
                      <a:endParaRPr sz="1000">
                        <a:latin typeface="Courier New"/>
                        <a:cs typeface="Courier New"/>
                      </a:endParaRPr>
                    </a:p>
                  </a:txBody>
                  <a:tcPr marL="0" marR="0" marT="0" marB="0"/>
                </a:tc>
                <a:tc>
                  <a:txBody>
                    <a:bodyPr/>
                    <a:lstStyle/>
                    <a:p>
                      <a:pPr marL="37465">
                        <a:lnSpc>
                          <a:spcPts val="1130"/>
                        </a:lnSpc>
                      </a:pPr>
                      <a:r>
                        <a:rPr sz="1000" spc="-10" dirty="0">
                          <a:solidFill>
                            <a:srgbClr val="D3D3D3"/>
                          </a:solidFill>
                          <a:latin typeface="Courier New"/>
                          <a:cs typeface="Courier New"/>
                        </a:rPr>
                        <a:t>VARCHAR(10)</a:t>
                      </a:r>
                      <a:endParaRPr sz="1000">
                        <a:latin typeface="Courier New"/>
                        <a:cs typeface="Courier New"/>
                      </a:endParaRPr>
                    </a:p>
                  </a:txBody>
                  <a:tcPr marL="0" marR="0" marT="0" marB="0"/>
                </a:tc>
                <a:extLst>
                  <a:ext uri="{0D108BD9-81ED-4DB2-BD59-A6C34878D82A}">
                    <a16:rowId xmlns:a16="http://schemas.microsoft.com/office/drawing/2014/main" val="10000"/>
                  </a:ext>
                </a:extLst>
              </a:tr>
              <a:tr h="167433">
                <a:tc>
                  <a:txBody>
                    <a:bodyPr/>
                    <a:lstStyle/>
                    <a:p>
                      <a:pPr marL="31750">
                        <a:lnSpc>
                          <a:spcPct val="100000"/>
                        </a:lnSpc>
                        <a:spcBef>
                          <a:spcPts val="5"/>
                        </a:spcBef>
                      </a:pPr>
                      <a:r>
                        <a:rPr sz="1000" spc="-10" dirty="0">
                          <a:solidFill>
                            <a:srgbClr val="D3D3D3"/>
                          </a:solidFill>
                          <a:latin typeface="Courier New"/>
                          <a:cs typeface="Courier New"/>
                        </a:rPr>
                        <a:t>customer_name</a:t>
                      </a:r>
                      <a:endParaRPr sz="1000">
                        <a:latin typeface="Courier New"/>
                        <a:cs typeface="Courier New"/>
                      </a:endParaRPr>
                    </a:p>
                  </a:txBody>
                  <a:tcPr marL="0" marR="0" marT="634" marB="0"/>
                </a:tc>
                <a:tc>
                  <a:txBody>
                    <a:bodyPr/>
                    <a:lstStyle/>
                    <a:p>
                      <a:pPr marL="37465">
                        <a:lnSpc>
                          <a:spcPct val="100000"/>
                        </a:lnSpc>
                        <a:spcBef>
                          <a:spcPts val="5"/>
                        </a:spcBef>
                      </a:pPr>
                      <a:r>
                        <a:rPr sz="1000" spc="-10" dirty="0">
                          <a:solidFill>
                            <a:srgbClr val="D3D3D3"/>
                          </a:solidFill>
                          <a:latin typeface="Courier New"/>
                          <a:cs typeface="Courier New"/>
                        </a:rPr>
                        <a:t>VARCHAR(100),</a:t>
                      </a:r>
                      <a:endParaRPr sz="1000">
                        <a:latin typeface="Courier New"/>
                        <a:cs typeface="Courier New"/>
                      </a:endParaRPr>
                    </a:p>
                  </a:txBody>
                  <a:tcPr marL="0" marR="0" marT="634" marB="0"/>
                </a:tc>
                <a:tc>
                  <a:txBody>
                    <a:bodyPr/>
                    <a:lstStyle/>
                    <a:p>
                      <a:pPr>
                        <a:lnSpc>
                          <a:spcPct val="100000"/>
                        </a:lnSpc>
                      </a:pPr>
                      <a:endParaRPr sz="900">
                        <a:latin typeface="Times New Roman"/>
                        <a:cs typeface="Times New Roman"/>
                      </a:endParaRPr>
                    </a:p>
                  </a:txBody>
                  <a:tcPr marL="0" marR="0" marT="0" marB="0"/>
                </a:tc>
                <a:tc>
                  <a:txBody>
                    <a:bodyPr/>
                    <a:lstStyle/>
                    <a:p>
                      <a:pPr marR="29845" algn="r">
                        <a:lnSpc>
                          <a:spcPct val="100000"/>
                        </a:lnSpc>
                        <a:spcBef>
                          <a:spcPts val="5"/>
                        </a:spcBef>
                      </a:pPr>
                      <a:r>
                        <a:rPr sz="1000" spc="-10" dirty="0">
                          <a:solidFill>
                            <a:srgbClr val="D3D3D3"/>
                          </a:solidFill>
                          <a:latin typeface="Courier New"/>
                          <a:cs typeface="Courier New"/>
                        </a:rPr>
                        <a:t>-</a:t>
                      </a:r>
                      <a:r>
                        <a:rPr sz="1000" dirty="0">
                          <a:solidFill>
                            <a:srgbClr val="D3D3D3"/>
                          </a:solidFill>
                          <a:latin typeface="Courier New"/>
                          <a:cs typeface="Courier New"/>
                        </a:rPr>
                        <a:t>-</a:t>
                      </a:r>
                      <a:endParaRPr sz="1000">
                        <a:latin typeface="Courier New"/>
                        <a:cs typeface="Courier New"/>
                      </a:endParaRPr>
                    </a:p>
                  </a:txBody>
                  <a:tcPr marL="0" marR="0" marT="634" marB="0"/>
                </a:tc>
                <a:tc>
                  <a:txBody>
                    <a:bodyPr/>
                    <a:lstStyle/>
                    <a:p>
                      <a:pPr algn="ctr">
                        <a:lnSpc>
                          <a:spcPct val="100000"/>
                        </a:lnSpc>
                        <a:spcBef>
                          <a:spcPts val="5"/>
                        </a:spcBef>
                      </a:pPr>
                      <a:r>
                        <a:rPr sz="1000" spc="-25" dirty="0">
                          <a:solidFill>
                            <a:srgbClr val="D3D3D3"/>
                          </a:solidFill>
                          <a:latin typeface="Courier New"/>
                          <a:cs typeface="Courier New"/>
                        </a:rPr>
                        <a:t>was</a:t>
                      </a:r>
                      <a:endParaRPr sz="1000">
                        <a:latin typeface="Courier New"/>
                        <a:cs typeface="Courier New"/>
                      </a:endParaRPr>
                    </a:p>
                  </a:txBody>
                  <a:tcPr marL="0" marR="0" marT="634" marB="0"/>
                </a:tc>
                <a:tc>
                  <a:txBody>
                    <a:bodyPr/>
                    <a:lstStyle/>
                    <a:p>
                      <a:pPr marL="37465">
                        <a:lnSpc>
                          <a:spcPct val="100000"/>
                        </a:lnSpc>
                        <a:spcBef>
                          <a:spcPts val="5"/>
                        </a:spcBef>
                      </a:pPr>
                      <a:r>
                        <a:rPr sz="1000" spc="-10" dirty="0">
                          <a:solidFill>
                            <a:srgbClr val="D3D3D3"/>
                          </a:solidFill>
                          <a:latin typeface="Courier New"/>
                          <a:cs typeface="Courier New"/>
                        </a:rPr>
                        <a:t>CHAR(200)</a:t>
                      </a:r>
                      <a:endParaRPr sz="1000">
                        <a:latin typeface="Courier New"/>
                        <a:cs typeface="Courier New"/>
                      </a:endParaRPr>
                    </a:p>
                  </a:txBody>
                  <a:tcPr marL="0" marR="0" marT="634" marB="0"/>
                </a:tc>
                <a:extLst>
                  <a:ext uri="{0D108BD9-81ED-4DB2-BD59-A6C34878D82A}">
                    <a16:rowId xmlns:a16="http://schemas.microsoft.com/office/drawing/2014/main" val="10001"/>
                  </a:ext>
                </a:extLst>
              </a:tr>
              <a:tr h="167433">
                <a:tc>
                  <a:txBody>
                    <a:bodyPr/>
                    <a:lstStyle/>
                    <a:p>
                      <a:pPr marL="31750">
                        <a:lnSpc>
                          <a:spcPct val="100000"/>
                        </a:lnSpc>
                        <a:spcBef>
                          <a:spcPts val="5"/>
                        </a:spcBef>
                      </a:pPr>
                      <a:r>
                        <a:rPr sz="1000" spc="-10" dirty="0">
                          <a:solidFill>
                            <a:srgbClr val="D3D3D3"/>
                          </a:solidFill>
                          <a:latin typeface="Courier New"/>
                          <a:cs typeface="Courier New"/>
                        </a:rPr>
                        <a:t>order_date</a:t>
                      </a:r>
                      <a:endParaRPr sz="1000">
                        <a:latin typeface="Courier New"/>
                        <a:cs typeface="Courier New"/>
                      </a:endParaRPr>
                    </a:p>
                  </a:txBody>
                  <a:tcPr marL="0" marR="0" marT="634" marB="0"/>
                </a:tc>
                <a:tc>
                  <a:txBody>
                    <a:bodyPr/>
                    <a:lstStyle/>
                    <a:p>
                      <a:pPr marL="37465">
                        <a:lnSpc>
                          <a:spcPct val="100000"/>
                        </a:lnSpc>
                        <a:spcBef>
                          <a:spcPts val="5"/>
                        </a:spcBef>
                      </a:pPr>
                      <a:r>
                        <a:rPr sz="1000" spc="-10" dirty="0">
                          <a:solidFill>
                            <a:srgbClr val="D3D3D3"/>
                          </a:solidFill>
                          <a:latin typeface="Courier New"/>
                          <a:cs typeface="Courier New"/>
                        </a:rPr>
                        <a:t>DATE,</a:t>
                      </a:r>
                      <a:endParaRPr sz="1000">
                        <a:latin typeface="Courier New"/>
                        <a:cs typeface="Courier New"/>
                      </a:endParaRPr>
                    </a:p>
                  </a:txBody>
                  <a:tcPr marL="0" marR="0" marT="634" marB="0"/>
                </a:tc>
                <a:tc>
                  <a:txBody>
                    <a:bodyPr/>
                    <a:lstStyle/>
                    <a:p>
                      <a:pPr>
                        <a:lnSpc>
                          <a:spcPct val="100000"/>
                        </a:lnSpc>
                      </a:pPr>
                      <a:endParaRPr sz="900">
                        <a:latin typeface="Times New Roman"/>
                        <a:cs typeface="Times New Roman"/>
                      </a:endParaRPr>
                    </a:p>
                  </a:txBody>
                  <a:tcPr marL="0" marR="0" marT="0" marB="0"/>
                </a:tc>
                <a:tc>
                  <a:txBody>
                    <a:bodyPr/>
                    <a:lstStyle/>
                    <a:p>
                      <a:pPr marR="29845" algn="r">
                        <a:lnSpc>
                          <a:spcPct val="100000"/>
                        </a:lnSpc>
                        <a:spcBef>
                          <a:spcPts val="5"/>
                        </a:spcBef>
                      </a:pPr>
                      <a:r>
                        <a:rPr sz="1000" spc="-10" dirty="0">
                          <a:solidFill>
                            <a:srgbClr val="D3D3D3"/>
                          </a:solidFill>
                          <a:latin typeface="Courier New"/>
                          <a:cs typeface="Courier New"/>
                        </a:rPr>
                        <a:t>-</a:t>
                      </a:r>
                      <a:r>
                        <a:rPr sz="1000" dirty="0">
                          <a:solidFill>
                            <a:srgbClr val="D3D3D3"/>
                          </a:solidFill>
                          <a:latin typeface="Courier New"/>
                          <a:cs typeface="Courier New"/>
                        </a:rPr>
                        <a:t>-</a:t>
                      </a:r>
                      <a:endParaRPr sz="1000">
                        <a:latin typeface="Courier New"/>
                        <a:cs typeface="Courier New"/>
                      </a:endParaRPr>
                    </a:p>
                  </a:txBody>
                  <a:tcPr marL="0" marR="0" marT="634" marB="0"/>
                </a:tc>
                <a:tc>
                  <a:txBody>
                    <a:bodyPr/>
                    <a:lstStyle/>
                    <a:p>
                      <a:pPr algn="ctr">
                        <a:lnSpc>
                          <a:spcPct val="100000"/>
                        </a:lnSpc>
                        <a:spcBef>
                          <a:spcPts val="5"/>
                        </a:spcBef>
                      </a:pPr>
                      <a:r>
                        <a:rPr sz="1000" spc="-25" dirty="0">
                          <a:solidFill>
                            <a:srgbClr val="D3D3D3"/>
                          </a:solidFill>
                          <a:latin typeface="Courier New"/>
                          <a:cs typeface="Courier New"/>
                        </a:rPr>
                        <a:t>was</a:t>
                      </a:r>
                      <a:endParaRPr sz="1000">
                        <a:latin typeface="Courier New"/>
                        <a:cs typeface="Courier New"/>
                      </a:endParaRPr>
                    </a:p>
                  </a:txBody>
                  <a:tcPr marL="0" marR="0" marT="634" marB="0"/>
                </a:tc>
                <a:tc>
                  <a:txBody>
                    <a:bodyPr/>
                    <a:lstStyle/>
                    <a:p>
                      <a:pPr marL="37465">
                        <a:lnSpc>
                          <a:spcPct val="100000"/>
                        </a:lnSpc>
                        <a:spcBef>
                          <a:spcPts val="5"/>
                        </a:spcBef>
                      </a:pPr>
                      <a:r>
                        <a:rPr sz="1000" spc="-10" dirty="0">
                          <a:solidFill>
                            <a:srgbClr val="D3D3D3"/>
                          </a:solidFill>
                          <a:latin typeface="Courier New"/>
                          <a:cs typeface="Courier New"/>
                        </a:rPr>
                        <a:t>VARCHAR(20)</a:t>
                      </a:r>
                      <a:endParaRPr sz="1000">
                        <a:latin typeface="Courier New"/>
                        <a:cs typeface="Courier New"/>
                      </a:endParaRPr>
                    </a:p>
                  </a:txBody>
                  <a:tcPr marL="0" marR="0" marT="634" marB="0"/>
                </a:tc>
                <a:extLst>
                  <a:ext uri="{0D108BD9-81ED-4DB2-BD59-A6C34878D82A}">
                    <a16:rowId xmlns:a16="http://schemas.microsoft.com/office/drawing/2014/main" val="10002"/>
                  </a:ext>
                </a:extLst>
              </a:tr>
              <a:tr h="167433">
                <a:tc>
                  <a:txBody>
                    <a:bodyPr/>
                    <a:lstStyle/>
                    <a:p>
                      <a:pPr marL="31750">
                        <a:lnSpc>
                          <a:spcPct val="100000"/>
                        </a:lnSpc>
                        <a:spcBef>
                          <a:spcPts val="5"/>
                        </a:spcBef>
                      </a:pPr>
                      <a:r>
                        <a:rPr sz="1000" spc="-10" dirty="0">
                          <a:solidFill>
                            <a:srgbClr val="D3D3D3"/>
                          </a:solidFill>
                          <a:latin typeface="Courier New"/>
                          <a:cs typeface="Courier New"/>
                        </a:rPr>
                        <a:t>total_amount</a:t>
                      </a:r>
                      <a:endParaRPr sz="1000">
                        <a:latin typeface="Courier New"/>
                        <a:cs typeface="Courier New"/>
                      </a:endParaRPr>
                    </a:p>
                  </a:txBody>
                  <a:tcPr marL="0" marR="0" marT="634" marB="0"/>
                </a:tc>
                <a:tc>
                  <a:txBody>
                    <a:bodyPr/>
                    <a:lstStyle/>
                    <a:p>
                      <a:pPr marL="37465">
                        <a:lnSpc>
                          <a:spcPct val="100000"/>
                        </a:lnSpc>
                        <a:spcBef>
                          <a:spcPts val="5"/>
                        </a:spcBef>
                      </a:pPr>
                      <a:r>
                        <a:rPr sz="1000" spc="-10" dirty="0">
                          <a:solidFill>
                            <a:srgbClr val="D3D3D3"/>
                          </a:solidFill>
                          <a:latin typeface="Courier New"/>
                          <a:cs typeface="Courier New"/>
                        </a:rPr>
                        <a:t>NUMERIC(12,2),</a:t>
                      </a:r>
                      <a:endParaRPr sz="1000">
                        <a:latin typeface="Courier New"/>
                        <a:cs typeface="Courier New"/>
                      </a:endParaRPr>
                    </a:p>
                  </a:txBody>
                  <a:tcPr marL="0" marR="0" marT="634" marB="0"/>
                </a:tc>
                <a:tc>
                  <a:txBody>
                    <a:bodyPr/>
                    <a:lstStyle/>
                    <a:p>
                      <a:pPr>
                        <a:lnSpc>
                          <a:spcPct val="100000"/>
                        </a:lnSpc>
                      </a:pPr>
                      <a:endParaRPr sz="900">
                        <a:latin typeface="Times New Roman"/>
                        <a:cs typeface="Times New Roman"/>
                      </a:endParaRPr>
                    </a:p>
                  </a:txBody>
                  <a:tcPr marL="0" marR="0" marT="0" marB="0"/>
                </a:tc>
                <a:tc>
                  <a:txBody>
                    <a:bodyPr/>
                    <a:lstStyle/>
                    <a:p>
                      <a:pPr marR="29845" algn="r">
                        <a:lnSpc>
                          <a:spcPct val="100000"/>
                        </a:lnSpc>
                        <a:spcBef>
                          <a:spcPts val="5"/>
                        </a:spcBef>
                      </a:pPr>
                      <a:r>
                        <a:rPr sz="1000" spc="-10" dirty="0">
                          <a:solidFill>
                            <a:srgbClr val="D3D3D3"/>
                          </a:solidFill>
                          <a:latin typeface="Courier New"/>
                          <a:cs typeface="Courier New"/>
                        </a:rPr>
                        <a:t>-</a:t>
                      </a:r>
                      <a:r>
                        <a:rPr sz="1000" dirty="0">
                          <a:solidFill>
                            <a:srgbClr val="D3D3D3"/>
                          </a:solidFill>
                          <a:latin typeface="Courier New"/>
                          <a:cs typeface="Courier New"/>
                        </a:rPr>
                        <a:t>-</a:t>
                      </a:r>
                      <a:endParaRPr sz="1000">
                        <a:latin typeface="Courier New"/>
                        <a:cs typeface="Courier New"/>
                      </a:endParaRPr>
                    </a:p>
                  </a:txBody>
                  <a:tcPr marL="0" marR="0" marT="634" marB="0"/>
                </a:tc>
                <a:tc>
                  <a:txBody>
                    <a:bodyPr/>
                    <a:lstStyle/>
                    <a:p>
                      <a:pPr algn="ctr">
                        <a:lnSpc>
                          <a:spcPct val="100000"/>
                        </a:lnSpc>
                        <a:spcBef>
                          <a:spcPts val="5"/>
                        </a:spcBef>
                      </a:pPr>
                      <a:r>
                        <a:rPr sz="1000" spc="-25" dirty="0">
                          <a:solidFill>
                            <a:srgbClr val="D3D3D3"/>
                          </a:solidFill>
                          <a:latin typeface="Courier New"/>
                          <a:cs typeface="Courier New"/>
                        </a:rPr>
                        <a:t>was</a:t>
                      </a:r>
                      <a:endParaRPr sz="1000">
                        <a:latin typeface="Courier New"/>
                        <a:cs typeface="Courier New"/>
                      </a:endParaRPr>
                    </a:p>
                  </a:txBody>
                  <a:tcPr marL="0" marR="0" marT="634" marB="0"/>
                </a:tc>
                <a:tc>
                  <a:txBody>
                    <a:bodyPr/>
                    <a:lstStyle/>
                    <a:p>
                      <a:pPr marL="37465">
                        <a:lnSpc>
                          <a:spcPct val="100000"/>
                        </a:lnSpc>
                        <a:spcBef>
                          <a:spcPts val="5"/>
                        </a:spcBef>
                      </a:pPr>
                      <a:r>
                        <a:rPr sz="1000" dirty="0">
                          <a:solidFill>
                            <a:srgbClr val="D3D3D3"/>
                          </a:solidFill>
                          <a:latin typeface="Courier New"/>
                          <a:cs typeface="Courier New"/>
                        </a:rPr>
                        <a:t>INT</a:t>
                      </a:r>
                      <a:r>
                        <a:rPr sz="1000" spc="-25" dirty="0">
                          <a:solidFill>
                            <a:srgbClr val="D3D3D3"/>
                          </a:solidFill>
                          <a:latin typeface="Courier New"/>
                          <a:cs typeface="Courier New"/>
                        </a:rPr>
                        <a:t> </a:t>
                      </a:r>
                      <a:r>
                        <a:rPr sz="1000" dirty="0">
                          <a:solidFill>
                            <a:srgbClr val="D3D3D3"/>
                          </a:solidFill>
                          <a:latin typeface="Courier New"/>
                          <a:cs typeface="Courier New"/>
                        </a:rPr>
                        <a:t>(paisa</a:t>
                      </a:r>
                      <a:r>
                        <a:rPr sz="1000" spc="-20" dirty="0">
                          <a:solidFill>
                            <a:srgbClr val="D3D3D3"/>
                          </a:solidFill>
                          <a:latin typeface="Courier New"/>
                          <a:cs typeface="Courier New"/>
                        </a:rPr>
                        <a:t> </a:t>
                      </a:r>
                      <a:r>
                        <a:rPr sz="1000" spc="-10" dirty="0">
                          <a:solidFill>
                            <a:srgbClr val="D3D3D3"/>
                          </a:solidFill>
                          <a:latin typeface="Courier New"/>
                          <a:cs typeface="Courier New"/>
                        </a:rPr>
                        <a:t>lost)</a:t>
                      </a:r>
                      <a:endParaRPr sz="1000">
                        <a:latin typeface="Courier New"/>
                        <a:cs typeface="Courier New"/>
                      </a:endParaRPr>
                    </a:p>
                  </a:txBody>
                  <a:tcPr marL="0" marR="0" marT="634" marB="0"/>
                </a:tc>
                <a:extLst>
                  <a:ext uri="{0D108BD9-81ED-4DB2-BD59-A6C34878D82A}">
                    <a16:rowId xmlns:a16="http://schemas.microsoft.com/office/drawing/2014/main" val="10003"/>
                  </a:ext>
                </a:extLst>
              </a:tr>
              <a:tr h="167433">
                <a:tc>
                  <a:txBody>
                    <a:bodyPr/>
                    <a:lstStyle/>
                    <a:p>
                      <a:pPr marL="31750">
                        <a:lnSpc>
                          <a:spcPct val="100000"/>
                        </a:lnSpc>
                        <a:spcBef>
                          <a:spcPts val="5"/>
                        </a:spcBef>
                      </a:pPr>
                      <a:r>
                        <a:rPr sz="1000" spc="-10" dirty="0">
                          <a:solidFill>
                            <a:srgbClr val="D3D3D3"/>
                          </a:solidFill>
                          <a:latin typeface="Courier New"/>
                          <a:cs typeface="Courier New"/>
                        </a:rPr>
                        <a:t>phone</a:t>
                      </a:r>
                      <a:endParaRPr sz="1000">
                        <a:latin typeface="Courier New"/>
                        <a:cs typeface="Courier New"/>
                      </a:endParaRPr>
                    </a:p>
                  </a:txBody>
                  <a:tcPr marL="0" marR="0" marT="634" marB="0"/>
                </a:tc>
                <a:tc>
                  <a:txBody>
                    <a:bodyPr/>
                    <a:lstStyle/>
                    <a:p>
                      <a:pPr marL="37465">
                        <a:lnSpc>
                          <a:spcPct val="100000"/>
                        </a:lnSpc>
                        <a:spcBef>
                          <a:spcPts val="5"/>
                        </a:spcBef>
                      </a:pPr>
                      <a:r>
                        <a:rPr sz="1000" spc="-10" dirty="0">
                          <a:solidFill>
                            <a:srgbClr val="D3D3D3"/>
                          </a:solidFill>
                          <a:latin typeface="Courier New"/>
                          <a:cs typeface="Courier New"/>
                        </a:rPr>
                        <a:t>VARCHAR(15),</a:t>
                      </a:r>
                      <a:endParaRPr sz="1000">
                        <a:latin typeface="Courier New"/>
                        <a:cs typeface="Courier New"/>
                      </a:endParaRPr>
                    </a:p>
                  </a:txBody>
                  <a:tcPr marL="0" marR="0" marT="634" marB="0"/>
                </a:tc>
                <a:tc>
                  <a:txBody>
                    <a:bodyPr/>
                    <a:lstStyle/>
                    <a:p>
                      <a:pPr>
                        <a:lnSpc>
                          <a:spcPct val="100000"/>
                        </a:lnSpc>
                      </a:pPr>
                      <a:endParaRPr sz="900">
                        <a:latin typeface="Times New Roman"/>
                        <a:cs typeface="Times New Roman"/>
                      </a:endParaRPr>
                    </a:p>
                  </a:txBody>
                  <a:tcPr marL="0" marR="0" marT="0" marB="0"/>
                </a:tc>
                <a:tc>
                  <a:txBody>
                    <a:bodyPr/>
                    <a:lstStyle/>
                    <a:p>
                      <a:pPr marR="29845" algn="r">
                        <a:lnSpc>
                          <a:spcPct val="100000"/>
                        </a:lnSpc>
                        <a:spcBef>
                          <a:spcPts val="5"/>
                        </a:spcBef>
                      </a:pPr>
                      <a:r>
                        <a:rPr sz="1000" spc="-10" dirty="0">
                          <a:solidFill>
                            <a:srgbClr val="D3D3D3"/>
                          </a:solidFill>
                          <a:latin typeface="Courier New"/>
                          <a:cs typeface="Courier New"/>
                        </a:rPr>
                        <a:t>-</a:t>
                      </a:r>
                      <a:r>
                        <a:rPr sz="1000" dirty="0">
                          <a:solidFill>
                            <a:srgbClr val="D3D3D3"/>
                          </a:solidFill>
                          <a:latin typeface="Courier New"/>
                          <a:cs typeface="Courier New"/>
                        </a:rPr>
                        <a:t>-</a:t>
                      </a:r>
                      <a:endParaRPr sz="1000">
                        <a:latin typeface="Courier New"/>
                        <a:cs typeface="Courier New"/>
                      </a:endParaRPr>
                    </a:p>
                  </a:txBody>
                  <a:tcPr marL="0" marR="0" marT="634" marB="0"/>
                </a:tc>
                <a:tc>
                  <a:txBody>
                    <a:bodyPr/>
                    <a:lstStyle/>
                    <a:p>
                      <a:pPr algn="ctr">
                        <a:lnSpc>
                          <a:spcPct val="100000"/>
                        </a:lnSpc>
                        <a:spcBef>
                          <a:spcPts val="5"/>
                        </a:spcBef>
                      </a:pPr>
                      <a:r>
                        <a:rPr sz="1000" spc="-25" dirty="0">
                          <a:solidFill>
                            <a:srgbClr val="D3D3D3"/>
                          </a:solidFill>
                          <a:latin typeface="Courier New"/>
                          <a:cs typeface="Courier New"/>
                        </a:rPr>
                        <a:t>was</a:t>
                      </a:r>
                      <a:endParaRPr sz="1000">
                        <a:latin typeface="Courier New"/>
                        <a:cs typeface="Courier New"/>
                      </a:endParaRPr>
                    </a:p>
                  </a:txBody>
                  <a:tcPr marL="0" marR="0" marT="634" marB="0"/>
                </a:tc>
                <a:tc>
                  <a:txBody>
                    <a:bodyPr/>
                    <a:lstStyle/>
                    <a:p>
                      <a:pPr marL="37465">
                        <a:lnSpc>
                          <a:spcPct val="100000"/>
                        </a:lnSpc>
                        <a:spcBef>
                          <a:spcPts val="5"/>
                        </a:spcBef>
                      </a:pPr>
                      <a:r>
                        <a:rPr sz="1000" spc="-10" dirty="0">
                          <a:solidFill>
                            <a:srgbClr val="D3D3D3"/>
                          </a:solidFill>
                          <a:latin typeface="Courier New"/>
                          <a:cs typeface="Courier New"/>
                        </a:rPr>
                        <a:t>BIGINT</a:t>
                      </a:r>
                      <a:endParaRPr sz="1000">
                        <a:latin typeface="Courier New"/>
                        <a:cs typeface="Courier New"/>
                      </a:endParaRPr>
                    </a:p>
                  </a:txBody>
                  <a:tcPr marL="0" marR="0" marT="634" marB="0"/>
                </a:tc>
                <a:extLst>
                  <a:ext uri="{0D108BD9-81ED-4DB2-BD59-A6C34878D82A}">
                    <a16:rowId xmlns:a16="http://schemas.microsoft.com/office/drawing/2014/main" val="10004"/>
                  </a:ext>
                </a:extLst>
              </a:tr>
              <a:tr h="167433">
                <a:tc>
                  <a:txBody>
                    <a:bodyPr/>
                    <a:lstStyle/>
                    <a:p>
                      <a:pPr marL="31750">
                        <a:lnSpc>
                          <a:spcPct val="100000"/>
                        </a:lnSpc>
                        <a:spcBef>
                          <a:spcPts val="5"/>
                        </a:spcBef>
                      </a:pPr>
                      <a:r>
                        <a:rPr sz="1000" spc="-10" dirty="0">
                          <a:solidFill>
                            <a:srgbClr val="D3D3D3"/>
                          </a:solidFill>
                          <a:latin typeface="Courier New"/>
                          <a:cs typeface="Courier New"/>
                        </a:rPr>
                        <a:t>pincode</a:t>
                      </a:r>
                      <a:endParaRPr sz="1000">
                        <a:latin typeface="Courier New"/>
                        <a:cs typeface="Courier New"/>
                      </a:endParaRPr>
                    </a:p>
                  </a:txBody>
                  <a:tcPr marL="0" marR="0" marT="634" marB="0"/>
                </a:tc>
                <a:tc>
                  <a:txBody>
                    <a:bodyPr/>
                    <a:lstStyle/>
                    <a:p>
                      <a:pPr marL="37465">
                        <a:lnSpc>
                          <a:spcPct val="100000"/>
                        </a:lnSpc>
                        <a:spcBef>
                          <a:spcPts val="5"/>
                        </a:spcBef>
                      </a:pPr>
                      <a:r>
                        <a:rPr sz="1000" spc="-10" dirty="0">
                          <a:solidFill>
                            <a:srgbClr val="D3D3D3"/>
                          </a:solidFill>
                          <a:latin typeface="Courier New"/>
                          <a:cs typeface="Courier New"/>
                        </a:rPr>
                        <a:t>VARCHAR(6),</a:t>
                      </a:r>
                      <a:endParaRPr sz="1000">
                        <a:latin typeface="Courier New"/>
                        <a:cs typeface="Courier New"/>
                      </a:endParaRPr>
                    </a:p>
                  </a:txBody>
                  <a:tcPr marL="0" marR="0" marT="634" marB="0"/>
                </a:tc>
                <a:tc>
                  <a:txBody>
                    <a:bodyPr/>
                    <a:lstStyle/>
                    <a:p>
                      <a:pPr>
                        <a:lnSpc>
                          <a:spcPct val="100000"/>
                        </a:lnSpc>
                      </a:pPr>
                      <a:endParaRPr sz="900">
                        <a:latin typeface="Times New Roman"/>
                        <a:cs typeface="Times New Roman"/>
                      </a:endParaRPr>
                    </a:p>
                  </a:txBody>
                  <a:tcPr marL="0" marR="0" marT="0" marB="0"/>
                </a:tc>
                <a:tc>
                  <a:txBody>
                    <a:bodyPr/>
                    <a:lstStyle/>
                    <a:p>
                      <a:pPr marR="29845" algn="r">
                        <a:lnSpc>
                          <a:spcPct val="100000"/>
                        </a:lnSpc>
                        <a:spcBef>
                          <a:spcPts val="5"/>
                        </a:spcBef>
                      </a:pPr>
                      <a:r>
                        <a:rPr sz="1000" spc="-10" dirty="0">
                          <a:solidFill>
                            <a:srgbClr val="D3D3D3"/>
                          </a:solidFill>
                          <a:latin typeface="Courier New"/>
                          <a:cs typeface="Courier New"/>
                        </a:rPr>
                        <a:t>-</a:t>
                      </a:r>
                      <a:r>
                        <a:rPr sz="1000" dirty="0">
                          <a:solidFill>
                            <a:srgbClr val="D3D3D3"/>
                          </a:solidFill>
                          <a:latin typeface="Courier New"/>
                          <a:cs typeface="Courier New"/>
                        </a:rPr>
                        <a:t>-</a:t>
                      </a:r>
                      <a:endParaRPr sz="1000">
                        <a:latin typeface="Courier New"/>
                        <a:cs typeface="Courier New"/>
                      </a:endParaRPr>
                    </a:p>
                  </a:txBody>
                  <a:tcPr marL="0" marR="0" marT="634" marB="0"/>
                </a:tc>
                <a:tc>
                  <a:txBody>
                    <a:bodyPr/>
                    <a:lstStyle/>
                    <a:p>
                      <a:pPr algn="ctr">
                        <a:lnSpc>
                          <a:spcPct val="100000"/>
                        </a:lnSpc>
                        <a:spcBef>
                          <a:spcPts val="5"/>
                        </a:spcBef>
                      </a:pPr>
                      <a:r>
                        <a:rPr sz="1000" spc="-25" dirty="0">
                          <a:solidFill>
                            <a:srgbClr val="D3D3D3"/>
                          </a:solidFill>
                          <a:latin typeface="Courier New"/>
                          <a:cs typeface="Courier New"/>
                        </a:rPr>
                        <a:t>was</a:t>
                      </a:r>
                      <a:endParaRPr sz="1000">
                        <a:latin typeface="Courier New"/>
                        <a:cs typeface="Courier New"/>
                      </a:endParaRPr>
                    </a:p>
                  </a:txBody>
                  <a:tcPr marL="0" marR="0" marT="634" marB="0"/>
                </a:tc>
                <a:tc>
                  <a:txBody>
                    <a:bodyPr/>
                    <a:lstStyle/>
                    <a:p>
                      <a:pPr marL="37465">
                        <a:lnSpc>
                          <a:spcPct val="100000"/>
                        </a:lnSpc>
                        <a:spcBef>
                          <a:spcPts val="5"/>
                        </a:spcBef>
                      </a:pPr>
                      <a:r>
                        <a:rPr sz="1000" dirty="0">
                          <a:solidFill>
                            <a:srgbClr val="D3D3D3"/>
                          </a:solidFill>
                          <a:latin typeface="Courier New"/>
                          <a:cs typeface="Courier New"/>
                        </a:rPr>
                        <a:t>INT</a:t>
                      </a:r>
                      <a:r>
                        <a:rPr sz="1000" spc="-30" dirty="0">
                          <a:solidFill>
                            <a:srgbClr val="D3D3D3"/>
                          </a:solidFill>
                          <a:latin typeface="Courier New"/>
                          <a:cs typeface="Courier New"/>
                        </a:rPr>
                        <a:t> </a:t>
                      </a:r>
                      <a:r>
                        <a:rPr sz="1000" dirty="0">
                          <a:solidFill>
                            <a:srgbClr val="D3D3D3"/>
                          </a:solidFill>
                          <a:latin typeface="Courier New"/>
                          <a:cs typeface="Courier New"/>
                        </a:rPr>
                        <a:t>(leading</a:t>
                      </a:r>
                      <a:r>
                        <a:rPr sz="1000" spc="-25" dirty="0">
                          <a:solidFill>
                            <a:srgbClr val="D3D3D3"/>
                          </a:solidFill>
                          <a:latin typeface="Courier New"/>
                          <a:cs typeface="Courier New"/>
                        </a:rPr>
                        <a:t> 0)</a:t>
                      </a:r>
                      <a:endParaRPr sz="1000">
                        <a:latin typeface="Courier New"/>
                        <a:cs typeface="Courier New"/>
                      </a:endParaRPr>
                    </a:p>
                  </a:txBody>
                  <a:tcPr marL="0" marR="0" marT="634" marB="0"/>
                </a:tc>
                <a:extLst>
                  <a:ext uri="{0D108BD9-81ED-4DB2-BD59-A6C34878D82A}">
                    <a16:rowId xmlns:a16="http://schemas.microsoft.com/office/drawing/2014/main" val="10005"/>
                  </a:ext>
                </a:extLst>
              </a:tr>
              <a:tr h="167433">
                <a:tc>
                  <a:txBody>
                    <a:bodyPr/>
                    <a:lstStyle/>
                    <a:p>
                      <a:pPr marL="31750">
                        <a:lnSpc>
                          <a:spcPct val="100000"/>
                        </a:lnSpc>
                        <a:spcBef>
                          <a:spcPts val="5"/>
                        </a:spcBef>
                      </a:pPr>
                      <a:r>
                        <a:rPr sz="1000" spc="-10" dirty="0">
                          <a:solidFill>
                            <a:srgbClr val="D3D3D3"/>
                          </a:solidFill>
                          <a:latin typeface="Courier New"/>
                          <a:cs typeface="Courier New"/>
                        </a:rPr>
                        <a:t>is_delivered</a:t>
                      </a:r>
                      <a:endParaRPr sz="1000">
                        <a:latin typeface="Courier New"/>
                        <a:cs typeface="Courier New"/>
                      </a:endParaRPr>
                    </a:p>
                  </a:txBody>
                  <a:tcPr marL="0" marR="0" marT="634" marB="0"/>
                </a:tc>
                <a:tc>
                  <a:txBody>
                    <a:bodyPr/>
                    <a:lstStyle/>
                    <a:p>
                      <a:pPr marL="37465">
                        <a:lnSpc>
                          <a:spcPct val="100000"/>
                        </a:lnSpc>
                        <a:spcBef>
                          <a:spcPts val="5"/>
                        </a:spcBef>
                      </a:pPr>
                      <a:r>
                        <a:rPr sz="1000" spc="-10" dirty="0">
                          <a:solidFill>
                            <a:srgbClr val="D3D3D3"/>
                          </a:solidFill>
                          <a:latin typeface="Courier New"/>
                          <a:cs typeface="Courier New"/>
                        </a:rPr>
                        <a:t>BOOLEAN,</a:t>
                      </a:r>
                      <a:endParaRPr sz="1000">
                        <a:latin typeface="Courier New"/>
                        <a:cs typeface="Courier New"/>
                      </a:endParaRPr>
                    </a:p>
                  </a:txBody>
                  <a:tcPr marL="0" marR="0" marT="634" marB="0"/>
                </a:tc>
                <a:tc>
                  <a:txBody>
                    <a:bodyPr/>
                    <a:lstStyle/>
                    <a:p>
                      <a:pPr>
                        <a:lnSpc>
                          <a:spcPct val="100000"/>
                        </a:lnSpc>
                      </a:pPr>
                      <a:endParaRPr sz="900">
                        <a:latin typeface="Times New Roman"/>
                        <a:cs typeface="Times New Roman"/>
                      </a:endParaRPr>
                    </a:p>
                  </a:txBody>
                  <a:tcPr marL="0" marR="0" marT="0" marB="0"/>
                </a:tc>
                <a:tc>
                  <a:txBody>
                    <a:bodyPr/>
                    <a:lstStyle/>
                    <a:p>
                      <a:pPr marR="29845" algn="r">
                        <a:lnSpc>
                          <a:spcPct val="100000"/>
                        </a:lnSpc>
                        <a:spcBef>
                          <a:spcPts val="5"/>
                        </a:spcBef>
                      </a:pPr>
                      <a:r>
                        <a:rPr sz="1000" spc="-10" dirty="0">
                          <a:solidFill>
                            <a:srgbClr val="D3D3D3"/>
                          </a:solidFill>
                          <a:latin typeface="Courier New"/>
                          <a:cs typeface="Courier New"/>
                        </a:rPr>
                        <a:t>-</a:t>
                      </a:r>
                      <a:r>
                        <a:rPr sz="1000" dirty="0">
                          <a:solidFill>
                            <a:srgbClr val="D3D3D3"/>
                          </a:solidFill>
                          <a:latin typeface="Courier New"/>
                          <a:cs typeface="Courier New"/>
                        </a:rPr>
                        <a:t>-</a:t>
                      </a:r>
                      <a:endParaRPr sz="1000">
                        <a:latin typeface="Courier New"/>
                        <a:cs typeface="Courier New"/>
                      </a:endParaRPr>
                    </a:p>
                  </a:txBody>
                  <a:tcPr marL="0" marR="0" marT="634" marB="0"/>
                </a:tc>
                <a:tc>
                  <a:txBody>
                    <a:bodyPr/>
                    <a:lstStyle/>
                    <a:p>
                      <a:pPr algn="ctr">
                        <a:lnSpc>
                          <a:spcPct val="100000"/>
                        </a:lnSpc>
                        <a:spcBef>
                          <a:spcPts val="5"/>
                        </a:spcBef>
                      </a:pPr>
                      <a:r>
                        <a:rPr sz="1000" spc="-25" dirty="0">
                          <a:solidFill>
                            <a:srgbClr val="D3D3D3"/>
                          </a:solidFill>
                          <a:latin typeface="Courier New"/>
                          <a:cs typeface="Courier New"/>
                        </a:rPr>
                        <a:t>was</a:t>
                      </a:r>
                      <a:endParaRPr sz="1000">
                        <a:latin typeface="Courier New"/>
                        <a:cs typeface="Courier New"/>
                      </a:endParaRPr>
                    </a:p>
                  </a:txBody>
                  <a:tcPr marL="0" marR="0" marT="634" marB="0"/>
                </a:tc>
                <a:tc>
                  <a:txBody>
                    <a:bodyPr/>
                    <a:lstStyle/>
                    <a:p>
                      <a:pPr marL="37465">
                        <a:lnSpc>
                          <a:spcPct val="100000"/>
                        </a:lnSpc>
                        <a:spcBef>
                          <a:spcPts val="5"/>
                        </a:spcBef>
                      </a:pPr>
                      <a:r>
                        <a:rPr sz="1000" spc="-10" dirty="0">
                          <a:solidFill>
                            <a:srgbClr val="D3D3D3"/>
                          </a:solidFill>
                          <a:latin typeface="Courier New"/>
                          <a:cs typeface="Courier New"/>
                        </a:rPr>
                        <a:t>VARCHAR(5)</a:t>
                      </a:r>
                      <a:endParaRPr sz="1000">
                        <a:latin typeface="Courier New"/>
                        <a:cs typeface="Courier New"/>
                      </a:endParaRPr>
                    </a:p>
                  </a:txBody>
                  <a:tcPr marL="0" marR="0" marT="634" marB="0"/>
                </a:tc>
                <a:extLst>
                  <a:ext uri="{0D108BD9-81ED-4DB2-BD59-A6C34878D82A}">
                    <a16:rowId xmlns:a16="http://schemas.microsoft.com/office/drawing/2014/main" val="10006"/>
                  </a:ext>
                </a:extLst>
              </a:tr>
              <a:tr h="167433">
                <a:tc>
                  <a:txBody>
                    <a:bodyPr/>
                    <a:lstStyle/>
                    <a:p>
                      <a:pPr marL="31750">
                        <a:lnSpc>
                          <a:spcPct val="100000"/>
                        </a:lnSpc>
                        <a:spcBef>
                          <a:spcPts val="5"/>
                        </a:spcBef>
                      </a:pPr>
                      <a:r>
                        <a:rPr sz="1000" spc="-10" dirty="0">
                          <a:solidFill>
                            <a:srgbClr val="D3D3D3"/>
                          </a:solidFill>
                          <a:latin typeface="Courier New"/>
                          <a:cs typeface="Courier New"/>
                        </a:rPr>
                        <a:t>rating</a:t>
                      </a:r>
                      <a:endParaRPr sz="1000">
                        <a:latin typeface="Courier New"/>
                        <a:cs typeface="Courier New"/>
                      </a:endParaRPr>
                    </a:p>
                  </a:txBody>
                  <a:tcPr marL="0" marR="0" marT="634" marB="0"/>
                </a:tc>
                <a:tc>
                  <a:txBody>
                    <a:bodyPr/>
                    <a:lstStyle/>
                    <a:p>
                      <a:pPr marL="37465">
                        <a:lnSpc>
                          <a:spcPct val="100000"/>
                        </a:lnSpc>
                        <a:spcBef>
                          <a:spcPts val="5"/>
                        </a:spcBef>
                      </a:pPr>
                      <a:r>
                        <a:rPr sz="1000" spc="-10" dirty="0">
                          <a:solidFill>
                            <a:srgbClr val="D3D3D3"/>
                          </a:solidFill>
                          <a:latin typeface="Courier New"/>
                          <a:cs typeface="Courier New"/>
                        </a:rPr>
                        <a:t>NUMERIC(2,1),</a:t>
                      </a:r>
                      <a:endParaRPr sz="1000">
                        <a:latin typeface="Courier New"/>
                        <a:cs typeface="Courier New"/>
                      </a:endParaRPr>
                    </a:p>
                  </a:txBody>
                  <a:tcPr marL="0" marR="0" marT="634" marB="0"/>
                </a:tc>
                <a:tc>
                  <a:txBody>
                    <a:bodyPr/>
                    <a:lstStyle/>
                    <a:p>
                      <a:pPr>
                        <a:lnSpc>
                          <a:spcPct val="100000"/>
                        </a:lnSpc>
                      </a:pPr>
                      <a:endParaRPr sz="900">
                        <a:latin typeface="Times New Roman"/>
                        <a:cs typeface="Times New Roman"/>
                      </a:endParaRPr>
                    </a:p>
                  </a:txBody>
                  <a:tcPr marL="0" marR="0" marT="0" marB="0"/>
                </a:tc>
                <a:tc>
                  <a:txBody>
                    <a:bodyPr/>
                    <a:lstStyle/>
                    <a:p>
                      <a:pPr marR="29845" algn="r">
                        <a:lnSpc>
                          <a:spcPct val="100000"/>
                        </a:lnSpc>
                        <a:spcBef>
                          <a:spcPts val="5"/>
                        </a:spcBef>
                      </a:pPr>
                      <a:r>
                        <a:rPr sz="1000" spc="-10" dirty="0">
                          <a:solidFill>
                            <a:srgbClr val="D3D3D3"/>
                          </a:solidFill>
                          <a:latin typeface="Courier New"/>
                          <a:cs typeface="Courier New"/>
                        </a:rPr>
                        <a:t>-</a:t>
                      </a:r>
                      <a:r>
                        <a:rPr sz="1000" dirty="0">
                          <a:solidFill>
                            <a:srgbClr val="D3D3D3"/>
                          </a:solidFill>
                          <a:latin typeface="Courier New"/>
                          <a:cs typeface="Courier New"/>
                        </a:rPr>
                        <a:t>-</a:t>
                      </a:r>
                      <a:endParaRPr sz="1000">
                        <a:latin typeface="Courier New"/>
                        <a:cs typeface="Courier New"/>
                      </a:endParaRPr>
                    </a:p>
                  </a:txBody>
                  <a:tcPr marL="0" marR="0" marT="634" marB="0"/>
                </a:tc>
                <a:tc>
                  <a:txBody>
                    <a:bodyPr/>
                    <a:lstStyle/>
                    <a:p>
                      <a:pPr algn="ctr">
                        <a:lnSpc>
                          <a:spcPct val="100000"/>
                        </a:lnSpc>
                        <a:spcBef>
                          <a:spcPts val="5"/>
                        </a:spcBef>
                      </a:pPr>
                      <a:r>
                        <a:rPr sz="1000" spc="-25" dirty="0">
                          <a:solidFill>
                            <a:srgbClr val="D3D3D3"/>
                          </a:solidFill>
                          <a:latin typeface="Courier New"/>
                          <a:cs typeface="Courier New"/>
                        </a:rPr>
                        <a:t>was</a:t>
                      </a:r>
                      <a:endParaRPr sz="1000">
                        <a:latin typeface="Courier New"/>
                        <a:cs typeface="Courier New"/>
                      </a:endParaRPr>
                    </a:p>
                  </a:txBody>
                  <a:tcPr marL="0" marR="0" marT="634" marB="0"/>
                </a:tc>
                <a:tc>
                  <a:txBody>
                    <a:bodyPr/>
                    <a:lstStyle/>
                    <a:p>
                      <a:pPr marL="37465">
                        <a:lnSpc>
                          <a:spcPct val="100000"/>
                        </a:lnSpc>
                        <a:spcBef>
                          <a:spcPts val="5"/>
                        </a:spcBef>
                      </a:pPr>
                      <a:r>
                        <a:rPr sz="1000" spc="-10" dirty="0">
                          <a:solidFill>
                            <a:srgbClr val="D3D3D3"/>
                          </a:solidFill>
                          <a:latin typeface="Courier New"/>
                          <a:cs typeface="Courier New"/>
                        </a:rPr>
                        <a:t>NUMERIC(10,5)</a:t>
                      </a:r>
                      <a:endParaRPr sz="1000">
                        <a:latin typeface="Courier New"/>
                        <a:cs typeface="Courier New"/>
                      </a:endParaRPr>
                    </a:p>
                  </a:txBody>
                  <a:tcPr marL="0" marR="0" marT="634" marB="0"/>
                </a:tc>
                <a:extLst>
                  <a:ext uri="{0D108BD9-81ED-4DB2-BD59-A6C34878D82A}">
                    <a16:rowId xmlns:a16="http://schemas.microsoft.com/office/drawing/2014/main" val="10007"/>
                  </a:ext>
                </a:extLst>
              </a:tr>
              <a:tr h="157286">
                <a:tc>
                  <a:txBody>
                    <a:bodyPr/>
                    <a:lstStyle/>
                    <a:p>
                      <a:pPr marL="31750">
                        <a:lnSpc>
                          <a:spcPts val="1135"/>
                        </a:lnSpc>
                        <a:spcBef>
                          <a:spcPts val="5"/>
                        </a:spcBef>
                      </a:pPr>
                      <a:r>
                        <a:rPr sz="1000" spc="-10" dirty="0">
                          <a:solidFill>
                            <a:srgbClr val="D3D3D3"/>
                          </a:solidFill>
                          <a:latin typeface="Courier New"/>
                          <a:cs typeface="Courier New"/>
                        </a:rPr>
                        <a:t>notes</a:t>
                      </a:r>
                      <a:endParaRPr sz="1000">
                        <a:latin typeface="Courier New"/>
                        <a:cs typeface="Courier New"/>
                      </a:endParaRPr>
                    </a:p>
                  </a:txBody>
                  <a:tcPr marL="0" marR="0" marT="634" marB="0"/>
                </a:tc>
                <a:tc>
                  <a:txBody>
                    <a:bodyPr/>
                    <a:lstStyle/>
                    <a:p>
                      <a:pPr marL="37465">
                        <a:lnSpc>
                          <a:spcPts val="1135"/>
                        </a:lnSpc>
                        <a:spcBef>
                          <a:spcPts val="5"/>
                        </a:spcBef>
                      </a:pPr>
                      <a:r>
                        <a:rPr sz="1000" spc="-20" dirty="0">
                          <a:solidFill>
                            <a:srgbClr val="D3D3D3"/>
                          </a:solidFill>
                          <a:latin typeface="Courier New"/>
                          <a:cs typeface="Courier New"/>
                        </a:rPr>
                        <a:t>TEXT</a:t>
                      </a:r>
                      <a:endParaRPr sz="1000">
                        <a:latin typeface="Courier New"/>
                        <a:cs typeface="Courier New"/>
                      </a:endParaRPr>
                    </a:p>
                  </a:txBody>
                  <a:tcPr marL="0" marR="0" marT="634" marB="0"/>
                </a:tc>
                <a:tc>
                  <a:txBody>
                    <a:bodyPr/>
                    <a:lstStyle/>
                    <a:p>
                      <a:pPr>
                        <a:lnSpc>
                          <a:spcPct val="100000"/>
                        </a:lnSpc>
                      </a:pPr>
                      <a:endParaRPr sz="900">
                        <a:latin typeface="Times New Roman"/>
                        <a:cs typeface="Times New Roman"/>
                      </a:endParaRPr>
                    </a:p>
                  </a:txBody>
                  <a:tcPr marL="0" marR="0" marT="0" marB="0"/>
                </a:tc>
                <a:tc>
                  <a:txBody>
                    <a:bodyPr/>
                    <a:lstStyle/>
                    <a:p>
                      <a:pPr marR="29845" algn="r">
                        <a:lnSpc>
                          <a:spcPts val="1135"/>
                        </a:lnSpc>
                        <a:spcBef>
                          <a:spcPts val="5"/>
                        </a:spcBef>
                      </a:pPr>
                      <a:r>
                        <a:rPr sz="1000" spc="-10" dirty="0">
                          <a:solidFill>
                            <a:srgbClr val="D3D3D3"/>
                          </a:solidFill>
                          <a:latin typeface="Courier New"/>
                          <a:cs typeface="Courier New"/>
                        </a:rPr>
                        <a:t>-</a:t>
                      </a:r>
                      <a:r>
                        <a:rPr sz="1000" dirty="0">
                          <a:solidFill>
                            <a:srgbClr val="D3D3D3"/>
                          </a:solidFill>
                          <a:latin typeface="Courier New"/>
                          <a:cs typeface="Courier New"/>
                        </a:rPr>
                        <a:t>-</a:t>
                      </a:r>
                      <a:endParaRPr sz="1000">
                        <a:latin typeface="Courier New"/>
                        <a:cs typeface="Courier New"/>
                      </a:endParaRPr>
                    </a:p>
                  </a:txBody>
                  <a:tcPr marL="0" marR="0" marT="634" marB="0"/>
                </a:tc>
                <a:tc>
                  <a:txBody>
                    <a:bodyPr/>
                    <a:lstStyle/>
                    <a:p>
                      <a:pPr algn="ctr">
                        <a:lnSpc>
                          <a:spcPts val="1135"/>
                        </a:lnSpc>
                        <a:spcBef>
                          <a:spcPts val="5"/>
                        </a:spcBef>
                      </a:pPr>
                      <a:r>
                        <a:rPr sz="1000" spc="-25" dirty="0">
                          <a:solidFill>
                            <a:srgbClr val="D3D3D3"/>
                          </a:solidFill>
                          <a:latin typeface="Courier New"/>
                          <a:cs typeface="Courier New"/>
                        </a:rPr>
                        <a:t>was</a:t>
                      </a:r>
                      <a:endParaRPr sz="1000">
                        <a:latin typeface="Courier New"/>
                        <a:cs typeface="Courier New"/>
                      </a:endParaRPr>
                    </a:p>
                  </a:txBody>
                  <a:tcPr marL="0" marR="0" marT="634" marB="0"/>
                </a:tc>
                <a:tc>
                  <a:txBody>
                    <a:bodyPr/>
                    <a:lstStyle/>
                    <a:p>
                      <a:pPr marL="37465">
                        <a:lnSpc>
                          <a:spcPts val="1135"/>
                        </a:lnSpc>
                        <a:spcBef>
                          <a:spcPts val="5"/>
                        </a:spcBef>
                      </a:pPr>
                      <a:r>
                        <a:rPr sz="1000" spc="-10" dirty="0">
                          <a:solidFill>
                            <a:srgbClr val="D3D3D3"/>
                          </a:solidFill>
                          <a:latin typeface="Courier New"/>
                          <a:cs typeface="Courier New"/>
                        </a:rPr>
                        <a:t>VARCHAR(50)</a:t>
                      </a:r>
                      <a:endParaRPr sz="1000">
                        <a:latin typeface="Courier New"/>
                        <a:cs typeface="Courier New"/>
                      </a:endParaRPr>
                    </a:p>
                  </a:txBody>
                  <a:tcPr marL="0" marR="0" marT="634" marB="0"/>
                </a:tc>
                <a:extLst>
                  <a:ext uri="{0D108BD9-81ED-4DB2-BD59-A6C34878D82A}">
                    <a16:rowId xmlns:a16="http://schemas.microsoft.com/office/drawing/2014/main" val="10008"/>
                  </a:ext>
                </a:extLst>
              </a:tr>
            </a:tbl>
          </a:graphicData>
        </a:graphic>
      </p:graphicFrame>
      <p:sp>
        <p:nvSpPr>
          <p:cNvPr id="10" name="object 10"/>
          <p:cNvSpPr txBox="1"/>
          <p:nvPr/>
        </p:nvSpPr>
        <p:spPr>
          <a:xfrm>
            <a:off x="356461" y="2316162"/>
            <a:ext cx="4743943" cy="1685749"/>
          </a:xfrm>
          <a:prstGeom prst="rect">
            <a:avLst/>
          </a:prstGeom>
        </p:spPr>
        <p:txBody>
          <a:bodyPr vert="horz" wrap="square" lIns="0" tIns="12684" rIns="0" bIns="0" rtlCol="0">
            <a:spAutoFit/>
          </a:bodyPr>
          <a:lstStyle/>
          <a:p>
            <a:pPr marL="12685">
              <a:spcBef>
                <a:spcPts val="100"/>
              </a:spcBef>
            </a:pPr>
            <a:r>
              <a:rPr sz="999" spc="-25" dirty="0">
                <a:solidFill>
                  <a:srgbClr val="D3D3D3"/>
                </a:solidFill>
                <a:latin typeface="Courier New"/>
                <a:cs typeface="Courier New"/>
              </a:rPr>
              <a:t>);</a:t>
            </a:r>
            <a:endParaRPr sz="999">
              <a:latin typeface="Courier New"/>
              <a:cs typeface="Courier New"/>
            </a:endParaRPr>
          </a:p>
          <a:p>
            <a:pPr>
              <a:spcBef>
                <a:spcPts val="305"/>
              </a:spcBef>
            </a:pPr>
            <a:endParaRPr sz="999">
              <a:latin typeface="Courier New"/>
              <a:cs typeface="Courier New"/>
            </a:endParaRPr>
          </a:p>
          <a:p>
            <a:pPr marL="12685">
              <a:spcBef>
                <a:spcPts val="5"/>
              </a:spcBef>
            </a:pPr>
            <a:r>
              <a:rPr sz="999" dirty="0">
                <a:solidFill>
                  <a:srgbClr val="D3D3D3"/>
                </a:solidFill>
                <a:latin typeface="Courier New"/>
                <a:cs typeface="Courier New"/>
              </a:rPr>
              <a:t>INSERT</a:t>
            </a:r>
            <a:r>
              <a:rPr sz="999" spc="-25" dirty="0">
                <a:solidFill>
                  <a:srgbClr val="D3D3D3"/>
                </a:solidFill>
                <a:latin typeface="Courier New"/>
                <a:cs typeface="Courier New"/>
              </a:rPr>
              <a:t> </a:t>
            </a:r>
            <a:r>
              <a:rPr sz="999" dirty="0">
                <a:solidFill>
                  <a:srgbClr val="D3D3D3"/>
                </a:solidFill>
                <a:latin typeface="Courier New"/>
                <a:cs typeface="Courier New"/>
              </a:rPr>
              <a:t>INTO</a:t>
            </a:r>
            <a:r>
              <a:rPr sz="999" spc="-25" dirty="0">
                <a:solidFill>
                  <a:srgbClr val="D3D3D3"/>
                </a:solidFill>
                <a:latin typeface="Courier New"/>
                <a:cs typeface="Courier New"/>
              </a:rPr>
              <a:t> </a:t>
            </a:r>
            <a:r>
              <a:rPr sz="999" spc="-10" dirty="0">
                <a:solidFill>
                  <a:srgbClr val="D3D3D3"/>
                </a:solidFill>
                <a:latin typeface="Courier New"/>
                <a:cs typeface="Courier New"/>
              </a:rPr>
              <a:t>public.customer_orders</a:t>
            </a:r>
            <a:endParaRPr sz="999">
              <a:latin typeface="Courier New"/>
              <a:cs typeface="Courier New"/>
            </a:endParaRPr>
          </a:p>
          <a:p>
            <a:pPr marL="240376" marR="232765" indent="-76109">
              <a:lnSpc>
                <a:spcPct val="110100"/>
              </a:lnSpc>
            </a:pPr>
            <a:r>
              <a:rPr sz="999" dirty="0">
                <a:solidFill>
                  <a:srgbClr val="D3D3D3"/>
                </a:solidFill>
                <a:latin typeface="Courier New"/>
                <a:cs typeface="Courier New"/>
              </a:rPr>
              <a:t>(customer_name,</a:t>
            </a:r>
            <a:r>
              <a:rPr sz="999" spc="-60" dirty="0">
                <a:solidFill>
                  <a:srgbClr val="D3D3D3"/>
                </a:solidFill>
                <a:latin typeface="Courier New"/>
                <a:cs typeface="Courier New"/>
              </a:rPr>
              <a:t> </a:t>
            </a:r>
            <a:r>
              <a:rPr sz="999" dirty="0">
                <a:solidFill>
                  <a:srgbClr val="D3D3D3"/>
                </a:solidFill>
                <a:latin typeface="Courier New"/>
                <a:cs typeface="Courier New"/>
              </a:rPr>
              <a:t>order_date,</a:t>
            </a:r>
            <a:r>
              <a:rPr sz="999" spc="-55" dirty="0">
                <a:solidFill>
                  <a:srgbClr val="D3D3D3"/>
                </a:solidFill>
                <a:latin typeface="Courier New"/>
                <a:cs typeface="Courier New"/>
              </a:rPr>
              <a:t> </a:t>
            </a:r>
            <a:r>
              <a:rPr sz="999" dirty="0">
                <a:solidFill>
                  <a:srgbClr val="D3D3D3"/>
                </a:solidFill>
                <a:latin typeface="Courier New"/>
                <a:cs typeface="Courier New"/>
              </a:rPr>
              <a:t>total_amount,</a:t>
            </a:r>
            <a:r>
              <a:rPr sz="999" spc="-55" dirty="0">
                <a:solidFill>
                  <a:srgbClr val="D3D3D3"/>
                </a:solidFill>
                <a:latin typeface="Courier New"/>
                <a:cs typeface="Courier New"/>
              </a:rPr>
              <a:t> </a:t>
            </a:r>
            <a:r>
              <a:rPr sz="999" dirty="0">
                <a:solidFill>
                  <a:srgbClr val="D3D3D3"/>
                </a:solidFill>
                <a:latin typeface="Courier New"/>
                <a:cs typeface="Courier New"/>
              </a:rPr>
              <a:t>phone,</a:t>
            </a:r>
            <a:r>
              <a:rPr sz="999" spc="-55" dirty="0">
                <a:solidFill>
                  <a:srgbClr val="D3D3D3"/>
                </a:solidFill>
                <a:latin typeface="Courier New"/>
                <a:cs typeface="Courier New"/>
              </a:rPr>
              <a:t> </a:t>
            </a:r>
            <a:r>
              <a:rPr sz="999" spc="-10" dirty="0">
                <a:solidFill>
                  <a:srgbClr val="D3D3D3"/>
                </a:solidFill>
                <a:latin typeface="Courier New"/>
                <a:cs typeface="Courier New"/>
              </a:rPr>
              <a:t>pincode, </a:t>
            </a:r>
            <a:r>
              <a:rPr sz="999" dirty="0">
                <a:solidFill>
                  <a:srgbClr val="D3D3D3"/>
                </a:solidFill>
                <a:latin typeface="Courier New"/>
                <a:cs typeface="Courier New"/>
              </a:rPr>
              <a:t>is_delivered,</a:t>
            </a:r>
            <a:r>
              <a:rPr sz="999" spc="-50" dirty="0">
                <a:solidFill>
                  <a:srgbClr val="D3D3D3"/>
                </a:solidFill>
                <a:latin typeface="Courier New"/>
                <a:cs typeface="Courier New"/>
              </a:rPr>
              <a:t> </a:t>
            </a:r>
            <a:r>
              <a:rPr sz="999" dirty="0">
                <a:solidFill>
                  <a:srgbClr val="D3D3D3"/>
                </a:solidFill>
                <a:latin typeface="Courier New"/>
                <a:cs typeface="Courier New"/>
              </a:rPr>
              <a:t>rating,</a:t>
            </a:r>
            <a:r>
              <a:rPr sz="999" spc="-50" dirty="0">
                <a:solidFill>
                  <a:srgbClr val="D3D3D3"/>
                </a:solidFill>
                <a:latin typeface="Courier New"/>
                <a:cs typeface="Courier New"/>
              </a:rPr>
              <a:t> </a:t>
            </a:r>
            <a:r>
              <a:rPr sz="999" spc="-10" dirty="0">
                <a:solidFill>
                  <a:srgbClr val="D3D3D3"/>
                </a:solidFill>
                <a:latin typeface="Courier New"/>
                <a:cs typeface="Courier New"/>
              </a:rPr>
              <a:t>notes)</a:t>
            </a:r>
            <a:endParaRPr sz="999">
              <a:latin typeface="Courier New"/>
              <a:cs typeface="Courier New"/>
            </a:endParaRPr>
          </a:p>
          <a:p>
            <a:pPr marL="12685">
              <a:spcBef>
                <a:spcPts val="120"/>
              </a:spcBef>
            </a:pPr>
            <a:r>
              <a:rPr sz="999" spc="-10" dirty="0">
                <a:solidFill>
                  <a:srgbClr val="D3D3D3"/>
                </a:solidFill>
                <a:latin typeface="Courier New"/>
                <a:cs typeface="Courier New"/>
              </a:rPr>
              <a:t>VALUES</a:t>
            </a:r>
            <a:endParaRPr sz="999">
              <a:latin typeface="Courier New"/>
              <a:cs typeface="Courier New"/>
            </a:endParaRPr>
          </a:p>
          <a:p>
            <a:pPr marL="164268">
              <a:spcBef>
                <a:spcPts val="120"/>
              </a:spcBef>
            </a:pPr>
            <a:r>
              <a:rPr sz="999" dirty="0">
                <a:solidFill>
                  <a:srgbClr val="D3D3D3"/>
                </a:solidFill>
                <a:latin typeface="Courier New"/>
                <a:cs typeface="Courier New"/>
              </a:rPr>
              <a:t>('Priya',</a:t>
            </a:r>
            <a:r>
              <a:rPr sz="999" spc="-35" dirty="0">
                <a:solidFill>
                  <a:srgbClr val="D3D3D3"/>
                </a:solidFill>
                <a:latin typeface="Courier New"/>
                <a:cs typeface="Courier New"/>
              </a:rPr>
              <a:t> </a:t>
            </a:r>
            <a:r>
              <a:rPr sz="999" spc="-10" dirty="0">
                <a:solidFill>
                  <a:srgbClr val="D3D3D3"/>
                </a:solidFill>
                <a:latin typeface="Courier New"/>
                <a:cs typeface="Courier New"/>
              </a:rPr>
              <a:t>'2026-01-</a:t>
            </a:r>
            <a:r>
              <a:rPr sz="999" dirty="0">
                <a:solidFill>
                  <a:srgbClr val="D3D3D3"/>
                </a:solidFill>
                <a:latin typeface="Courier New"/>
                <a:cs typeface="Courier New"/>
              </a:rPr>
              <a:t>05',</a:t>
            </a:r>
            <a:r>
              <a:rPr sz="999" spc="-20" dirty="0">
                <a:solidFill>
                  <a:srgbClr val="D3D3D3"/>
                </a:solidFill>
                <a:latin typeface="Courier New"/>
                <a:cs typeface="Courier New"/>
              </a:rPr>
              <a:t> </a:t>
            </a:r>
            <a:r>
              <a:rPr sz="999" dirty="0">
                <a:solidFill>
                  <a:srgbClr val="D3D3D3"/>
                </a:solidFill>
                <a:latin typeface="Courier New"/>
                <a:cs typeface="Courier New"/>
              </a:rPr>
              <a:t>1299.50,</a:t>
            </a:r>
            <a:r>
              <a:rPr sz="999" spc="-25" dirty="0">
                <a:solidFill>
                  <a:srgbClr val="D3D3D3"/>
                </a:solidFill>
                <a:latin typeface="Courier New"/>
                <a:cs typeface="Courier New"/>
              </a:rPr>
              <a:t> </a:t>
            </a:r>
            <a:r>
              <a:rPr sz="999" spc="-10" dirty="0">
                <a:solidFill>
                  <a:srgbClr val="D3D3D3"/>
                </a:solidFill>
                <a:latin typeface="Courier New"/>
                <a:cs typeface="Courier New"/>
              </a:rPr>
              <a:t>'+91-</a:t>
            </a:r>
            <a:r>
              <a:rPr sz="999" dirty="0">
                <a:solidFill>
                  <a:srgbClr val="D3D3D3"/>
                </a:solidFill>
                <a:latin typeface="Courier New"/>
                <a:cs typeface="Courier New"/>
              </a:rPr>
              <a:t>9876543210',</a:t>
            </a:r>
            <a:r>
              <a:rPr sz="999" spc="-20" dirty="0">
                <a:solidFill>
                  <a:srgbClr val="D3D3D3"/>
                </a:solidFill>
                <a:latin typeface="Courier New"/>
                <a:cs typeface="Courier New"/>
              </a:rPr>
              <a:t> </a:t>
            </a:r>
            <a:r>
              <a:rPr sz="999" spc="-10" dirty="0">
                <a:solidFill>
                  <a:srgbClr val="D3D3D3"/>
                </a:solidFill>
                <a:latin typeface="Courier New"/>
                <a:cs typeface="Courier New"/>
              </a:rPr>
              <a:t>'400058',</a:t>
            </a:r>
            <a:endParaRPr sz="999">
              <a:latin typeface="Courier New"/>
              <a:cs typeface="Courier New"/>
            </a:endParaRPr>
          </a:p>
          <a:p>
            <a:pPr marL="240376">
              <a:spcBef>
                <a:spcPts val="120"/>
              </a:spcBef>
            </a:pPr>
            <a:r>
              <a:rPr sz="999" dirty="0">
                <a:solidFill>
                  <a:srgbClr val="D3D3D3"/>
                </a:solidFill>
                <a:latin typeface="Courier New"/>
                <a:cs typeface="Courier New"/>
              </a:rPr>
              <a:t>true,</a:t>
            </a:r>
            <a:r>
              <a:rPr sz="999" spc="-20" dirty="0">
                <a:solidFill>
                  <a:srgbClr val="D3D3D3"/>
                </a:solidFill>
                <a:latin typeface="Courier New"/>
                <a:cs typeface="Courier New"/>
              </a:rPr>
              <a:t> </a:t>
            </a:r>
            <a:r>
              <a:rPr sz="999" dirty="0">
                <a:solidFill>
                  <a:srgbClr val="D3D3D3"/>
                </a:solidFill>
                <a:latin typeface="Courier New"/>
                <a:cs typeface="Courier New"/>
              </a:rPr>
              <a:t>4.5,</a:t>
            </a:r>
            <a:r>
              <a:rPr sz="999" spc="-20" dirty="0">
                <a:solidFill>
                  <a:srgbClr val="D3D3D3"/>
                </a:solidFill>
                <a:latin typeface="Courier New"/>
                <a:cs typeface="Courier New"/>
              </a:rPr>
              <a:t> </a:t>
            </a:r>
            <a:r>
              <a:rPr sz="999" dirty="0">
                <a:solidFill>
                  <a:srgbClr val="D3D3D3"/>
                </a:solidFill>
                <a:latin typeface="Courier New"/>
                <a:cs typeface="Courier New"/>
              </a:rPr>
              <a:t>'Leave</a:t>
            </a:r>
            <a:r>
              <a:rPr sz="999" spc="-20" dirty="0">
                <a:solidFill>
                  <a:srgbClr val="D3D3D3"/>
                </a:solidFill>
                <a:latin typeface="Courier New"/>
                <a:cs typeface="Courier New"/>
              </a:rPr>
              <a:t> </a:t>
            </a:r>
            <a:r>
              <a:rPr sz="999" dirty="0">
                <a:solidFill>
                  <a:srgbClr val="D3D3D3"/>
                </a:solidFill>
                <a:latin typeface="Courier New"/>
                <a:cs typeface="Courier New"/>
              </a:rPr>
              <a:t>at</a:t>
            </a:r>
            <a:r>
              <a:rPr sz="999" spc="-20" dirty="0">
                <a:solidFill>
                  <a:srgbClr val="D3D3D3"/>
                </a:solidFill>
                <a:latin typeface="Courier New"/>
                <a:cs typeface="Courier New"/>
              </a:rPr>
              <a:t> </a:t>
            </a:r>
            <a:r>
              <a:rPr sz="999" dirty="0">
                <a:solidFill>
                  <a:srgbClr val="D3D3D3"/>
                </a:solidFill>
                <a:latin typeface="Courier New"/>
                <a:cs typeface="Courier New"/>
              </a:rPr>
              <a:t>the</a:t>
            </a:r>
            <a:r>
              <a:rPr sz="999" spc="-20" dirty="0">
                <a:solidFill>
                  <a:srgbClr val="D3D3D3"/>
                </a:solidFill>
                <a:latin typeface="Courier New"/>
                <a:cs typeface="Courier New"/>
              </a:rPr>
              <a:t> </a:t>
            </a:r>
            <a:r>
              <a:rPr sz="999" spc="-10" dirty="0">
                <a:solidFill>
                  <a:srgbClr val="D3D3D3"/>
                </a:solidFill>
                <a:latin typeface="Courier New"/>
                <a:cs typeface="Courier New"/>
              </a:rPr>
              <a:t>gate.'),</a:t>
            </a:r>
            <a:endParaRPr sz="999">
              <a:latin typeface="Courier New"/>
              <a:cs typeface="Courier New"/>
            </a:endParaRPr>
          </a:p>
          <a:p>
            <a:pPr marL="164268">
              <a:spcBef>
                <a:spcPts val="120"/>
              </a:spcBef>
            </a:pPr>
            <a:r>
              <a:rPr sz="999" dirty="0">
                <a:solidFill>
                  <a:srgbClr val="D3D3D3"/>
                </a:solidFill>
                <a:latin typeface="Courier New"/>
                <a:cs typeface="Courier New"/>
              </a:rPr>
              <a:t>('Rahul',</a:t>
            </a:r>
            <a:r>
              <a:rPr sz="999" spc="-35" dirty="0">
                <a:solidFill>
                  <a:srgbClr val="D3D3D3"/>
                </a:solidFill>
                <a:latin typeface="Courier New"/>
                <a:cs typeface="Courier New"/>
              </a:rPr>
              <a:t> </a:t>
            </a:r>
            <a:r>
              <a:rPr sz="999" spc="-10" dirty="0">
                <a:solidFill>
                  <a:srgbClr val="D3D3D3"/>
                </a:solidFill>
                <a:latin typeface="Courier New"/>
                <a:cs typeface="Courier New"/>
              </a:rPr>
              <a:t>'2026-01-</a:t>
            </a:r>
            <a:r>
              <a:rPr sz="999" dirty="0">
                <a:solidFill>
                  <a:srgbClr val="D3D3D3"/>
                </a:solidFill>
                <a:latin typeface="Courier New"/>
                <a:cs typeface="Courier New"/>
              </a:rPr>
              <a:t>06',</a:t>
            </a:r>
            <a:r>
              <a:rPr sz="999" spc="-25" dirty="0">
                <a:solidFill>
                  <a:srgbClr val="D3D3D3"/>
                </a:solidFill>
                <a:latin typeface="Courier New"/>
                <a:cs typeface="Courier New"/>
              </a:rPr>
              <a:t> </a:t>
            </a:r>
            <a:r>
              <a:rPr sz="999" dirty="0">
                <a:solidFill>
                  <a:srgbClr val="D3D3D3"/>
                </a:solidFill>
                <a:latin typeface="Courier New"/>
                <a:cs typeface="Courier New"/>
              </a:rPr>
              <a:t>2499.00,</a:t>
            </a:r>
            <a:r>
              <a:rPr sz="999" spc="-30" dirty="0">
                <a:solidFill>
                  <a:srgbClr val="D3D3D3"/>
                </a:solidFill>
                <a:latin typeface="Courier New"/>
                <a:cs typeface="Courier New"/>
              </a:rPr>
              <a:t> </a:t>
            </a:r>
            <a:r>
              <a:rPr sz="999" dirty="0">
                <a:solidFill>
                  <a:srgbClr val="D3D3D3"/>
                </a:solidFill>
                <a:latin typeface="Courier New"/>
                <a:cs typeface="Courier New"/>
              </a:rPr>
              <a:t>'9123456780',</a:t>
            </a:r>
            <a:r>
              <a:rPr sz="999" spc="-30" dirty="0">
                <a:solidFill>
                  <a:srgbClr val="D3D3D3"/>
                </a:solidFill>
                <a:latin typeface="Courier New"/>
                <a:cs typeface="Courier New"/>
              </a:rPr>
              <a:t> </a:t>
            </a:r>
            <a:r>
              <a:rPr sz="999" spc="-10" dirty="0">
                <a:solidFill>
                  <a:srgbClr val="D3D3D3"/>
                </a:solidFill>
                <a:latin typeface="Courier New"/>
                <a:cs typeface="Courier New"/>
              </a:rPr>
              <a:t>'110001',</a:t>
            </a:r>
            <a:endParaRPr sz="999">
              <a:latin typeface="Courier New"/>
              <a:cs typeface="Courier New"/>
            </a:endParaRPr>
          </a:p>
          <a:p>
            <a:pPr marL="240376">
              <a:spcBef>
                <a:spcPts val="125"/>
              </a:spcBef>
            </a:pPr>
            <a:r>
              <a:rPr sz="999" dirty="0">
                <a:solidFill>
                  <a:srgbClr val="D3D3D3"/>
                </a:solidFill>
                <a:latin typeface="Courier New"/>
                <a:cs typeface="Courier New"/>
              </a:rPr>
              <a:t>false,</a:t>
            </a:r>
            <a:r>
              <a:rPr sz="999" spc="-25" dirty="0">
                <a:solidFill>
                  <a:srgbClr val="D3D3D3"/>
                </a:solidFill>
                <a:latin typeface="Courier New"/>
                <a:cs typeface="Courier New"/>
              </a:rPr>
              <a:t> </a:t>
            </a:r>
            <a:r>
              <a:rPr sz="999" dirty="0">
                <a:solidFill>
                  <a:srgbClr val="D3D3D3"/>
                </a:solidFill>
                <a:latin typeface="Courier New"/>
                <a:cs typeface="Courier New"/>
              </a:rPr>
              <a:t>3.5,</a:t>
            </a:r>
            <a:r>
              <a:rPr sz="999" spc="-20" dirty="0">
                <a:solidFill>
                  <a:srgbClr val="D3D3D3"/>
                </a:solidFill>
                <a:latin typeface="Courier New"/>
                <a:cs typeface="Courier New"/>
              </a:rPr>
              <a:t> </a:t>
            </a:r>
            <a:r>
              <a:rPr sz="999" dirty="0">
                <a:solidFill>
                  <a:srgbClr val="D3D3D3"/>
                </a:solidFill>
                <a:latin typeface="Courier New"/>
                <a:cs typeface="Courier New"/>
              </a:rPr>
              <a:t>'Call</a:t>
            </a:r>
            <a:r>
              <a:rPr sz="999" spc="-20" dirty="0">
                <a:solidFill>
                  <a:srgbClr val="D3D3D3"/>
                </a:solidFill>
                <a:latin typeface="Courier New"/>
                <a:cs typeface="Courier New"/>
              </a:rPr>
              <a:t> </a:t>
            </a:r>
            <a:r>
              <a:rPr sz="999" dirty="0">
                <a:solidFill>
                  <a:srgbClr val="D3D3D3"/>
                </a:solidFill>
                <a:latin typeface="Courier New"/>
                <a:cs typeface="Courier New"/>
              </a:rPr>
              <a:t>on</a:t>
            </a:r>
            <a:r>
              <a:rPr sz="999" spc="-20" dirty="0">
                <a:solidFill>
                  <a:srgbClr val="D3D3D3"/>
                </a:solidFill>
                <a:latin typeface="Courier New"/>
                <a:cs typeface="Courier New"/>
              </a:rPr>
              <a:t> </a:t>
            </a:r>
            <a:r>
              <a:rPr sz="999" spc="-10" dirty="0">
                <a:solidFill>
                  <a:srgbClr val="D3D3D3"/>
                </a:solidFill>
                <a:latin typeface="Courier New"/>
                <a:cs typeface="Courier New"/>
              </a:rPr>
              <a:t>arrival.');</a:t>
            </a:r>
            <a:endParaRPr sz="999">
              <a:latin typeface="Courier New"/>
              <a:cs typeface="Courier New"/>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638" y="-353"/>
            <a:ext cx="8766782" cy="5137158"/>
          </a:xfrm>
          <a:custGeom>
            <a:avLst/>
            <a:gdLst/>
            <a:ahLst/>
            <a:cxnLst/>
            <a:rect l="l" t="t" r="r" b="b"/>
            <a:pathLst>
              <a:path w="8777605" h="5143500">
                <a:moveTo>
                  <a:pt x="109435" y="0"/>
                </a:moveTo>
                <a:lnTo>
                  <a:pt x="0" y="0"/>
                </a:lnTo>
                <a:lnTo>
                  <a:pt x="0" y="5143309"/>
                </a:lnTo>
                <a:lnTo>
                  <a:pt x="54724" y="5143309"/>
                </a:lnTo>
                <a:lnTo>
                  <a:pt x="109435" y="5143309"/>
                </a:lnTo>
                <a:lnTo>
                  <a:pt x="109435" y="0"/>
                </a:lnTo>
                <a:close/>
              </a:path>
              <a:path w="8777605" h="5143500">
                <a:moveTo>
                  <a:pt x="8777516" y="183235"/>
                </a:moveTo>
                <a:lnTo>
                  <a:pt x="7589164" y="183235"/>
                </a:lnTo>
                <a:lnTo>
                  <a:pt x="7589164" y="594360"/>
                </a:lnTo>
                <a:lnTo>
                  <a:pt x="8183524" y="594360"/>
                </a:lnTo>
                <a:lnTo>
                  <a:pt x="8777516" y="594360"/>
                </a:lnTo>
                <a:lnTo>
                  <a:pt x="8777516" y="183235"/>
                </a:lnTo>
                <a:close/>
              </a:path>
            </a:pathLst>
          </a:custGeom>
          <a:solidFill>
            <a:srgbClr val="F44236"/>
          </a:solidFill>
        </p:spPr>
        <p:txBody>
          <a:bodyPr wrap="square" lIns="0" tIns="0" rIns="0" bIns="0" rtlCol="0"/>
          <a:lstStyle/>
          <a:p>
            <a:endParaRPr sz="1798"/>
          </a:p>
        </p:txBody>
      </p:sp>
      <p:sp>
        <p:nvSpPr>
          <p:cNvPr id="3" name="object 3" descr="$PPTXTitle"/>
          <p:cNvSpPr txBox="1">
            <a:spLocks noGrp="1"/>
          </p:cNvSpPr>
          <p:nvPr>
            <p:ph type="title"/>
          </p:nvPr>
        </p:nvSpPr>
        <p:spPr>
          <a:xfrm>
            <a:off x="5637" y="0"/>
            <a:ext cx="0" cy="917990"/>
          </a:xfrm>
          <a:prstGeom prst="rect">
            <a:avLst/>
          </a:prstGeom>
        </p:spPr>
        <p:txBody>
          <a:bodyPr vert="horz" wrap="square" lIns="0" tIns="57992" rIns="0" bIns="0" rtlCol="0">
            <a:spAutoFit/>
          </a:bodyPr>
          <a:lstStyle/>
          <a:p>
            <a:pPr marL="7513182">
              <a:spcBef>
                <a:spcPts val="100"/>
              </a:spcBef>
            </a:pPr>
            <a:r>
              <a:rPr sz="1398" spc="-20" dirty="0">
                <a:solidFill>
                  <a:srgbClr val="FFFFFF"/>
                </a:solidFill>
              </a:rPr>
              <a:t>HARD</a:t>
            </a:r>
            <a:endParaRPr sz="1398"/>
          </a:p>
        </p:txBody>
      </p:sp>
      <p:sp>
        <p:nvSpPr>
          <p:cNvPr id="4" name="object 4"/>
          <p:cNvSpPr txBox="1"/>
          <p:nvPr/>
        </p:nvSpPr>
        <p:spPr>
          <a:xfrm>
            <a:off x="447788" y="716784"/>
            <a:ext cx="8079291" cy="2382753"/>
          </a:xfrm>
          <a:prstGeom prst="rect">
            <a:avLst/>
          </a:prstGeom>
        </p:spPr>
        <p:txBody>
          <a:bodyPr vert="horz" wrap="square" lIns="0" tIns="12684" rIns="0" bIns="0" rtlCol="0">
            <a:spAutoFit/>
          </a:bodyPr>
          <a:lstStyle/>
          <a:p>
            <a:pPr marL="12685" marR="5074">
              <a:lnSpc>
                <a:spcPct val="120100"/>
              </a:lnSpc>
              <a:spcBef>
                <a:spcPts val="100"/>
              </a:spcBef>
            </a:pPr>
            <a:r>
              <a:rPr sz="1298" b="1" spc="-10" dirty="0">
                <a:solidFill>
                  <a:srgbClr val="1D3A5E"/>
                </a:solidFill>
                <a:latin typeface="Calibri"/>
                <a:cs typeface="Calibri"/>
              </a:rPr>
              <a:t>SCENARIO:</a:t>
            </a:r>
            <a:r>
              <a:rPr sz="1298" b="1" spc="-35" dirty="0">
                <a:solidFill>
                  <a:srgbClr val="1D3A5E"/>
                </a:solidFill>
                <a:latin typeface="Calibri"/>
                <a:cs typeface="Calibri"/>
              </a:rPr>
              <a:t> </a:t>
            </a:r>
            <a:r>
              <a:rPr sz="1298" spc="-40" dirty="0">
                <a:solidFill>
                  <a:srgbClr val="202020"/>
                </a:solidFill>
                <a:latin typeface="Calibri"/>
                <a:cs typeface="Calibri"/>
              </a:rPr>
              <a:t>You</a:t>
            </a:r>
            <a:r>
              <a:rPr sz="1298" spc="-30" dirty="0">
                <a:solidFill>
                  <a:srgbClr val="202020"/>
                </a:solidFill>
                <a:latin typeface="Calibri"/>
                <a:cs typeface="Calibri"/>
              </a:rPr>
              <a:t> </a:t>
            </a:r>
            <a:r>
              <a:rPr sz="1298" dirty="0">
                <a:solidFill>
                  <a:srgbClr val="202020"/>
                </a:solidFill>
                <a:latin typeface="Calibri"/>
                <a:cs typeface="Calibri"/>
              </a:rPr>
              <a:t>are</a:t>
            </a:r>
            <a:r>
              <a:rPr sz="1298" spc="-30" dirty="0">
                <a:solidFill>
                  <a:srgbClr val="202020"/>
                </a:solidFill>
                <a:latin typeface="Calibri"/>
                <a:cs typeface="Calibri"/>
              </a:rPr>
              <a:t> </a:t>
            </a:r>
            <a:r>
              <a:rPr sz="1298" spc="-10" dirty="0">
                <a:solidFill>
                  <a:srgbClr val="202020"/>
                </a:solidFill>
                <a:latin typeface="Calibri"/>
                <a:cs typeface="Calibri"/>
              </a:rPr>
              <a:t>designing</a:t>
            </a:r>
            <a:r>
              <a:rPr sz="1298" spc="-30" dirty="0">
                <a:solidFill>
                  <a:srgbClr val="202020"/>
                </a:solidFill>
                <a:latin typeface="Calibri"/>
                <a:cs typeface="Calibri"/>
              </a:rPr>
              <a:t> </a:t>
            </a:r>
            <a:r>
              <a:rPr sz="1298" spc="-10" dirty="0">
                <a:solidFill>
                  <a:srgbClr val="202020"/>
                </a:solidFill>
                <a:latin typeface="Calibri"/>
                <a:cs typeface="Calibri"/>
              </a:rPr>
              <a:t>tables</a:t>
            </a:r>
            <a:r>
              <a:rPr sz="1298" spc="-25" dirty="0">
                <a:solidFill>
                  <a:srgbClr val="202020"/>
                </a:solidFill>
                <a:latin typeface="Calibri"/>
                <a:cs typeface="Calibri"/>
              </a:rPr>
              <a:t> </a:t>
            </a:r>
            <a:r>
              <a:rPr sz="1298" dirty="0">
                <a:solidFill>
                  <a:srgbClr val="202020"/>
                </a:solidFill>
                <a:latin typeface="Calibri"/>
                <a:cs typeface="Calibri"/>
              </a:rPr>
              <a:t>for</a:t>
            </a:r>
            <a:r>
              <a:rPr sz="1298" spc="-30" dirty="0">
                <a:solidFill>
                  <a:srgbClr val="202020"/>
                </a:solidFill>
                <a:latin typeface="Calibri"/>
                <a:cs typeface="Calibri"/>
              </a:rPr>
              <a:t> </a:t>
            </a:r>
            <a:r>
              <a:rPr sz="1298" spc="-10" dirty="0">
                <a:solidFill>
                  <a:srgbClr val="202020"/>
                </a:solidFill>
                <a:latin typeface="Calibri"/>
                <a:cs typeface="Calibri"/>
              </a:rPr>
              <a:t>Zomato</a:t>
            </a:r>
            <a:r>
              <a:rPr sz="1298" spc="-30" dirty="0">
                <a:solidFill>
                  <a:srgbClr val="202020"/>
                </a:solidFill>
                <a:latin typeface="Calibri"/>
                <a:cs typeface="Calibri"/>
              </a:rPr>
              <a:t> </a:t>
            </a:r>
            <a:r>
              <a:rPr sz="1298" dirty="0">
                <a:solidFill>
                  <a:srgbClr val="202020"/>
                </a:solidFill>
                <a:latin typeface="Calibri"/>
                <a:cs typeface="Calibri"/>
              </a:rPr>
              <a:t>from</a:t>
            </a:r>
            <a:r>
              <a:rPr sz="1298" spc="-30" dirty="0">
                <a:solidFill>
                  <a:srgbClr val="202020"/>
                </a:solidFill>
                <a:latin typeface="Calibri"/>
                <a:cs typeface="Calibri"/>
              </a:rPr>
              <a:t> </a:t>
            </a:r>
            <a:r>
              <a:rPr sz="1298" spc="-10" dirty="0">
                <a:solidFill>
                  <a:srgbClr val="202020"/>
                </a:solidFill>
                <a:latin typeface="Calibri"/>
                <a:cs typeface="Calibri"/>
              </a:rPr>
              <a:t>scratch.</a:t>
            </a:r>
            <a:r>
              <a:rPr sz="1298" spc="-30" dirty="0">
                <a:solidFill>
                  <a:srgbClr val="202020"/>
                </a:solidFill>
                <a:latin typeface="Calibri"/>
                <a:cs typeface="Calibri"/>
              </a:rPr>
              <a:t> </a:t>
            </a:r>
            <a:r>
              <a:rPr sz="1298" spc="-10" dirty="0">
                <a:solidFill>
                  <a:srgbClr val="202020"/>
                </a:solidFill>
                <a:latin typeface="Calibri"/>
                <a:cs typeface="Calibri"/>
              </a:rPr>
              <a:t>Millions</a:t>
            </a:r>
            <a:r>
              <a:rPr sz="1298" spc="-25" dirty="0">
                <a:solidFill>
                  <a:srgbClr val="202020"/>
                </a:solidFill>
                <a:latin typeface="Calibri"/>
                <a:cs typeface="Calibri"/>
              </a:rPr>
              <a:t> </a:t>
            </a:r>
            <a:r>
              <a:rPr sz="1298" dirty="0">
                <a:solidFill>
                  <a:srgbClr val="202020"/>
                </a:solidFill>
                <a:latin typeface="Calibri"/>
                <a:cs typeface="Calibri"/>
              </a:rPr>
              <a:t>of</a:t>
            </a:r>
            <a:r>
              <a:rPr sz="1298" spc="-30" dirty="0">
                <a:solidFill>
                  <a:srgbClr val="202020"/>
                </a:solidFill>
                <a:latin typeface="Calibri"/>
                <a:cs typeface="Calibri"/>
              </a:rPr>
              <a:t> </a:t>
            </a:r>
            <a:r>
              <a:rPr sz="1298" spc="-10" dirty="0">
                <a:solidFill>
                  <a:srgbClr val="202020"/>
                </a:solidFill>
                <a:latin typeface="Calibri"/>
                <a:cs typeface="Calibri"/>
              </a:rPr>
              <a:t>orders</a:t>
            </a:r>
            <a:r>
              <a:rPr sz="1298" spc="-30" dirty="0">
                <a:solidFill>
                  <a:srgbClr val="202020"/>
                </a:solidFill>
                <a:latin typeface="Calibri"/>
                <a:cs typeface="Calibri"/>
              </a:rPr>
              <a:t> </a:t>
            </a:r>
            <a:r>
              <a:rPr sz="1298" dirty="0">
                <a:solidFill>
                  <a:srgbClr val="202020"/>
                </a:solidFill>
                <a:latin typeface="Calibri"/>
                <a:cs typeface="Calibri"/>
              </a:rPr>
              <a:t>per</a:t>
            </a:r>
            <a:r>
              <a:rPr sz="1298" spc="-30" dirty="0">
                <a:solidFill>
                  <a:srgbClr val="202020"/>
                </a:solidFill>
                <a:latin typeface="Calibri"/>
                <a:cs typeface="Calibri"/>
              </a:rPr>
              <a:t> </a:t>
            </a:r>
            <a:r>
              <a:rPr sz="1298" dirty="0">
                <a:solidFill>
                  <a:srgbClr val="202020"/>
                </a:solidFill>
                <a:latin typeface="Calibri"/>
                <a:cs typeface="Calibri"/>
              </a:rPr>
              <a:t>day</a:t>
            </a:r>
            <a:r>
              <a:rPr sz="1298" spc="-25" dirty="0">
                <a:solidFill>
                  <a:srgbClr val="202020"/>
                </a:solidFill>
                <a:latin typeface="Calibri"/>
                <a:cs typeface="Calibri"/>
              </a:rPr>
              <a:t> </a:t>
            </a:r>
            <a:r>
              <a:rPr sz="1298" dirty="0">
                <a:solidFill>
                  <a:srgbClr val="202020"/>
                </a:solidFill>
                <a:latin typeface="Calibri"/>
                <a:cs typeface="Calibri"/>
              </a:rPr>
              <a:t>-</a:t>
            </a:r>
            <a:r>
              <a:rPr sz="1298" spc="-30" dirty="0">
                <a:solidFill>
                  <a:srgbClr val="202020"/>
                </a:solidFill>
                <a:latin typeface="Calibri"/>
                <a:cs typeface="Calibri"/>
              </a:rPr>
              <a:t> </a:t>
            </a:r>
            <a:r>
              <a:rPr sz="1298" dirty="0">
                <a:solidFill>
                  <a:srgbClr val="202020"/>
                </a:solidFill>
                <a:latin typeface="Calibri"/>
                <a:cs typeface="Calibri"/>
              </a:rPr>
              <a:t>every</a:t>
            </a:r>
            <a:r>
              <a:rPr sz="1298" spc="-30" dirty="0">
                <a:solidFill>
                  <a:srgbClr val="202020"/>
                </a:solidFill>
                <a:latin typeface="Calibri"/>
                <a:cs typeface="Calibri"/>
              </a:rPr>
              <a:t> </a:t>
            </a:r>
            <a:r>
              <a:rPr sz="1298" dirty="0">
                <a:solidFill>
                  <a:srgbClr val="202020"/>
                </a:solidFill>
                <a:latin typeface="Calibri"/>
                <a:cs typeface="Calibri"/>
              </a:rPr>
              <a:t>wrong</a:t>
            </a:r>
            <a:r>
              <a:rPr sz="1298" spc="-30" dirty="0">
                <a:solidFill>
                  <a:srgbClr val="202020"/>
                </a:solidFill>
                <a:latin typeface="Calibri"/>
                <a:cs typeface="Calibri"/>
              </a:rPr>
              <a:t> </a:t>
            </a:r>
            <a:r>
              <a:rPr sz="1298" dirty="0">
                <a:solidFill>
                  <a:srgbClr val="202020"/>
                </a:solidFill>
                <a:latin typeface="Calibri"/>
                <a:cs typeface="Calibri"/>
              </a:rPr>
              <a:t>type</a:t>
            </a:r>
            <a:r>
              <a:rPr sz="1298" spc="-30" dirty="0">
                <a:solidFill>
                  <a:srgbClr val="202020"/>
                </a:solidFill>
                <a:latin typeface="Calibri"/>
                <a:cs typeface="Calibri"/>
              </a:rPr>
              <a:t> </a:t>
            </a:r>
            <a:r>
              <a:rPr sz="1298" spc="-10" dirty="0">
                <a:solidFill>
                  <a:srgbClr val="202020"/>
                </a:solidFill>
                <a:latin typeface="Calibri"/>
                <a:cs typeface="Calibri"/>
              </a:rPr>
              <a:t>haunts</a:t>
            </a:r>
            <a:r>
              <a:rPr sz="1298" spc="-25" dirty="0">
                <a:solidFill>
                  <a:srgbClr val="202020"/>
                </a:solidFill>
                <a:latin typeface="Calibri"/>
                <a:cs typeface="Calibri"/>
              </a:rPr>
              <a:t> </a:t>
            </a:r>
            <a:r>
              <a:rPr sz="1298" dirty="0">
                <a:solidFill>
                  <a:srgbClr val="202020"/>
                </a:solidFill>
                <a:latin typeface="Calibri"/>
                <a:cs typeface="Calibri"/>
              </a:rPr>
              <a:t>you</a:t>
            </a:r>
            <a:r>
              <a:rPr sz="1298" spc="-30" dirty="0">
                <a:solidFill>
                  <a:srgbClr val="202020"/>
                </a:solidFill>
                <a:latin typeface="Calibri"/>
                <a:cs typeface="Calibri"/>
              </a:rPr>
              <a:t> </a:t>
            </a:r>
            <a:r>
              <a:rPr sz="1298" spc="-25" dirty="0">
                <a:solidFill>
                  <a:srgbClr val="202020"/>
                </a:solidFill>
                <a:latin typeface="Calibri"/>
                <a:cs typeface="Calibri"/>
              </a:rPr>
              <a:t>at </a:t>
            </a:r>
            <a:r>
              <a:rPr sz="1298" dirty="0">
                <a:solidFill>
                  <a:srgbClr val="202020"/>
                </a:solidFill>
                <a:latin typeface="Calibri"/>
                <a:cs typeface="Calibri"/>
              </a:rPr>
              <a:t>scale.</a:t>
            </a:r>
            <a:r>
              <a:rPr sz="1298" spc="-60" dirty="0">
                <a:solidFill>
                  <a:srgbClr val="202020"/>
                </a:solidFill>
                <a:latin typeface="Calibri"/>
                <a:cs typeface="Calibri"/>
              </a:rPr>
              <a:t> </a:t>
            </a:r>
            <a:r>
              <a:rPr sz="1298" dirty="0">
                <a:solidFill>
                  <a:srgbClr val="202020"/>
                </a:solidFill>
                <a:latin typeface="Calibri"/>
                <a:cs typeface="Calibri"/>
              </a:rPr>
              <a:t>Choose</a:t>
            </a:r>
            <a:r>
              <a:rPr sz="1298" spc="-60" dirty="0">
                <a:solidFill>
                  <a:srgbClr val="202020"/>
                </a:solidFill>
                <a:latin typeface="Calibri"/>
                <a:cs typeface="Calibri"/>
              </a:rPr>
              <a:t> </a:t>
            </a:r>
            <a:r>
              <a:rPr sz="1298" dirty="0">
                <a:solidFill>
                  <a:srgbClr val="202020"/>
                </a:solidFill>
                <a:latin typeface="Calibri"/>
                <a:cs typeface="Calibri"/>
              </a:rPr>
              <a:t>types</a:t>
            </a:r>
            <a:r>
              <a:rPr sz="1298" spc="-55" dirty="0">
                <a:solidFill>
                  <a:srgbClr val="202020"/>
                </a:solidFill>
                <a:latin typeface="Calibri"/>
                <a:cs typeface="Calibri"/>
              </a:rPr>
              <a:t> </a:t>
            </a:r>
            <a:r>
              <a:rPr sz="1298" spc="-10" dirty="0">
                <a:solidFill>
                  <a:srgbClr val="202020"/>
                </a:solidFill>
                <a:latin typeface="Calibri"/>
                <a:cs typeface="Calibri"/>
              </a:rPr>
              <a:t>deliberately.</a:t>
            </a:r>
            <a:endParaRPr sz="1298">
              <a:latin typeface="Calibri"/>
              <a:cs typeface="Calibri"/>
            </a:endParaRPr>
          </a:p>
          <a:p>
            <a:pPr marL="12685">
              <a:spcBef>
                <a:spcPts val="884"/>
              </a:spcBef>
            </a:pPr>
            <a:r>
              <a:rPr sz="1298" b="1" spc="-10" dirty="0">
                <a:solidFill>
                  <a:srgbClr val="1D3A5E"/>
                </a:solidFill>
                <a:latin typeface="Calibri"/>
                <a:cs typeface="Calibri"/>
              </a:rPr>
              <a:t>YOUR</a:t>
            </a:r>
            <a:r>
              <a:rPr sz="1298" b="1" spc="-40" dirty="0">
                <a:solidFill>
                  <a:srgbClr val="1D3A5E"/>
                </a:solidFill>
                <a:latin typeface="Calibri"/>
                <a:cs typeface="Calibri"/>
              </a:rPr>
              <a:t> </a:t>
            </a:r>
            <a:r>
              <a:rPr sz="1298" b="1" spc="-20" dirty="0">
                <a:solidFill>
                  <a:srgbClr val="1D3A5E"/>
                </a:solidFill>
                <a:latin typeface="Calibri"/>
                <a:cs typeface="Calibri"/>
              </a:rPr>
              <a:t>TASK:</a:t>
            </a:r>
            <a:r>
              <a:rPr sz="1298" b="1" spc="-40" dirty="0">
                <a:solidFill>
                  <a:srgbClr val="1D3A5E"/>
                </a:solidFill>
                <a:latin typeface="Calibri"/>
                <a:cs typeface="Calibri"/>
              </a:rPr>
              <a:t> </a:t>
            </a:r>
            <a:r>
              <a:rPr sz="1298" spc="-10" dirty="0">
                <a:solidFill>
                  <a:srgbClr val="202020"/>
                </a:solidFill>
                <a:latin typeface="Calibri"/>
                <a:cs typeface="Calibri"/>
              </a:rPr>
              <a:t>Create</a:t>
            </a:r>
            <a:r>
              <a:rPr sz="1298" spc="-35" dirty="0">
                <a:solidFill>
                  <a:srgbClr val="202020"/>
                </a:solidFill>
                <a:latin typeface="Calibri"/>
                <a:cs typeface="Calibri"/>
              </a:rPr>
              <a:t> </a:t>
            </a:r>
            <a:r>
              <a:rPr sz="1298" dirty="0">
                <a:solidFill>
                  <a:srgbClr val="202020"/>
                </a:solidFill>
                <a:latin typeface="Calibri"/>
                <a:cs typeface="Calibri"/>
              </a:rPr>
              <a:t>these</a:t>
            </a:r>
            <a:r>
              <a:rPr sz="1298" spc="-40" dirty="0">
                <a:solidFill>
                  <a:srgbClr val="202020"/>
                </a:solidFill>
                <a:latin typeface="Calibri"/>
                <a:cs typeface="Calibri"/>
              </a:rPr>
              <a:t> </a:t>
            </a:r>
            <a:r>
              <a:rPr sz="1298" dirty="0">
                <a:solidFill>
                  <a:srgbClr val="202020"/>
                </a:solidFill>
                <a:latin typeface="Calibri"/>
                <a:cs typeface="Calibri"/>
              </a:rPr>
              <a:t>2</a:t>
            </a:r>
            <a:r>
              <a:rPr sz="1298" spc="-35" dirty="0">
                <a:solidFill>
                  <a:srgbClr val="202020"/>
                </a:solidFill>
                <a:latin typeface="Calibri"/>
                <a:cs typeface="Calibri"/>
              </a:rPr>
              <a:t> </a:t>
            </a:r>
            <a:r>
              <a:rPr sz="1298" spc="-10" dirty="0">
                <a:solidFill>
                  <a:srgbClr val="202020"/>
                </a:solidFill>
                <a:latin typeface="Calibri"/>
                <a:cs typeface="Calibri"/>
              </a:rPr>
              <a:t>tables</a:t>
            </a:r>
            <a:r>
              <a:rPr sz="1298" spc="-35" dirty="0">
                <a:solidFill>
                  <a:srgbClr val="202020"/>
                </a:solidFill>
                <a:latin typeface="Calibri"/>
                <a:cs typeface="Calibri"/>
              </a:rPr>
              <a:t> </a:t>
            </a:r>
            <a:r>
              <a:rPr sz="1298" dirty="0">
                <a:solidFill>
                  <a:srgbClr val="202020"/>
                </a:solidFill>
                <a:latin typeface="Calibri"/>
                <a:cs typeface="Calibri"/>
              </a:rPr>
              <a:t>in</a:t>
            </a:r>
            <a:r>
              <a:rPr sz="1298" spc="-35" dirty="0">
                <a:solidFill>
                  <a:srgbClr val="202020"/>
                </a:solidFill>
                <a:latin typeface="Calibri"/>
                <a:cs typeface="Calibri"/>
              </a:rPr>
              <a:t> </a:t>
            </a:r>
            <a:r>
              <a:rPr sz="1298" dirty="0">
                <a:solidFill>
                  <a:srgbClr val="202020"/>
                </a:solidFill>
                <a:latin typeface="Calibri"/>
                <a:cs typeface="Calibri"/>
              </a:rPr>
              <a:t>accio_NN</a:t>
            </a:r>
            <a:r>
              <a:rPr sz="1298" spc="-40" dirty="0">
                <a:solidFill>
                  <a:srgbClr val="202020"/>
                </a:solidFill>
                <a:latin typeface="Calibri"/>
                <a:cs typeface="Calibri"/>
              </a:rPr>
              <a:t> </a:t>
            </a:r>
            <a:r>
              <a:rPr sz="1298" dirty="0">
                <a:solidFill>
                  <a:srgbClr val="202020"/>
                </a:solidFill>
                <a:latin typeface="Calibri"/>
                <a:cs typeface="Calibri"/>
              </a:rPr>
              <a:t>with</a:t>
            </a:r>
            <a:r>
              <a:rPr sz="1298" spc="-35" dirty="0">
                <a:solidFill>
                  <a:srgbClr val="202020"/>
                </a:solidFill>
                <a:latin typeface="Calibri"/>
                <a:cs typeface="Calibri"/>
              </a:rPr>
              <a:t> </a:t>
            </a:r>
            <a:r>
              <a:rPr sz="1298" spc="-10" dirty="0">
                <a:solidFill>
                  <a:srgbClr val="202020"/>
                </a:solidFill>
                <a:latin typeface="Calibri"/>
                <a:cs typeface="Calibri"/>
              </a:rPr>
              <a:t>correct</a:t>
            </a:r>
            <a:r>
              <a:rPr sz="1298" spc="-35" dirty="0">
                <a:solidFill>
                  <a:srgbClr val="202020"/>
                </a:solidFill>
                <a:latin typeface="Calibri"/>
                <a:cs typeface="Calibri"/>
              </a:rPr>
              <a:t> </a:t>
            </a:r>
            <a:r>
              <a:rPr sz="1298" dirty="0">
                <a:solidFill>
                  <a:srgbClr val="202020"/>
                </a:solidFill>
                <a:latin typeface="Calibri"/>
                <a:cs typeface="Calibri"/>
              </a:rPr>
              <a:t>types</a:t>
            </a:r>
            <a:r>
              <a:rPr sz="1298" spc="-35" dirty="0">
                <a:solidFill>
                  <a:srgbClr val="202020"/>
                </a:solidFill>
                <a:latin typeface="Calibri"/>
                <a:cs typeface="Calibri"/>
              </a:rPr>
              <a:t> </a:t>
            </a:r>
            <a:r>
              <a:rPr sz="1298" dirty="0">
                <a:solidFill>
                  <a:srgbClr val="202020"/>
                </a:solidFill>
                <a:latin typeface="Calibri"/>
                <a:cs typeface="Calibri"/>
              </a:rPr>
              <a:t>and</a:t>
            </a:r>
            <a:r>
              <a:rPr sz="1298" spc="-40" dirty="0">
                <a:solidFill>
                  <a:srgbClr val="202020"/>
                </a:solidFill>
                <a:latin typeface="Calibri"/>
                <a:cs typeface="Calibri"/>
              </a:rPr>
              <a:t> </a:t>
            </a:r>
            <a:r>
              <a:rPr sz="1298" dirty="0">
                <a:solidFill>
                  <a:srgbClr val="202020"/>
                </a:solidFill>
                <a:latin typeface="Calibri"/>
                <a:cs typeface="Calibri"/>
              </a:rPr>
              <a:t>justify</a:t>
            </a:r>
            <a:r>
              <a:rPr sz="1298" spc="-35" dirty="0">
                <a:solidFill>
                  <a:srgbClr val="202020"/>
                </a:solidFill>
                <a:latin typeface="Calibri"/>
                <a:cs typeface="Calibri"/>
              </a:rPr>
              <a:t> </a:t>
            </a:r>
            <a:r>
              <a:rPr sz="1298" spc="-10" dirty="0">
                <a:solidFill>
                  <a:srgbClr val="202020"/>
                </a:solidFill>
                <a:latin typeface="Calibri"/>
                <a:cs typeface="Calibri"/>
              </a:rPr>
              <a:t>each:</a:t>
            </a:r>
            <a:endParaRPr sz="1298">
              <a:latin typeface="Calibri"/>
              <a:cs typeface="Calibri"/>
            </a:endParaRPr>
          </a:p>
          <a:p>
            <a:pPr marL="12685" marR="360881" indent="169342">
              <a:lnSpc>
                <a:spcPct val="120100"/>
              </a:lnSpc>
              <a:spcBef>
                <a:spcPts val="569"/>
              </a:spcBef>
              <a:buAutoNum type="alphaLcParenR"/>
              <a:tabLst>
                <a:tab pos="182026" algn="l"/>
              </a:tabLst>
            </a:pPr>
            <a:r>
              <a:rPr sz="1298" b="1" dirty="0">
                <a:solidFill>
                  <a:srgbClr val="1D3A5E"/>
                </a:solidFill>
                <a:latin typeface="Calibri"/>
                <a:cs typeface="Calibri"/>
              </a:rPr>
              <a:t>:</a:t>
            </a:r>
            <a:r>
              <a:rPr sz="1298" b="1" spc="-25" dirty="0">
                <a:solidFill>
                  <a:srgbClr val="1D3A5E"/>
                </a:solidFill>
                <a:latin typeface="Calibri"/>
                <a:cs typeface="Calibri"/>
              </a:rPr>
              <a:t> </a:t>
            </a:r>
            <a:r>
              <a:rPr sz="1298" spc="-20" dirty="0">
                <a:solidFill>
                  <a:srgbClr val="202020"/>
                </a:solidFill>
                <a:latin typeface="Calibri"/>
                <a:cs typeface="Calibri"/>
              </a:rPr>
              <a:t>restaurants</a:t>
            </a:r>
            <a:r>
              <a:rPr sz="1298" spc="-10" dirty="0">
                <a:solidFill>
                  <a:srgbClr val="202020"/>
                </a:solidFill>
                <a:latin typeface="Calibri"/>
                <a:cs typeface="Calibri"/>
              </a:rPr>
              <a:t> </a:t>
            </a:r>
            <a:r>
              <a:rPr sz="1298" dirty="0">
                <a:solidFill>
                  <a:srgbClr val="202020"/>
                </a:solidFill>
                <a:latin typeface="Calibri"/>
                <a:cs typeface="Calibri"/>
              </a:rPr>
              <a:t>-</a:t>
            </a:r>
            <a:r>
              <a:rPr sz="1298" spc="-15" dirty="0">
                <a:solidFill>
                  <a:srgbClr val="202020"/>
                </a:solidFill>
                <a:latin typeface="Calibri"/>
                <a:cs typeface="Calibri"/>
              </a:rPr>
              <a:t> </a:t>
            </a:r>
            <a:r>
              <a:rPr sz="1298" dirty="0">
                <a:solidFill>
                  <a:srgbClr val="202020"/>
                </a:solidFill>
                <a:latin typeface="Calibri"/>
                <a:cs typeface="Calibri"/>
              </a:rPr>
              <a:t>id,</a:t>
            </a:r>
            <a:r>
              <a:rPr sz="1298" spc="-10" dirty="0">
                <a:solidFill>
                  <a:srgbClr val="202020"/>
                </a:solidFill>
                <a:latin typeface="Calibri"/>
                <a:cs typeface="Calibri"/>
              </a:rPr>
              <a:t> </a:t>
            </a:r>
            <a:r>
              <a:rPr sz="1298" dirty="0">
                <a:solidFill>
                  <a:srgbClr val="202020"/>
                </a:solidFill>
                <a:latin typeface="Calibri"/>
                <a:cs typeface="Calibri"/>
              </a:rPr>
              <a:t>name,</a:t>
            </a:r>
            <a:r>
              <a:rPr sz="1298" spc="-15" dirty="0">
                <a:solidFill>
                  <a:srgbClr val="202020"/>
                </a:solidFill>
                <a:latin typeface="Calibri"/>
                <a:cs typeface="Calibri"/>
              </a:rPr>
              <a:t> </a:t>
            </a:r>
            <a:r>
              <a:rPr sz="1298" spc="-20" dirty="0">
                <a:solidFill>
                  <a:srgbClr val="202020"/>
                </a:solidFill>
                <a:latin typeface="Calibri"/>
                <a:cs typeface="Calibri"/>
              </a:rPr>
              <a:t>city,</a:t>
            </a:r>
            <a:r>
              <a:rPr sz="1298" spc="-10" dirty="0">
                <a:solidFill>
                  <a:srgbClr val="202020"/>
                </a:solidFill>
                <a:latin typeface="Calibri"/>
                <a:cs typeface="Calibri"/>
              </a:rPr>
              <a:t> latitude, longitude</a:t>
            </a:r>
            <a:r>
              <a:rPr sz="1298" spc="-15" dirty="0">
                <a:solidFill>
                  <a:srgbClr val="202020"/>
                </a:solidFill>
                <a:latin typeface="Calibri"/>
                <a:cs typeface="Calibri"/>
              </a:rPr>
              <a:t> </a:t>
            </a:r>
            <a:r>
              <a:rPr sz="1298" spc="-10" dirty="0">
                <a:solidFill>
                  <a:srgbClr val="202020"/>
                </a:solidFill>
                <a:latin typeface="Calibri"/>
                <a:cs typeface="Calibri"/>
              </a:rPr>
              <a:t>(28.6139 </a:t>
            </a:r>
            <a:r>
              <a:rPr sz="1298" dirty="0">
                <a:solidFill>
                  <a:srgbClr val="202020"/>
                </a:solidFill>
                <a:latin typeface="Calibri"/>
                <a:cs typeface="Calibri"/>
              </a:rPr>
              <a:t>needs</a:t>
            </a:r>
            <a:r>
              <a:rPr sz="1298" spc="-15" dirty="0">
                <a:solidFill>
                  <a:srgbClr val="202020"/>
                </a:solidFill>
                <a:latin typeface="Calibri"/>
                <a:cs typeface="Calibri"/>
              </a:rPr>
              <a:t> </a:t>
            </a:r>
            <a:r>
              <a:rPr sz="1298" spc="-10" dirty="0">
                <a:solidFill>
                  <a:srgbClr val="202020"/>
                </a:solidFill>
                <a:latin typeface="Calibri"/>
                <a:cs typeface="Calibri"/>
              </a:rPr>
              <a:t>decimals), </a:t>
            </a:r>
            <a:r>
              <a:rPr sz="1298" spc="-20" dirty="0">
                <a:solidFill>
                  <a:srgbClr val="202020"/>
                </a:solidFill>
                <a:latin typeface="Calibri"/>
                <a:cs typeface="Calibri"/>
              </a:rPr>
              <a:t>avg_rating</a:t>
            </a:r>
            <a:r>
              <a:rPr sz="1298" spc="-15" dirty="0">
                <a:solidFill>
                  <a:srgbClr val="202020"/>
                </a:solidFill>
                <a:latin typeface="Calibri"/>
                <a:cs typeface="Calibri"/>
              </a:rPr>
              <a:t> </a:t>
            </a:r>
            <a:r>
              <a:rPr sz="1298" dirty="0">
                <a:solidFill>
                  <a:srgbClr val="202020"/>
                </a:solidFill>
                <a:latin typeface="Calibri"/>
                <a:cs typeface="Calibri"/>
              </a:rPr>
              <a:t>(4.3</a:t>
            </a:r>
            <a:r>
              <a:rPr sz="1298" spc="-10" dirty="0">
                <a:solidFill>
                  <a:srgbClr val="202020"/>
                </a:solidFill>
                <a:latin typeface="Calibri"/>
                <a:cs typeface="Calibri"/>
              </a:rPr>
              <a:t> possible), is_pure_veg, opening_time,</a:t>
            </a:r>
            <a:r>
              <a:rPr sz="1298" spc="-5" dirty="0">
                <a:solidFill>
                  <a:srgbClr val="202020"/>
                </a:solidFill>
                <a:latin typeface="Calibri"/>
                <a:cs typeface="Calibri"/>
              </a:rPr>
              <a:t> </a:t>
            </a:r>
            <a:r>
              <a:rPr sz="1298" spc="-10" dirty="0">
                <a:solidFill>
                  <a:srgbClr val="202020"/>
                </a:solidFill>
                <a:latin typeface="Calibri"/>
                <a:cs typeface="Calibri"/>
              </a:rPr>
              <a:t>created_at.</a:t>
            </a:r>
            <a:endParaRPr sz="1298">
              <a:latin typeface="Calibri"/>
              <a:cs typeface="Calibri"/>
            </a:endParaRPr>
          </a:p>
          <a:p>
            <a:pPr marL="12685" marR="412888" indent="176318">
              <a:lnSpc>
                <a:spcPct val="120100"/>
              </a:lnSpc>
              <a:spcBef>
                <a:spcPts val="5"/>
              </a:spcBef>
              <a:buAutoNum type="alphaLcParenR"/>
              <a:tabLst>
                <a:tab pos="189003" algn="l"/>
              </a:tabLst>
            </a:pPr>
            <a:r>
              <a:rPr sz="1298" b="1" dirty="0">
                <a:solidFill>
                  <a:srgbClr val="1D3A5E"/>
                </a:solidFill>
                <a:latin typeface="Calibri"/>
                <a:cs typeface="Calibri"/>
              </a:rPr>
              <a:t>:</a:t>
            </a:r>
            <a:r>
              <a:rPr sz="1298" b="1" spc="-25" dirty="0">
                <a:solidFill>
                  <a:srgbClr val="1D3A5E"/>
                </a:solidFill>
                <a:latin typeface="Calibri"/>
                <a:cs typeface="Calibri"/>
              </a:rPr>
              <a:t> </a:t>
            </a:r>
            <a:r>
              <a:rPr sz="1298" spc="-10" dirty="0">
                <a:solidFill>
                  <a:srgbClr val="202020"/>
                </a:solidFill>
                <a:latin typeface="Calibri"/>
                <a:cs typeface="Calibri"/>
              </a:rPr>
              <a:t>menu_items</a:t>
            </a:r>
            <a:r>
              <a:rPr sz="1298" spc="-20" dirty="0">
                <a:solidFill>
                  <a:srgbClr val="202020"/>
                </a:solidFill>
                <a:latin typeface="Calibri"/>
                <a:cs typeface="Calibri"/>
              </a:rPr>
              <a:t> </a:t>
            </a:r>
            <a:r>
              <a:rPr sz="1298" dirty="0">
                <a:solidFill>
                  <a:srgbClr val="202020"/>
                </a:solidFill>
                <a:latin typeface="Calibri"/>
                <a:cs typeface="Calibri"/>
              </a:rPr>
              <a:t>-</a:t>
            </a:r>
            <a:r>
              <a:rPr sz="1298" spc="-20" dirty="0">
                <a:solidFill>
                  <a:srgbClr val="202020"/>
                </a:solidFill>
                <a:latin typeface="Calibri"/>
                <a:cs typeface="Calibri"/>
              </a:rPr>
              <a:t> </a:t>
            </a:r>
            <a:r>
              <a:rPr sz="1298" dirty="0">
                <a:solidFill>
                  <a:srgbClr val="202020"/>
                </a:solidFill>
                <a:latin typeface="Calibri"/>
                <a:cs typeface="Calibri"/>
              </a:rPr>
              <a:t>id,</a:t>
            </a:r>
            <a:r>
              <a:rPr sz="1298" spc="-20" dirty="0">
                <a:solidFill>
                  <a:srgbClr val="202020"/>
                </a:solidFill>
                <a:latin typeface="Calibri"/>
                <a:cs typeface="Calibri"/>
              </a:rPr>
              <a:t> restaurant_id,</a:t>
            </a:r>
            <a:r>
              <a:rPr sz="1298" spc="-25" dirty="0">
                <a:solidFill>
                  <a:srgbClr val="202020"/>
                </a:solidFill>
                <a:latin typeface="Calibri"/>
                <a:cs typeface="Calibri"/>
              </a:rPr>
              <a:t> </a:t>
            </a:r>
            <a:r>
              <a:rPr sz="1298" spc="-10" dirty="0">
                <a:solidFill>
                  <a:srgbClr val="202020"/>
                </a:solidFill>
                <a:latin typeface="Calibri"/>
                <a:cs typeface="Calibri"/>
              </a:rPr>
              <a:t>item_name,</a:t>
            </a:r>
            <a:r>
              <a:rPr sz="1298" spc="-20" dirty="0">
                <a:solidFill>
                  <a:srgbClr val="202020"/>
                </a:solidFill>
                <a:latin typeface="Calibri"/>
                <a:cs typeface="Calibri"/>
              </a:rPr>
              <a:t> </a:t>
            </a:r>
            <a:r>
              <a:rPr sz="1298" spc="-10" dirty="0">
                <a:solidFill>
                  <a:srgbClr val="202020"/>
                </a:solidFill>
                <a:latin typeface="Calibri"/>
                <a:cs typeface="Calibri"/>
              </a:rPr>
              <a:t>description</a:t>
            </a:r>
            <a:r>
              <a:rPr sz="1298" spc="-20" dirty="0">
                <a:solidFill>
                  <a:srgbClr val="202020"/>
                </a:solidFill>
                <a:latin typeface="Calibri"/>
                <a:cs typeface="Calibri"/>
              </a:rPr>
              <a:t> </a:t>
            </a:r>
            <a:r>
              <a:rPr sz="1298" dirty="0">
                <a:solidFill>
                  <a:srgbClr val="202020"/>
                </a:solidFill>
                <a:latin typeface="Calibri"/>
                <a:cs typeface="Calibri"/>
              </a:rPr>
              <a:t>(can</a:t>
            </a:r>
            <a:r>
              <a:rPr sz="1298" spc="-20" dirty="0">
                <a:solidFill>
                  <a:srgbClr val="202020"/>
                </a:solidFill>
                <a:latin typeface="Calibri"/>
                <a:cs typeface="Calibri"/>
              </a:rPr>
              <a:t> </a:t>
            </a:r>
            <a:r>
              <a:rPr sz="1298" dirty="0">
                <a:solidFill>
                  <a:srgbClr val="202020"/>
                </a:solidFill>
                <a:latin typeface="Calibri"/>
                <a:cs typeface="Calibri"/>
              </a:rPr>
              <a:t>be</a:t>
            </a:r>
            <a:r>
              <a:rPr sz="1298" spc="-25" dirty="0">
                <a:solidFill>
                  <a:srgbClr val="202020"/>
                </a:solidFill>
                <a:latin typeface="Calibri"/>
                <a:cs typeface="Calibri"/>
              </a:rPr>
              <a:t> </a:t>
            </a:r>
            <a:r>
              <a:rPr sz="1298" dirty="0">
                <a:solidFill>
                  <a:srgbClr val="202020"/>
                </a:solidFill>
                <a:latin typeface="Calibri"/>
                <a:cs typeface="Calibri"/>
              </a:rPr>
              <a:t>500</a:t>
            </a:r>
            <a:r>
              <a:rPr sz="1298" spc="-20" dirty="0">
                <a:solidFill>
                  <a:srgbClr val="202020"/>
                </a:solidFill>
                <a:latin typeface="Calibri"/>
                <a:cs typeface="Calibri"/>
              </a:rPr>
              <a:t> </a:t>
            </a:r>
            <a:r>
              <a:rPr sz="1298" spc="-10" dirty="0">
                <a:solidFill>
                  <a:srgbClr val="202020"/>
                </a:solidFill>
                <a:latin typeface="Calibri"/>
                <a:cs typeface="Calibri"/>
              </a:rPr>
              <a:t>words),</a:t>
            </a:r>
            <a:r>
              <a:rPr sz="1298" spc="-20" dirty="0">
                <a:solidFill>
                  <a:srgbClr val="202020"/>
                </a:solidFill>
                <a:latin typeface="Calibri"/>
                <a:cs typeface="Calibri"/>
              </a:rPr>
              <a:t> </a:t>
            </a:r>
            <a:r>
              <a:rPr sz="1298" dirty="0">
                <a:solidFill>
                  <a:srgbClr val="202020"/>
                </a:solidFill>
                <a:latin typeface="Calibri"/>
                <a:cs typeface="Calibri"/>
              </a:rPr>
              <a:t>price,</a:t>
            </a:r>
            <a:r>
              <a:rPr sz="1298" spc="-20" dirty="0">
                <a:solidFill>
                  <a:srgbClr val="202020"/>
                </a:solidFill>
                <a:latin typeface="Calibri"/>
                <a:cs typeface="Calibri"/>
              </a:rPr>
              <a:t> </a:t>
            </a:r>
            <a:r>
              <a:rPr sz="1298" dirty="0">
                <a:solidFill>
                  <a:srgbClr val="202020"/>
                </a:solidFill>
                <a:latin typeface="Calibri"/>
                <a:cs typeface="Calibri"/>
              </a:rPr>
              <a:t>is_veg,</a:t>
            </a:r>
            <a:r>
              <a:rPr sz="1298" spc="-25" dirty="0">
                <a:solidFill>
                  <a:srgbClr val="202020"/>
                </a:solidFill>
                <a:latin typeface="Calibri"/>
                <a:cs typeface="Calibri"/>
              </a:rPr>
              <a:t> </a:t>
            </a:r>
            <a:r>
              <a:rPr sz="1298" spc="-10" dirty="0">
                <a:solidFill>
                  <a:srgbClr val="202020"/>
                </a:solidFill>
                <a:latin typeface="Calibri"/>
                <a:cs typeface="Calibri"/>
              </a:rPr>
              <a:t>prep_time_minutes, calories.</a:t>
            </a:r>
            <a:endParaRPr sz="1298">
              <a:latin typeface="Calibri"/>
              <a:cs typeface="Calibri"/>
            </a:endParaRPr>
          </a:p>
          <a:p>
            <a:pPr marL="12685" marR="180124">
              <a:lnSpc>
                <a:spcPct val="120100"/>
              </a:lnSpc>
              <a:spcBef>
                <a:spcPts val="569"/>
              </a:spcBef>
            </a:pPr>
            <a:r>
              <a:rPr sz="1298" b="1" dirty="0">
                <a:solidFill>
                  <a:srgbClr val="1D3A5E"/>
                </a:solidFill>
                <a:latin typeface="Calibri"/>
                <a:cs typeface="Calibri"/>
              </a:rPr>
              <a:t>Hint:</a:t>
            </a:r>
            <a:r>
              <a:rPr sz="1298" b="1" spc="-20" dirty="0">
                <a:solidFill>
                  <a:srgbClr val="1D3A5E"/>
                </a:solidFill>
                <a:latin typeface="Calibri"/>
                <a:cs typeface="Calibri"/>
              </a:rPr>
              <a:t> </a:t>
            </a:r>
            <a:r>
              <a:rPr sz="1298" spc="-10" dirty="0">
                <a:solidFill>
                  <a:srgbClr val="202020"/>
                </a:solidFill>
                <a:latin typeface="Calibri"/>
                <a:cs typeface="Calibri"/>
              </a:rPr>
              <a:t>lat/long</a:t>
            </a:r>
            <a:r>
              <a:rPr sz="1298" spc="-20" dirty="0">
                <a:solidFill>
                  <a:srgbClr val="202020"/>
                </a:solidFill>
                <a:latin typeface="Calibri"/>
                <a:cs typeface="Calibri"/>
              </a:rPr>
              <a:t> </a:t>
            </a:r>
            <a:r>
              <a:rPr sz="1298" spc="-10" dirty="0">
                <a:solidFill>
                  <a:srgbClr val="202020"/>
                </a:solidFill>
                <a:latin typeface="Calibri"/>
                <a:cs typeface="Calibri"/>
              </a:rPr>
              <a:t>-</a:t>
            </a:r>
            <a:r>
              <a:rPr sz="1298" dirty="0">
                <a:solidFill>
                  <a:srgbClr val="202020"/>
                </a:solidFill>
                <a:latin typeface="Calibri"/>
                <a:cs typeface="Calibri"/>
              </a:rPr>
              <a:t>&gt;</a:t>
            </a:r>
            <a:r>
              <a:rPr sz="1298" spc="-20" dirty="0">
                <a:solidFill>
                  <a:srgbClr val="202020"/>
                </a:solidFill>
                <a:latin typeface="Calibri"/>
                <a:cs typeface="Calibri"/>
              </a:rPr>
              <a:t> </a:t>
            </a:r>
            <a:r>
              <a:rPr sz="1298" spc="-10" dirty="0">
                <a:solidFill>
                  <a:srgbClr val="202020"/>
                </a:solidFill>
                <a:latin typeface="Calibri"/>
                <a:cs typeface="Calibri"/>
              </a:rPr>
              <a:t>NUMERIC(9,6)</a:t>
            </a:r>
            <a:r>
              <a:rPr sz="1298" spc="-20" dirty="0">
                <a:solidFill>
                  <a:srgbClr val="202020"/>
                </a:solidFill>
                <a:latin typeface="Calibri"/>
                <a:cs typeface="Calibri"/>
              </a:rPr>
              <a:t> </a:t>
            </a:r>
            <a:r>
              <a:rPr sz="1298" dirty="0">
                <a:solidFill>
                  <a:srgbClr val="202020"/>
                </a:solidFill>
                <a:latin typeface="Calibri"/>
                <a:cs typeface="Calibri"/>
              </a:rPr>
              <a:t>(~11cm</a:t>
            </a:r>
            <a:r>
              <a:rPr sz="1298" spc="-15" dirty="0">
                <a:solidFill>
                  <a:srgbClr val="202020"/>
                </a:solidFill>
                <a:latin typeface="Calibri"/>
                <a:cs typeface="Calibri"/>
              </a:rPr>
              <a:t> </a:t>
            </a:r>
            <a:r>
              <a:rPr sz="1298" spc="-10" dirty="0">
                <a:solidFill>
                  <a:srgbClr val="202020"/>
                </a:solidFill>
                <a:latin typeface="Calibri"/>
                <a:cs typeface="Calibri"/>
              </a:rPr>
              <a:t>precision);</a:t>
            </a:r>
            <a:r>
              <a:rPr sz="1298" spc="-20" dirty="0">
                <a:solidFill>
                  <a:srgbClr val="202020"/>
                </a:solidFill>
                <a:latin typeface="Calibri"/>
                <a:cs typeface="Calibri"/>
              </a:rPr>
              <a:t> </a:t>
            </a:r>
            <a:r>
              <a:rPr sz="1298" spc="-10" dirty="0">
                <a:solidFill>
                  <a:srgbClr val="202020"/>
                </a:solidFill>
                <a:latin typeface="Calibri"/>
                <a:cs typeface="Calibri"/>
              </a:rPr>
              <a:t>rating</a:t>
            </a:r>
            <a:r>
              <a:rPr sz="1298" spc="-20" dirty="0">
                <a:solidFill>
                  <a:srgbClr val="202020"/>
                </a:solidFill>
                <a:latin typeface="Calibri"/>
                <a:cs typeface="Calibri"/>
              </a:rPr>
              <a:t> </a:t>
            </a:r>
            <a:r>
              <a:rPr sz="1298" spc="-10" dirty="0">
                <a:solidFill>
                  <a:srgbClr val="202020"/>
                </a:solidFill>
                <a:latin typeface="Calibri"/>
                <a:cs typeface="Calibri"/>
              </a:rPr>
              <a:t>-</a:t>
            </a:r>
            <a:r>
              <a:rPr sz="1298" dirty="0">
                <a:solidFill>
                  <a:srgbClr val="202020"/>
                </a:solidFill>
                <a:latin typeface="Calibri"/>
                <a:cs typeface="Calibri"/>
              </a:rPr>
              <a:t>&gt;</a:t>
            </a:r>
            <a:r>
              <a:rPr sz="1298" spc="-20" dirty="0">
                <a:solidFill>
                  <a:srgbClr val="202020"/>
                </a:solidFill>
                <a:latin typeface="Calibri"/>
                <a:cs typeface="Calibri"/>
              </a:rPr>
              <a:t> </a:t>
            </a:r>
            <a:r>
              <a:rPr sz="1298" spc="-10" dirty="0">
                <a:solidFill>
                  <a:srgbClr val="202020"/>
                </a:solidFill>
                <a:latin typeface="Calibri"/>
                <a:cs typeface="Calibri"/>
              </a:rPr>
              <a:t>NUMERIC(2,1);</a:t>
            </a:r>
            <a:r>
              <a:rPr sz="1298" spc="-15" dirty="0">
                <a:solidFill>
                  <a:srgbClr val="202020"/>
                </a:solidFill>
                <a:latin typeface="Calibri"/>
                <a:cs typeface="Calibri"/>
              </a:rPr>
              <a:t> </a:t>
            </a:r>
            <a:r>
              <a:rPr sz="1298" spc="-10" dirty="0">
                <a:solidFill>
                  <a:srgbClr val="202020"/>
                </a:solidFill>
                <a:latin typeface="Calibri"/>
                <a:cs typeface="Calibri"/>
              </a:rPr>
              <a:t>description</a:t>
            </a:r>
            <a:r>
              <a:rPr sz="1298" spc="-20" dirty="0">
                <a:solidFill>
                  <a:srgbClr val="202020"/>
                </a:solidFill>
                <a:latin typeface="Calibri"/>
                <a:cs typeface="Calibri"/>
              </a:rPr>
              <a:t> </a:t>
            </a:r>
            <a:r>
              <a:rPr sz="1298" spc="-10" dirty="0">
                <a:solidFill>
                  <a:srgbClr val="202020"/>
                </a:solidFill>
                <a:latin typeface="Calibri"/>
                <a:cs typeface="Calibri"/>
              </a:rPr>
              <a:t>-</a:t>
            </a:r>
            <a:r>
              <a:rPr sz="1298" dirty="0">
                <a:solidFill>
                  <a:srgbClr val="202020"/>
                </a:solidFill>
                <a:latin typeface="Calibri"/>
                <a:cs typeface="Calibri"/>
              </a:rPr>
              <a:t>&gt;</a:t>
            </a:r>
            <a:r>
              <a:rPr sz="1298" spc="-20" dirty="0">
                <a:solidFill>
                  <a:srgbClr val="202020"/>
                </a:solidFill>
                <a:latin typeface="Calibri"/>
                <a:cs typeface="Calibri"/>
              </a:rPr>
              <a:t> TEXT; </a:t>
            </a:r>
            <a:r>
              <a:rPr sz="1298" spc="-10" dirty="0">
                <a:solidFill>
                  <a:srgbClr val="202020"/>
                </a:solidFill>
                <a:latin typeface="Calibri"/>
                <a:cs typeface="Calibri"/>
              </a:rPr>
              <a:t>opening_time</a:t>
            </a:r>
            <a:r>
              <a:rPr sz="1298" spc="-20" dirty="0">
                <a:solidFill>
                  <a:srgbClr val="202020"/>
                </a:solidFill>
                <a:latin typeface="Calibri"/>
                <a:cs typeface="Calibri"/>
              </a:rPr>
              <a:t> </a:t>
            </a:r>
            <a:r>
              <a:rPr sz="1298" spc="-10" dirty="0">
                <a:solidFill>
                  <a:srgbClr val="202020"/>
                </a:solidFill>
                <a:latin typeface="Calibri"/>
                <a:cs typeface="Calibri"/>
              </a:rPr>
              <a:t>-</a:t>
            </a:r>
            <a:r>
              <a:rPr sz="1298" dirty="0">
                <a:solidFill>
                  <a:srgbClr val="202020"/>
                </a:solidFill>
                <a:latin typeface="Calibri"/>
                <a:cs typeface="Calibri"/>
              </a:rPr>
              <a:t>&gt;</a:t>
            </a:r>
            <a:r>
              <a:rPr sz="1298" spc="-15" dirty="0">
                <a:solidFill>
                  <a:srgbClr val="202020"/>
                </a:solidFill>
                <a:latin typeface="Calibri"/>
                <a:cs typeface="Calibri"/>
              </a:rPr>
              <a:t> </a:t>
            </a:r>
            <a:r>
              <a:rPr sz="1298" spc="-10" dirty="0">
                <a:solidFill>
                  <a:srgbClr val="202020"/>
                </a:solidFill>
                <a:latin typeface="Calibri"/>
                <a:cs typeface="Calibri"/>
              </a:rPr>
              <a:t>TIME; created_at</a:t>
            </a:r>
            <a:r>
              <a:rPr sz="1298" spc="-30" dirty="0">
                <a:solidFill>
                  <a:srgbClr val="202020"/>
                </a:solidFill>
                <a:latin typeface="Calibri"/>
                <a:cs typeface="Calibri"/>
              </a:rPr>
              <a:t> </a:t>
            </a:r>
            <a:r>
              <a:rPr sz="1298" spc="-10" dirty="0">
                <a:solidFill>
                  <a:srgbClr val="202020"/>
                </a:solidFill>
                <a:latin typeface="Calibri"/>
                <a:cs typeface="Calibri"/>
              </a:rPr>
              <a:t>-</a:t>
            </a:r>
            <a:r>
              <a:rPr sz="1298" dirty="0">
                <a:solidFill>
                  <a:srgbClr val="202020"/>
                </a:solidFill>
                <a:latin typeface="Calibri"/>
                <a:cs typeface="Calibri"/>
              </a:rPr>
              <a:t>&gt;</a:t>
            </a:r>
            <a:r>
              <a:rPr sz="1298" spc="-25" dirty="0">
                <a:solidFill>
                  <a:srgbClr val="202020"/>
                </a:solidFill>
                <a:latin typeface="Calibri"/>
                <a:cs typeface="Calibri"/>
              </a:rPr>
              <a:t> </a:t>
            </a:r>
            <a:r>
              <a:rPr sz="1298" spc="-10" dirty="0">
                <a:solidFill>
                  <a:srgbClr val="202020"/>
                </a:solidFill>
                <a:latin typeface="Calibri"/>
                <a:cs typeface="Calibri"/>
              </a:rPr>
              <a:t>TIMESTAMPTZ.</a:t>
            </a:r>
            <a:endParaRPr sz="1298">
              <a:latin typeface="Calibri"/>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638" y="3"/>
            <a:ext cx="9132725" cy="5137792"/>
          </a:xfrm>
          <a:custGeom>
            <a:avLst/>
            <a:gdLst/>
            <a:ahLst/>
            <a:cxnLst/>
            <a:rect l="l" t="t" r="r" b="b"/>
            <a:pathLst>
              <a:path w="9144000" h="5144135">
                <a:moveTo>
                  <a:pt x="9144000" y="0"/>
                </a:moveTo>
                <a:lnTo>
                  <a:pt x="0" y="0"/>
                </a:lnTo>
                <a:lnTo>
                  <a:pt x="0" y="5143677"/>
                </a:lnTo>
                <a:lnTo>
                  <a:pt x="9144000" y="5143677"/>
                </a:lnTo>
                <a:lnTo>
                  <a:pt x="9144000" y="0"/>
                </a:lnTo>
                <a:close/>
              </a:path>
            </a:pathLst>
          </a:custGeom>
          <a:solidFill>
            <a:srgbClr val="1D1D1D"/>
          </a:solidFill>
        </p:spPr>
        <p:txBody>
          <a:bodyPr wrap="square" lIns="0" tIns="0" rIns="0" bIns="0" rtlCol="0"/>
          <a:lstStyle/>
          <a:p>
            <a:endParaRPr sz="1798"/>
          </a:p>
        </p:txBody>
      </p:sp>
      <p:sp>
        <p:nvSpPr>
          <p:cNvPr id="3" name="object 3"/>
          <p:cNvSpPr/>
          <p:nvPr/>
        </p:nvSpPr>
        <p:spPr>
          <a:xfrm>
            <a:off x="5283" y="4839990"/>
            <a:ext cx="9132725" cy="296814"/>
          </a:xfrm>
          <a:custGeom>
            <a:avLst/>
            <a:gdLst/>
            <a:ahLst/>
            <a:cxnLst/>
            <a:rect l="l" t="t" r="r" b="b"/>
            <a:pathLst>
              <a:path w="9144000" h="297179">
                <a:moveTo>
                  <a:pt x="9143631" y="0"/>
                </a:moveTo>
                <a:lnTo>
                  <a:pt x="0" y="0"/>
                </a:lnTo>
                <a:lnTo>
                  <a:pt x="0" y="296989"/>
                </a:lnTo>
                <a:lnTo>
                  <a:pt x="4572000" y="296989"/>
                </a:lnTo>
                <a:lnTo>
                  <a:pt x="9143631" y="296989"/>
                </a:lnTo>
                <a:lnTo>
                  <a:pt x="9143631" y="0"/>
                </a:lnTo>
                <a:close/>
              </a:path>
            </a:pathLst>
          </a:custGeom>
          <a:solidFill>
            <a:srgbClr val="333333"/>
          </a:solidFill>
        </p:spPr>
        <p:txBody>
          <a:bodyPr wrap="square" lIns="0" tIns="0" rIns="0" bIns="0" rtlCol="0"/>
          <a:lstStyle/>
          <a:p>
            <a:endParaRPr sz="1798"/>
          </a:p>
        </p:txBody>
      </p:sp>
      <p:sp>
        <p:nvSpPr>
          <p:cNvPr id="4" name="object 4"/>
          <p:cNvSpPr/>
          <p:nvPr/>
        </p:nvSpPr>
        <p:spPr>
          <a:xfrm>
            <a:off x="5283" y="-353"/>
            <a:ext cx="9132725" cy="54543"/>
          </a:xfrm>
          <a:custGeom>
            <a:avLst/>
            <a:gdLst/>
            <a:ahLst/>
            <a:cxnLst/>
            <a:rect l="l" t="t" r="r" b="b"/>
            <a:pathLst>
              <a:path w="9144000" h="54610">
                <a:moveTo>
                  <a:pt x="9143631" y="0"/>
                </a:moveTo>
                <a:lnTo>
                  <a:pt x="0" y="0"/>
                </a:lnTo>
                <a:lnTo>
                  <a:pt x="0" y="54355"/>
                </a:lnTo>
                <a:lnTo>
                  <a:pt x="4572000" y="54355"/>
                </a:lnTo>
                <a:lnTo>
                  <a:pt x="9143631" y="54355"/>
                </a:lnTo>
                <a:lnTo>
                  <a:pt x="9143631" y="0"/>
                </a:lnTo>
                <a:close/>
              </a:path>
            </a:pathLst>
          </a:custGeom>
          <a:solidFill>
            <a:srgbClr val="F44236"/>
          </a:solidFill>
        </p:spPr>
        <p:txBody>
          <a:bodyPr wrap="square" lIns="0" tIns="0" rIns="0" bIns="0" rtlCol="0"/>
          <a:lstStyle/>
          <a:p>
            <a:endParaRPr sz="1798"/>
          </a:p>
        </p:txBody>
      </p:sp>
      <p:sp>
        <p:nvSpPr>
          <p:cNvPr id="5" name="object 5"/>
          <p:cNvSpPr/>
          <p:nvPr/>
        </p:nvSpPr>
        <p:spPr>
          <a:xfrm>
            <a:off x="7311462" y="136637"/>
            <a:ext cx="1461236" cy="365309"/>
          </a:xfrm>
          <a:custGeom>
            <a:avLst/>
            <a:gdLst/>
            <a:ahLst/>
            <a:cxnLst/>
            <a:rect l="l" t="t" r="r" b="b"/>
            <a:pathLst>
              <a:path w="1463040" h="365759">
                <a:moveTo>
                  <a:pt x="1462671" y="0"/>
                </a:moveTo>
                <a:lnTo>
                  <a:pt x="0" y="0"/>
                </a:lnTo>
                <a:lnTo>
                  <a:pt x="0" y="365391"/>
                </a:lnTo>
                <a:lnTo>
                  <a:pt x="731520" y="365391"/>
                </a:lnTo>
                <a:lnTo>
                  <a:pt x="1462671" y="365391"/>
                </a:lnTo>
                <a:lnTo>
                  <a:pt x="1462671" y="0"/>
                </a:lnTo>
                <a:close/>
              </a:path>
            </a:pathLst>
          </a:custGeom>
          <a:solidFill>
            <a:srgbClr val="F44236"/>
          </a:solidFill>
        </p:spPr>
        <p:txBody>
          <a:bodyPr wrap="square" lIns="0" tIns="0" rIns="0" bIns="0" rtlCol="0"/>
          <a:lstStyle/>
          <a:p>
            <a:endParaRPr sz="1798"/>
          </a:p>
        </p:txBody>
      </p:sp>
      <p:sp>
        <p:nvSpPr>
          <p:cNvPr id="6" name="object 6"/>
          <p:cNvSpPr txBox="1"/>
          <p:nvPr/>
        </p:nvSpPr>
        <p:spPr>
          <a:xfrm>
            <a:off x="7685650" y="187953"/>
            <a:ext cx="712226" cy="223183"/>
          </a:xfrm>
          <a:prstGeom prst="rect">
            <a:avLst/>
          </a:prstGeom>
        </p:spPr>
        <p:txBody>
          <a:bodyPr vert="horz" wrap="square" lIns="0" tIns="15855" rIns="0" bIns="0" rtlCol="0">
            <a:spAutoFit/>
          </a:bodyPr>
          <a:lstStyle/>
          <a:p>
            <a:pPr marL="12685">
              <a:spcBef>
                <a:spcPts val="125"/>
              </a:spcBef>
            </a:pPr>
            <a:r>
              <a:rPr sz="1348" spc="-155" dirty="0">
                <a:solidFill>
                  <a:srgbClr val="FFFFFF"/>
                </a:solidFill>
                <a:latin typeface="Segoe UI Symbol"/>
                <a:cs typeface="Segoe UI Symbol"/>
              </a:rPr>
              <a:t>✅</a:t>
            </a:r>
            <a:r>
              <a:rPr sz="1348" spc="-225" dirty="0">
                <a:solidFill>
                  <a:srgbClr val="FFFFFF"/>
                </a:solidFill>
                <a:latin typeface="Segoe UI Symbol"/>
                <a:cs typeface="Segoe UI Symbol"/>
              </a:rPr>
              <a:t> </a:t>
            </a:r>
            <a:r>
              <a:rPr sz="1099" b="1" spc="-10" dirty="0">
                <a:solidFill>
                  <a:srgbClr val="FFFFFF"/>
                </a:solidFill>
                <a:latin typeface="Calibri"/>
                <a:cs typeface="Calibri"/>
              </a:rPr>
              <a:t>ANSWER</a:t>
            </a:r>
            <a:endParaRPr sz="1099">
              <a:latin typeface="Calibri"/>
              <a:cs typeface="Calibri"/>
            </a:endParaRPr>
          </a:p>
        </p:txBody>
      </p:sp>
      <p:sp>
        <p:nvSpPr>
          <p:cNvPr id="7" name="object 7" descr="$PPTXTitle"/>
          <p:cNvSpPr txBox="1">
            <a:spLocks noGrp="1"/>
          </p:cNvSpPr>
          <p:nvPr>
            <p:ph type="title"/>
          </p:nvPr>
        </p:nvSpPr>
        <p:spPr>
          <a:xfrm>
            <a:off x="357907" y="180766"/>
            <a:ext cx="818140" cy="257766"/>
          </a:xfrm>
          <a:prstGeom prst="rect">
            <a:avLst/>
          </a:prstGeom>
        </p:spPr>
        <p:txBody>
          <a:bodyPr vert="horz" wrap="square" lIns="0" tIns="12050" rIns="0" bIns="0" rtlCol="0">
            <a:spAutoFit/>
          </a:bodyPr>
          <a:lstStyle/>
          <a:p>
            <a:pPr marL="12685">
              <a:spcBef>
                <a:spcPts val="95"/>
              </a:spcBef>
            </a:pPr>
            <a:r>
              <a:rPr spc="-10" dirty="0">
                <a:latin typeface="Georgia"/>
                <a:cs typeface="Georgia"/>
              </a:rPr>
              <a:t>Answer</a:t>
            </a:r>
          </a:p>
        </p:txBody>
      </p:sp>
      <p:sp>
        <p:nvSpPr>
          <p:cNvPr id="8" name="object 8"/>
          <p:cNvSpPr txBox="1"/>
          <p:nvPr/>
        </p:nvSpPr>
        <p:spPr>
          <a:xfrm>
            <a:off x="356461" y="625393"/>
            <a:ext cx="2689714" cy="346847"/>
          </a:xfrm>
          <a:prstGeom prst="rect">
            <a:avLst/>
          </a:prstGeom>
        </p:spPr>
        <p:txBody>
          <a:bodyPr vert="horz" wrap="square" lIns="0" tIns="12684" rIns="0" bIns="0" rtlCol="0">
            <a:spAutoFit/>
          </a:bodyPr>
          <a:lstStyle/>
          <a:p>
            <a:pPr marL="164268" marR="5074" indent="-152217">
              <a:lnSpc>
                <a:spcPct val="110100"/>
              </a:lnSpc>
              <a:spcBef>
                <a:spcPts val="100"/>
              </a:spcBef>
            </a:pPr>
            <a:r>
              <a:rPr sz="999" dirty="0">
                <a:solidFill>
                  <a:srgbClr val="D3D3D3"/>
                </a:solidFill>
                <a:latin typeface="Courier New"/>
                <a:cs typeface="Courier New"/>
              </a:rPr>
              <a:t>CREATE</a:t>
            </a:r>
            <a:r>
              <a:rPr sz="999" spc="-50" dirty="0">
                <a:solidFill>
                  <a:srgbClr val="D3D3D3"/>
                </a:solidFill>
                <a:latin typeface="Courier New"/>
                <a:cs typeface="Courier New"/>
              </a:rPr>
              <a:t> </a:t>
            </a:r>
            <a:r>
              <a:rPr sz="999" dirty="0">
                <a:solidFill>
                  <a:srgbClr val="D3D3D3"/>
                </a:solidFill>
                <a:latin typeface="Courier New"/>
                <a:cs typeface="Courier New"/>
              </a:rPr>
              <a:t>TABLE</a:t>
            </a:r>
            <a:r>
              <a:rPr sz="999" spc="-45" dirty="0">
                <a:solidFill>
                  <a:srgbClr val="D3D3D3"/>
                </a:solidFill>
                <a:latin typeface="Courier New"/>
                <a:cs typeface="Courier New"/>
              </a:rPr>
              <a:t> </a:t>
            </a:r>
            <a:r>
              <a:rPr sz="999" dirty="0">
                <a:solidFill>
                  <a:srgbClr val="D3D3D3"/>
                </a:solidFill>
                <a:latin typeface="Courier New"/>
                <a:cs typeface="Courier New"/>
              </a:rPr>
              <a:t>public.restaurants</a:t>
            </a:r>
            <a:r>
              <a:rPr sz="999" spc="-45" dirty="0">
                <a:solidFill>
                  <a:srgbClr val="D3D3D3"/>
                </a:solidFill>
                <a:latin typeface="Courier New"/>
                <a:cs typeface="Courier New"/>
              </a:rPr>
              <a:t> </a:t>
            </a:r>
            <a:r>
              <a:rPr sz="999" spc="-50" dirty="0">
                <a:solidFill>
                  <a:srgbClr val="D3D3D3"/>
                </a:solidFill>
                <a:latin typeface="Courier New"/>
                <a:cs typeface="Courier New"/>
              </a:rPr>
              <a:t>( </a:t>
            </a:r>
            <a:r>
              <a:rPr sz="999" dirty="0">
                <a:solidFill>
                  <a:srgbClr val="D3D3D3"/>
                </a:solidFill>
                <a:latin typeface="Courier New"/>
                <a:cs typeface="Courier New"/>
              </a:rPr>
              <a:t>restaurant_id</a:t>
            </a:r>
            <a:r>
              <a:rPr sz="999" spc="-45" dirty="0">
                <a:solidFill>
                  <a:srgbClr val="D3D3D3"/>
                </a:solidFill>
                <a:latin typeface="Courier New"/>
                <a:cs typeface="Courier New"/>
              </a:rPr>
              <a:t> </a:t>
            </a:r>
            <a:r>
              <a:rPr sz="999" dirty="0">
                <a:solidFill>
                  <a:srgbClr val="D3D3D3"/>
                </a:solidFill>
                <a:latin typeface="Courier New"/>
                <a:cs typeface="Courier New"/>
              </a:rPr>
              <a:t>SERIAL</a:t>
            </a:r>
            <a:r>
              <a:rPr sz="999" spc="-45" dirty="0">
                <a:solidFill>
                  <a:srgbClr val="D3D3D3"/>
                </a:solidFill>
                <a:latin typeface="Courier New"/>
                <a:cs typeface="Courier New"/>
              </a:rPr>
              <a:t> </a:t>
            </a:r>
            <a:r>
              <a:rPr sz="999" dirty="0">
                <a:solidFill>
                  <a:srgbClr val="D3D3D3"/>
                </a:solidFill>
                <a:latin typeface="Courier New"/>
                <a:cs typeface="Courier New"/>
              </a:rPr>
              <a:t>PRIMARY</a:t>
            </a:r>
            <a:r>
              <a:rPr sz="999" spc="-40" dirty="0">
                <a:solidFill>
                  <a:srgbClr val="D3D3D3"/>
                </a:solidFill>
                <a:latin typeface="Courier New"/>
                <a:cs typeface="Courier New"/>
              </a:rPr>
              <a:t> </a:t>
            </a:r>
            <a:r>
              <a:rPr sz="999" spc="-20" dirty="0">
                <a:solidFill>
                  <a:srgbClr val="D3D3D3"/>
                </a:solidFill>
                <a:latin typeface="Courier New"/>
                <a:cs typeface="Courier New"/>
              </a:rPr>
              <a:t>KEY,</a:t>
            </a:r>
            <a:endParaRPr sz="999">
              <a:latin typeface="Courier New"/>
              <a:cs typeface="Courier New"/>
            </a:endParaRPr>
          </a:p>
        </p:txBody>
      </p:sp>
      <p:sp>
        <p:nvSpPr>
          <p:cNvPr id="9" name="object 9"/>
          <p:cNvSpPr txBox="1"/>
          <p:nvPr/>
        </p:nvSpPr>
        <p:spPr>
          <a:xfrm>
            <a:off x="3019740" y="1310851"/>
            <a:ext cx="1395912" cy="166379"/>
          </a:xfrm>
          <a:prstGeom prst="rect">
            <a:avLst/>
          </a:prstGeom>
        </p:spPr>
        <p:txBody>
          <a:bodyPr vert="horz" wrap="square" lIns="0" tIns="12684" rIns="0" bIns="0" rtlCol="0">
            <a:spAutoFit/>
          </a:bodyPr>
          <a:lstStyle/>
          <a:p>
            <a:pPr marL="12685">
              <a:spcBef>
                <a:spcPts val="100"/>
              </a:spcBef>
            </a:pPr>
            <a:r>
              <a:rPr sz="999" spc="-10" dirty="0">
                <a:solidFill>
                  <a:srgbClr val="D3D3D3"/>
                </a:solidFill>
                <a:latin typeface="Courier New"/>
                <a:cs typeface="Courier New"/>
              </a:rPr>
              <a:t>-</a:t>
            </a:r>
            <a:r>
              <a:rPr sz="999" dirty="0">
                <a:solidFill>
                  <a:srgbClr val="D3D3D3"/>
                </a:solidFill>
                <a:latin typeface="Courier New"/>
                <a:cs typeface="Courier New"/>
              </a:rPr>
              <a:t>-</a:t>
            </a:r>
            <a:r>
              <a:rPr sz="999" spc="-15" dirty="0">
                <a:solidFill>
                  <a:srgbClr val="D3D3D3"/>
                </a:solidFill>
                <a:latin typeface="Courier New"/>
                <a:cs typeface="Courier New"/>
              </a:rPr>
              <a:t> </a:t>
            </a:r>
            <a:r>
              <a:rPr sz="999" dirty="0">
                <a:solidFill>
                  <a:srgbClr val="D3D3D3"/>
                </a:solidFill>
                <a:latin typeface="Courier New"/>
                <a:cs typeface="Courier New"/>
              </a:rPr>
              <a:t>~11cm</a:t>
            </a:r>
            <a:r>
              <a:rPr sz="999" spc="-10" dirty="0">
                <a:solidFill>
                  <a:srgbClr val="D3D3D3"/>
                </a:solidFill>
                <a:latin typeface="Courier New"/>
                <a:cs typeface="Courier New"/>
              </a:rPr>
              <a:t> precision</a:t>
            </a:r>
            <a:endParaRPr sz="999">
              <a:latin typeface="Courier New"/>
              <a:cs typeface="Courier New"/>
            </a:endParaRPr>
          </a:p>
        </p:txBody>
      </p:sp>
      <p:sp>
        <p:nvSpPr>
          <p:cNvPr id="10" name="object 10"/>
          <p:cNvSpPr txBox="1"/>
          <p:nvPr/>
        </p:nvSpPr>
        <p:spPr>
          <a:xfrm>
            <a:off x="3019740" y="1645960"/>
            <a:ext cx="1700336" cy="166379"/>
          </a:xfrm>
          <a:prstGeom prst="rect">
            <a:avLst/>
          </a:prstGeom>
        </p:spPr>
        <p:txBody>
          <a:bodyPr vert="horz" wrap="square" lIns="0" tIns="12684" rIns="0" bIns="0" rtlCol="0">
            <a:spAutoFit/>
          </a:bodyPr>
          <a:lstStyle/>
          <a:p>
            <a:pPr marL="12685">
              <a:spcBef>
                <a:spcPts val="100"/>
              </a:spcBef>
            </a:pPr>
            <a:r>
              <a:rPr sz="999" spc="-10" dirty="0">
                <a:solidFill>
                  <a:srgbClr val="D3D3D3"/>
                </a:solidFill>
                <a:latin typeface="Courier New"/>
                <a:cs typeface="Courier New"/>
              </a:rPr>
              <a:t>-</a:t>
            </a:r>
            <a:r>
              <a:rPr sz="999" dirty="0">
                <a:solidFill>
                  <a:srgbClr val="D3D3D3"/>
                </a:solidFill>
                <a:latin typeface="Courier New"/>
                <a:cs typeface="Courier New"/>
              </a:rPr>
              <a:t>-</a:t>
            </a:r>
            <a:r>
              <a:rPr sz="999" spc="-15" dirty="0">
                <a:solidFill>
                  <a:srgbClr val="D3D3D3"/>
                </a:solidFill>
                <a:latin typeface="Courier New"/>
                <a:cs typeface="Courier New"/>
              </a:rPr>
              <a:t> </a:t>
            </a:r>
            <a:r>
              <a:rPr sz="999" dirty="0">
                <a:solidFill>
                  <a:srgbClr val="D3D3D3"/>
                </a:solidFill>
                <a:latin typeface="Courier New"/>
                <a:cs typeface="Courier New"/>
              </a:rPr>
              <a:t>4.3</a:t>
            </a:r>
            <a:r>
              <a:rPr sz="999" spc="-15" dirty="0">
                <a:solidFill>
                  <a:srgbClr val="D3D3D3"/>
                </a:solidFill>
                <a:latin typeface="Courier New"/>
                <a:cs typeface="Courier New"/>
              </a:rPr>
              <a:t> </a:t>
            </a:r>
            <a:r>
              <a:rPr sz="999" dirty="0">
                <a:solidFill>
                  <a:srgbClr val="D3D3D3"/>
                </a:solidFill>
                <a:latin typeface="Courier New"/>
                <a:cs typeface="Courier New"/>
              </a:rPr>
              <a:t>ok,</a:t>
            </a:r>
            <a:r>
              <a:rPr sz="999" spc="-15" dirty="0">
                <a:solidFill>
                  <a:srgbClr val="D3D3D3"/>
                </a:solidFill>
                <a:latin typeface="Courier New"/>
                <a:cs typeface="Courier New"/>
              </a:rPr>
              <a:t> </a:t>
            </a:r>
            <a:r>
              <a:rPr sz="999" dirty="0">
                <a:solidFill>
                  <a:srgbClr val="D3D3D3"/>
                </a:solidFill>
                <a:latin typeface="Courier New"/>
                <a:cs typeface="Courier New"/>
              </a:rPr>
              <a:t>blocks</a:t>
            </a:r>
            <a:r>
              <a:rPr sz="999" spc="-15" dirty="0">
                <a:solidFill>
                  <a:srgbClr val="D3D3D3"/>
                </a:solidFill>
                <a:latin typeface="Courier New"/>
                <a:cs typeface="Courier New"/>
              </a:rPr>
              <a:t> </a:t>
            </a:r>
            <a:r>
              <a:rPr sz="999" spc="-20" dirty="0">
                <a:solidFill>
                  <a:srgbClr val="D3D3D3"/>
                </a:solidFill>
                <a:latin typeface="Courier New"/>
                <a:cs typeface="Courier New"/>
              </a:rPr>
              <a:t>42.3</a:t>
            </a:r>
            <a:endParaRPr sz="999">
              <a:latin typeface="Courier New"/>
              <a:cs typeface="Courier New"/>
            </a:endParaRPr>
          </a:p>
        </p:txBody>
      </p:sp>
      <p:sp>
        <p:nvSpPr>
          <p:cNvPr id="11" name="object 11"/>
          <p:cNvSpPr txBox="1"/>
          <p:nvPr/>
        </p:nvSpPr>
        <p:spPr>
          <a:xfrm>
            <a:off x="1573873" y="960500"/>
            <a:ext cx="1015381" cy="1198670"/>
          </a:xfrm>
          <a:prstGeom prst="rect">
            <a:avLst/>
          </a:prstGeom>
        </p:spPr>
        <p:txBody>
          <a:bodyPr vert="horz" wrap="square" lIns="0" tIns="12684" rIns="0" bIns="0" rtlCol="0">
            <a:spAutoFit/>
          </a:bodyPr>
          <a:lstStyle/>
          <a:p>
            <a:pPr marL="12685" marR="5074">
              <a:lnSpc>
                <a:spcPct val="110100"/>
              </a:lnSpc>
              <a:spcBef>
                <a:spcPts val="100"/>
              </a:spcBef>
            </a:pPr>
            <a:r>
              <a:rPr sz="999" spc="-10" dirty="0">
                <a:solidFill>
                  <a:srgbClr val="D3D3D3"/>
                </a:solidFill>
                <a:latin typeface="Courier New"/>
                <a:cs typeface="Courier New"/>
              </a:rPr>
              <a:t>VARCHAR(150), VARCHAR(50), NUMERIC(9,6),</a:t>
            </a:r>
            <a:endParaRPr sz="999">
              <a:latin typeface="Courier New"/>
              <a:cs typeface="Courier New"/>
            </a:endParaRPr>
          </a:p>
          <a:p>
            <a:pPr marL="12685">
              <a:spcBef>
                <a:spcPts val="120"/>
              </a:spcBef>
            </a:pPr>
            <a:r>
              <a:rPr sz="999" spc="-10" dirty="0">
                <a:solidFill>
                  <a:srgbClr val="D3D3D3"/>
                </a:solidFill>
                <a:latin typeface="Courier New"/>
                <a:cs typeface="Courier New"/>
              </a:rPr>
              <a:t>NUMERIC(9,6),</a:t>
            </a:r>
            <a:endParaRPr sz="999">
              <a:latin typeface="Courier New"/>
              <a:cs typeface="Courier New"/>
            </a:endParaRPr>
          </a:p>
          <a:p>
            <a:pPr marL="12685" marR="5074">
              <a:lnSpc>
                <a:spcPct val="110100"/>
              </a:lnSpc>
            </a:pPr>
            <a:r>
              <a:rPr sz="999" spc="-10" dirty="0">
                <a:solidFill>
                  <a:srgbClr val="D3D3D3"/>
                </a:solidFill>
                <a:latin typeface="Courier New"/>
                <a:cs typeface="Courier New"/>
              </a:rPr>
              <a:t>NUMERIC(2,1), BOOLEAN, TIME,</a:t>
            </a:r>
            <a:endParaRPr sz="999">
              <a:latin typeface="Courier New"/>
              <a:cs typeface="Courier New"/>
            </a:endParaRPr>
          </a:p>
        </p:txBody>
      </p:sp>
      <p:sp>
        <p:nvSpPr>
          <p:cNvPr id="12" name="object 12"/>
          <p:cNvSpPr txBox="1"/>
          <p:nvPr/>
        </p:nvSpPr>
        <p:spPr>
          <a:xfrm>
            <a:off x="1573873" y="2148614"/>
            <a:ext cx="1928654" cy="166379"/>
          </a:xfrm>
          <a:prstGeom prst="rect">
            <a:avLst/>
          </a:prstGeom>
        </p:spPr>
        <p:txBody>
          <a:bodyPr vert="horz" wrap="square" lIns="0" tIns="12684" rIns="0" bIns="0" rtlCol="0">
            <a:spAutoFit/>
          </a:bodyPr>
          <a:lstStyle/>
          <a:p>
            <a:pPr marL="12685">
              <a:spcBef>
                <a:spcPts val="100"/>
              </a:spcBef>
            </a:pPr>
            <a:r>
              <a:rPr sz="999" dirty="0">
                <a:solidFill>
                  <a:srgbClr val="D3D3D3"/>
                </a:solidFill>
                <a:latin typeface="Courier New"/>
                <a:cs typeface="Courier New"/>
              </a:rPr>
              <a:t>TIMESTAMPTZ</a:t>
            </a:r>
            <a:r>
              <a:rPr sz="999" spc="-45" dirty="0">
                <a:solidFill>
                  <a:srgbClr val="D3D3D3"/>
                </a:solidFill>
                <a:latin typeface="Courier New"/>
                <a:cs typeface="Courier New"/>
              </a:rPr>
              <a:t> </a:t>
            </a:r>
            <a:r>
              <a:rPr sz="999" dirty="0">
                <a:solidFill>
                  <a:srgbClr val="D3D3D3"/>
                </a:solidFill>
                <a:latin typeface="Courier New"/>
                <a:cs typeface="Courier New"/>
              </a:rPr>
              <a:t>DEFAULT</a:t>
            </a:r>
            <a:r>
              <a:rPr sz="999" spc="-45" dirty="0">
                <a:solidFill>
                  <a:srgbClr val="D3D3D3"/>
                </a:solidFill>
                <a:latin typeface="Courier New"/>
                <a:cs typeface="Courier New"/>
              </a:rPr>
              <a:t> </a:t>
            </a:r>
            <a:r>
              <a:rPr sz="999" spc="-10" dirty="0">
                <a:solidFill>
                  <a:srgbClr val="D3D3D3"/>
                </a:solidFill>
                <a:latin typeface="Courier New"/>
                <a:cs typeface="Courier New"/>
              </a:rPr>
              <a:t>now()</a:t>
            </a:r>
            <a:endParaRPr sz="999">
              <a:latin typeface="Courier New"/>
              <a:cs typeface="Courier New"/>
            </a:endParaRPr>
          </a:p>
        </p:txBody>
      </p:sp>
      <p:sp>
        <p:nvSpPr>
          <p:cNvPr id="13" name="object 13"/>
          <p:cNvSpPr txBox="1"/>
          <p:nvPr/>
        </p:nvSpPr>
        <p:spPr>
          <a:xfrm>
            <a:off x="356461" y="960500"/>
            <a:ext cx="1091487" cy="1533537"/>
          </a:xfrm>
          <a:prstGeom prst="rect">
            <a:avLst/>
          </a:prstGeom>
        </p:spPr>
        <p:txBody>
          <a:bodyPr vert="horz" wrap="square" lIns="0" tIns="12684" rIns="0" bIns="0" rtlCol="0">
            <a:spAutoFit/>
          </a:bodyPr>
          <a:lstStyle/>
          <a:p>
            <a:pPr marL="164268" marR="233399">
              <a:lnSpc>
                <a:spcPct val="110100"/>
              </a:lnSpc>
              <a:spcBef>
                <a:spcPts val="100"/>
              </a:spcBef>
            </a:pPr>
            <a:r>
              <a:rPr sz="999" spc="-20" dirty="0">
                <a:solidFill>
                  <a:srgbClr val="D3D3D3"/>
                </a:solidFill>
                <a:latin typeface="Courier New"/>
                <a:cs typeface="Courier New"/>
              </a:rPr>
              <a:t>name</a:t>
            </a:r>
            <a:r>
              <a:rPr sz="999" spc="499" dirty="0">
                <a:solidFill>
                  <a:srgbClr val="D3D3D3"/>
                </a:solidFill>
                <a:latin typeface="Courier New"/>
                <a:cs typeface="Courier New"/>
              </a:rPr>
              <a:t> </a:t>
            </a:r>
            <a:r>
              <a:rPr sz="999" spc="-20" dirty="0">
                <a:solidFill>
                  <a:srgbClr val="D3D3D3"/>
                </a:solidFill>
                <a:latin typeface="Courier New"/>
                <a:cs typeface="Courier New"/>
              </a:rPr>
              <a:t>city </a:t>
            </a:r>
            <a:r>
              <a:rPr sz="999" spc="-10" dirty="0">
                <a:solidFill>
                  <a:srgbClr val="D3D3D3"/>
                </a:solidFill>
                <a:latin typeface="Courier New"/>
                <a:cs typeface="Courier New"/>
              </a:rPr>
              <a:t>latitude longitude</a:t>
            </a:r>
            <a:endParaRPr sz="999">
              <a:latin typeface="Courier New"/>
              <a:cs typeface="Courier New"/>
            </a:endParaRPr>
          </a:p>
          <a:p>
            <a:pPr marL="164268" marR="5074">
              <a:lnSpc>
                <a:spcPct val="110100"/>
              </a:lnSpc>
            </a:pPr>
            <a:r>
              <a:rPr sz="999" spc="-10" dirty="0">
                <a:solidFill>
                  <a:srgbClr val="D3D3D3"/>
                </a:solidFill>
                <a:latin typeface="Courier New"/>
                <a:cs typeface="Courier New"/>
              </a:rPr>
              <a:t>avg_rating is_pure_veg opening_time created_at</a:t>
            </a:r>
            <a:endParaRPr sz="999">
              <a:latin typeface="Courier New"/>
              <a:cs typeface="Courier New"/>
            </a:endParaRPr>
          </a:p>
          <a:p>
            <a:pPr marL="12685">
              <a:spcBef>
                <a:spcPts val="120"/>
              </a:spcBef>
            </a:pPr>
            <a:r>
              <a:rPr sz="999" spc="-25" dirty="0">
                <a:solidFill>
                  <a:srgbClr val="D3D3D3"/>
                </a:solidFill>
                <a:latin typeface="Courier New"/>
                <a:cs typeface="Courier New"/>
              </a:rPr>
              <a:t>);</a:t>
            </a:r>
            <a:endParaRPr sz="999">
              <a:latin typeface="Courier New"/>
              <a:cs typeface="Courier New"/>
            </a:endParaRPr>
          </a:p>
        </p:txBody>
      </p:sp>
      <p:sp>
        <p:nvSpPr>
          <p:cNvPr id="14" name="object 14"/>
          <p:cNvSpPr txBox="1"/>
          <p:nvPr/>
        </p:nvSpPr>
        <p:spPr>
          <a:xfrm>
            <a:off x="356460" y="2651270"/>
            <a:ext cx="2460762" cy="166379"/>
          </a:xfrm>
          <a:prstGeom prst="rect">
            <a:avLst/>
          </a:prstGeom>
        </p:spPr>
        <p:txBody>
          <a:bodyPr vert="horz" wrap="square" lIns="0" tIns="12684" rIns="0" bIns="0" rtlCol="0">
            <a:spAutoFit/>
          </a:bodyPr>
          <a:lstStyle/>
          <a:p>
            <a:pPr marL="12685">
              <a:spcBef>
                <a:spcPts val="100"/>
              </a:spcBef>
            </a:pPr>
            <a:r>
              <a:rPr sz="999" dirty="0">
                <a:solidFill>
                  <a:srgbClr val="D3D3D3"/>
                </a:solidFill>
                <a:latin typeface="Courier New"/>
                <a:cs typeface="Courier New"/>
              </a:rPr>
              <a:t>CREATE</a:t>
            </a:r>
            <a:r>
              <a:rPr sz="999" spc="-50" dirty="0">
                <a:solidFill>
                  <a:srgbClr val="D3D3D3"/>
                </a:solidFill>
                <a:latin typeface="Courier New"/>
                <a:cs typeface="Courier New"/>
              </a:rPr>
              <a:t> </a:t>
            </a:r>
            <a:r>
              <a:rPr sz="999" dirty="0">
                <a:solidFill>
                  <a:srgbClr val="D3D3D3"/>
                </a:solidFill>
                <a:latin typeface="Courier New"/>
                <a:cs typeface="Courier New"/>
              </a:rPr>
              <a:t>TABLE</a:t>
            </a:r>
            <a:r>
              <a:rPr sz="999" spc="-40" dirty="0">
                <a:solidFill>
                  <a:srgbClr val="D3D3D3"/>
                </a:solidFill>
                <a:latin typeface="Courier New"/>
                <a:cs typeface="Courier New"/>
              </a:rPr>
              <a:t> </a:t>
            </a:r>
            <a:r>
              <a:rPr sz="999" dirty="0">
                <a:solidFill>
                  <a:srgbClr val="D3D3D3"/>
                </a:solidFill>
                <a:latin typeface="Courier New"/>
                <a:cs typeface="Courier New"/>
              </a:rPr>
              <a:t>public.menu_items</a:t>
            </a:r>
            <a:r>
              <a:rPr sz="999" spc="-45" dirty="0">
                <a:solidFill>
                  <a:srgbClr val="D3D3D3"/>
                </a:solidFill>
                <a:latin typeface="Courier New"/>
                <a:cs typeface="Courier New"/>
              </a:rPr>
              <a:t> </a:t>
            </a:r>
            <a:r>
              <a:rPr sz="999" spc="-50" dirty="0">
                <a:solidFill>
                  <a:srgbClr val="D3D3D3"/>
                </a:solidFill>
                <a:latin typeface="Courier New"/>
                <a:cs typeface="Courier New"/>
              </a:rPr>
              <a:t>(</a:t>
            </a:r>
            <a:endParaRPr sz="999">
              <a:latin typeface="Courier New"/>
              <a:cs typeface="Courier New"/>
            </a:endParaRPr>
          </a:p>
        </p:txBody>
      </p:sp>
      <p:sp>
        <p:nvSpPr>
          <p:cNvPr id="15" name="object 15"/>
          <p:cNvSpPr txBox="1"/>
          <p:nvPr/>
        </p:nvSpPr>
        <p:spPr>
          <a:xfrm>
            <a:off x="1878226" y="2803586"/>
            <a:ext cx="1472018" cy="528303"/>
          </a:xfrm>
          <a:prstGeom prst="rect">
            <a:avLst/>
          </a:prstGeom>
        </p:spPr>
        <p:txBody>
          <a:bodyPr vert="horz" wrap="square" lIns="0" tIns="12684" rIns="0" bIns="0" rtlCol="0">
            <a:spAutoFit/>
          </a:bodyPr>
          <a:lstStyle/>
          <a:p>
            <a:pPr marL="12685" marR="5074">
              <a:lnSpc>
                <a:spcPct val="110100"/>
              </a:lnSpc>
              <a:spcBef>
                <a:spcPts val="100"/>
              </a:spcBef>
            </a:pPr>
            <a:r>
              <a:rPr sz="999" dirty="0">
                <a:solidFill>
                  <a:srgbClr val="D3D3D3"/>
                </a:solidFill>
                <a:latin typeface="Courier New"/>
                <a:cs typeface="Courier New"/>
              </a:rPr>
              <a:t>SERIAL</a:t>
            </a:r>
            <a:r>
              <a:rPr sz="999" spc="-45" dirty="0">
                <a:solidFill>
                  <a:srgbClr val="D3D3D3"/>
                </a:solidFill>
                <a:latin typeface="Courier New"/>
                <a:cs typeface="Courier New"/>
              </a:rPr>
              <a:t> </a:t>
            </a:r>
            <a:r>
              <a:rPr sz="999" dirty="0">
                <a:solidFill>
                  <a:srgbClr val="D3D3D3"/>
                </a:solidFill>
                <a:latin typeface="Courier New"/>
                <a:cs typeface="Courier New"/>
              </a:rPr>
              <a:t>PRIMARY</a:t>
            </a:r>
            <a:r>
              <a:rPr sz="999" spc="-30" dirty="0">
                <a:solidFill>
                  <a:srgbClr val="D3D3D3"/>
                </a:solidFill>
                <a:latin typeface="Courier New"/>
                <a:cs typeface="Courier New"/>
              </a:rPr>
              <a:t> </a:t>
            </a:r>
            <a:r>
              <a:rPr sz="999" spc="-20" dirty="0">
                <a:solidFill>
                  <a:srgbClr val="D3D3D3"/>
                </a:solidFill>
                <a:latin typeface="Courier New"/>
                <a:cs typeface="Courier New"/>
              </a:rPr>
              <a:t>KEY, INT,</a:t>
            </a:r>
            <a:endParaRPr sz="999">
              <a:latin typeface="Courier New"/>
              <a:cs typeface="Courier New"/>
            </a:endParaRPr>
          </a:p>
          <a:p>
            <a:pPr marL="12685">
              <a:spcBef>
                <a:spcPts val="120"/>
              </a:spcBef>
            </a:pPr>
            <a:r>
              <a:rPr sz="999" spc="-10" dirty="0">
                <a:solidFill>
                  <a:srgbClr val="D3D3D3"/>
                </a:solidFill>
                <a:latin typeface="Courier New"/>
                <a:cs typeface="Courier New"/>
              </a:rPr>
              <a:t>VARCHAR(120),</a:t>
            </a:r>
            <a:endParaRPr sz="999">
              <a:latin typeface="Courier New"/>
              <a:cs typeface="Courier New"/>
            </a:endParaRPr>
          </a:p>
        </p:txBody>
      </p:sp>
      <p:sp>
        <p:nvSpPr>
          <p:cNvPr id="16" name="object 16"/>
          <p:cNvSpPr txBox="1"/>
          <p:nvPr/>
        </p:nvSpPr>
        <p:spPr>
          <a:xfrm>
            <a:off x="3096019" y="3321484"/>
            <a:ext cx="1395912" cy="166379"/>
          </a:xfrm>
          <a:prstGeom prst="rect">
            <a:avLst/>
          </a:prstGeom>
        </p:spPr>
        <p:txBody>
          <a:bodyPr vert="horz" wrap="square" lIns="0" tIns="12684" rIns="0" bIns="0" rtlCol="0">
            <a:spAutoFit/>
          </a:bodyPr>
          <a:lstStyle/>
          <a:p>
            <a:pPr marL="12685">
              <a:spcBef>
                <a:spcPts val="100"/>
              </a:spcBef>
            </a:pPr>
            <a:r>
              <a:rPr sz="999" spc="-10" dirty="0">
                <a:solidFill>
                  <a:srgbClr val="D3D3D3"/>
                </a:solidFill>
                <a:latin typeface="Courier New"/>
                <a:cs typeface="Courier New"/>
              </a:rPr>
              <a:t>-</a:t>
            </a:r>
            <a:r>
              <a:rPr sz="999" dirty="0">
                <a:solidFill>
                  <a:srgbClr val="D3D3D3"/>
                </a:solidFill>
                <a:latin typeface="Courier New"/>
                <a:cs typeface="Courier New"/>
              </a:rPr>
              <a:t>-</a:t>
            </a:r>
            <a:r>
              <a:rPr sz="999" spc="-10" dirty="0">
                <a:solidFill>
                  <a:srgbClr val="D3D3D3"/>
                </a:solidFill>
                <a:latin typeface="Courier New"/>
                <a:cs typeface="Courier New"/>
              </a:rPr>
              <a:t> </a:t>
            </a:r>
            <a:r>
              <a:rPr sz="999" dirty="0">
                <a:solidFill>
                  <a:srgbClr val="D3D3D3"/>
                </a:solidFill>
                <a:latin typeface="Courier New"/>
                <a:cs typeface="Courier New"/>
              </a:rPr>
              <a:t>up</a:t>
            </a:r>
            <a:r>
              <a:rPr sz="999" spc="-10" dirty="0">
                <a:solidFill>
                  <a:srgbClr val="D3D3D3"/>
                </a:solidFill>
                <a:latin typeface="Courier New"/>
                <a:cs typeface="Courier New"/>
              </a:rPr>
              <a:t> </a:t>
            </a:r>
            <a:r>
              <a:rPr sz="999" dirty="0">
                <a:solidFill>
                  <a:srgbClr val="D3D3D3"/>
                </a:solidFill>
                <a:latin typeface="Courier New"/>
                <a:cs typeface="Courier New"/>
              </a:rPr>
              <a:t>to</a:t>
            </a:r>
            <a:r>
              <a:rPr sz="999" spc="-10" dirty="0">
                <a:solidFill>
                  <a:srgbClr val="D3D3D3"/>
                </a:solidFill>
                <a:latin typeface="Courier New"/>
                <a:cs typeface="Courier New"/>
              </a:rPr>
              <a:t> </a:t>
            </a:r>
            <a:r>
              <a:rPr sz="999" dirty="0">
                <a:solidFill>
                  <a:srgbClr val="D3D3D3"/>
                </a:solidFill>
                <a:latin typeface="Courier New"/>
                <a:cs typeface="Courier New"/>
              </a:rPr>
              <a:t>500</a:t>
            </a:r>
            <a:r>
              <a:rPr sz="999" spc="-5" dirty="0">
                <a:solidFill>
                  <a:srgbClr val="D3D3D3"/>
                </a:solidFill>
                <a:latin typeface="Courier New"/>
                <a:cs typeface="Courier New"/>
              </a:rPr>
              <a:t> </a:t>
            </a:r>
            <a:r>
              <a:rPr sz="999" spc="-20" dirty="0">
                <a:solidFill>
                  <a:srgbClr val="D3D3D3"/>
                </a:solidFill>
                <a:latin typeface="Courier New"/>
                <a:cs typeface="Courier New"/>
              </a:rPr>
              <a:t>words</a:t>
            </a:r>
            <a:endParaRPr sz="999">
              <a:latin typeface="Courier New"/>
              <a:cs typeface="Courier New"/>
            </a:endParaRPr>
          </a:p>
        </p:txBody>
      </p:sp>
      <p:sp>
        <p:nvSpPr>
          <p:cNvPr id="17" name="object 17"/>
          <p:cNvSpPr txBox="1"/>
          <p:nvPr/>
        </p:nvSpPr>
        <p:spPr>
          <a:xfrm>
            <a:off x="508637" y="2803586"/>
            <a:ext cx="1015381" cy="1031237"/>
          </a:xfrm>
          <a:prstGeom prst="rect">
            <a:avLst/>
          </a:prstGeom>
        </p:spPr>
        <p:txBody>
          <a:bodyPr vert="horz" wrap="square" lIns="0" tIns="12684" rIns="0" bIns="0" rtlCol="0">
            <a:spAutoFit/>
          </a:bodyPr>
          <a:lstStyle/>
          <a:p>
            <a:pPr marL="12685" marR="5074">
              <a:lnSpc>
                <a:spcPct val="110100"/>
              </a:lnSpc>
              <a:spcBef>
                <a:spcPts val="100"/>
              </a:spcBef>
            </a:pPr>
            <a:r>
              <a:rPr sz="999" spc="-10" dirty="0">
                <a:solidFill>
                  <a:srgbClr val="D3D3D3"/>
                </a:solidFill>
                <a:latin typeface="Courier New"/>
                <a:cs typeface="Courier New"/>
              </a:rPr>
              <a:t>item_id restaurant_id item_name description price</a:t>
            </a:r>
            <a:endParaRPr sz="999">
              <a:latin typeface="Courier New"/>
              <a:cs typeface="Courier New"/>
            </a:endParaRPr>
          </a:p>
          <a:p>
            <a:pPr marL="12685">
              <a:spcBef>
                <a:spcPts val="120"/>
              </a:spcBef>
            </a:pPr>
            <a:r>
              <a:rPr sz="999" spc="-10" dirty="0">
                <a:solidFill>
                  <a:srgbClr val="D3D3D3"/>
                </a:solidFill>
                <a:latin typeface="Courier New"/>
                <a:cs typeface="Courier New"/>
              </a:rPr>
              <a:t>is_veg</a:t>
            </a:r>
            <a:endParaRPr sz="999">
              <a:latin typeface="Courier New"/>
              <a:cs typeface="Courier New"/>
            </a:endParaRPr>
          </a:p>
        </p:txBody>
      </p:sp>
      <p:sp>
        <p:nvSpPr>
          <p:cNvPr id="18" name="object 18"/>
          <p:cNvSpPr txBox="1"/>
          <p:nvPr/>
        </p:nvSpPr>
        <p:spPr>
          <a:xfrm>
            <a:off x="1878226" y="3306242"/>
            <a:ext cx="1091487" cy="528303"/>
          </a:xfrm>
          <a:prstGeom prst="rect">
            <a:avLst/>
          </a:prstGeom>
        </p:spPr>
        <p:txBody>
          <a:bodyPr vert="horz" wrap="square" lIns="0" tIns="12684" rIns="0" bIns="0" rtlCol="0">
            <a:spAutoFit/>
          </a:bodyPr>
          <a:lstStyle/>
          <a:p>
            <a:pPr marL="12685" marR="5074">
              <a:lnSpc>
                <a:spcPct val="110100"/>
              </a:lnSpc>
              <a:spcBef>
                <a:spcPts val="100"/>
              </a:spcBef>
            </a:pPr>
            <a:r>
              <a:rPr sz="999" spc="-10" dirty="0">
                <a:solidFill>
                  <a:srgbClr val="D3D3D3"/>
                </a:solidFill>
                <a:latin typeface="Courier New"/>
                <a:cs typeface="Courier New"/>
              </a:rPr>
              <a:t>TEXT, NUMERIC(10,2), BOOLEAN,</a:t>
            </a:r>
            <a:endParaRPr sz="999">
              <a:latin typeface="Courier New"/>
              <a:cs typeface="Courier New"/>
            </a:endParaRPr>
          </a:p>
        </p:txBody>
      </p:sp>
      <p:sp>
        <p:nvSpPr>
          <p:cNvPr id="19" name="object 19"/>
          <p:cNvSpPr txBox="1"/>
          <p:nvPr/>
        </p:nvSpPr>
        <p:spPr>
          <a:xfrm>
            <a:off x="356461" y="3808883"/>
            <a:ext cx="1852548" cy="528303"/>
          </a:xfrm>
          <a:prstGeom prst="rect">
            <a:avLst/>
          </a:prstGeom>
        </p:spPr>
        <p:txBody>
          <a:bodyPr vert="horz" wrap="square" lIns="0" tIns="12684" rIns="0" bIns="0" rtlCol="0">
            <a:spAutoFit/>
          </a:bodyPr>
          <a:lstStyle/>
          <a:p>
            <a:pPr marL="164268" marR="5074">
              <a:lnSpc>
                <a:spcPct val="110100"/>
              </a:lnSpc>
              <a:spcBef>
                <a:spcPts val="100"/>
              </a:spcBef>
              <a:tabLst>
                <a:tab pos="1534222" algn="l"/>
              </a:tabLst>
            </a:pPr>
            <a:r>
              <a:rPr sz="999" dirty="0">
                <a:solidFill>
                  <a:srgbClr val="D3D3D3"/>
                </a:solidFill>
                <a:latin typeface="Courier New"/>
                <a:cs typeface="Courier New"/>
              </a:rPr>
              <a:t>prep_time_minutes</a:t>
            </a:r>
            <a:r>
              <a:rPr sz="999" spc="-85" dirty="0">
                <a:solidFill>
                  <a:srgbClr val="D3D3D3"/>
                </a:solidFill>
                <a:latin typeface="Courier New"/>
                <a:cs typeface="Courier New"/>
              </a:rPr>
              <a:t> </a:t>
            </a:r>
            <a:r>
              <a:rPr sz="999" spc="-20" dirty="0">
                <a:solidFill>
                  <a:srgbClr val="D3D3D3"/>
                </a:solidFill>
                <a:latin typeface="Courier New"/>
                <a:cs typeface="Courier New"/>
              </a:rPr>
              <a:t>INT, </a:t>
            </a:r>
            <a:r>
              <a:rPr sz="999" spc="-10" dirty="0">
                <a:solidFill>
                  <a:srgbClr val="D3D3D3"/>
                </a:solidFill>
                <a:latin typeface="Courier New"/>
                <a:cs typeface="Courier New"/>
              </a:rPr>
              <a:t>calories</a:t>
            </a:r>
            <a:r>
              <a:rPr sz="999" dirty="0">
                <a:solidFill>
                  <a:srgbClr val="D3D3D3"/>
                </a:solidFill>
                <a:latin typeface="Courier New"/>
                <a:cs typeface="Courier New"/>
              </a:rPr>
              <a:t>	</a:t>
            </a:r>
            <a:r>
              <a:rPr sz="999" spc="-25" dirty="0">
                <a:solidFill>
                  <a:srgbClr val="D3D3D3"/>
                </a:solidFill>
                <a:latin typeface="Courier New"/>
                <a:cs typeface="Courier New"/>
              </a:rPr>
              <a:t>INT</a:t>
            </a:r>
            <a:endParaRPr sz="999">
              <a:latin typeface="Courier New"/>
              <a:cs typeface="Courier New"/>
            </a:endParaRPr>
          </a:p>
          <a:p>
            <a:pPr marL="12685">
              <a:spcBef>
                <a:spcPts val="120"/>
              </a:spcBef>
            </a:pPr>
            <a:r>
              <a:rPr sz="999" spc="-25" dirty="0">
                <a:solidFill>
                  <a:srgbClr val="D3D3D3"/>
                </a:solidFill>
                <a:latin typeface="Courier New"/>
                <a:cs typeface="Courier New"/>
              </a:rPr>
              <a:t>);</a:t>
            </a:r>
            <a:endParaRPr sz="999">
              <a:latin typeface="Courier New"/>
              <a:cs typeface="Courier New"/>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638" y="-353"/>
            <a:ext cx="8766782" cy="5137158"/>
          </a:xfrm>
          <a:custGeom>
            <a:avLst/>
            <a:gdLst/>
            <a:ahLst/>
            <a:cxnLst/>
            <a:rect l="l" t="t" r="r" b="b"/>
            <a:pathLst>
              <a:path w="8777605" h="5143500">
                <a:moveTo>
                  <a:pt x="109435" y="0"/>
                </a:moveTo>
                <a:lnTo>
                  <a:pt x="0" y="0"/>
                </a:lnTo>
                <a:lnTo>
                  <a:pt x="0" y="5143309"/>
                </a:lnTo>
                <a:lnTo>
                  <a:pt x="54724" y="5143309"/>
                </a:lnTo>
                <a:lnTo>
                  <a:pt x="109435" y="5143309"/>
                </a:lnTo>
                <a:lnTo>
                  <a:pt x="109435" y="0"/>
                </a:lnTo>
                <a:close/>
              </a:path>
              <a:path w="8777605" h="5143500">
                <a:moveTo>
                  <a:pt x="8777516" y="183235"/>
                </a:moveTo>
                <a:lnTo>
                  <a:pt x="7589164" y="183235"/>
                </a:lnTo>
                <a:lnTo>
                  <a:pt x="7589164" y="594360"/>
                </a:lnTo>
                <a:lnTo>
                  <a:pt x="8183524" y="594360"/>
                </a:lnTo>
                <a:lnTo>
                  <a:pt x="8777516" y="594360"/>
                </a:lnTo>
                <a:lnTo>
                  <a:pt x="8777516" y="183235"/>
                </a:lnTo>
                <a:close/>
              </a:path>
            </a:pathLst>
          </a:custGeom>
          <a:solidFill>
            <a:srgbClr val="9C27AF"/>
          </a:solidFill>
        </p:spPr>
        <p:txBody>
          <a:bodyPr wrap="square" lIns="0" tIns="0" rIns="0" bIns="0" rtlCol="0"/>
          <a:lstStyle/>
          <a:p>
            <a:endParaRPr sz="1798"/>
          </a:p>
        </p:txBody>
      </p:sp>
      <p:sp>
        <p:nvSpPr>
          <p:cNvPr id="3" name="object 3" descr="$PPTXTitle"/>
          <p:cNvSpPr txBox="1">
            <a:spLocks noGrp="1"/>
          </p:cNvSpPr>
          <p:nvPr>
            <p:ph type="title"/>
          </p:nvPr>
        </p:nvSpPr>
        <p:spPr>
          <a:xfrm>
            <a:off x="5637" y="1"/>
            <a:ext cx="0" cy="1132848"/>
          </a:xfrm>
          <a:prstGeom prst="rect">
            <a:avLst/>
          </a:prstGeom>
        </p:spPr>
        <p:txBody>
          <a:bodyPr vert="horz" wrap="square" lIns="0" tIns="57992" rIns="0" bIns="0" rtlCol="0">
            <a:spAutoFit/>
          </a:bodyPr>
          <a:lstStyle/>
          <a:p>
            <a:pPr marL="7490351">
              <a:spcBef>
                <a:spcPts val="100"/>
              </a:spcBef>
            </a:pPr>
            <a:r>
              <a:rPr sz="1398" spc="-10" dirty="0">
                <a:solidFill>
                  <a:srgbClr val="FFFFFF"/>
                </a:solidFill>
              </a:rPr>
              <a:t>CRAZY</a:t>
            </a:r>
            <a:endParaRPr sz="1398"/>
          </a:p>
        </p:txBody>
      </p:sp>
      <p:sp>
        <p:nvSpPr>
          <p:cNvPr id="4" name="object 4"/>
          <p:cNvSpPr txBox="1"/>
          <p:nvPr/>
        </p:nvSpPr>
        <p:spPr>
          <a:xfrm>
            <a:off x="447788" y="716783"/>
            <a:ext cx="8102756" cy="2857782"/>
          </a:xfrm>
          <a:prstGeom prst="rect">
            <a:avLst/>
          </a:prstGeom>
        </p:spPr>
        <p:txBody>
          <a:bodyPr vert="horz" wrap="square" lIns="0" tIns="12684" rIns="0" bIns="0" rtlCol="0">
            <a:spAutoFit/>
          </a:bodyPr>
          <a:lstStyle/>
          <a:p>
            <a:pPr marL="12685" marR="5074">
              <a:lnSpc>
                <a:spcPct val="120100"/>
              </a:lnSpc>
              <a:spcBef>
                <a:spcPts val="100"/>
              </a:spcBef>
            </a:pPr>
            <a:r>
              <a:rPr sz="1298" b="1" spc="-10" dirty="0">
                <a:solidFill>
                  <a:srgbClr val="1D3A5E"/>
                </a:solidFill>
                <a:latin typeface="Calibri"/>
                <a:cs typeface="Calibri"/>
              </a:rPr>
              <a:t>SCENARIO:</a:t>
            </a:r>
            <a:r>
              <a:rPr sz="1298" b="1" spc="-40" dirty="0">
                <a:solidFill>
                  <a:srgbClr val="1D3A5E"/>
                </a:solidFill>
                <a:latin typeface="Calibri"/>
                <a:cs typeface="Calibri"/>
              </a:rPr>
              <a:t> </a:t>
            </a:r>
            <a:r>
              <a:rPr sz="1298" dirty="0">
                <a:solidFill>
                  <a:srgbClr val="202020"/>
                </a:solidFill>
                <a:latin typeface="Calibri"/>
                <a:cs typeface="Calibri"/>
              </a:rPr>
              <a:t>A</a:t>
            </a:r>
            <a:r>
              <a:rPr sz="1298" spc="-30" dirty="0">
                <a:solidFill>
                  <a:srgbClr val="202020"/>
                </a:solidFill>
                <a:latin typeface="Calibri"/>
                <a:cs typeface="Calibri"/>
              </a:rPr>
              <a:t> </a:t>
            </a:r>
            <a:r>
              <a:rPr sz="1298" dirty="0">
                <a:solidFill>
                  <a:srgbClr val="202020"/>
                </a:solidFill>
                <a:latin typeface="Calibri"/>
                <a:cs typeface="Calibri"/>
              </a:rPr>
              <a:t>real</a:t>
            </a:r>
            <a:r>
              <a:rPr sz="1298" spc="-30" dirty="0">
                <a:solidFill>
                  <a:srgbClr val="202020"/>
                </a:solidFill>
                <a:latin typeface="Calibri"/>
                <a:cs typeface="Calibri"/>
              </a:rPr>
              <a:t> </a:t>
            </a:r>
            <a:r>
              <a:rPr sz="1298" spc="-10" dirty="0">
                <a:solidFill>
                  <a:srgbClr val="202020"/>
                </a:solidFill>
                <a:latin typeface="Calibri"/>
                <a:cs typeface="Calibri"/>
              </a:rPr>
              <a:t>migration:</a:t>
            </a:r>
            <a:r>
              <a:rPr sz="1298" spc="-30" dirty="0">
                <a:solidFill>
                  <a:srgbClr val="202020"/>
                </a:solidFill>
                <a:latin typeface="Calibri"/>
                <a:cs typeface="Calibri"/>
              </a:rPr>
              <a:t> </a:t>
            </a:r>
            <a:r>
              <a:rPr sz="1298" dirty="0">
                <a:solidFill>
                  <a:srgbClr val="202020"/>
                </a:solidFill>
                <a:latin typeface="Calibri"/>
                <a:cs typeface="Calibri"/>
              </a:rPr>
              <a:t>a</a:t>
            </a:r>
            <a:r>
              <a:rPr sz="1298" spc="-30" dirty="0">
                <a:solidFill>
                  <a:srgbClr val="202020"/>
                </a:solidFill>
                <a:latin typeface="Calibri"/>
                <a:cs typeface="Calibri"/>
              </a:rPr>
              <a:t> </a:t>
            </a:r>
            <a:r>
              <a:rPr sz="1298" spc="-35" dirty="0">
                <a:solidFill>
                  <a:srgbClr val="202020"/>
                </a:solidFill>
                <a:latin typeface="Calibri"/>
                <a:cs typeface="Calibri"/>
              </a:rPr>
              <a:t>TEXT-</a:t>
            </a:r>
            <a:r>
              <a:rPr sz="1298" spc="-10" dirty="0">
                <a:solidFill>
                  <a:srgbClr val="202020"/>
                </a:solidFill>
                <a:latin typeface="Calibri"/>
                <a:cs typeface="Calibri"/>
              </a:rPr>
              <a:t>everything</a:t>
            </a:r>
            <a:r>
              <a:rPr sz="1298" spc="-30" dirty="0">
                <a:solidFill>
                  <a:srgbClr val="202020"/>
                </a:solidFill>
                <a:latin typeface="Calibri"/>
                <a:cs typeface="Calibri"/>
              </a:rPr>
              <a:t> </a:t>
            </a:r>
            <a:r>
              <a:rPr sz="1298" dirty="0">
                <a:solidFill>
                  <a:srgbClr val="202020"/>
                </a:solidFill>
                <a:latin typeface="Calibri"/>
                <a:cs typeface="Calibri"/>
              </a:rPr>
              <a:t>table</a:t>
            </a:r>
            <a:r>
              <a:rPr sz="1298" spc="-30" dirty="0">
                <a:solidFill>
                  <a:srgbClr val="202020"/>
                </a:solidFill>
                <a:latin typeface="Calibri"/>
                <a:cs typeface="Calibri"/>
              </a:rPr>
              <a:t> </a:t>
            </a:r>
            <a:r>
              <a:rPr sz="1298" spc="-10" dirty="0">
                <a:solidFill>
                  <a:srgbClr val="202020"/>
                </a:solidFill>
                <a:latin typeface="Calibri"/>
                <a:cs typeface="Calibri"/>
              </a:rPr>
              <a:t>already</a:t>
            </a:r>
            <a:r>
              <a:rPr sz="1298" spc="-30" dirty="0">
                <a:solidFill>
                  <a:srgbClr val="202020"/>
                </a:solidFill>
                <a:latin typeface="Calibri"/>
                <a:cs typeface="Calibri"/>
              </a:rPr>
              <a:t> </a:t>
            </a:r>
            <a:r>
              <a:rPr sz="1298" dirty="0">
                <a:solidFill>
                  <a:srgbClr val="202020"/>
                </a:solidFill>
                <a:latin typeface="Calibri"/>
                <a:cs typeface="Calibri"/>
              </a:rPr>
              <a:t>has</a:t>
            </a:r>
            <a:r>
              <a:rPr sz="1298" spc="-35" dirty="0">
                <a:solidFill>
                  <a:srgbClr val="202020"/>
                </a:solidFill>
                <a:latin typeface="Calibri"/>
                <a:cs typeface="Calibri"/>
              </a:rPr>
              <a:t> </a:t>
            </a:r>
            <a:r>
              <a:rPr sz="1298" dirty="0">
                <a:solidFill>
                  <a:srgbClr val="202020"/>
                </a:solidFill>
                <a:latin typeface="Calibri"/>
                <a:cs typeface="Calibri"/>
              </a:rPr>
              <a:t>data</a:t>
            </a:r>
            <a:r>
              <a:rPr sz="1298" spc="-30" dirty="0">
                <a:solidFill>
                  <a:srgbClr val="202020"/>
                </a:solidFill>
                <a:latin typeface="Calibri"/>
                <a:cs typeface="Calibri"/>
              </a:rPr>
              <a:t> </a:t>
            </a:r>
            <a:r>
              <a:rPr sz="1298" dirty="0">
                <a:solidFill>
                  <a:srgbClr val="202020"/>
                </a:solidFill>
                <a:latin typeface="Calibri"/>
                <a:cs typeface="Calibri"/>
              </a:rPr>
              <a:t>loaded.</a:t>
            </a:r>
            <a:r>
              <a:rPr sz="1298" spc="-30" dirty="0">
                <a:solidFill>
                  <a:srgbClr val="202020"/>
                </a:solidFill>
                <a:latin typeface="Calibri"/>
                <a:cs typeface="Calibri"/>
              </a:rPr>
              <a:t> </a:t>
            </a:r>
            <a:r>
              <a:rPr sz="1298" spc="-10" dirty="0">
                <a:solidFill>
                  <a:srgbClr val="202020"/>
                </a:solidFill>
                <a:latin typeface="Calibri"/>
                <a:cs typeface="Calibri"/>
              </a:rPr>
              <a:t>Convert</a:t>
            </a:r>
            <a:r>
              <a:rPr sz="1298" spc="-30" dirty="0">
                <a:solidFill>
                  <a:srgbClr val="202020"/>
                </a:solidFill>
                <a:latin typeface="Calibri"/>
                <a:cs typeface="Calibri"/>
              </a:rPr>
              <a:t> </a:t>
            </a:r>
            <a:r>
              <a:rPr sz="1298" dirty="0">
                <a:solidFill>
                  <a:srgbClr val="202020"/>
                </a:solidFill>
                <a:latin typeface="Calibri"/>
                <a:cs typeface="Calibri"/>
              </a:rPr>
              <a:t>EVERY</a:t>
            </a:r>
            <a:r>
              <a:rPr sz="1298" spc="-30" dirty="0">
                <a:solidFill>
                  <a:srgbClr val="202020"/>
                </a:solidFill>
                <a:latin typeface="Calibri"/>
                <a:cs typeface="Calibri"/>
              </a:rPr>
              <a:t> </a:t>
            </a:r>
            <a:r>
              <a:rPr sz="1298" dirty="0">
                <a:solidFill>
                  <a:srgbClr val="202020"/>
                </a:solidFill>
                <a:latin typeface="Calibri"/>
                <a:cs typeface="Calibri"/>
              </a:rPr>
              <a:t>column</a:t>
            </a:r>
            <a:r>
              <a:rPr sz="1298" spc="-30" dirty="0">
                <a:solidFill>
                  <a:srgbClr val="202020"/>
                </a:solidFill>
                <a:latin typeface="Calibri"/>
                <a:cs typeface="Calibri"/>
              </a:rPr>
              <a:t> </a:t>
            </a:r>
            <a:r>
              <a:rPr sz="1298" dirty="0">
                <a:solidFill>
                  <a:srgbClr val="202020"/>
                </a:solidFill>
                <a:latin typeface="Calibri"/>
                <a:cs typeface="Calibri"/>
              </a:rPr>
              <a:t>to</a:t>
            </a:r>
            <a:r>
              <a:rPr sz="1298" spc="-30" dirty="0">
                <a:solidFill>
                  <a:srgbClr val="202020"/>
                </a:solidFill>
                <a:latin typeface="Calibri"/>
                <a:cs typeface="Calibri"/>
              </a:rPr>
              <a:t> </a:t>
            </a:r>
            <a:r>
              <a:rPr sz="1298" dirty="0">
                <a:solidFill>
                  <a:srgbClr val="202020"/>
                </a:solidFill>
                <a:latin typeface="Calibri"/>
                <a:cs typeface="Calibri"/>
              </a:rPr>
              <a:t>its</a:t>
            </a:r>
            <a:r>
              <a:rPr sz="1298" spc="-30" dirty="0">
                <a:solidFill>
                  <a:srgbClr val="202020"/>
                </a:solidFill>
                <a:latin typeface="Calibri"/>
                <a:cs typeface="Calibri"/>
              </a:rPr>
              <a:t> </a:t>
            </a:r>
            <a:r>
              <a:rPr sz="1298" spc="-10" dirty="0">
                <a:solidFill>
                  <a:srgbClr val="202020"/>
                </a:solidFill>
                <a:latin typeface="Calibri"/>
                <a:cs typeface="Calibri"/>
              </a:rPr>
              <a:t>proper</a:t>
            </a:r>
            <a:r>
              <a:rPr sz="1298" spc="-30" dirty="0">
                <a:solidFill>
                  <a:srgbClr val="202020"/>
                </a:solidFill>
                <a:latin typeface="Calibri"/>
                <a:cs typeface="Calibri"/>
              </a:rPr>
              <a:t> </a:t>
            </a:r>
            <a:r>
              <a:rPr sz="1298" dirty="0">
                <a:solidFill>
                  <a:srgbClr val="202020"/>
                </a:solidFill>
                <a:latin typeface="Calibri"/>
                <a:cs typeface="Calibri"/>
              </a:rPr>
              <a:t>type</a:t>
            </a:r>
            <a:r>
              <a:rPr sz="1298" spc="-35" dirty="0">
                <a:solidFill>
                  <a:srgbClr val="202020"/>
                </a:solidFill>
                <a:latin typeface="Calibri"/>
                <a:cs typeface="Calibri"/>
              </a:rPr>
              <a:t> </a:t>
            </a:r>
            <a:r>
              <a:rPr sz="1298" spc="-25" dirty="0">
                <a:solidFill>
                  <a:srgbClr val="202020"/>
                </a:solidFill>
                <a:latin typeface="Calibri"/>
                <a:cs typeface="Calibri"/>
              </a:rPr>
              <a:t>in </a:t>
            </a:r>
            <a:r>
              <a:rPr sz="1298" dirty="0">
                <a:solidFill>
                  <a:srgbClr val="202020"/>
                </a:solidFill>
                <a:latin typeface="Calibri"/>
                <a:cs typeface="Calibri"/>
              </a:rPr>
              <a:t>place</a:t>
            </a:r>
            <a:r>
              <a:rPr sz="1298" spc="-35" dirty="0">
                <a:solidFill>
                  <a:srgbClr val="202020"/>
                </a:solidFill>
                <a:latin typeface="Calibri"/>
                <a:cs typeface="Calibri"/>
              </a:rPr>
              <a:t> </a:t>
            </a:r>
            <a:r>
              <a:rPr sz="1298" dirty="0">
                <a:solidFill>
                  <a:srgbClr val="202020"/>
                </a:solidFill>
                <a:latin typeface="Calibri"/>
                <a:cs typeface="Calibri"/>
              </a:rPr>
              <a:t>-</a:t>
            </a:r>
            <a:r>
              <a:rPr sz="1298" spc="-30" dirty="0">
                <a:solidFill>
                  <a:srgbClr val="202020"/>
                </a:solidFill>
                <a:latin typeface="Calibri"/>
                <a:cs typeface="Calibri"/>
              </a:rPr>
              <a:t> </a:t>
            </a:r>
            <a:r>
              <a:rPr sz="1298" spc="-10" dirty="0">
                <a:solidFill>
                  <a:srgbClr val="202020"/>
                </a:solidFill>
                <a:latin typeface="Calibri"/>
                <a:cs typeface="Calibri"/>
              </a:rPr>
              <a:t>exactly</a:t>
            </a:r>
            <a:r>
              <a:rPr sz="1298" spc="-30" dirty="0">
                <a:solidFill>
                  <a:srgbClr val="202020"/>
                </a:solidFill>
                <a:latin typeface="Calibri"/>
                <a:cs typeface="Calibri"/>
              </a:rPr>
              <a:t> </a:t>
            </a:r>
            <a:r>
              <a:rPr sz="1298" dirty="0">
                <a:solidFill>
                  <a:srgbClr val="202020"/>
                </a:solidFill>
                <a:latin typeface="Calibri"/>
                <a:cs typeface="Calibri"/>
              </a:rPr>
              <a:t>what</a:t>
            </a:r>
            <a:r>
              <a:rPr sz="1298" spc="-35" dirty="0">
                <a:solidFill>
                  <a:srgbClr val="202020"/>
                </a:solidFill>
                <a:latin typeface="Calibri"/>
                <a:cs typeface="Calibri"/>
              </a:rPr>
              <a:t> </a:t>
            </a:r>
            <a:r>
              <a:rPr sz="1298" dirty="0">
                <a:solidFill>
                  <a:srgbClr val="202020"/>
                </a:solidFill>
                <a:latin typeface="Calibri"/>
                <a:cs typeface="Calibri"/>
              </a:rPr>
              <a:t>teams</a:t>
            </a:r>
            <a:r>
              <a:rPr sz="1298" spc="-30" dirty="0">
                <a:solidFill>
                  <a:srgbClr val="202020"/>
                </a:solidFill>
                <a:latin typeface="Calibri"/>
                <a:cs typeface="Calibri"/>
              </a:rPr>
              <a:t> </a:t>
            </a:r>
            <a:r>
              <a:rPr sz="1298" dirty="0">
                <a:solidFill>
                  <a:srgbClr val="202020"/>
                </a:solidFill>
                <a:latin typeface="Calibri"/>
                <a:cs typeface="Calibri"/>
              </a:rPr>
              <a:t>do</a:t>
            </a:r>
            <a:r>
              <a:rPr sz="1298" spc="-30" dirty="0">
                <a:solidFill>
                  <a:srgbClr val="202020"/>
                </a:solidFill>
                <a:latin typeface="Calibri"/>
                <a:cs typeface="Calibri"/>
              </a:rPr>
              <a:t> </a:t>
            </a:r>
            <a:r>
              <a:rPr sz="1298" dirty="0">
                <a:solidFill>
                  <a:srgbClr val="202020"/>
                </a:solidFill>
                <a:latin typeface="Calibri"/>
                <a:cs typeface="Calibri"/>
              </a:rPr>
              <a:t>when</a:t>
            </a:r>
            <a:r>
              <a:rPr sz="1298" spc="-35" dirty="0">
                <a:solidFill>
                  <a:srgbClr val="202020"/>
                </a:solidFill>
                <a:latin typeface="Calibri"/>
                <a:cs typeface="Calibri"/>
              </a:rPr>
              <a:t> </a:t>
            </a:r>
            <a:r>
              <a:rPr sz="1298" dirty="0">
                <a:solidFill>
                  <a:srgbClr val="202020"/>
                </a:solidFill>
                <a:latin typeface="Calibri"/>
                <a:cs typeface="Calibri"/>
              </a:rPr>
              <a:t>they</a:t>
            </a:r>
            <a:r>
              <a:rPr sz="1298" spc="-30" dirty="0">
                <a:solidFill>
                  <a:srgbClr val="202020"/>
                </a:solidFill>
                <a:latin typeface="Calibri"/>
                <a:cs typeface="Calibri"/>
              </a:rPr>
              <a:t> </a:t>
            </a:r>
            <a:r>
              <a:rPr sz="1298" dirty="0">
                <a:solidFill>
                  <a:srgbClr val="202020"/>
                </a:solidFill>
                <a:latin typeface="Calibri"/>
                <a:cs typeface="Calibri"/>
              </a:rPr>
              <a:t>inherit</a:t>
            </a:r>
            <a:r>
              <a:rPr sz="1298" spc="-30" dirty="0">
                <a:solidFill>
                  <a:srgbClr val="202020"/>
                </a:solidFill>
                <a:latin typeface="Calibri"/>
                <a:cs typeface="Calibri"/>
              </a:rPr>
              <a:t> </a:t>
            </a:r>
            <a:r>
              <a:rPr sz="1298" dirty="0">
                <a:solidFill>
                  <a:srgbClr val="202020"/>
                </a:solidFill>
                <a:latin typeface="Calibri"/>
                <a:cs typeface="Calibri"/>
              </a:rPr>
              <a:t>a</a:t>
            </a:r>
            <a:r>
              <a:rPr sz="1298" spc="-30" dirty="0">
                <a:solidFill>
                  <a:srgbClr val="202020"/>
                </a:solidFill>
                <a:latin typeface="Calibri"/>
                <a:cs typeface="Calibri"/>
              </a:rPr>
              <a:t> </a:t>
            </a:r>
            <a:r>
              <a:rPr sz="1298" spc="-20" dirty="0">
                <a:solidFill>
                  <a:srgbClr val="202020"/>
                </a:solidFill>
                <a:latin typeface="Calibri"/>
                <a:cs typeface="Calibri"/>
              </a:rPr>
              <a:t>badly-</a:t>
            </a:r>
            <a:r>
              <a:rPr sz="1298" spc="-10" dirty="0">
                <a:solidFill>
                  <a:srgbClr val="202020"/>
                </a:solidFill>
                <a:latin typeface="Calibri"/>
                <a:cs typeface="Calibri"/>
              </a:rPr>
              <a:t>designed</a:t>
            </a:r>
            <a:r>
              <a:rPr sz="1298" spc="-35" dirty="0">
                <a:solidFill>
                  <a:srgbClr val="202020"/>
                </a:solidFill>
                <a:latin typeface="Calibri"/>
                <a:cs typeface="Calibri"/>
              </a:rPr>
              <a:t> </a:t>
            </a:r>
            <a:r>
              <a:rPr sz="1298" spc="-10" dirty="0">
                <a:solidFill>
                  <a:srgbClr val="202020"/>
                </a:solidFill>
                <a:latin typeface="Calibri"/>
                <a:cs typeface="Calibri"/>
              </a:rPr>
              <a:t>table.</a:t>
            </a:r>
            <a:endParaRPr sz="1298">
              <a:latin typeface="Calibri"/>
              <a:cs typeface="Calibri"/>
            </a:endParaRPr>
          </a:p>
          <a:p>
            <a:pPr marL="12685">
              <a:spcBef>
                <a:spcPts val="884"/>
              </a:spcBef>
            </a:pPr>
            <a:r>
              <a:rPr sz="1298" b="1" spc="-10" dirty="0">
                <a:solidFill>
                  <a:srgbClr val="1D3A5E"/>
                </a:solidFill>
                <a:latin typeface="Calibri"/>
                <a:cs typeface="Calibri"/>
              </a:rPr>
              <a:t>YOUR</a:t>
            </a:r>
            <a:r>
              <a:rPr sz="1298" b="1" spc="-50" dirty="0">
                <a:solidFill>
                  <a:srgbClr val="1D3A5E"/>
                </a:solidFill>
                <a:latin typeface="Calibri"/>
                <a:cs typeface="Calibri"/>
              </a:rPr>
              <a:t> </a:t>
            </a:r>
            <a:r>
              <a:rPr sz="1298" b="1" spc="-10" dirty="0">
                <a:solidFill>
                  <a:srgbClr val="1D3A5E"/>
                </a:solidFill>
                <a:latin typeface="Calibri"/>
                <a:cs typeface="Calibri"/>
              </a:rPr>
              <a:t>TASK:</a:t>
            </a:r>
            <a:endParaRPr sz="1298">
              <a:latin typeface="Calibri"/>
              <a:cs typeface="Calibri"/>
            </a:endParaRPr>
          </a:p>
          <a:p>
            <a:pPr marL="182026" indent="-169342">
              <a:spcBef>
                <a:spcPts val="884"/>
              </a:spcBef>
              <a:buAutoNum type="alphaLcParenR"/>
              <a:tabLst>
                <a:tab pos="182026" algn="l"/>
              </a:tabLst>
            </a:pPr>
            <a:r>
              <a:rPr sz="1298" b="1" dirty="0">
                <a:solidFill>
                  <a:srgbClr val="1D3A5E"/>
                </a:solidFill>
                <a:latin typeface="Calibri"/>
                <a:cs typeface="Calibri"/>
              </a:rPr>
              <a:t>:</a:t>
            </a:r>
            <a:r>
              <a:rPr sz="1298" b="1" spc="-30" dirty="0">
                <a:solidFill>
                  <a:srgbClr val="1D3A5E"/>
                </a:solidFill>
                <a:latin typeface="Calibri"/>
                <a:cs typeface="Calibri"/>
              </a:rPr>
              <a:t> </a:t>
            </a:r>
            <a:r>
              <a:rPr sz="1298" spc="-10" dirty="0">
                <a:solidFill>
                  <a:srgbClr val="202020"/>
                </a:solidFill>
                <a:latin typeface="Calibri"/>
                <a:cs typeface="Calibri"/>
              </a:rPr>
              <a:t>Create</a:t>
            </a:r>
            <a:r>
              <a:rPr sz="1298" spc="-30" dirty="0">
                <a:solidFill>
                  <a:srgbClr val="202020"/>
                </a:solidFill>
                <a:latin typeface="Calibri"/>
                <a:cs typeface="Calibri"/>
              </a:rPr>
              <a:t> </a:t>
            </a:r>
            <a:r>
              <a:rPr sz="1298" spc="-10" dirty="0">
                <a:solidFill>
                  <a:srgbClr val="202020"/>
                </a:solidFill>
                <a:latin typeface="Calibri"/>
                <a:cs typeface="Calibri"/>
              </a:rPr>
              <a:t>shop.legacy_orders</a:t>
            </a:r>
            <a:r>
              <a:rPr sz="1298" spc="-30" dirty="0">
                <a:solidFill>
                  <a:srgbClr val="202020"/>
                </a:solidFill>
                <a:latin typeface="Calibri"/>
                <a:cs typeface="Calibri"/>
              </a:rPr>
              <a:t> </a:t>
            </a:r>
            <a:r>
              <a:rPr sz="1298" spc="-10" dirty="0">
                <a:solidFill>
                  <a:srgbClr val="202020"/>
                </a:solidFill>
                <a:latin typeface="Calibri"/>
                <a:cs typeface="Calibri"/>
              </a:rPr>
              <a:t>(order_id,</a:t>
            </a:r>
            <a:r>
              <a:rPr sz="1298" spc="-30" dirty="0">
                <a:solidFill>
                  <a:srgbClr val="202020"/>
                </a:solidFill>
                <a:latin typeface="Calibri"/>
                <a:cs typeface="Calibri"/>
              </a:rPr>
              <a:t> </a:t>
            </a:r>
            <a:r>
              <a:rPr sz="1298" spc="-10" dirty="0">
                <a:solidFill>
                  <a:srgbClr val="202020"/>
                </a:solidFill>
                <a:latin typeface="Calibri"/>
                <a:cs typeface="Calibri"/>
              </a:rPr>
              <a:t>order_date,</a:t>
            </a:r>
            <a:r>
              <a:rPr sz="1298" spc="-30" dirty="0">
                <a:solidFill>
                  <a:srgbClr val="202020"/>
                </a:solidFill>
                <a:latin typeface="Calibri"/>
                <a:cs typeface="Calibri"/>
              </a:rPr>
              <a:t> </a:t>
            </a:r>
            <a:r>
              <a:rPr sz="1298" spc="-10" dirty="0">
                <a:solidFill>
                  <a:srgbClr val="202020"/>
                </a:solidFill>
                <a:latin typeface="Calibri"/>
                <a:cs typeface="Calibri"/>
              </a:rPr>
              <a:t>total,</a:t>
            </a:r>
            <a:r>
              <a:rPr sz="1298" spc="-30" dirty="0">
                <a:solidFill>
                  <a:srgbClr val="202020"/>
                </a:solidFill>
                <a:latin typeface="Calibri"/>
                <a:cs typeface="Calibri"/>
              </a:rPr>
              <a:t> </a:t>
            </a:r>
            <a:r>
              <a:rPr sz="1298" spc="-10" dirty="0">
                <a:solidFill>
                  <a:srgbClr val="202020"/>
                </a:solidFill>
                <a:latin typeface="Calibri"/>
                <a:cs typeface="Calibri"/>
              </a:rPr>
              <a:t>is_paid)</a:t>
            </a:r>
            <a:r>
              <a:rPr sz="1298" spc="-30" dirty="0">
                <a:solidFill>
                  <a:srgbClr val="202020"/>
                </a:solidFill>
                <a:latin typeface="Calibri"/>
                <a:cs typeface="Calibri"/>
              </a:rPr>
              <a:t> </a:t>
            </a:r>
            <a:r>
              <a:rPr sz="1298" dirty="0">
                <a:solidFill>
                  <a:srgbClr val="202020"/>
                </a:solidFill>
                <a:latin typeface="Calibri"/>
                <a:cs typeface="Calibri"/>
              </a:rPr>
              <a:t>-</a:t>
            </a:r>
            <a:r>
              <a:rPr sz="1298" spc="-30" dirty="0">
                <a:solidFill>
                  <a:srgbClr val="202020"/>
                </a:solidFill>
                <a:latin typeface="Calibri"/>
                <a:cs typeface="Calibri"/>
              </a:rPr>
              <a:t> </a:t>
            </a:r>
            <a:r>
              <a:rPr sz="1298" dirty="0">
                <a:solidFill>
                  <a:srgbClr val="202020"/>
                </a:solidFill>
                <a:latin typeface="Calibri"/>
                <a:cs typeface="Calibri"/>
              </a:rPr>
              <a:t>all</a:t>
            </a:r>
            <a:r>
              <a:rPr sz="1298" spc="-30" dirty="0">
                <a:solidFill>
                  <a:srgbClr val="202020"/>
                </a:solidFill>
                <a:latin typeface="Calibri"/>
                <a:cs typeface="Calibri"/>
              </a:rPr>
              <a:t> </a:t>
            </a:r>
            <a:r>
              <a:rPr sz="1298" dirty="0">
                <a:solidFill>
                  <a:srgbClr val="202020"/>
                </a:solidFill>
                <a:latin typeface="Calibri"/>
                <a:cs typeface="Calibri"/>
              </a:rPr>
              <a:t>TEXT</a:t>
            </a:r>
            <a:r>
              <a:rPr sz="1298" spc="-30" dirty="0">
                <a:solidFill>
                  <a:srgbClr val="202020"/>
                </a:solidFill>
                <a:latin typeface="Calibri"/>
                <a:cs typeface="Calibri"/>
              </a:rPr>
              <a:t> </a:t>
            </a:r>
            <a:r>
              <a:rPr sz="1298" dirty="0">
                <a:solidFill>
                  <a:srgbClr val="202020"/>
                </a:solidFill>
                <a:latin typeface="Calibri"/>
                <a:cs typeface="Calibri"/>
              </a:rPr>
              <a:t>-</a:t>
            </a:r>
            <a:r>
              <a:rPr sz="1298" spc="-30" dirty="0">
                <a:solidFill>
                  <a:srgbClr val="202020"/>
                </a:solidFill>
                <a:latin typeface="Calibri"/>
                <a:cs typeface="Calibri"/>
              </a:rPr>
              <a:t> </a:t>
            </a:r>
            <a:r>
              <a:rPr sz="1298" dirty="0">
                <a:solidFill>
                  <a:srgbClr val="202020"/>
                </a:solidFill>
                <a:latin typeface="Calibri"/>
                <a:cs typeface="Calibri"/>
              </a:rPr>
              <a:t>and</a:t>
            </a:r>
            <a:r>
              <a:rPr sz="1298" spc="-30" dirty="0">
                <a:solidFill>
                  <a:srgbClr val="202020"/>
                </a:solidFill>
                <a:latin typeface="Calibri"/>
                <a:cs typeface="Calibri"/>
              </a:rPr>
              <a:t> </a:t>
            </a:r>
            <a:r>
              <a:rPr sz="1298" dirty="0">
                <a:solidFill>
                  <a:srgbClr val="202020"/>
                </a:solidFill>
                <a:latin typeface="Calibri"/>
                <a:cs typeface="Calibri"/>
              </a:rPr>
              <a:t>INSERT</a:t>
            </a:r>
            <a:r>
              <a:rPr sz="1298" spc="-30" dirty="0">
                <a:solidFill>
                  <a:srgbClr val="202020"/>
                </a:solidFill>
                <a:latin typeface="Calibri"/>
                <a:cs typeface="Calibri"/>
              </a:rPr>
              <a:t> </a:t>
            </a:r>
            <a:r>
              <a:rPr sz="1298" dirty="0">
                <a:solidFill>
                  <a:srgbClr val="202020"/>
                </a:solidFill>
                <a:latin typeface="Calibri"/>
                <a:cs typeface="Calibri"/>
              </a:rPr>
              <a:t>3</a:t>
            </a:r>
            <a:r>
              <a:rPr sz="1298" spc="-30" dirty="0">
                <a:solidFill>
                  <a:srgbClr val="202020"/>
                </a:solidFill>
                <a:latin typeface="Calibri"/>
                <a:cs typeface="Calibri"/>
              </a:rPr>
              <a:t> </a:t>
            </a:r>
            <a:r>
              <a:rPr sz="1298" dirty="0">
                <a:solidFill>
                  <a:srgbClr val="202020"/>
                </a:solidFill>
                <a:latin typeface="Calibri"/>
                <a:cs typeface="Calibri"/>
              </a:rPr>
              <a:t>rows</a:t>
            </a:r>
            <a:r>
              <a:rPr sz="1298" spc="-25" dirty="0">
                <a:solidFill>
                  <a:srgbClr val="202020"/>
                </a:solidFill>
                <a:latin typeface="Calibri"/>
                <a:cs typeface="Calibri"/>
              </a:rPr>
              <a:t> </a:t>
            </a:r>
            <a:r>
              <a:rPr sz="1298" dirty="0">
                <a:solidFill>
                  <a:srgbClr val="202020"/>
                </a:solidFill>
                <a:latin typeface="Calibri"/>
                <a:cs typeface="Calibri"/>
              </a:rPr>
              <a:t>of</a:t>
            </a:r>
            <a:r>
              <a:rPr sz="1298" spc="-30" dirty="0">
                <a:solidFill>
                  <a:srgbClr val="202020"/>
                </a:solidFill>
                <a:latin typeface="Calibri"/>
                <a:cs typeface="Calibri"/>
              </a:rPr>
              <a:t> </a:t>
            </a:r>
            <a:r>
              <a:rPr sz="1298" dirty="0">
                <a:solidFill>
                  <a:srgbClr val="202020"/>
                </a:solidFill>
                <a:latin typeface="Calibri"/>
                <a:cs typeface="Calibri"/>
              </a:rPr>
              <a:t>clean</a:t>
            </a:r>
            <a:r>
              <a:rPr sz="1298" spc="-30" dirty="0">
                <a:solidFill>
                  <a:srgbClr val="202020"/>
                </a:solidFill>
                <a:latin typeface="Calibri"/>
                <a:cs typeface="Calibri"/>
              </a:rPr>
              <a:t> </a:t>
            </a:r>
            <a:r>
              <a:rPr sz="1298" spc="-10" dirty="0">
                <a:solidFill>
                  <a:srgbClr val="202020"/>
                </a:solidFill>
                <a:latin typeface="Calibri"/>
                <a:cs typeface="Calibri"/>
              </a:rPr>
              <a:t>text</a:t>
            </a:r>
            <a:r>
              <a:rPr sz="1298" spc="-30" dirty="0">
                <a:solidFill>
                  <a:srgbClr val="202020"/>
                </a:solidFill>
                <a:latin typeface="Calibri"/>
                <a:cs typeface="Calibri"/>
              </a:rPr>
              <a:t> </a:t>
            </a:r>
            <a:r>
              <a:rPr sz="1298" spc="-10" dirty="0">
                <a:solidFill>
                  <a:srgbClr val="202020"/>
                </a:solidFill>
                <a:latin typeface="Calibri"/>
                <a:cs typeface="Calibri"/>
              </a:rPr>
              <a:t>values.</a:t>
            </a:r>
            <a:endParaRPr sz="1298">
              <a:latin typeface="Calibri"/>
              <a:cs typeface="Calibri"/>
            </a:endParaRPr>
          </a:p>
          <a:p>
            <a:pPr marL="12685" marR="123676" indent="176318">
              <a:lnSpc>
                <a:spcPct val="120100"/>
              </a:lnSpc>
              <a:buAutoNum type="alphaLcParenR"/>
              <a:tabLst>
                <a:tab pos="189003" algn="l"/>
              </a:tabLst>
            </a:pPr>
            <a:r>
              <a:rPr sz="1298" b="1" dirty="0">
                <a:solidFill>
                  <a:srgbClr val="1D3A5E"/>
                </a:solidFill>
                <a:latin typeface="Calibri"/>
                <a:cs typeface="Calibri"/>
              </a:rPr>
              <a:t>:</a:t>
            </a:r>
            <a:r>
              <a:rPr sz="1298" b="1" spc="-20" dirty="0">
                <a:solidFill>
                  <a:srgbClr val="1D3A5E"/>
                </a:solidFill>
                <a:latin typeface="Calibri"/>
                <a:cs typeface="Calibri"/>
              </a:rPr>
              <a:t> </a:t>
            </a:r>
            <a:r>
              <a:rPr sz="1298" spc="-20" dirty="0">
                <a:solidFill>
                  <a:srgbClr val="202020"/>
                </a:solidFill>
                <a:latin typeface="Calibri"/>
                <a:cs typeface="Calibri"/>
              </a:rPr>
              <a:t>ALTER </a:t>
            </a:r>
            <a:r>
              <a:rPr sz="1298" spc="-10" dirty="0">
                <a:solidFill>
                  <a:srgbClr val="202020"/>
                </a:solidFill>
                <a:latin typeface="Calibri"/>
                <a:cs typeface="Calibri"/>
              </a:rPr>
              <a:t>order_id</a:t>
            </a:r>
            <a:r>
              <a:rPr sz="1298" spc="-15" dirty="0">
                <a:solidFill>
                  <a:srgbClr val="202020"/>
                </a:solidFill>
                <a:latin typeface="Calibri"/>
                <a:cs typeface="Calibri"/>
              </a:rPr>
              <a:t> </a:t>
            </a:r>
            <a:r>
              <a:rPr sz="1298" spc="-35" dirty="0">
                <a:solidFill>
                  <a:srgbClr val="202020"/>
                </a:solidFill>
                <a:latin typeface="Calibri"/>
                <a:cs typeface="Calibri"/>
              </a:rPr>
              <a:t>TEXT-</a:t>
            </a:r>
            <a:r>
              <a:rPr sz="1298" spc="-25" dirty="0">
                <a:solidFill>
                  <a:srgbClr val="202020"/>
                </a:solidFill>
                <a:latin typeface="Calibri"/>
                <a:cs typeface="Calibri"/>
              </a:rPr>
              <a:t>&gt;INT,</a:t>
            </a:r>
            <a:r>
              <a:rPr sz="1298" spc="-20" dirty="0">
                <a:solidFill>
                  <a:srgbClr val="202020"/>
                </a:solidFill>
                <a:latin typeface="Calibri"/>
                <a:cs typeface="Calibri"/>
              </a:rPr>
              <a:t> </a:t>
            </a:r>
            <a:r>
              <a:rPr sz="1298" spc="-10" dirty="0">
                <a:solidFill>
                  <a:srgbClr val="202020"/>
                </a:solidFill>
                <a:latin typeface="Calibri"/>
                <a:cs typeface="Calibri"/>
              </a:rPr>
              <a:t>order_date</a:t>
            </a:r>
            <a:r>
              <a:rPr sz="1298" spc="-15" dirty="0">
                <a:solidFill>
                  <a:srgbClr val="202020"/>
                </a:solidFill>
                <a:latin typeface="Calibri"/>
                <a:cs typeface="Calibri"/>
              </a:rPr>
              <a:t> </a:t>
            </a:r>
            <a:r>
              <a:rPr sz="1298" spc="-35" dirty="0">
                <a:solidFill>
                  <a:srgbClr val="202020"/>
                </a:solidFill>
                <a:latin typeface="Calibri"/>
                <a:cs typeface="Calibri"/>
              </a:rPr>
              <a:t>TEXT-</a:t>
            </a:r>
            <a:r>
              <a:rPr sz="1298" spc="-25" dirty="0">
                <a:solidFill>
                  <a:srgbClr val="202020"/>
                </a:solidFill>
                <a:latin typeface="Calibri"/>
                <a:cs typeface="Calibri"/>
              </a:rPr>
              <a:t>&gt;DATE,</a:t>
            </a:r>
            <a:r>
              <a:rPr sz="1298" spc="-20" dirty="0">
                <a:solidFill>
                  <a:srgbClr val="202020"/>
                </a:solidFill>
                <a:latin typeface="Calibri"/>
                <a:cs typeface="Calibri"/>
              </a:rPr>
              <a:t> </a:t>
            </a:r>
            <a:r>
              <a:rPr sz="1298" spc="-10" dirty="0">
                <a:solidFill>
                  <a:srgbClr val="202020"/>
                </a:solidFill>
                <a:latin typeface="Calibri"/>
                <a:cs typeface="Calibri"/>
              </a:rPr>
              <a:t>total</a:t>
            </a:r>
            <a:r>
              <a:rPr sz="1298" spc="-20" dirty="0">
                <a:solidFill>
                  <a:srgbClr val="202020"/>
                </a:solidFill>
                <a:latin typeface="Calibri"/>
                <a:cs typeface="Calibri"/>
              </a:rPr>
              <a:t> </a:t>
            </a:r>
            <a:r>
              <a:rPr sz="1298" spc="-35" dirty="0">
                <a:solidFill>
                  <a:srgbClr val="202020"/>
                </a:solidFill>
                <a:latin typeface="Calibri"/>
                <a:cs typeface="Calibri"/>
              </a:rPr>
              <a:t>TEXT-</a:t>
            </a:r>
            <a:r>
              <a:rPr sz="1298" spc="-10" dirty="0">
                <a:solidFill>
                  <a:srgbClr val="202020"/>
                </a:solidFill>
                <a:latin typeface="Calibri"/>
                <a:cs typeface="Calibri"/>
              </a:rPr>
              <a:t>&gt;NUMERIC(10,2),</a:t>
            </a:r>
            <a:r>
              <a:rPr sz="1298" spc="-15" dirty="0">
                <a:solidFill>
                  <a:srgbClr val="202020"/>
                </a:solidFill>
                <a:latin typeface="Calibri"/>
                <a:cs typeface="Calibri"/>
              </a:rPr>
              <a:t> </a:t>
            </a:r>
            <a:r>
              <a:rPr sz="1298" dirty="0">
                <a:solidFill>
                  <a:srgbClr val="202020"/>
                </a:solidFill>
                <a:latin typeface="Calibri"/>
                <a:cs typeface="Calibri"/>
              </a:rPr>
              <a:t>is_paid</a:t>
            </a:r>
            <a:r>
              <a:rPr sz="1298" spc="-20" dirty="0">
                <a:solidFill>
                  <a:srgbClr val="202020"/>
                </a:solidFill>
                <a:latin typeface="Calibri"/>
                <a:cs typeface="Calibri"/>
              </a:rPr>
              <a:t> </a:t>
            </a:r>
            <a:r>
              <a:rPr sz="1298" spc="-35" dirty="0">
                <a:solidFill>
                  <a:srgbClr val="202020"/>
                </a:solidFill>
                <a:latin typeface="Calibri"/>
                <a:cs typeface="Calibri"/>
              </a:rPr>
              <a:t>TEXT-</a:t>
            </a:r>
            <a:r>
              <a:rPr sz="1298" spc="-10" dirty="0">
                <a:solidFill>
                  <a:srgbClr val="202020"/>
                </a:solidFill>
                <a:latin typeface="Calibri"/>
                <a:cs typeface="Calibri"/>
              </a:rPr>
              <a:t>&gt;BOOLEAN</a:t>
            </a:r>
            <a:r>
              <a:rPr sz="1298" spc="-15" dirty="0">
                <a:solidFill>
                  <a:srgbClr val="202020"/>
                </a:solidFill>
                <a:latin typeface="Calibri"/>
                <a:cs typeface="Calibri"/>
              </a:rPr>
              <a:t> </a:t>
            </a:r>
            <a:r>
              <a:rPr sz="1298" dirty="0">
                <a:solidFill>
                  <a:srgbClr val="202020"/>
                </a:solidFill>
                <a:latin typeface="Calibri"/>
                <a:cs typeface="Calibri"/>
              </a:rPr>
              <a:t>(each</a:t>
            </a:r>
            <a:r>
              <a:rPr sz="1298" spc="-20" dirty="0">
                <a:solidFill>
                  <a:srgbClr val="202020"/>
                </a:solidFill>
                <a:latin typeface="Calibri"/>
                <a:cs typeface="Calibri"/>
              </a:rPr>
              <a:t> with </a:t>
            </a:r>
            <a:r>
              <a:rPr sz="1298" spc="-10" dirty="0">
                <a:solidFill>
                  <a:srgbClr val="202020"/>
                </a:solidFill>
                <a:latin typeface="Calibri"/>
                <a:cs typeface="Calibri"/>
              </a:rPr>
              <a:t>USING).</a:t>
            </a:r>
            <a:endParaRPr sz="1298">
              <a:latin typeface="Calibri"/>
              <a:cs typeface="Calibri"/>
            </a:endParaRPr>
          </a:p>
          <a:p>
            <a:pPr marL="12685" marR="459823" indent="156657">
              <a:lnSpc>
                <a:spcPct val="120100"/>
              </a:lnSpc>
              <a:buAutoNum type="alphaLcParenR"/>
              <a:tabLst>
                <a:tab pos="169342" algn="l"/>
              </a:tabLst>
            </a:pPr>
            <a:r>
              <a:rPr sz="1298" b="1" dirty="0">
                <a:solidFill>
                  <a:srgbClr val="1D3A5E"/>
                </a:solidFill>
                <a:latin typeface="Calibri"/>
                <a:cs typeface="Calibri"/>
              </a:rPr>
              <a:t>:</a:t>
            </a:r>
            <a:r>
              <a:rPr sz="1298" b="1" spc="-35" dirty="0">
                <a:solidFill>
                  <a:srgbClr val="1D3A5E"/>
                </a:solidFill>
                <a:latin typeface="Calibri"/>
                <a:cs typeface="Calibri"/>
              </a:rPr>
              <a:t> </a:t>
            </a:r>
            <a:r>
              <a:rPr sz="1298" dirty="0">
                <a:solidFill>
                  <a:srgbClr val="202020"/>
                </a:solidFill>
                <a:latin typeface="Calibri"/>
                <a:cs typeface="Calibri"/>
              </a:rPr>
              <a:t>Now</a:t>
            </a:r>
            <a:r>
              <a:rPr sz="1298" spc="-35" dirty="0">
                <a:solidFill>
                  <a:srgbClr val="202020"/>
                </a:solidFill>
                <a:latin typeface="Calibri"/>
                <a:cs typeface="Calibri"/>
              </a:rPr>
              <a:t> </a:t>
            </a:r>
            <a:r>
              <a:rPr sz="1298" spc="-10" dirty="0">
                <a:solidFill>
                  <a:srgbClr val="202020"/>
                </a:solidFill>
                <a:latin typeface="Calibri"/>
                <a:cs typeface="Calibri"/>
              </a:rPr>
              <a:t>prove</a:t>
            </a:r>
            <a:r>
              <a:rPr sz="1298" spc="-35" dirty="0">
                <a:solidFill>
                  <a:srgbClr val="202020"/>
                </a:solidFill>
                <a:latin typeface="Calibri"/>
                <a:cs typeface="Calibri"/>
              </a:rPr>
              <a:t> </a:t>
            </a:r>
            <a:r>
              <a:rPr sz="1298" dirty="0">
                <a:solidFill>
                  <a:srgbClr val="202020"/>
                </a:solidFill>
                <a:latin typeface="Calibri"/>
                <a:cs typeface="Calibri"/>
              </a:rPr>
              <a:t>the</a:t>
            </a:r>
            <a:r>
              <a:rPr sz="1298" spc="-35" dirty="0">
                <a:solidFill>
                  <a:srgbClr val="202020"/>
                </a:solidFill>
                <a:latin typeface="Calibri"/>
                <a:cs typeface="Calibri"/>
              </a:rPr>
              <a:t> </a:t>
            </a:r>
            <a:r>
              <a:rPr sz="1298" dirty="0">
                <a:solidFill>
                  <a:srgbClr val="202020"/>
                </a:solidFill>
                <a:latin typeface="Calibri"/>
                <a:cs typeface="Calibri"/>
              </a:rPr>
              <a:t>fix</a:t>
            </a:r>
            <a:r>
              <a:rPr sz="1298" spc="-35" dirty="0">
                <a:solidFill>
                  <a:srgbClr val="202020"/>
                </a:solidFill>
                <a:latin typeface="Calibri"/>
                <a:cs typeface="Calibri"/>
              </a:rPr>
              <a:t> </a:t>
            </a:r>
            <a:r>
              <a:rPr sz="1298" spc="-10" dirty="0">
                <a:solidFill>
                  <a:srgbClr val="202020"/>
                </a:solidFill>
                <a:latin typeface="Calibri"/>
                <a:cs typeface="Calibri"/>
              </a:rPr>
              <a:t>worked:</a:t>
            </a:r>
            <a:r>
              <a:rPr sz="1298" spc="-35" dirty="0">
                <a:solidFill>
                  <a:srgbClr val="202020"/>
                </a:solidFill>
                <a:latin typeface="Calibri"/>
                <a:cs typeface="Calibri"/>
              </a:rPr>
              <a:t> </a:t>
            </a:r>
            <a:r>
              <a:rPr sz="1298" dirty="0">
                <a:solidFill>
                  <a:srgbClr val="202020"/>
                </a:solidFill>
                <a:latin typeface="Calibri"/>
                <a:cs typeface="Calibri"/>
              </a:rPr>
              <a:t>SELECT</a:t>
            </a:r>
            <a:r>
              <a:rPr sz="1298" spc="-35" dirty="0">
                <a:solidFill>
                  <a:srgbClr val="202020"/>
                </a:solidFill>
                <a:latin typeface="Calibri"/>
                <a:cs typeface="Calibri"/>
              </a:rPr>
              <a:t> </a:t>
            </a:r>
            <a:r>
              <a:rPr sz="1298" dirty="0">
                <a:solidFill>
                  <a:srgbClr val="202020"/>
                </a:solidFill>
                <a:latin typeface="Calibri"/>
                <a:cs typeface="Calibri"/>
              </a:rPr>
              <a:t>with</a:t>
            </a:r>
            <a:r>
              <a:rPr sz="1298" spc="-35" dirty="0">
                <a:solidFill>
                  <a:srgbClr val="202020"/>
                </a:solidFill>
                <a:latin typeface="Calibri"/>
                <a:cs typeface="Calibri"/>
              </a:rPr>
              <a:t> </a:t>
            </a:r>
            <a:r>
              <a:rPr sz="1298" dirty="0">
                <a:solidFill>
                  <a:srgbClr val="202020"/>
                </a:solidFill>
                <a:latin typeface="Calibri"/>
                <a:cs typeface="Calibri"/>
              </a:rPr>
              <a:t>WHERE</a:t>
            </a:r>
            <a:r>
              <a:rPr sz="1298" spc="-35" dirty="0">
                <a:solidFill>
                  <a:srgbClr val="202020"/>
                </a:solidFill>
                <a:latin typeface="Calibri"/>
                <a:cs typeface="Calibri"/>
              </a:rPr>
              <a:t> </a:t>
            </a:r>
            <a:r>
              <a:rPr sz="1298" dirty="0">
                <a:solidFill>
                  <a:srgbClr val="202020"/>
                </a:solidFill>
                <a:latin typeface="Calibri"/>
                <a:cs typeface="Calibri"/>
              </a:rPr>
              <a:t>total</a:t>
            </a:r>
            <a:r>
              <a:rPr sz="1298" spc="-35" dirty="0">
                <a:solidFill>
                  <a:srgbClr val="202020"/>
                </a:solidFill>
                <a:latin typeface="Calibri"/>
                <a:cs typeface="Calibri"/>
              </a:rPr>
              <a:t> </a:t>
            </a:r>
            <a:r>
              <a:rPr sz="1298" dirty="0">
                <a:solidFill>
                  <a:srgbClr val="202020"/>
                </a:solidFill>
                <a:latin typeface="Calibri"/>
                <a:cs typeface="Calibri"/>
              </a:rPr>
              <a:t>&gt;</a:t>
            </a:r>
            <a:r>
              <a:rPr sz="1298" spc="-35" dirty="0">
                <a:solidFill>
                  <a:srgbClr val="202020"/>
                </a:solidFill>
                <a:latin typeface="Calibri"/>
                <a:cs typeface="Calibri"/>
              </a:rPr>
              <a:t> </a:t>
            </a:r>
            <a:r>
              <a:rPr sz="1298" dirty="0">
                <a:solidFill>
                  <a:srgbClr val="202020"/>
                </a:solidFill>
                <a:latin typeface="Calibri"/>
                <a:cs typeface="Calibri"/>
              </a:rPr>
              <a:t>900</a:t>
            </a:r>
            <a:r>
              <a:rPr sz="1298" spc="-35" dirty="0">
                <a:solidFill>
                  <a:srgbClr val="202020"/>
                </a:solidFill>
                <a:latin typeface="Calibri"/>
                <a:cs typeface="Calibri"/>
              </a:rPr>
              <a:t> </a:t>
            </a:r>
            <a:r>
              <a:rPr sz="1298" spc="-10" dirty="0">
                <a:solidFill>
                  <a:srgbClr val="202020"/>
                </a:solidFill>
                <a:latin typeface="Calibri"/>
                <a:cs typeface="Calibri"/>
              </a:rPr>
              <a:t>(numeric!)</a:t>
            </a:r>
            <a:r>
              <a:rPr sz="1298" spc="-35" dirty="0">
                <a:solidFill>
                  <a:srgbClr val="202020"/>
                </a:solidFill>
                <a:latin typeface="Calibri"/>
                <a:cs typeface="Calibri"/>
              </a:rPr>
              <a:t> </a:t>
            </a:r>
            <a:r>
              <a:rPr sz="1298" dirty="0">
                <a:solidFill>
                  <a:srgbClr val="202020"/>
                </a:solidFill>
                <a:latin typeface="Calibri"/>
                <a:cs typeface="Calibri"/>
              </a:rPr>
              <a:t>and</a:t>
            </a:r>
            <a:r>
              <a:rPr sz="1298" spc="-35" dirty="0">
                <a:solidFill>
                  <a:srgbClr val="202020"/>
                </a:solidFill>
                <a:latin typeface="Calibri"/>
                <a:cs typeface="Calibri"/>
              </a:rPr>
              <a:t> </a:t>
            </a:r>
            <a:r>
              <a:rPr sz="1298" dirty="0">
                <a:solidFill>
                  <a:srgbClr val="202020"/>
                </a:solidFill>
                <a:latin typeface="Calibri"/>
                <a:cs typeface="Calibri"/>
              </a:rPr>
              <a:t>ORDER</a:t>
            </a:r>
            <a:r>
              <a:rPr sz="1298" spc="-35" dirty="0">
                <a:solidFill>
                  <a:srgbClr val="202020"/>
                </a:solidFill>
                <a:latin typeface="Calibri"/>
                <a:cs typeface="Calibri"/>
              </a:rPr>
              <a:t> </a:t>
            </a:r>
            <a:r>
              <a:rPr sz="1298" dirty="0">
                <a:solidFill>
                  <a:srgbClr val="202020"/>
                </a:solidFill>
                <a:latin typeface="Calibri"/>
                <a:cs typeface="Calibri"/>
              </a:rPr>
              <a:t>BY</a:t>
            </a:r>
            <a:r>
              <a:rPr sz="1298" spc="-35" dirty="0">
                <a:solidFill>
                  <a:srgbClr val="202020"/>
                </a:solidFill>
                <a:latin typeface="Calibri"/>
                <a:cs typeface="Calibri"/>
              </a:rPr>
              <a:t> </a:t>
            </a:r>
            <a:r>
              <a:rPr sz="1298" spc="-10" dirty="0">
                <a:solidFill>
                  <a:srgbClr val="202020"/>
                </a:solidFill>
                <a:latin typeface="Calibri"/>
                <a:cs typeface="Calibri"/>
              </a:rPr>
              <a:t>order_date</a:t>
            </a:r>
            <a:r>
              <a:rPr sz="1298" spc="-35" dirty="0">
                <a:solidFill>
                  <a:srgbClr val="202020"/>
                </a:solidFill>
                <a:latin typeface="Calibri"/>
                <a:cs typeface="Calibri"/>
              </a:rPr>
              <a:t> </a:t>
            </a:r>
            <a:r>
              <a:rPr sz="1298" dirty="0">
                <a:solidFill>
                  <a:srgbClr val="202020"/>
                </a:solidFill>
                <a:latin typeface="Calibri"/>
                <a:cs typeface="Calibri"/>
              </a:rPr>
              <a:t>-</a:t>
            </a:r>
            <a:r>
              <a:rPr sz="1298" spc="-35" dirty="0">
                <a:solidFill>
                  <a:srgbClr val="202020"/>
                </a:solidFill>
                <a:latin typeface="Calibri"/>
                <a:cs typeface="Calibri"/>
              </a:rPr>
              <a:t> </a:t>
            </a:r>
            <a:r>
              <a:rPr sz="1298" dirty="0">
                <a:solidFill>
                  <a:srgbClr val="202020"/>
                </a:solidFill>
                <a:latin typeface="Calibri"/>
                <a:cs typeface="Calibri"/>
              </a:rPr>
              <a:t>both</a:t>
            </a:r>
            <a:r>
              <a:rPr sz="1298" spc="-35" dirty="0">
                <a:solidFill>
                  <a:srgbClr val="202020"/>
                </a:solidFill>
                <a:latin typeface="Calibri"/>
                <a:cs typeface="Calibri"/>
              </a:rPr>
              <a:t> </a:t>
            </a:r>
            <a:r>
              <a:rPr sz="1298" spc="-10" dirty="0">
                <a:solidFill>
                  <a:srgbClr val="202020"/>
                </a:solidFill>
                <a:latin typeface="Calibri"/>
                <a:cs typeface="Calibri"/>
              </a:rPr>
              <a:t>behave correctly</a:t>
            </a:r>
            <a:r>
              <a:rPr sz="1298" spc="-15" dirty="0">
                <a:solidFill>
                  <a:srgbClr val="202020"/>
                </a:solidFill>
                <a:latin typeface="Calibri"/>
                <a:cs typeface="Calibri"/>
              </a:rPr>
              <a:t> </a:t>
            </a:r>
            <a:r>
              <a:rPr sz="1298" spc="-20" dirty="0">
                <a:solidFill>
                  <a:srgbClr val="202020"/>
                </a:solidFill>
                <a:latin typeface="Calibri"/>
                <a:cs typeface="Calibri"/>
              </a:rPr>
              <a:t>now.</a:t>
            </a:r>
            <a:endParaRPr sz="1298">
              <a:latin typeface="Calibri"/>
              <a:cs typeface="Calibri"/>
            </a:endParaRPr>
          </a:p>
          <a:p>
            <a:pPr marL="189003" indent="-176318">
              <a:spcBef>
                <a:spcPts val="315"/>
              </a:spcBef>
              <a:buAutoNum type="alphaLcParenR"/>
              <a:tabLst>
                <a:tab pos="189003" algn="l"/>
              </a:tabLst>
            </a:pPr>
            <a:r>
              <a:rPr sz="1298" b="1" dirty="0">
                <a:solidFill>
                  <a:srgbClr val="1D3A5E"/>
                </a:solidFill>
                <a:latin typeface="Calibri"/>
                <a:cs typeface="Calibri"/>
              </a:rPr>
              <a:t>:</a:t>
            </a:r>
            <a:r>
              <a:rPr sz="1298" b="1" spc="-30" dirty="0">
                <a:solidFill>
                  <a:srgbClr val="1D3A5E"/>
                </a:solidFill>
                <a:latin typeface="Calibri"/>
                <a:cs typeface="Calibri"/>
              </a:rPr>
              <a:t> </a:t>
            </a:r>
            <a:r>
              <a:rPr sz="1298" dirty="0">
                <a:solidFill>
                  <a:srgbClr val="202020"/>
                </a:solidFill>
                <a:latin typeface="Calibri"/>
                <a:cs typeface="Calibri"/>
              </a:rPr>
              <a:t>Bonus:</a:t>
            </a:r>
            <a:r>
              <a:rPr sz="1298" spc="-30" dirty="0">
                <a:solidFill>
                  <a:srgbClr val="202020"/>
                </a:solidFill>
                <a:latin typeface="Calibri"/>
                <a:cs typeface="Calibri"/>
              </a:rPr>
              <a:t> </a:t>
            </a:r>
            <a:r>
              <a:rPr sz="1298" dirty="0">
                <a:solidFill>
                  <a:srgbClr val="202020"/>
                </a:solidFill>
                <a:latin typeface="Calibri"/>
                <a:cs typeface="Calibri"/>
              </a:rPr>
              <a:t>try</a:t>
            </a:r>
            <a:r>
              <a:rPr sz="1298" spc="-30" dirty="0">
                <a:solidFill>
                  <a:srgbClr val="202020"/>
                </a:solidFill>
                <a:latin typeface="Calibri"/>
                <a:cs typeface="Calibri"/>
              </a:rPr>
              <a:t> </a:t>
            </a:r>
            <a:r>
              <a:rPr sz="1298" spc="-10" dirty="0">
                <a:solidFill>
                  <a:srgbClr val="202020"/>
                </a:solidFill>
                <a:latin typeface="Calibri"/>
                <a:cs typeface="Calibri"/>
              </a:rPr>
              <a:t>inserting</a:t>
            </a:r>
            <a:r>
              <a:rPr sz="1298" spc="-30" dirty="0">
                <a:solidFill>
                  <a:srgbClr val="202020"/>
                </a:solidFill>
                <a:latin typeface="Calibri"/>
                <a:cs typeface="Calibri"/>
              </a:rPr>
              <a:t> </a:t>
            </a:r>
            <a:r>
              <a:rPr sz="1298" spc="-10" dirty="0">
                <a:solidFill>
                  <a:srgbClr val="202020"/>
                </a:solidFill>
                <a:latin typeface="Calibri"/>
                <a:cs typeface="Calibri"/>
              </a:rPr>
              <a:t>total</a:t>
            </a:r>
            <a:r>
              <a:rPr sz="1298" spc="-30" dirty="0">
                <a:solidFill>
                  <a:srgbClr val="202020"/>
                </a:solidFill>
                <a:latin typeface="Calibri"/>
                <a:cs typeface="Calibri"/>
              </a:rPr>
              <a:t> </a:t>
            </a:r>
            <a:r>
              <a:rPr sz="1298" dirty="0">
                <a:solidFill>
                  <a:srgbClr val="202020"/>
                </a:solidFill>
                <a:latin typeface="Calibri"/>
                <a:cs typeface="Calibri"/>
              </a:rPr>
              <a:t>=</a:t>
            </a:r>
            <a:r>
              <a:rPr sz="1298" spc="-30" dirty="0">
                <a:solidFill>
                  <a:srgbClr val="202020"/>
                </a:solidFill>
                <a:latin typeface="Calibri"/>
                <a:cs typeface="Calibri"/>
              </a:rPr>
              <a:t> </a:t>
            </a:r>
            <a:r>
              <a:rPr sz="1298" dirty="0">
                <a:solidFill>
                  <a:srgbClr val="202020"/>
                </a:solidFill>
                <a:latin typeface="Calibri"/>
                <a:cs typeface="Calibri"/>
              </a:rPr>
              <a:t>'abc'</a:t>
            </a:r>
            <a:r>
              <a:rPr sz="1298" spc="-30" dirty="0">
                <a:solidFill>
                  <a:srgbClr val="202020"/>
                </a:solidFill>
                <a:latin typeface="Calibri"/>
                <a:cs typeface="Calibri"/>
              </a:rPr>
              <a:t> </a:t>
            </a:r>
            <a:r>
              <a:rPr sz="1298" dirty="0">
                <a:solidFill>
                  <a:srgbClr val="202020"/>
                </a:solidFill>
                <a:latin typeface="Calibri"/>
                <a:cs typeface="Calibri"/>
              </a:rPr>
              <a:t>AFTER</a:t>
            </a:r>
            <a:r>
              <a:rPr sz="1298" spc="-30" dirty="0">
                <a:solidFill>
                  <a:srgbClr val="202020"/>
                </a:solidFill>
                <a:latin typeface="Calibri"/>
                <a:cs typeface="Calibri"/>
              </a:rPr>
              <a:t> </a:t>
            </a:r>
            <a:r>
              <a:rPr sz="1298" dirty="0">
                <a:solidFill>
                  <a:srgbClr val="202020"/>
                </a:solidFill>
                <a:latin typeface="Calibri"/>
                <a:cs typeface="Calibri"/>
              </a:rPr>
              <a:t>the</a:t>
            </a:r>
            <a:r>
              <a:rPr sz="1298" spc="-30" dirty="0">
                <a:solidFill>
                  <a:srgbClr val="202020"/>
                </a:solidFill>
                <a:latin typeface="Calibri"/>
                <a:cs typeface="Calibri"/>
              </a:rPr>
              <a:t> </a:t>
            </a:r>
            <a:r>
              <a:rPr sz="1298" spc="-10" dirty="0">
                <a:solidFill>
                  <a:srgbClr val="202020"/>
                </a:solidFill>
                <a:latin typeface="Calibri"/>
                <a:cs typeface="Calibri"/>
              </a:rPr>
              <a:t>conversion</a:t>
            </a:r>
            <a:r>
              <a:rPr sz="1298" spc="-30" dirty="0">
                <a:solidFill>
                  <a:srgbClr val="202020"/>
                </a:solidFill>
                <a:latin typeface="Calibri"/>
                <a:cs typeface="Calibri"/>
              </a:rPr>
              <a:t> </a:t>
            </a:r>
            <a:r>
              <a:rPr sz="1298" dirty="0">
                <a:solidFill>
                  <a:srgbClr val="202020"/>
                </a:solidFill>
                <a:latin typeface="Calibri"/>
                <a:cs typeface="Calibri"/>
              </a:rPr>
              <a:t>-</a:t>
            </a:r>
            <a:r>
              <a:rPr sz="1298" spc="-30" dirty="0">
                <a:solidFill>
                  <a:srgbClr val="202020"/>
                </a:solidFill>
                <a:latin typeface="Calibri"/>
                <a:cs typeface="Calibri"/>
              </a:rPr>
              <a:t> </a:t>
            </a:r>
            <a:r>
              <a:rPr sz="1298" dirty="0">
                <a:solidFill>
                  <a:srgbClr val="202020"/>
                </a:solidFill>
                <a:latin typeface="Calibri"/>
                <a:cs typeface="Calibri"/>
              </a:rPr>
              <a:t>the</a:t>
            </a:r>
            <a:r>
              <a:rPr sz="1298" spc="-30" dirty="0">
                <a:solidFill>
                  <a:srgbClr val="202020"/>
                </a:solidFill>
                <a:latin typeface="Calibri"/>
                <a:cs typeface="Calibri"/>
              </a:rPr>
              <a:t> </a:t>
            </a:r>
            <a:r>
              <a:rPr sz="1298" dirty="0">
                <a:solidFill>
                  <a:srgbClr val="202020"/>
                </a:solidFill>
                <a:latin typeface="Calibri"/>
                <a:cs typeface="Calibri"/>
              </a:rPr>
              <a:t>NUMERIC</a:t>
            </a:r>
            <a:r>
              <a:rPr sz="1298" spc="-30" dirty="0">
                <a:solidFill>
                  <a:srgbClr val="202020"/>
                </a:solidFill>
                <a:latin typeface="Calibri"/>
                <a:cs typeface="Calibri"/>
              </a:rPr>
              <a:t> </a:t>
            </a:r>
            <a:r>
              <a:rPr sz="1298" dirty="0">
                <a:solidFill>
                  <a:srgbClr val="202020"/>
                </a:solidFill>
                <a:latin typeface="Calibri"/>
                <a:cs typeface="Calibri"/>
              </a:rPr>
              <a:t>type</a:t>
            </a:r>
            <a:r>
              <a:rPr sz="1298" spc="-30" dirty="0">
                <a:solidFill>
                  <a:srgbClr val="202020"/>
                </a:solidFill>
                <a:latin typeface="Calibri"/>
                <a:cs typeface="Calibri"/>
              </a:rPr>
              <a:t> </a:t>
            </a:r>
            <a:r>
              <a:rPr sz="1298" dirty="0">
                <a:solidFill>
                  <a:srgbClr val="202020"/>
                </a:solidFill>
                <a:latin typeface="Calibri"/>
                <a:cs typeface="Calibri"/>
              </a:rPr>
              <a:t>now</a:t>
            </a:r>
            <a:r>
              <a:rPr sz="1298" spc="-30" dirty="0">
                <a:solidFill>
                  <a:srgbClr val="202020"/>
                </a:solidFill>
                <a:latin typeface="Calibri"/>
                <a:cs typeface="Calibri"/>
              </a:rPr>
              <a:t> </a:t>
            </a:r>
            <a:r>
              <a:rPr sz="1298" spc="-10" dirty="0">
                <a:solidFill>
                  <a:srgbClr val="202020"/>
                </a:solidFill>
                <a:latin typeface="Calibri"/>
                <a:cs typeface="Calibri"/>
              </a:rPr>
              <a:t>rejects</a:t>
            </a:r>
            <a:r>
              <a:rPr sz="1298" spc="-30" dirty="0">
                <a:solidFill>
                  <a:srgbClr val="202020"/>
                </a:solidFill>
                <a:latin typeface="Calibri"/>
                <a:cs typeface="Calibri"/>
              </a:rPr>
              <a:t> </a:t>
            </a:r>
            <a:r>
              <a:rPr sz="1298" spc="-25" dirty="0">
                <a:solidFill>
                  <a:srgbClr val="202020"/>
                </a:solidFill>
                <a:latin typeface="Calibri"/>
                <a:cs typeface="Calibri"/>
              </a:rPr>
              <a:t>it.</a:t>
            </a:r>
            <a:endParaRPr sz="1298">
              <a:latin typeface="Calibri"/>
              <a:cs typeface="Calibri"/>
            </a:endParaRPr>
          </a:p>
          <a:p>
            <a:pPr marL="12685" marR="53276">
              <a:lnSpc>
                <a:spcPct val="120100"/>
              </a:lnSpc>
              <a:spcBef>
                <a:spcPts val="574"/>
              </a:spcBef>
            </a:pPr>
            <a:r>
              <a:rPr sz="1298" b="1" dirty="0">
                <a:solidFill>
                  <a:srgbClr val="1D3A5E"/>
                </a:solidFill>
                <a:latin typeface="Calibri"/>
                <a:cs typeface="Calibri"/>
              </a:rPr>
              <a:t>Hint:</a:t>
            </a:r>
            <a:r>
              <a:rPr sz="1298" b="1" spc="-40" dirty="0">
                <a:solidFill>
                  <a:srgbClr val="1D3A5E"/>
                </a:solidFill>
                <a:latin typeface="Calibri"/>
                <a:cs typeface="Calibri"/>
              </a:rPr>
              <a:t> </a:t>
            </a:r>
            <a:r>
              <a:rPr sz="1298" dirty="0">
                <a:solidFill>
                  <a:srgbClr val="202020"/>
                </a:solidFill>
                <a:latin typeface="Calibri"/>
                <a:cs typeface="Calibri"/>
              </a:rPr>
              <a:t>This</a:t>
            </a:r>
            <a:r>
              <a:rPr sz="1298" spc="-40" dirty="0">
                <a:solidFill>
                  <a:srgbClr val="202020"/>
                </a:solidFill>
                <a:latin typeface="Calibri"/>
                <a:cs typeface="Calibri"/>
              </a:rPr>
              <a:t> </a:t>
            </a:r>
            <a:r>
              <a:rPr sz="1298" dirty="0">
                <a:solidFill>
                  <a:srgbClr val="202020"/>
                </a:solidFill>
                <a:latin typeface="Calibri"/>
                <a:cs typeface="Calibri"/>
              </a:rPr>
              <a:t>is</a:t>
            </a:r>
            <a:r>
              <a:rPr sz="1298" spc="-35" dirty="0">
                <a:solidFill>
                  <a:srgbClr val="202020"/>
                </a:solidFill>
                <a:latin typeface="Calibri"/>
                <a:cs typeface="Calibri"/>
              </a:rPr>
              <a:t> </a:t>
            </a:r>
            <a:r>
              <a:rPr sz="1298" dirty="0">
                <a:solidFill>
                  <a:srgbClr val="202020"/>
                </a:solidFill>
                <a:latin typeface="Calibri"/>
                <a:cs typeface="Calibri"/>
              </a:rPr>
              <a:t>the</a:t>
            </a:r>
            <a:r>
              <a:rPr sz="1298" spc="-40" dirty="0">
                <a:solidFill>
                  <a:srgbClr val="202020"/>
                </a:solidFill>
                <a:latin typeface="Calibri"/>
                <a:cs typeface="Calibri"/>
              </a:rPr>
              <a:t> </a:t>
            </a:r>
            <a:r>
              <a:rPr sz="1298" dirty="0">
                <a:solidFill>
                  <a:srgbClr val="202020"/>
                </a:solidFill>
                <a:latin typeface="Calibri"/>
                <a:cs typeface="Calibri"/>
              </a:rPr>
              <a:t>whole</a:t>
            </a:r>
            <a:r>
              <a:rPr sz="1298" spc="-35" dirty="0">
                <a:solidFill>
                  <a:srgbClr val="202020"/>
                </a:solidFill>
                <a:latin typeface="Calibri"/>
                <a:cs typeface="Calibri"/>
              </a:rPr>
              <a:t> </a:t>
            </a:r>
            <a:r>
              <a:rPr sz="1298" dirty="0">
                <a:solidFill>
                  <a:srgbClr val="202020"/>
                </a:solidFill>
                <a:latin typeface="Calibri"/>
                <a:cs typeface="Calibri"/>
              </a:rPr>
              <a:t>arc:</a:t>
            </a:r>
            <a:r>
              <a:rPr sz="1298" spc="-40" dirty="0">
                <a:solidFill>
                  <a:srgbClr val="202020"/>
                </a:solidFill>
                <a:latin typeface="Calibri"/>
                <a:cs typeface="Calibri"/>
              </a:rPr>
              <a:t> </a:t>
            </a:r>
            <a:r>
              <a:rPr sz="1298" spc="-10" dirty="0">
                <a:solidFill>
                  <a:srgbClr val="202020"/>
                </a:solidFill>
                <a:latin typeface="Calibri"/>
                <a:cs typeface="Calibri"/>
              </a:rPr>
              <a:t>yesterday's</a:t>
            </a:r>
            <a:r>
              <a:rPr sz="1298" spc="-35" dirty="0">
                <a:solidFill>
                  <a:srgbClr val="202020"/>
                </a:solidFill>
                <a:latin typeface="Calibri"/>
                <a:cs typeface="Calibri"/>
              </a:rPr>
              <a:t> </a:t>
            </a:r>
            <a:r>
              <a:rPr sz="1298" dirty="0">
                <a:solidFill>
                  <a:srgbClr val="202020"/>
                </a:solidFill>
                <a:latin typeface="Calibri"/>
                <a:cs typeface="Calibri"/>
              </a:rPr>
              <a:t>TEXT</a:t>
            </a:r>
            <a:r>
              <a:rPr sz="1298" spc="-40" dirty="0">
                <a:solidFill>
                  <a:srgbClr val="202020"/>
                </a:solidFill>
                <a:latin typeface="Calibri"/>
                <a:cs typeface="Calibri"/>
              </a:rPr>
              <a:t> </a:t>
            </a:r>
            <a:r>
              <a:rPr sz="1298" dirty="0">
                <a:solidFill>
                  <a:srgbClr val="202020"/>
                </a:solidFill>
                <a:latin typeface="Calibri"/>
                <a:cs typeface="Calibri"/>
              </a:rPr>
              <a:t>pain</a:t>
            </a:r>
            <a:r>
              <a:rPr sz="1298" spc="-35" dirty="0">
                <a:solidFill>
                  <a:srgbClr val="202020"/>
                </a:solidFill>
                <a:latin typeface="Calibri"/>
                <a:cs typeface="Calibri"/>
              </a:rPr>
              <a:t> </a:t>
            </a:r>
            <a:r>
              <a:rPr sz="1298" spc="-10" dirty="0">
                <a:solidFill>
                  <a:srgbClr val="202020"/>
                </a:solidFill>
                <a:latin typeface="Calibri"/>
                <a:cs typeface="Calibri"/>
              </a:rPr>
              <a:t>-</a:t>
            </a:r>
            <a:r>
              <a:rPr sz="1298" dirty="0">
                <a:solidFill>
                  <a:srgbClr val="202020"/>
                </a:solidFill>
                <a:latin typeface="Calibri"/>
                <a:cs typeface="Calibri"/>
              </a:rPr>
              <a:t>&gt;</a:t>
            </a:r>
            <a:r>
              <a:rPr sz="1298" spc="-40" dirty="0">
                <a:solidFill>
                  <a:srgbClr val="202020"/>
                </a:solidFill>
                <a:latin typeface="Calibri"/>
                <a:cs typeface="Calibri"/>
              </a:rPr>
              <a:t> </a:t>
            </a:r>
            <a:r>
              <a:rPr sz="1298" spc="-10" dirty="0">
                <a:solidFill>
                  <a:srgbClr val="202020"/>
                </a:solidFill>
                <a:latin typeface="Calibri"/>
                <a:cs typeface="Calibri"/>
              </a:rPr>
              <a:t>today's</a:t>
            </a:r>
            <a:r>
              <a:rPr sz="1298" spc="-35" dirty="0">
                <a:solidFill>
                  <a:srgbClr val="202020"/>
                </a:solidFill>
                <a:latin typeface="Calibri"/>
                <a:cs typeface="Calibri"/>
              </a:rPr>
              <a:t> </a:t>
            </a:r>
            <a:r>
              <a:rPr sz="1298" spc="-20" dirty="0">
                <a:solidFill>
                  <a:srgbClr val="202020"/>
                </a:solidFill>
                <a:latin typeface="Calibri"/>
                <a:cs typeface="Calibri"/>
              </a:rPr>
              <a:t>ALTER</a:t>
            </a:r>
            <a:r>
              <a:rPr sz="1298" spc="-40" dirty="0">
                <a:solidFill>
                  <a:srgbClr val="202020"/>
                </a:solidFill>
                <a:latin typeface="Calibri"/>
                <a:cs typeface="Calibri"/>
              </a:rPr>
              <a:t> </a:t>
            </a:r>
            <a:r>
              <a:rPr sz="1298" dirty="0">
                <a:solidFill>
                  <a:srgbClr val="202020"/>
                </a:solidFill>
                <a:latin typeface="Calibri"/>
                <a:cs typeface="Calibri"/>
              </a:rPr>
              <a:t>...</a:t>
            </a:r>
            <a:r>
              <a:rPr sz="1298" spc="-40" dirty="0">
                <a:solidFill>
                  <a:srgbClr val="202020"/>
                </a:solidFill>
                <a:latin typeface="Calibri"/>
                <a:cs typeface="Calibri"/>
              </a:rPr>
              <a:t> </a:t>
            </a:r>
            <a:r>
              <a:rPr sz="1298" dirty="0">
                <a:solidFill>
                  <a:srgbClr val="202020"/>
                </a:solidFill>
                <a:latin typeface="Calibri"/>
                <a:cs typeface="Calibri"/>
              </a:rPr>
              <a:t>USING</a:t>
            </a:r>
            <a:r>
              <a:rPr sz="1298" spc="-35" dirty="0">
                <a:solidFill>
                  <a:srgbClr val="202020"/>
                </a:solidFill>
                <a:latin typeface="Calibri"/>
                <a:cs typeface="Calibri"/>
              </a:rPr>
              <a:t> </a:t>
            </a:r>
            <a:r>
              <a:rPr sz="1298" spc="-10" dirty="0">
                <a:solidFill>
                  <a:srgbClr val="202020"/>
                </a:solidFill>
                <a:latin typeface="Calibri"/>
                <a:cs typeface="Calibri"/>
              </a:rPr>
              <a:t>-</a:t>
            </a:r>
            <a:r>
              <a:rPr sz="1298" dirty="0">
                <a:solidFill>
                  <a:srgbClr val="202020"/>
                </a:solidFill>
                <a:latin typeface="Calibri"/>
                <a:cs typeface="Calibri"/>
              </a:rPr>
              <a:t>&gt;</a:t>
            </a:r>
            <a:r>
              <a:rPr sz="1298" spc="-40" dirty="0">
                <a:solidFill>
                  <a:srgbClr val="202020"/>
                </a:solidFill>
                <a:latin typeface="Calibri"/>
                <a:cs typeface="Calibri"/>
              </a:rPr>
              <a:t> </a:t>
            </a:r>
            <a:r>
              <a:rPr sz="1298" spc="-10" dirty="0">
                <a:solidFill>
                  <a:srgbClr val="202020"/>
                </a:solidFill>
                <a:latin typeface="Calibri"/>
                <a:cs typeface="Calibri"/>
              </a:rPr>
              <a:t>correct</a:t>
            </a:r>
            <a:r>
              <a:rPr sz="1298" spc="-35" dirty="0">
                <a:solidFill>
                  <a:srgbClr val="202020"/>
                </a:solidFill>
                <a:latin typeface="Calibri"/>
                <a:cs typeface="Calibri"/>
              </a:rPr>
              <a:t> </a:t>
            </a:r>
            <a:r>
              <a:rPr sz="1298" dirty="0">
                <a:solidFill>
                  <a:srgbClr val="202020"/>
                </a:solidFill>
                <a:latin typeface="Calibri"/>
                <a:cs typeface="Calibri"/>
              </a:rPr>
              <a:t>math</a:t>
            </a:r>
            <a:r>
              <a:rPr sz="1298" spc="-40" dirty="0">
                <a:solidFill>
                  <a:srgbClr val="202020"/>
                </a:solidFill>
                <a:latin typeface="Calibri"/>
                <a:cs typeface="Calibri"/>
              </a:rPr>
              <a:t> </a:t>
            </a:r>
            <a:r>
              <a:rPr sz="1298" dirty="0">
                <a:solidFill>
                  <a:srgbClr val="202020"/>
                </a:solidFill>
                <a:latin typeface="Calibri"/>
                <a:cs typeface="Calibri"/>
              </a:rPr>
              <a:t>and</a:t>
            </a:r>
            <a:r>
              <a:rPr sz="1298" spc="-35" dirty="0">
                <a:solidFill>
                  <a:srgbClr val="202020"/>
                </a:solidFill>
                <a:latin typeface="Calibri"/>
                <a:cs typeface="Calibri"/>
              </a:rPr>
              <a:t> </a:t>
            </a:r>
            <a:r>
              <a:rPr sz="1298" dirty="0">
                <a:solidFill>
                  <a:srgbClr val="202020"/>
                </a:solidFill>
                <a:latin typeface="Calibri"/>
                <a:cs typeface="Calibri"/>
              </a:rPr>
              <a:t>sorting</a:t>
            </a:r>
            <a:r>
              <a:rPr sz="1298" spc="-40" dirty="0">
                <a:solidFill>
                  <a:srgbClr val="202020"/>
                </a:solidFill>
                <a:latin typeface="Calibri"/>
                <a:cs typeface="Calibri"/>
              </a:rPr>
              <a:t> </a:t>
            </a:r>
            <a:r>
              <a:rPr sz="1298" spc="-30" dirty="0">
                <a:solidFill>
                  <a:srgbClr val="202020"/>
                </a:solidFill>
                <a:latin typeface="Calibri"/>
                <a:cs typeface="Calibri"/>
              </a:rPr>
              <a:t>forever.</a:t>
            </a:r>
            <a:r>
              <a:rPr sz="1298" spc="-35" dirty="0">
                <a:solidFill>
                  <a:srgbClr val="202020"/>
                </a:solidFill>
                <a:latin typeface="Calibri"/>
                <a:cs typeface="Calibri"/>
              </a:rPr>
              <a:t> </a:t>
            </a:r>
            <a:r>
              <a:rPr sz="1298" dirty="0">
                <a:solidFill>
                  <a:srgbClr val="202020"/>
                </a:solidFill>
                <a:latin typeface="Calibri"/>
                <a:cs typeface="Calibri"/>
              </a:rPr>
              <a:t>Keep</a:t>
            </a:r>
            <a:r>
              <a:rPr sz="1298" spc="-40" dirty="0">
                <a:solidFill>
                  <a:srgbClr val="202020"/>
                </a:solidFill>
                <a:latin typeface="Calibri"/>
                <a:cs typeface="Calibri"/>
              </a:rPr>
              <a:t> </a:t>
            </a:r>
            <a:r>
              <a:rPr sz="1298" spc="-25" dirty="0">
                <a:solidFill>
                  <a:srgbClr val="202020"/>
                </a:solidFill>
                <a:latin typeface="Calibri"/>
                <a:cs typeface="Calibri"/>
              </a:rPr>
              <a:t>the </a:t>
            </a:r>
            <a:r>
              <a:rPr sz="1298" dirty="0">
                <a:solidFill>
                  <a:srgbClr val="202020"/>
                </a:solidFill>
                <a:latin typeface="Calibri"/>
                <a:cs typeface="Calibri"/>
              </a:rPr>
              <a:t>loaded</a:t>
            </a:r>
            <a:r>
              <a:rPr sz="1298" spc="-50" dirty="0">
                <a:solidFill>
                  <a:srgbClr val="202020"/>
                </a:solidFill>
                <a:latin typeface="Calibri"/>
                <a:cs typeface="Calibri"/>
              </a:rPr>
              <a:t> </a:t>
            </a:r>
            <a:r>
              <a:rPr sz="1298" dirty="0">
                <a:solidFill>
                  <a:srgbClr val="202020"/>
                </a:solidFill>
                <a:latin typeface="Calibri"/>
                <a:cs typeface="Calibri"/>
              </a:rPr>
              <a:t>data</a:t>
            </a:r>
            <a:r>
              <a:rPr sz="1298" spc="-45" dirty="0">
                <a:solidFill>
                  <a:srgbClr val="202020"/>
                </a:solidFill>
                <a:latin typeface="Calibri"/>
                <a:cs typeface="Calibri"/>
              </a:rPr>
              <a:t> </a:t>
            </a:r>
            <a:r>
              <a:rPr sz="1298" spc="-30" dirty="0">
                <a:solidFill>
                  <a:srgbClr val="202020"/>
                </a:solidFill>
                <a:latin typeface="Calibri"/>
                <a:cs typeface="Calibri"/>
              </a:rPr>
              <a:t>text-</a:t>
            </a:r>
            <a:r>
              <a:rPr sz="1298" dirty="0">
                <a:solidFill>
                  <a:srgbClr val="202020"/>
                </a:solidFill>
                <a:latin typeface="Calibri"/>
                <a:cs typeface="Calibri"/>
              </a:rPr>
              <a:t>clean</a:t>
            </a:r>
            <a:r>
              <a:rPr sz="1298" spc="-45" dirty="0">
                <a:solidFill>
                  <a:srgbClr val="202020"/>
                </a:solidFill>
                <a:latin typeface="Calibri"/>
                <a:cs typeface="Calibri"/>
              </a:rPr>
              <a:t> </a:t>
            </a:r>
            <a:r>
              <a:rPr sz="1298" dirty="0">
                <a:solidFill>
                  <a:srgbClr val="202020"/>
                </a:solidFill>
                <a:latin typeface="Calibri"/>
                <a:cs typeface="Calibri"/>
              </a:rPr>
              <a:t>so</a:t>
            </a:r>
            <a:r>
              <a:rPr sz="1298" spc="-45" dirty="0">
                <a:solidFill>
                  <a:srgbClr val="202020"/>
                </a:solidFill>
                <a:latin typeface="Calibri"/>
                <a:cs typeface="Calibri"/>
              </a:rPr>
              <a:t> </a:t>
            </a:r>
            <a:r>
              <a:rPr sz="1298" dirty="0">
                <a:solidFill>
                  <a:srgbClr val="202020"/>
                </a:solidFill>
                <a:latin typeface="Calibri"/>
                <a:cs typeface="Calibri"/>
              </a:rPr>
              <a:t>every</a:t>
            </a:r>
            <a:r>
              <a:rPr sz="1298" spc="-45" dirty="0">
                <a:solidFill>
                  <a:srgbClr val="202020"/>
                </a:solidFill>
                <a:latin typeface="Calibri"/>
                <a:cs typeface="Calibri"/>
              </a:rPr>
              <a:t> </a:t>
            </a:r>
            <a:r>
              <a:rPr sz="1298" dirty="0">
                <a:solidFill>
                  <a:srgbClr val="202020"/>
                </a:solidFill>
                <a:latin typeface="Calibri"/>
                <a:cs typeface="Calibri"/>
              </a:rPr>
              <a:t>USING</a:t>
            </a:r>
            <a:r>
              <a:rPr sz="1298" spc="-45" dirty="0">
                <a:solidFill>
                  <a:srgbClr val="202020"/>
                </a:solidFill>
                <a:latin typeface="Calibri"/>
                <a:cs typeface="Calibri"/>
              </a:rPr>
              <a:t> </a:t>
            </a:r>
            <a:r>
              <a:rPr sz="1298" dirty="0">
                <a:solidFill>
                  <a:srgbClr val="202020"/>
                </a:solidFill>
                <a:latin typeface="Calibri"/>
                <a:cs typeface="Calibri"/>
              </a:rPr>
              <a:t>cast</a:t>
            </a:r>
            <a:r>
              <a:rPr sz="1298" spc="-45" dirty="0">
                <a:solidFill>
                  <a:srgbClr val="202020"/>
                </a:solidFill>
                <a:latin typeface="Calibri"/>
                <a:cs typeface="Calibri"/>
              </a:rPr>
              <a:t> </a:t>
            </a:r>
            <a:r>
              <a:rPr sz="1298" spc="-10" dirty="0">
                <a:solidFill>
                  <a:srgbClr val="202020"/>
                </a:solidFill>
                <a:latin typeface="Calibri"/>
                <a:cs typeface="Calibri"/>
              </a:rPr>
              <a:t>succeeds.</a:t>
            </a:r>
            <a:endParaRPr sz="1298">
              <a:latin typeface="Calibri"/>
              <a:cs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638" y="3"/>
            <a:ext cx="9132725" cy="5137792"/>
          </a:xfrm>
          <a:custGeom>
            <a:avLst/>
            <a:gdLst/>
            <a:ahLst/>
            <a:cxnLst/>
            <a:rect l="l" t="t" r="r" b="b"/>
            <a:pathLst>
              <a:path w="9144000" h="5144135">
                <a:moveTo>
                  <a:pt x="9144000" y="0"/>
                </a:moveTo>
                <a:lnTo>
                  <a:pt x="0" y="0"/>
                </a:lnTo>
                <a:lnTo>
                  <a:pt x="0" y="5143677"/>
                </a:lnTo>
                <a:lnTo>
                  <a:pt x="9144000" y="5143677"/>
                </a:lnTo>
                <a:lnTo>
                  <a:pt x="9144000" y="0"/>
                </a:lnTo>
                <a:close/>
              </a:path>
            </a:pathLst>
          </a:custGeom>
          <a:solidFill>
            <a:srgbClr val="1D1D1D"/>
          </a:solidFill>
        </p:spPr>
        <p:txBody>
          <a:bodyPr wrap="square" lIns="0" tIns="0" rIns="0" bIns="0" rtlCol="0"/>
          <a:lstStyle/>
          <a:p>
            <a:endParaRPr sz="1798"/>
          </a:p>
        </p:txBody>
      </p:sp>
      <p:sp>
        <p:nvSpPr>
          <p:cNvPr id="3" name="object 3"/>
          <p:cNvSpPr/>
          <p:nvPr/>
        </p:nvSpPr>
        <p:spPr>
          <a:xfrm>
            <a:off x="5283" y="4839990"/>
            <a:ext cx="9132725" cy="296814"/>
          </a:xfrm>
          <a:custGeom>
            <a:avLst/>
            <a:gdLst/>
            <a:ahLst/>
            <a:cxnLst/>
            <a:rect l="l" t="t" r="r" b="b"/>
            <a:pathLst>
              <a:path w="9144000" h="297179">
                <a:moveTo>
                  <a:pt x="9143631" y="0"/>
                </a:moveTo>
                <a:lnTo>
                  <a:pt x="0" y="0"/>
                </a:lnTo>
                <a:lnTo>
                  <a:pt x="0" y="296989"/>
                </a:lnTo>
                <a:lnTo>
                  <a:pt x="4572000" y="296989"/>
                </a:lnTo>
                <a:lnTo>
                  <a:pt x="9143631" y="296989"/>
                </a:lnTo>
                <a:lnTo>
                  <a:pt x="9143631" y="0"/>
                </a:lnTo>
                <a:close/>
              </a:path>
            </a:pathLst>
          </a:custGeom>
          <a:solidFill>
            <a:srgbClr val="333333"/>
          </a:solidFill>
        </p:spPr>
        <p:txBody>
          <a:bodyPr wrap="square" lIns="0" tIns="0" rIns="0" bIns="0" rtlCol="0"/>
          <a:lstStyle/>
          <a:p>
            <a:endParaRPr sz="1798"/>
          </a:p>
        </p:txBody>
      </p:sp>
      <p:sp>
        <p:nvSpPr>
          <p:cNvPr id="4" name="object 4"/>
          <p:cNvSpPr/>
          <p:nvPr/>
        </p:nvSpPr>
        <p:spPr>
          <a:xfrm>
            <a:off x="5283" y="-353"/>
            <a:ext cx="9132725" cy="54543"/>
          </a:xfrm>
          <a:custGeom>
            <a:avLst/>
            <a:gdLst/>
            <a:ahLst/>
            <a:cxnLst/>
            <a:rect l="l" t="t" r="r" b="b"/>
            <a:pathLst>
              <a:path w="9144000" h="54610">
                <a:moveTo>
                  <a:pt x="9143631" y="0"/>
                </a:moveTo>
                <a:lnTo>
                  <a:pt x="0" y="0"/>
                </a:lnTo>
                <a:lnTo>
                  <a:pt x="0" y="54355"/>
                </a:lnTo>
                <a:lnTo>
                  <a:pt x="4572000" y="54355"/>
                </a:lnTo>
                <a:lnTo>
                  <a:pt x="9143631" y="54355"/>
                </a:lnTo>
                <a:lnTo>
                  <a:pt x="9143631" y="0"/>
                </a:lnTo>
                <a:close/>
              </a:path>
            </a:pathLst>
          </a:custGeom>
          <a:solidFill>
            <a:srgbClr val="9C27AF"/>
          </a:solidFill>
        </p:spPr>
        <p:txBody>
          <a:bodyPr wrap="square" lIns="0" tIns="0" rIns="0" bIns="0" rtlCol="0"/>
          <a:lstStyle/>
          <a:p>
            <a:endParaRPr sz="1798"/>
          </a:p>
        </p:txBody>
      </p:sp>
      <p:sp>
        <p:nvSpPr>
          <p:cNvPr id="5" name="object 5"/>
          <p:cNvSpPr/>
          <p:nvPr/>
        </p:nvSpPr>
        <p:spPr>
          <a:xfrm>
            <a:off x="7311462" y="136637"/>
            <a:ext cx="1461236" cy="365309"/>
          </a:xfrm>
          <a:custGeom>
            <a:avLst/>
            <a:gdLst/>
            <a:ahLst/>
            <a:cxnLst/>
            <a:rect l="l" t="t" r="r" b="b"/>
            <a:pathLst>
              <a:path w="1463040" h="365759">
                <a:moveTo>
                  <a:pt x="1462671" y="0"/>
                </a:moveTo>
                <a:lnTo>
                  <a:pt x="0" y="0"/>
                </a:lnTo>
                <a:lnTo>
                  <a:pt x="0" y="365391"/>
                </a:lnTo>
                <a:lnTo>
                  <a:pt x="731520" y="365391"/>
                </a:lnTo>
                <a:lnTo>
                  <a:pt x="1462671" y="365391"/>
                </a:lnTo>
                <a:lnTo>
                  <a:pt x="1462671" y="0"/>
                </a:lnTo>
                <a:close/>
              </a:path>
            </a:pathLst>
          </a:custGeom>
          <a:solidFill>
            <a:srgbClr val="9C27AF"/>
          </a:solidFill>
        </p:spPr>
        <p:txBody>
          <a:bodyPr wrap="square" lIns="0" tIns="0" rIns="0" bIns="0" rtlCol="0"/>
          <a:lstStyle/>
          <a:p>
            <a:endParaRPr sz="1798"/>
          </a:p>
        </p:txBody>
      </p:sp>
      <p:sp>
        <p:nvSpPr>
          <p:cNvPr id="6" name="object 6"/>
          <p:cNvSpPr txBox="1"/>
          <p:nvPr/>
        </p:nvSpPr>
        <p:spPr>
          <a:xfrm>
            <a:off x="7685650" y="187953"/>
            <a:ext cx="712226" cy="223183"/>
          </a:xfrm>
          <a:prstGeom prst="rect">
            <a:avLst/>
          </a:prstGeom>
        </p:spPr>
        <p:txBody>
          <a:bodyPr vert="horz" wrap="square" lIns="0" tIns="15855" rIns="0" bIns="0" rtlCol="0">
            <a:spAutoFit/>
          </a:bodyPr>
          <a:lstStyle/>
          <a:p>
            <a:pPr marL="12685">
              <a:spcBef>
                <a:spcPts val="125"/>
              </a:spcBef>
            </a:pPr>
            <a:r>
              <a:rPr sz="1348" spc="-155" dirty="0">
                <a:solidFill>
                  <a:srgbClr val="FFFFFF"/>
                </a:solidFill>
                <a:latin typeface="Segoe UI Symbol"/>
                <a:cs typeface="Segoe UI Symbol"/>
              </a:rPr>
              <a:t>✅</a:t>
            </a:r>
            <a:r>
              <a:rPr sz="1348" spc="-225" dirty="0">
                <a:solidFill>
                  <a:srgbClr val="FFFFFF"/>
                </a:solidFill>
                <a:latin typeface="Segoe UI Symbol"/>
                <a:cs typeface="Segoe UI Symbol"/>
              </a:rPr>
              <a:t> </a:t>
            </a:r>
            <a:r>
              <a:rPr sz="1099" b="1" spc="-10" dirty="0">
                <a:solidFill>
                  <a:srgbClr val="FFFFFF"/>
                </a:solidFill>
                <a:latin typeface="Calibri"/>
                <a:cs typeface="Calibri"/>
              </a:rPr>
              <a:t>ANSWER</a:t>
            </a:r>
            <a:endParaRPr sz="1099">
              <a:latin typeface="Calibri"/>
              <a:cs typeface="Calibri"/>
            </a:endParaRPr>
          </a:p>
        </p:txBody>
      </p:sp>
      <p:sp>
        <p:nvSpPr>
          <p:cNvPr id="7" name="object 7" descr="$PPTXTitle"/>
          <p:cNvSpPr txBox="1">
            <a:spLocks noGrp="1"/>
          </p:cNvSpPr>
          <p:nvPr>
            <p:ph type="title"/>
          </p:nvPr>
        </p:nvSpPr>
        <p:spPr>
          <a:xfrm>
            <a:off x="357907" y="180766"/>
            <a:ext cx="1371177" cy="257766"/>
          </a:xfrm>
          <a:prstGeom prst="rect">
            <a:avLst/>
          </a:prstGeom>
        </p:spPr>
        <p:txBody>
          <a:bodyPr vert="horz" wrap="square" lIns="0" tIns="12050" rIns="0" bIns="0" rtlCol="0">
            <a:spAutoFit/>
          </a:bodyPr>
          <a:lstStyle/>
          <a:p>
            <a:pPr marL="12685">
              <a:spcBef>
                <a:spcPts val="95"/>
              </a:spcBef>
            </a:pPr>
            <a:r>
              <a:rPr dirty="0">
                <a:latin typeface="Georgia"/>
                <a:cs typeface="Georgia"/>
              </a:rPr>
              <a:t>Answer</a:t>
            </a:r>
            <a:r>
              <a:rPr spc="-95" dirty="0">
                <a:latin typeface="Georgia"/>
                <a:cs typeface="Georgia"/>
              </a:rPr>
              <a:t> </a:t>
            </a:r>
            <a:r>
              <a:rPr spc="-20" dirty="0">
                <a:latin typeface="Georgia"/>
                <a:cs typeface="Georgia"/>
              </a:rPr>
              <a:t>(1/2)</a:t>
            </a:r>
          </a:p>
        </p:txBody>
      </p:sp>
      <p:sp>
        <p:nvSpPr>
          <p:cNvPr id="8" name="object 8"/>
          <p:cNvSpPr txBox="1"/>
          <p:nvPr/>
        </p:nvSpPr>
        <p:spPr>
          <a:xfrm>
            <a:off x="356461" y="625393"/>
            <a:ext cx="2537502" cy="695736"/>
          </a:xfrm>
          <a:prstGeom prst="rect">
            <a:avLst/>
          </a:prstGeom>
        </p:spPr>
        <p:txBody>
          <a:bodyPr vert="horz" wrap="square" lIns="0" tIns="27906" rIns="0" bIns="0" rtlCol="0">
            <a:spAutoFit/>
          </a:bodyPr>
          <a:lstStyle/>
          <a:p>
            <a:pPr marL="12685">
              <a:spcBef>
                <a:spcPts val="220"/>
              </a:spcBef>
            </a:pPr>
            <a:r>
              <a:rPr sz="999" dirty="0">
                <a:solidFill>
                  <a:srgbClr val="D3D3D3"/>
                </a:solidFill>
                <a:latin typeface="Courier New"/>
                <a:cs typeface="Courier New"/>
              </a:rPr>
              <a:t>CREATE</a:t>
            </a:r>
            <a:r>
              <a:rPr sz="999" spc="-25" dirty="0">
                <a:solidFill>
                  <a:srgbClr val="D3D3D3"/>
                </a:solidFill>
                <a:latin typeface="Courier New"/>
                <a:cs typeface="Courier New"/>
              </a:rPr>
              <a:t> </a:t>
            </a:r>
            <a:r>
              <a:rPr sz="999" dirty="0">
                <a:solidFill>
                  <a:srgbClr val="D3D3D3"/>
                </a:solidFill>
                <a:latin typeface="Courier New"/>
                <a:cs typeface="Courier New"/>
              </a:rPr>
              <a:t>SCHEMA</a:t>
            </a:r>
            <a:r>
              <a:rPr sz="999" spc="-25" dirty="0">
                <a:solidFill>
                  <a:srgbClr val="D3D3D3"/>
                </a:solidFill>
                <a:latin typeface="Courier New"/>
                <a:cs typeface="Courier New"/>
              </a:rPr>
              <a:t> </a:t>
            </a:r>
            <a:r>
              <a:rPr sz="999" dirty="0">
                <a:solidFill>
                  <a:srgbClr val="D3D3D3"/>
                </a:solidFill>
                <a:latin typeface="Courier New"/>
                <a:cs typeface="Courier New"/>
              </a:rPr>
              <a:t>IF</a:t>
            </a:r>
            <a:r>
              <a:rPr sz="999" spc="-20" dirty="0">
                <a:solidFill>
                  <a:srgbClr val="D3D3D3"/>
                </a:solidFill>
                <a:latin typeface="Courier New"/>
                <a:cs typeface="Courier New"/>
              </a:rPr>
              <a:t> </a:t>
            </a:r>
            <a:r>
              <a:rPr sz="999" dirty="0">
                <a:solidFill>
                  <a:srgbClr val="D3D3D3"/>
                </a:solidFill>
                <a:latin typeface="Courier New"/>
                <a:cs typeface="Courier New"/>
              </a:rPr>
              <a:t>NOT</a:t>
            </a:r>
            <a:r>
              <a:rPr sz="999" spc="-25" dirty="0">
                <a:solidFill>
                  <a:srgbClr val="D3D3D3"/>
                </a:solidFill>
                <a:latin typeface="Courier New"/>
                <a:cs typeface="Courier New"/>
              </a:rPr>
              <a:t> </a:t>
            </a:r>
            <a:r>
              <a:rPr sz="999" dirty="0">
                <a:solidFill>
                  <a:srgbClr val="D3D3D3"/>
                </a:solidFill>
                <a:latin typeface="Courier New"/>
                <a:cs typeface="Courier New"/>
              </a:rPr>
              <a:t>EXISTS</a:t>
            </a:r>
            <a:r>
              <a:rPr sz="999" spc="-20" dirty="0">
                <a:solidFill>
                  <a:srgbClr val="D3D3D3"/>
                </a:solidFill>
                <a:latin typeface="Courier New"/>
                <a:cs typeface="Courier New"/>
              </a:rPr>
              <a:t> </a:t>
            </a:r>
            <a:r>
              <a:rPr sz="999" spc="-10" dirty="0">
                <a:solidFill>
                  <a:srgbClr val="D3D3D3"/>
                </a:solidFill>
                <a:latin typeface="Courier New"/>
                <a:cs typeface="Courier New"/>
              </a:rPr>
              <a:t>shop;</a:t>
            </a:r>
            <a:endParaRPr sz="999">
              <a:latin typeface="Courier New"/>
              <a:cs typeface="Courier New"/>
            </a:endParaRPr>
          </a:p>
          <a:p>
            <a:pPr marL="164268" marR="5074" indent="-152217">
              <a:lnSpc>
                <a:spcPct val="110100"/>
              </a:lnSpc>
              <a:tabLst>
                <a:tab pos="1001462" algn="l"/>
              </a:tabLst>
            </a:pPr>
            <a:r>
              <a:rPr sz="999" dirty="0">
                <a:solidFill>
                  <a:srgbClr val="D3D3D3"/>
                </a:solidFill>
                <a:latin typeface="Courier New"/>
                <a:cs typeface="Courier New"/>
              </a:rPr>
              <a:t>CREATE</a:t>
            </a:r>
            <a:r>
              <a:rPr sz="999" spc="-50" dirty="0">
                <a:solidFill>
                  <a:srgbClr val="D3D3D3"/>
                </a:solidFill>
                <a:latin typeface="Courier New"/>
                <a:cs typeface="Courier New"/>
              </a:rPr>
              <a:t> </a:t>
            </a:r>
            <a:r>
              <a:rPr sz="999" dirty="0">
                <a:solidFill>
                  <a:srgbClr val="D3D3D3"/>
                </a:solidFill>
                <a:latin typeface="Courier New"/>
                <a:cs typeface="Courier New"/>
              </a:rPr>
              <a:t>TABLE</a:t>
            </a:r>
            <a:r>
              <a:rPr sz="999" spc="-45" dirty="0">
                <a:solidFill>
                  <a:srgbClr val="D3D3D3"/>
                </a:solidFill>
                <a:latin typeface="Courier New"/>
                <a:cs typeface="Courier New"/>
              </a:rPr>
              <a:t> </a:t>
            </a:r>
            <a:r>
              <a:rPr sz="999" dirty="0">
                <a:solidFill>
                  <a:srgbClr val="D3D3D3"/>
                </a:solidFill>
                <a:latin typeface="Courier New"/>
                <a:cs typeface="Courier New"/>
              </a:rPr>
              <a:t>shop.legacy_orders</a:t>
            </a:r>
            <a:r>
              <a:rPr sz="999" spc="-45" dirty="0">
                <a:solidFill>
                  <a:srgbClr val="D3D3D3"/>
                </a:solidFill>
                <a:latin typeface="Courier New"/>
                <a:cs typeface="Courier New"/>
              </a:rPr>
              <a:t> </a:t>
            </a:r>
            <a:r>
              <a:rPr sz="999" spc="-50" dirty="0">
                <a:solidFill>
                  <a:srgbClr val="D3D3D3"/>
                </a:solidFill>
                <a:latin typeface="Courier New"/>
                <a:cs typeface="Courier New"/>
              </a:rPr>
              <a:t>( </a:t>
            </a:r>
            <a:r>
              <a:rPr sz="999" spc="-10" dirty="0">
                <a:solidFill>
                  <a:srgbClr val="D3D3D3"/>
                </a:solidFill>
                <a:latin typeface="Courier New"/>
                <a:cs typeface="Courier New"/>
              </a:rPr>
              <a:t>order_id</a:t>
            </a:r>
            <a:r>
              <a:rPr sz="999" dirty="0">
                <a:solidFill>
                  <a:srgbClr val="D3D3D3"/>
                </a:solidFill>
                <a:latin typeface="Courier New"/>
                <a:cs typeface="Courier New"/>
              </a:rPr>
              <a:t>	</a:t>
            </a:r>
            <a:r>
              <a:rPr sz="999" spc="-10" dirty="0">
                <a:solidFill>
                  <a:srgbClr val="D3D3D3"/>
                </a:solidFill>
                <a:latin typeface="Courier New"/>
                <a:cs typeface="Courier New"/>
              </a:rPr>
              <a:t>TEXT,</a:t>
            </a:r>
            <a:endParaRPr sz="999">
              <a:latin typeface="Courier New"/>
              <a:cs typeface="Courier New"/>
            </a:endParaRPr>
          </a:p>
          <a:p>
            <a:pPr marL="164268">
              <a:spcBef>
                <a:spcPts val="120"/>
              </a:spcBef>
            </a:pPr>
            <a:r>
              <a:rPr sz="999" dirty="0">
                <a:solidFill>
                  <a:srgbClr val="D3D3D3"/>
                </a:solidFill>
                <a:latin typeface="Courier New"/>
                <a:cs typeface="Courier New"/>
              </a:rPr>
              <a:t>order_date</a:t>
            </a:r>
            <a:r>
              <a:rPr sz="999" spc="-45" dirty="0">
                <a:solidFill>
                  <a:srgbClr val="D3D3D3"/>
                </a:solidFill>
                <a:latin typeface="Courier New"/>
                <a:cs typeface="Courier New"/>
              </a:rPr>
              <a:t> </a:t>
            </a:r>
            <a:r>
              <a:rPr sz="999" spc="-10" dirty="0">
                <a:solidFill>
                  <a:srgbClr val="D3D3D3"/>
                </a:solidFill>
                <a:latin typeface="Courier New"/>
                <a:cs typeface="Courier New"/>
              </a:rPr>
              <a:t>TEXT,</a:t>
            </a:r>
            <a:endParaRPr sz="999">
              <a:latin typeface="Courier New"/>
              <a:cs typeface="Courier New"/>
            </a:endParaRPr>
          </a:p>
        </p:txBody>
      </p:sp>
      <p:sp>
        <p:nvSpPr>
          <p:cNvPr id="9" name="object 9"/>
          <p:cNvSpPr txBox="1"/>
          <p:nvPr/>
        </p:nvSpPr>
        <p:spPr>
          <a:xfrm>
            <a:off x="1345798" y="1295608"/>
            <a:ext cx="406532" cy="346847"/>
          </a:xfrm>
          <a:prstGeom prst="rect">
            <a:avLst/>
          </a:prstGeom>
        </p:spPr>
        <p:txBody>
          <a:bodyPr vert="horz" wrap="square" lIns="0" tIns="12684" rIns="0" bIns="0" rtlCol="0">
            <a:spAutoFit/>
          </a:bodyPr>
          <a:lstStyle/>
          <a:p>
            <a:pPr marL="12685" marR="5074">
              <a:lnSpc>
                <a:spcPct val="110100"/>
              </a:lnSpc>
              <a:spcBef>
                <a:spcPts val="100"/>
              </a:spcBef>
            </a:pPr>
            <a:r>
              <a:rPr sz="999" spc="-10" dirty="0">
                <a:solidFill>
                  <a:srgbClr val="D3D3D3"/>
                </a:solidFill>
                <a:latin typeface="Courier New"/>
                <a:cs typeface="Courier New"/>
              </a:rPr>
              <a:t>TEXT, </a:t>
            </a:r>
            <a:r>
              <a:rPr sz="999" spc="-20" dirty="0">
                <a:solidFill>
                  <a:srgbClr val="D3D3D3"/>
                </a:solidFill>
                <a:latin typeface="Courier New"/>
                <a:cs typeface="Courier New"/>
              </a:rPr>
              <a:t>TEXT</a:t>
            </a:r>
            <a:endParaRPr sz="999">
              <a:latin typeface="Courier New"/>
              <a:cs typeface="Courier New"/>
            </a:endParaRPr>
          </a:p>
        </p:txBody>
      </p:sp>
      <p:sp>
        <p:nvSpPr>
          <p:cNvPr id="10" name="object 10"/>
          <p:cNvSpPr txBox="1"/>
          <p:nvPr/>
        </p:nvSpPr>
        <p:spPr>
          <a:xfrm>
            <a:off x="356461" y="1295608"/>
            <a:ext cx="710957" cy="528303"/>
          </a:xfrm>
          <a:prstGeom prst="rect">
            <a:avLst/>
          </a:prstGeom>
        </p:spPr>
        <p:txBody>
          <a:bodyPr vert="horz" wrap="square" lIns="0" tIns="12684" rIns="0" bIns="0" rtlCol="0">
            <a:spAutoFit/>
          </a:bodyPr>
          <a:lstStyle/>
          <a:p>
            <a:pPr marL="164268" marR="5074">
              <a:lnSpc>
                <a:spcPct val="110100"/>
              </a:lnSpc>
              <a:spcBef>
                <a:spcPts val="100"/>
              </a:spcBef>
            </a:pPr>
            <a:r>
              <a:rPr sz="999" spc="-10" dirty="0">
                <a:solidFill>
                  <a:srgbClr val="D3D3D3"/>
                </a:solidFill>
                <a:latin typeface="Courier New"/>
                <a:cs typeface="Courier New"/>
              </a:rPr>
              <a:t>total is_paid</a:t>
            </a:r>
            <a:endParaRPr sz="999">
              <a:latin typeface="Courier New"/>
              <a:cs typeface="Courier New"/>
            </a:endParaRPr>
          </a:p>
          <a:p>
            <a:pPr marL="12685">
              <a:spcBef>
                <a:spcPts val="120"/>
              </a:spcBef>
            </a:pPr>
            <a:r>
              <a:rPr sz="999" spc="-25" dirty="0">
                <a:solidFill>
                  <a:srgbClr val="D3D3D3"/>
                </a:solidFill>
                <a:latin typeface="Courier New"/>
                <a:cs typeface="Courier New"/>
              </a:rPr>
              <a:t>);</a:t>
            </a:r>
            <a:endParaRPr sz="999">
              <a:latin typeface="Courier New"/>
              <a:cs typeface="Courier New"/>
            </a:endParaRPr>
          </a:p>
        </p:txBody>
      </p:sp>
      <p:sp>
        <p:nvSpPr>
          <p:cNvPr id="11" name="object 11"/>
          <p:cNvSpPr txBox="1"/>
          <p:nvPr/>
        </p:nvSpPr>
        <p:spPr>
          <a:xfrm>
            <a:off x="356461" y="1798263"/>
            <a:ext cx="2994139" cy="1031237"/>
          </a:xfrm>
          <a:prstGeom prst="rect">
            <a:avLst/>
          </a:prstGeom>
        </p:spPr>
        <p:txBody>
          <a:bodyPr vert="horz" wrap="square" lIns="0" tIns="12684" rIns="0" bIns="0" rtlCol="0">
            <a:spAutoFit/>
          </a:bodyPr>
          <a:lstStyle/>
          <a:p>
            <a:pPr marL="164268" marR="80548" indent="-152217">
              <a:lnSpc>
                <a:spcPct val="110100"/>
              </a:lnSpc>
              <a:spcBef>
                <a:spcPts val="100"/>
              </a:spcBef>
            </a:pPr>
            <a:r>
              <a:rPr sz="999" dirty="0">
                <a:solidFill>
                  <a:srgbClr val="D3D3D3"/>
                </a:solidFill>
                <a:latin typeface="Courier New"/>
                <a:cs typeface="Courier New"/>
              </a:rPr>
              <a:t>INSERT</a:t>
            </a:r>
            <a:r>
              <a:rPr sz="999" spc="-50" dirty="0">
                <a:solidFill>
                  <a:srgbClr val="D3D3D3"/>
                </a:solidFill>
                <a:latin typeface="Courier New"/>
                <a:cs typeface="Courier New"/>
              </a:rPr>
              <a:t> </a:t>
            </a:r>
            <a:r>
              <a:rPr sz="999" dirty="0">
                <a:solidFill>
                  <a:srgbClr val="D3D3D3"/>
                </a:solidFill>
                <a:latin typeface="Courier New"/>
                <a:cs typeface="Courier New"/>
              </a:rPr>
              <a:t>INTO</a:t>
            </a:r>
            <a:r>
              <a:rPr sz="999" spc="-45" dirty="0">
                <a:solidFill>
                  <a:srgbClr val="D3D3D3"/>
                </a:solidFill>
                <a:latin typeface="Courier New"/>
                <a:cs typeface="Courier New"/>
              </a:rPr>
              <a:t> </a:t>
            </a:r>
            <a:r>
              <a:rPr sz="999" dirty="0">
                <a:solidFill>
                  <a:srgbClr val="D3D3D3"/>
                </a:solidFill>
                <a:latin typeface="Courier New"/>
                <a:cs typeface="Courier New"/>
              </a:rPr>
              <a:t>shop.legacy_orders</a:t>
            </a:r>
            <a:r>
              <a:rPr sz="999" spc="-45" dirty="0">
                <a:solidFill>
                  <a:srgbClr val="D3D3D3"/>
                </a:solidFill>
                <a:latin typeface="Courier New"/>
                <a:cs typeface="Courier New"/>
              </a:rPr>
              <a:t> </a:t>
            </a:r>
            <a:r>
              <a:rPr sz="999" spc="-10" dirty="0">
                <a:solidFill>
                  <a:srgbClr val="D3D3D3"/>
                </a:solidFill>
                <a:latin typeface="Courier New"/>
                <a:cs typeface="Courier New"/>
              </a:rPr>
              <a:t>VALUES </a:t>
            </a:r>
            <a:r>
              <a:rPr sz="999" dirty="0">
                <a:solidFill>
                  <a:srgbClr val="D3D3D3"/>
                </a:solidFill>
                <a:latin typeface="Courier New"/>
                <a:cs typeface="Courier New"/>
              </a:rPr>
              <a:t>('1',</a:t>
            </a:r>
            <a:r>
              <a:rPr sz="999" spc="-10" dirty="0">
                <a:solidFill>
                  <a:srgbClr val="D3D3D3"/>
                </a:solidFill>
                <a:latin typeface="Courier New"/>
                <a:cs typeface="Courier New"/>
              </a:rPr>
              <a:t> '2026-01-</a:t>
            </a:r>
            <a:r>
              <a:rPr sz="999" dirty="0">
                <a:solidFill>
                  <a:srgbClr val="D3D3D3"/>
                </a:solidFill>
                <a:latin typeface="Courier New"/>
                <a:cs typeface="Courier New"/>
              </a:rPr>
              <a:t>10',</a:t>
            </a:r>
            <a:r>
              <a:rPr sz="999" spc="-10" dirty="0">
                <a:solidFill>
                  <a:srgbClr val="D3D3D3"/>
                </a:solidFill>
                <a:latin typeface="Courier New"/>
                <a:cs typeface="Courier New"/>
              </a:rPr>
              <a:t> </a:t>
            </a:r>
            <a:r>
              <a:rPr sz="999" dirty="0">
                <a:solidFill>
                  <a:srgbClr val="D3D3D3"/>
                </a:solidFill>
                <a:latin typeface="Courier New"/>
                <a:cs typeface="Courier New"/>
              </a:rPr>
              <a:t>'900',</a:t>
            </a:r>
            <a:r>
              <a:rPr sz="999" spc="-5" dirty="0">
                <a:solidFill>
                  <a:srgbClr val="D3D3D3"/>
                </a:solidFill>
                <a:latin typeface="Courier New"/>
                <a:cs typeface="Courier New"/>
              </a:rPr>
              <a:t>  </a:t>
            </a:r>
            <a:r>
              <a:rPr sz="999" spc="-10" dirty="0">
                <a:solidFill>
                  <a:srgbClr val="D3D3D3"/>
                </a:solidFill>
                <a:latin typeface="Courier New"/>
                <a:cs typeface="Courier New"/>
              </a:rPr>
              <a:t>'true'),</a:t>
            </a:r>
            <a:endParaRPr sz="999">
              <a:latin typeface="Courier New"/>
              <a:cs typeface="Courier New"/>
            </a:endParaRPr>
          </a:p>
          <a:p>
            <a:pPr marL="164268">
              <a:spcBef>
                <a:spcPts val="120"/>
              </a:spcBef>
            </a:pPr>
            <a:r>
              <a:rPr sz="999" dirty="0">
                <a:solidFill>
                  <a:srgbClr val="D3D3D3"/>
                </a:solidFill>
                <a:latin typeface="Courier New"/>
                <a:cs typeface="Courier New"/>
              </a:rPr>
              <a:t>('2',</a:t>
            </a:r>
            <a:r>
              <a:rPr sz="999" spc="-25" dirty="0">
                <a:solidFill>
                  <a:srgbClr val="D3D3D3"/>
                </a:solidFill>
                <a:latin typeface="Courier New"/>
                <a:cs typeface="Courier New"/>
              </a:rPr>
              <a:t> </a:t>
            </a:r>
            <a:r>
              <a:rPr sz="999" spc="-10" dirty="0">
                <a:solidFill>
                  <a:srgbClr val="D3D3D3"/>
                </a:solidFill>
                <a:latin typeface="Courier New"/>
                <a:cs typeface="Courier New"/>
              </a:rPr>
              <a:t>'2026-01-</a:t>
            </a:r>
            <a:r>
              <a:rPr sz="999" dirty="0">
                <a:solidFill>
                  <a:srgbClr val="D3D3D3"/>
                </a:solidFill>
                <a:latin typeface="Courier New"/>
                <a:cs typeface="Courier New"/>
              </a:rPr>
              <a:t>05',</a:t>
            </a:r>
            <a:r>
              <a:rPr sz="999" spc="-10" dirty="0">
                <a:solidFill>
                  <a:srgbClr val="D3D3D3"/>
                </a:solidFill>
                <a:latin typeface="Courier New"/>
                <a:cs typeface="Courier New"/>
              </a:rPr>
              <a:t> </a:t>
            </a:r>
            <a:r>
              <a:rPr sz="999" dirty="0">
                <a:solidFill>
                  <a:srgbClr val="D3D3D3"/>
                </a:solidFill>
                <a:latin typeface="Courier New"/>
                <a:cs typeface="Courier New"/>
              </a:rPr>
              <a:t>'1000',</a:t>
            </a:r>
            <a:r>
              <a:rPr sz="999" spc="-10" dirty="0">
                <a:solidFill>
                  <a:srgbClr val="D3D3D3"/>
                </a:solidFill>
                <a:latin typeface="Courier New"/>
                <a:cs typeface="Courier New"/>
              </a:rPr>
              <a:t> 'false'),</a:t>
            </a:r>
            <a:endParaRPr sz="999">
              <a:latin typeface="Courier New"/>
              <a:cs typeface="Courier New"/>
            </a:endParaRPr>
          </a:p>
          <a:p>
            <a:pPr marL="164268">
              <a:spcBef>
                <a:spcPts val="120"/>
              </a:spcBef>
            </a:pPr>
            <a:r>
              <a:rPr sz="999" dirty="0">
                <a:solidFill>
                  <a:srgbClr val="D3D3D3"/>
                </a:solidFill>
                <a:latin typeface="Courier New"/>
                <a:cs typeface="Courier New"/>
              </a:rPr>
              <a:t>('3',</a:t>
            </a:r>
            <a:r>
              <a:rPr sz="999" spc="-15" dirty="0">
                <a:solidFill>
                  <a:srgbClr val="D3D3D3"/>
                </a:solidFill>
                <a:latin typeface="Courier New"/>
                <a:cs typeface="Courier New"/>
              </a:rPr>
              <a:t> </a:t>
            </a:r>
            <a:r>
              <a:rPr sz="999" spc="-10" dirty="0">
                <a:solidFill>
                  <a:srgbClr val="D3D3D3"/>
                </a:solidFill>
                <a:latin typeface="Courier New"/>
                <a:cs typeface="Courier New"/>
              </a:rPr>
              <a:t>'2026-01-</a:t>
            </a:r>
            <a:r>
              <a:rPr sz="999" dirty="0">
                <a:solidFill>
                  <a:srgbClr val="D3D3D3"/>
                </a:solidFill>
                <a:latin typeface="Courier New"/>
                <a:cs typeface="Courier New"/>
              </a:rPr>
              <a:t>20',</a:t>
            </a:r>
            <a:r>
              <a:rPr sz="999" spc="-10" dirty="0">
                <a:solidFill>
                  <a:srgbClr val="D3D3D3"/>
                </a:solidFill>
                <a:latin typeface="Courier New"/>
                <a:cs typeface="Courier New"/>
              </a:rPr>
              <a:t> </a:t>
            </a:r>
            <a:r>
              <a:rPr sz="999" dirty="0">
                <a:solidFill>
                  <a:srgbClr val="D3D3D3"/>
                </a:solidFill>
                <a:latin typeface="Courier New"/>
                <a:cs typeface="Courier New"/>
              </a:rPr>
              <a:t>'4999',</a:t>
            </a:r>
            <a:r>
              <a:rPr sz="999" spc="-10" dirty="0">
                <a:solidFill>
                  <a:srgbClr val="D3D3D3"/>
                </a:solidFill>
                <a:latin typeface="Courier New"/>
                <a:cs typeface="Courier New"/>
              </a:rPr>
              <a:t> 'true');</a:t>
            </a:r>
            <a:endParaRPr sz="999">
              <a:latin typeface="Courier New"/>
              <a:cs typeface="Courier New"/>
            </a:endParaRPr>
          </a:p>
          <a:p>
            <a:pPr>
              <a:spcBef>
                <a:spcPts val="310"/>
              </a:spcBef>
            </a:pPr>
            <a:endParaRPr sz="999">
              <a:latin typeface="Courier New"/>
              <a:cs typeface="Courier New"/>
            </a:endParaRPr>
          </a:p>
          <a:p>
            <a:pPr marL="12685"/>
            <a:r>
              <a:rPr sz="999" dirty="0">
                <a:solidFill>
                  <a:srgbClr val="D3D3D3"/>
                </a:solidFill>
                <a:latin typeface="Courier New"/>
                <a:cs typeface="Courier New"/>
              </a:rPr>
              <a:t>ALTER</a:t>
            </a:r>
            <a:r>
              <a:rPr sz="999" spc="-35" dirty="0">
                <a:solidFill>
                  <a:srgbClr val="D3D3D3"/>
                </a:solidFill>
                <a:latin typeface="Courier New"/>
                <a:cs typeface="Courier New"/>
              </a:rPr>
              <a:t> </a:t>
            </a:r>
            <a:r>
              <a:rPr sz="999" dirty="0">
                <a:solidFill>
                  <a:srgbClr val="D3D3D3"/>
                </a:solidFill>
                <a:latin typeface="Courier New"/>
                <a:cs typeface="Courier New"/>
              </a:rPr>
              <a:t>TABLE</a:t>
            </a:r>
            <a:r>
              <a:rPr sz="999" spc="-25" dirty="0">
                <a:solidFill>
                  <a:srgbClr val="D3D3D3"/>
                </a:solidFill>
                <a:latin typeface="Courier New"/>
                <a:cs typeface="Courier New"/>
              </a:rPr>
              <a:t> </a:t>
            </a:r>
            <a:r>
              <a:rPr sz="999" spc="-10" dirty="0">
                <a:solidFill>
                  <a:srgbClr val="D3D3D3"/>
                </a:solidFill>
                <a:latin typeface="Courier New"/>
                <a:cs typeface="Courier New"/>
              </a:rPr>
              <a:t>shop.legacy_orders</a:t>
            </a:r>
            <a:endParaRPr sz="999">
              <a:latin typeface="Courier New"/>
              <a:cs typeface="Courier New"/>
            </a:endParaRPr>
          </a:p>
        </p:txBody>
      </p:sp>
      <p:sp>
        <p:nvSpPr>
          <p:cNvPr id="12" name="object 12"/>
          <p:cNvSpPr txBox="1"/>
          <p:nvPr/>
        </p:nvSpPr>
        <p:spPr>
          <a:xfrm>
            <a:off x="3781003" y="2818830"/>
            <a:ext cx="1548124" cy="166379"/>
          </a:xfrm>
          <a:prstGeom prst="rect">
            <a:avLst/>
          </a:prstGeom>
        </p:spPr>
        <p:txBody>
          <a:bodyPr vert="horz" wrap="square" lIns="0" tIns="12684" rIns="0" bIns="0" rtlCol="0">
            <a:spAutoFit/>
          </a:bodyPr>
          <a:lstStyle/>
          <a:p>
            <a:pPr marL="12685">
              <a:spcBef>
                <a:spcPts val="100"/>
              </a:spcBef>
            </a:pPr>
            <a:r>
              <a:rPr sz="999" dirty="0">
                <a:solidFill>
                  <a:srgbClr val="D3D3D3"/>
                </a:solidFill>
                <a:latin typeface="Courier New"/>
                <a:cs typeface="Courier New"/>
              </a:rPr>
              <a:t>USING</a:t>
            </a:r>
            <a:r>
              <a:rPr sz="999" spc="-25" dirty="0">
                <a:solidFill>
                  <a:srgbClr val="D3D3D3"/>
                </a:solidFill>
                <a:latin typeface="Courier New"/>
                <a:cs typeface="Courier New"/>
              </a:rPr>
              <a:t> </a:t>
            </a:r>
            <a:r>
              <a:rPr sz="999" spc="-10" dirty="0">
                <a:solidFill>
                  <a:srgbClr val="D3D3D3"/>
                </a:solidFill>
                <a:latin typeface="Courier New"/>
                <a:cs typeface="Courier New"/>
              </a:rPr>
              <a:t>order_id::int;</a:t>
            </a:r>
            <a:endParaRPr sz="999">
              <a:latin typeface="Courier New"/>
              <a:cs typeface="Courier New"/>
            </a:endParaRPr>
          </a:p>
        </p:txBody>
      </p:sp>
      <p:sp>
        <p:nvSpPr>
          <p:cNvPr id="13" name="object 13"/>
          <p:cNvSpPr txBox="1"/>
          <p:nvPr/>
        </p:nvSpPr>
        <p:spPr>
          <a:xfrm>
            <a:off x="3781003" y="3153937"/>
            <a:ext cx="1776442" cy="166379"/>
          </a:xfrm>
          <a:prstGeom prst="rect">
            <a:avLst/>
          </a:prstGeom>
        </p:spPr>
        <p:txBody>
          <a:bodyPr vert="horz" wrap="square" lIns="0" tIns="12684" rIns="0" bIns="0" rtlCol="0">
            <a:spAutoFit/>
          </a:bodyPr>
          <a:lstStyle/>
          <a:p>
            <a:pPr marL="12685">
              <a:spcBef>
                <a:spcPts val="100"/>
              </a:spcBef>
            </a:pPr>
            <a:r>
              <a:rPr sz="999" dirty="0">
                <a:solidFill>
                  <a:srgbClr val="D3D3D3"/>
                </a:solidFill>
                <a:latin typeface="Courier New"/>
                <a:cs typeface="Courier New"/>
              </a:rPr>
              <a:t>USING</a:t>
            </a:r>
            <a:r>
              <a:rPr sz="999" spc="-25" dirty="0">
                <a:solidFill>
                  <a:srgbClr val="D3D3D3"/>
                </a:solidFill>
                <a:latin typeface="Courier New"/>
                <a:cs typeface="Courier New"/>
              </a:rPr>
              <a:t> </a:t>
            </a:r>
            <a:r>
              <a:rPr sz="999" spc="-10" dirty="0">
                <a:solidFill>
                  <a:srgbClr val="D3D3D3"/>
                </a:solidFill>
                <a:latin typeface="Courier New"/>
                <a:cs typeface="Courier New"/>
              </a:rPr>
              <a:t>order_date::date;</a:t>
            </a:r>
            <a:endParaRPr sz="999">
              <a:latin typeface="Courier New"/>
              <a:cs typeface="Courier New"/>
            </a:endParaRPr>
          </a:p>
        </p:txBody>
      </p:sp>
      <p:sp>
        <p:nvSpPr>
          <p:cNvPr id="14" name="object 14"/>
          <p:cNvSpPr txBox="1"/>
          <p:nvPr/>
        </p:nvSpPr>
        <p:spPr>
          <a:xfrm>
            <a:off x="356461" y="2803586"/>
            <a:ext cx="2689714" cy="695736"/>
          </a:xfrm>
          <a:prstGeom prst="rect">
            <a:avLst/>
          </a:prstGeom>
        </p:spPr>
        <p:txBody>
          <a:bodyPr vert="horz" wrap="square" lIns="0" tIns="12684" rIns="0" bIns="0" rtlCol="0">
            <a:spAutoFit/>
          </a:bodyPr>
          <a:lstStyle/>
          <a:p>
            <a:pPr marL="12685" marR="81182" indent="151583">
              <a:lnSpc>
                <a:spcPct val="110100"/>
              </a:lnSpc>
              <a:spcBef>
                <a:spcPts val="100"/>
              </a:spcBef>
              <a:tabLst>
                <a:tab pos="1990872" algn="l"/>
              </a:tabLst>
            </a:pPr>
            <a:r>
              <a:rPr sz="999" dirty="0">
                <a:solidFill>
                  <a:srgbClr val="D3D3D3"/>
                </a:solidFill>
                <a:latin typeface="Courier New"/>
                <a:cs typeface="Courier New"/>
              </a:rPr>
              <a:t>ALTER</a:t>
            </a:r>
            <a:r>
              <a:rPr sz="999" spc="-30" dirty="0">
                <a:solidFill>
                  <a:srgbClr val="D3D3D3"/>
                </a:solidFill>
                <a:latin typeface="Courier New"/>
                <a:cs typeface="Courier New"/>
              </a:rPr>
              <a:t> </a:t>
            </a:r>
            <a:r>
              <a:rPr sz="999" dirty="0">
                <a:solidFill>
                  <a:srgbClr val="D3D3D3"/>
                </a:solidFill>
                <a:latin typeface="Courier New"/>
                <a:cs typeface="Courier New"/>
              </a:rPr>
              <a:t>COLUMN</a:t>
            </a:r>
            <a:r>
              <a:rPr sz="999" spc="-25" dirty="0">
                <a:solidFill>
                  <a:srgbClr val="D3D3D3"/>
                </a:solidFill>
                <a:latin typeface="Courier New"/>
                <a:cs typeface="Courier New"/>
              </a:rPr>
              <a:t> </a:t>
            </a:r>
            <a:r>
              <a:rPr sz="999" spc="-10" dirty="0">
                <a:solidFill>
                  <a:srgbClr val="D3D3D3"/>
                </a:solidFill>
                <a:latin typeface="Courier New"/>
                <a:cs typeface="Courier New"/>
              </a:rPr>
              <a:t>order_id</a:t>
            </a:r>
            <a:r>
              <a:rPr sz="999" dirty="0">
                <a:solidFill>
                  <a:srgbClr val="D3D3D3"/>
                </a:solidFill>
                <a:latin typeface="Courier New"/>
                <a:cs typeface="Courier New"/>
              </a:rPr>
              <a:t>	TYPE</a:t>
            </a:r>
            <a:r>
              <a:rPr sz="999" spc="-30" dirty="0">
                <a:solidFill>
                  <a:srgbClr val="D3D3D3"/>
                </a:solidFill>
                <a:latin typeface="Courier New"/>
                <a:cs typeface="Courier New"/>
              </a:rPr>
              <a:t> </a:t>
            </a:r>
            <a:r>
              <a:rPr sz="999" spc="-25" dirty="0">
                <a:solidFill>
                  <a:srgbClr val="D3D3D3"/>
                </a:solidFill>
                <a:latin typeface="Courier New"/>
                <a:cs typeface="Courier New"/>
              </a:rPr>
              <a:t>INT </a:t>
            </a:r>
            <a:r>
              <a:rPr sz="999" dirty="0">
                <a:solidFill>
                  <a:srgbClr val="D3D3D3"/>
                </a:solidFill>
                <a:latin typeface="Courier New"/>
                <a:cs typeface="Courier New"/>
              </a:rPr>
              <a:t>ALTER</a:t>
            </a:r>
            <a:r>
              <a:rPr sz="999" spc="-35" dirty="0">
                <a:solidFill>
                  <a:srgbClr val="D3D3D3"/>
                </a:solidFill>
                <a:latin typeface="Courier New"/>
                <a:cs typeface="Courier New"/>
              </a:rPr>
              <a:t> </a:t>
            </a:r>
            <a:r>
              <a:rPr sz="999" dirty="0">
                <a:solidFill>
                  <a:srgbClr val="D3D3D3"/>
                </a:solidFill>
                <a:latin typeface="Courier New"/>
                <a:cs typeface="Courier New"/>
              </a:rPr>
              <a:t>TABLE</a:t>
            </a:r>
            <a:r>
              <a:rPr sz="999" spc="-25" dirty="0">
                <a:solidFill>
                  <a:srgbClr val="D3D3D3"/>
                </a:solidFill>
                <a:latin typeface="Courier New"/>
                <a:cs typeface="Courier New"/>
              </a:rPr>
              <a:t> </a:t>
            </a:r>
            <a:r>
              <a:rPr sz="999" spc="-10" dirty="0">
                <a:solidFill>
                  <a:srgbClr val="D3D3D3"/>
                </a:solidFill>
                <a:latin typeface="Courier New"/>
                <a:cs typeface="Courier New"/>
              </a:rPr>
              <a:t>shop.legacy_orders</a:t>
            </a:r>
            <a:endParaRPr sz="999">
              <a:latin typeface="Courier New"/>
              <a:cs typeface="Courier New"/>
            </a:endParaRPr>
          </a:p>
          <a:p>
            <a:pPr marL="12685" marR="5074" indent="151583">
              <a:lnSpc>
                <a:spcPct val="110100"/>
              </a:lnSpc>
            </a:pPr>
            <a:r>
              <a:rPr sz="999" dirty="0">
                <a:solidFill>
                  <a:srgbClr val="D3D3D3"/>
                </a:solidFill>
                <a:latin typeface="Courier New"/>
                <a:cs typeface="Courier New"/>
              </a:rPr>
              <a:t>ALTER</a:t>
            </a:r>
            <a:r>
              <a:rPr sz="999" spc="-35" dirty="0">
                <a:solidFill>
                  <a:srgbClr val="D3D3D3"/>
                </a:solidFill>
                <a:latin typeface="Courier New"/>
                <a:cs typeface="Courier New"/>
              </a:rPr>
              <a:t> </a:t>
            </a:r>
            <a:r>
              <a:rPr sz="999" dirty="0">
                <a:solidFill>
                  <a:srgbClr val="D3D3D3"/>
                </a:solidFill>
                <a:latin typeface="Courier New"/>
                <a:cs typeface="Courier New"/>
              </a:rPr>
              <a:t>COLUMN</a:t>
            </a:r>
            <a:r>
              <a:rPr sz="999" spc="-30" dirty="0">
                <a:solidFill>
                  <a:srgbClr val="D3D3D3"/>
                </a:solidFill>
                <a:latin typeface="Courier New"/>
                <a:cs typeface="Courier New"/>
              </a:rPr>
              <a:t> </a:t>
            </a:r>
            <a:r>
              <a:rPr sz="999" dirty="0">
                <a:solidFill>
                  <a:srgbClr val="D3D3D3"/>
                </a:solidFill>
                <a:latin typeface="Courier New"/>
                <a:cs typeface="Courier New"/>
              </a:rPr>
              <a:t>order_date</a:t>
            </a:r>
            <a:r>
              <a:rPr sz="999" spc="-25" dirty="0">
                <a:solidFill>
                  <a:srgbClr val="D3D3D3"/>
                </a:solidFill>
                <a:latin typeface="Courier New"/>
                <a:cs typeface="Courier New"/>
              </a:rPr>
              <a:t> </a:t>
            </a:r>
            <a:r>
              <a:rPr sz="999" dirty="0">
                <a:solidFill>
                  <a:srgbClr val="D3D3D3"/>
                </a:solidFill>
                <a:latin typeface="Courier New"/>
                <a:cs typeface="Courier New"/>
              </a:rPr>
              <a:t>TYPE</a:t>
            </a:r>
            <a:r>
              <a:rPr sz="999" spc="-30" dirty="0">
                <a:solidFill>
                  <a:srgbClr val="D3D3D3"/>
                </a:solidFill>
                <a:latin typeface="Courier New"/>
                <a:cs typeface="Courier New"/>
              </a:rPr>
              <a:t> </a:t>
            </a:r>
            <a:r>
              <a:rPr sz="999" spc="-20" dirty="0">
                <a:solidFill>
                  <a:srgbClr val="D3D3D3"/>
                </a:solidFill>
                <a:latin typeface="Courier New"/>
                <a:cs typeface="Courier New"/>
              </a:rPr>
              <a:t>DATE </a:t>
            </a:r>
            <a:r>
              <a:rPr sz="999" dirty="0">
                <a:solidFill>
                  <a:srgbClr val="D3D3D3"/>
                </a:solidFill>
                <a:latin typeface="Courier New"/>
                <a:cs typeface="Courier New"/>
              </a:rPr>
              <a:t>ALTER</a:t>
            </a:r>
            <a:r>
              <a:rPr sz="999" spc="-35" dirty="0">
                <a:solidFill>
                  <a:srgbClr val="D3D3D3"/>
                </a:solidFill>
                <a:latin typeface="Courier New"/>
                <a:cs typeface="Courier New"/>
              </a:rPr>
              <a:t> </a:t>
            </a:r>
            <a:r>
              <a:rPr sz="999" dirty="0">
                <a:solidFill>
                  <a:srgbClr val="D3D3D3"/>
                </a:solidFill>
                <a:latin typeface="Courier New"/>
                <a:cs typeface="Courier New"/>
              </a:rPr>
              <a:t>TABLE</a:t>
            </a:r>
            <a:r>
              <a:rPr sz="999" spc="-25" dirty="0">
                <a:solidFill>
                  <a:srgbClr val="D3D3D3"/>
                </a:solidFill>
                <a:latin typeface="Courier New"/>
                <a:cs typeface="Courier New"/>
              </a:rPr>
              <a:t> </a:t>
            </a:r>
            <a:r>
              <a:rPr sz="999" spc="-10" dirty="0">
                <a:solidFill>
                  <a:srgbClr val="D3D3D3"/>
                </a:solidFill>
                <a:latin typeface="Courier New"/>
                <a:cs typeface="Courier New"/>
              </a:rPr>
              <a:t>shop.legacy_orders</a:t>
            </a:r>
            <a:endParaRPr sz="999">
              <a:latin typeface="Courier New"/>
              <a:cs typeface="Courier New"/>
            </a:endParaRPr>
          </a:p>
        </p:txBody>
      </p:sp>
      <p:sp>
        <p:nvSpPr>
          <p:cNvPr id="15" name="object 15"/>
          <p:cNvSpPr txBox="1"/>
          <p:nvPr/>
        </p:nvSpPr>
        <p:spPr>
          <a:xfrm>
            <a:off x="356461" y="3473776"/>
            <a:ext cx="5201214" cy="863169"/>
          </a:xfrm>
          <a:prstGeom prst="rect">
            <a:avLst/>
          </a:prstGeom>
        </p:spPr>
        <p:txBody>
          <a:bodyPr vert="horz" wrap="square" lIns="0" tIns="12684" rIns="0" bIns="0" rtlCol="0">
            <a:spAutoFit/>
          </a:bodyPr>
          <a:lstStyle/>
          <a:p>
            <a:pPr marL="12685" marR="156657" indent="151583">
              <a:lnSpc>
                <a:spcPct val="110100"/>
              </a:lnSpc>
              <a:spcBef>
                <a:spcPts val="100"/>
              </a:spcBef>
              <a:tabLst>
                <a:tab pos="1990872" algn="l"/>
              </a:tabLst>
            </a:pPr>
            <a:r>
              <a:rPr sz="999" dirty="0">
                <a:solidFill>
                  <a:srgbClr val="D3D3D3"/>
                </a:solidFill>
                <a:latin typeface="Courier New"/>
                <a:cs typeface="Courier New"/>
              </a:rPr>
              <a:t>ALTER</a:t>
            </a:r>
            <a:r>
              <a:rPr sz="999" spc="-30" dirty="0">
                <a:solidFill>
                  <a:srgbClr val="D3D3D3"/>
                </a:solidFill>
                <a:latin typeface="Courier New"/>
                <a:cs typeface="Courier New"/>
              </a:rPr>
              <a:t> </a:t>
            </a:r>
            <a:r>
              <a:rPr sz="999" dirty="0">
                <a:solidFill>
                  <a:srgbClr val="D3D3D3"/>
                </a:solidFill>
                <a:latin typeface="Courier New"/>
                <a:cs typeface="Courier New"/>
              </a:rPr>
              <a:t>COLUMN</a:t>
            </a:r>
            <a:r>
              <a:rPr sz="999" spc="-25" dirty="0">
                <a:solidFill>
                  <a:srgbClr val="D3D3D3"/>
                </a:solidFill>
                <a:latin typeface="Courier New"/>
                <a:cs typeface="Courier New"/>
              </a:rPr>
              <a:t> </a:t>
            </a:r>
            <a:r>
              <a:rPr sz="999" spc="-20" dirty="0">
                <a:solidFill>
                  <a:srgbClr val="D3D3D3"/>
                </a:solidFill>
                <a:latin typeface="Courier New"/>
                <a:cs typeface="Courier New"/>
              </a:rPr>
              <a:t>total</a:t>
            </a:r>
            <a:r>
              <a:rPr sz="999" dirty="0">
                <a:solidFill>
                  <a:srgbClr val="D3D3D3"/>
                </a:solidFill>
                <a:latin typeface="Courier New"/>
                <a:cs typeface="Courier New"/>
              </a:rPr>
              <a:t>	TYPE</a:t>
            </a:r>
            <a:r>
              <a:rPr sz="999" spc="-50" dirty="0">
                <a:solidFill>
                  <a:srgbClr val="D3D3D3"/>
                </a:solidFill>
                <a:latin typeface="Courier New"/>
                <a:cs typeface="Courier New"/>
              </a:rPr>
              <a:t> </a:t>
            </a:r>
            <a:r>
              <a:rPr sz="999" dirty="0">
                <a:solidFill>
                  <a:srgbClr val="D3D3D3"/>
                </a:solidFill>
                <a:latin typeface="Courier New"/>
                <a:cs typeface="Courier New"/>
              </a:rPr>
              <a:t>NUMERIC(10,2)</a:t>
            </a:r>
            <a:r>
              <a:rPr sz="999" spc="-35" dirty="0">
                <a:solidFill>
                  <a:srgbClr val="D3D3D3"/>
                </a:solidFill>
                <a:latin typeface="Courier New"/>
                <a:cs typeface="Courier New"/>
              </a:rPr>
              <a:t> </a:t>
            </a:r>
            <a:r>
              <a:rPr sz="999" dirty="0">
                <a:solidFill>
                  <a:srgbClr val="D3D3D3"/>
                </a:solidFill>
                <a:latin typeface="Courier New"/>
                <a:cs typeface="Courier New"/>
              </a:rPr>
              <a:t>USING</a:t>
            </a:r>
            <a:r>
              <a:rPr sz="999" spc="-35" dirty="0">
                <a:solidFill>
                  <a:srgbClr val="D3D3D3"/>
                </a:solidFill>
                <a:latin typeface="Courier New"/>
                <a:cs typeface="Courier New"/>
              </a:rPr>
              <a:t> </a:t>
            </a:r>
            <a:r>
              <a:rPr sz="999" spc="-10" dirty="0">
                <a:solidFill>
                  <a:srgbClr val="D3D3D3"/>
                </a:solidFill>
                <a:latin typeface="Courier New"/>
                <a:cs typeface="Courier New"/>
              </a:rPr>
              <a:t>total::numeric; </a:t>
            </a:r>
            <a:r>
              <a:rPr sz="999" dirty="0">
                <a:solidFill>
                  <a:srgbClr val="D3D3D3"/>
                </a:solidFill>
                <a:latin typeface="Courier New"/>
                <a:cs typeface="Courier New"/>
              </a:rPr>
              <a:t>ALTER</a:t>
            </a:r>
            <a:r>
              <a:rPr sz="999" spc="-35" dirty="0">
                <a:solidFill>
                  <a:srgbClr val="D3D3D3"/>
                </a:solidFill>
                <a:latin typeface="Courier New"/>
                <a:cs typeface="Courier New"/>
              </a:rPr>
              <a:t> </a:t>
            </a:r>
            <a:r>
              <a:rPr sz="999" dirty="0">
                <a:solidFill>
                  <a:srgbClr val="D3D3D3"/>
                </a:solidFill>
                <a:latin typeface="Courier New"/>
                <a:cs typeface="Courier New"/>
              </a:rPr>
              <a:t>TABLE</a:t>
            </a:r>
            <a:r>
              <a:rPr sz="999" spc="-25" dirty="0">
                <a:solidFill>
                  <a:srgbClr val="D3D3D3"/>
                </a:solidFill>
                <a:latin typeface="Courier New"/>
                <a:cs typeface="Courier New"/>
              </a:rPr>
              <a:t> </a:t>
            </a:r>
            <a:r>
              <a:rPr sz="999" spc="-10" dirty="0">
                <a:solidFill>
                  <a:srgbClr val="D3D3D3"/>
                </a:solidFill>
                <a:latin typeface="Courier New"/>
                <a:cs typeface="Courier New"/>
              </a:rPr>
              <a:t>shop.legacy_orders</a:t>
            </a:r>
            <a:endParaRPr sz="999">
              <a:latin typeface="Courier New"/>
              <a:cs typeface="Courier New"/>
            </a:endParaRPr>
          </a:p>
          <a:p>
            <a:pPr marL="164268">
              <a:spcBef>
                <a:spcPts val="120"/>
              </a:spcBef>
              <a:tabLst>
                <a:tab pos="1990872" algn="l"/>
                <a:tab pos="3436936" algn="l"/>
              </a:tabLst>
            </a:pPr>
            <a:r>
              <a:rPr sz="999" dirty="0">
                <a:solidFill>
                  <a:srgbClr val="D3D3D3"/>
                </a:solidFill>
                <a:latin typeface="Courier New"/>
                <a:cs typeface="Courier New"/>
              </a:rPr>
              <a:t>ALTER</a:t>
            </a:r>
            <a:r>
              <a:rPr sz="999" spc="-30" dirty="0">
                <a:solidFill>
                  <a:srgbClr val="D3D3D3"/>
                </a:solidFill>
                <a:latin typeface="Courier New"/>
                <a:cs typeface="Courier New"/>
              </a:rPr>
              <a:t> </a:t>
            </a:r>
            <a:r>
              <a:rPr sz="999" dirty="0">
                <a:solidFill>
                  <a:srgbClr val="D3D3D3"/>
                </a:solidFill>
                <a:latin typeface="Courier New"/>
                <a:cs typeface="Courier New"/>
              </a:rPr>
              <a:t>COLUMN</a:t>
            </a:r>
            <a:r>
              <a:rPr sz="999" spc="-25" dirty="0">
                <a:solidFill>
                  <a:srgbClr val="D3D3D3"/>
                </a:solidFill>
                <a:latin typeface="Courier New"/>
                <a:cs typeface="Courier New"/>
              </a:rPr>
              <a:t> </a:t>
            </a:r>
            <a:r>
              <a:rPr sz="999" spc="-10" dirty="0">
                <a:solidFill>
                  <a:srgbClr val="D3D3D3"/>
                </a:solidFill>
                <a:latin typeface="Courier New"/>
                <a:cs typeface="Courier New"/>
              </a:rPr>
              <a:t>is_paid</a:t>
            </a:r>
            <a:r>
              <a:rPr sz="999" dirty="0">
                <a:solidFill>
                  <a:srgbClr val="D3D3D3"/>
                </a:solidFill>
                <a:latin typeface="Courier New"/>
                <a:cs typeface="Courier New"/>
              </a:rPr>
              <a:t>	TYPE</a:t>
            </a:r>
            <a:r>
              <a:rPr sz="999" spc="-20" dirty="0">
                <a:solidFill>
                  <a:srgbClr val="D3D3D3"/>
                </a:solidFill>
                <a:latin typeface="Courier New"/>
                <a:cs typeface="Courier New"/>
              </a:rPr>
              <a:t> </a:t>
            </a:r>
            <a:r>
              <a:rPr sz="999" spc="-10" dirty="0">
                <a:solidFill>
                  <a:srgbClr val="D3D3D3"/>
                </a:solidFill>
                <a:latin typeface="Courier New"/>
                <a:cs typeface="Courier New"/>
              </a:rPr>
              <a:t>BOOLEAN</a:t>
            </a:r>
            <a:r>
              <a:rPr sz="999" dirty="0">
                <a:solidFill>
                  <a:srgbClr val="D3D3D3"/>
                </a:solidFill>
                <a:latin typeface="Courier New"/>
                <a:cs typeface="Courier New"/>
              </a:rPr>
              <a:t>	USING</a:t>
            </a:r>
            <a:r>
              <a:rPr sz="999" spc="-25" dirty="0">
                <a:solidFill>
                  <a:srgbClr val="D3D3D3"/>
                </a:solidFill>
                <a:latin typeface="Courier New"/>
                <a:cs typeface="Courier New"/>
              </a:rPr>
              <a:t> </a:t>
            </a:r>
            <a:r>
              <a:rPr sz="999" spc="-10" dirty="0">
                <a:solidFill>
                  <a:srgbClr val="D3D3D3"/>
                </a:solidFill>
                <a:latin typeface="Courier New"/>
                <a:cs typeface="Courier New"/>
              </a:rPr>
              <a:t>is_paid::boolean;</a:t>
            </a:r>
            <a:endParaRPr sz="999">
              <a:latin typeface="Courier New"/>
              <a:cs typeface="Courier New"/>
            </a:endParaRPr>
          </a:p>
          <a:p>
            <a:pPr>
              <a:spcBef>
                <a:spcPts val="305"/>
              </a:spcBef>
            </a:pPr>
            <a:endParaRPr sz="999">
              <a:latin typeface="Courier New"/>
              <a:cs typeface="Courier New"/>
            </a:endParaRPr>
          </a:p>
          <a:p>
            <a:pPr marL="12685">
              <a:spcBef>
                <a:spcPts val="5"/>
              </a:spcBef>
            </a:pPr>
            <a:r>
              <a:rPr sz="999" spc="-10" dirty="0">
                <a:solidFill>
                  <a:srgbClr val="699954"/>
                </a:solidFill>
                <a:latin typeface="Courier New"/>
                <a:cs typeface="Courier New"/>
              </a:rPr>
              <a:t>-</a:t>
            </a:r>
            <a:r>
              <a:rPr sz="999" dirty="0">
                <a:solidFill>
                  <a:srgbClr val="699954"/>
                </a:solidFill>
                <a:latin typeface="Courier New"/>
                <a:cs typeface="Courier New"/>
              </a:rPr>
              <a:t>-</a:t>
            </a:r>
            <a:r>
              <a:rPr sz="999" spc="-30" dirty="0">
                <a:solidFill>
                  <a:srgbClr val="699954"/>
                </a:solidFill>
                <a:latin typeface="Courier New"/>
                <a:cs typeface="Courier New"/>
              </a:rPr>
              <a:t> </a:t>
            </a:r>
            <a:r>
              <a:rPr sz="999" dirty="0">
                <a:solidFill>
                  <a:srgbClr val="699954"/>
                </a:solidFill>
                <a:latin typeface="Courier New"/>
                <a:cs typeface="Courier New"/>
              </a:rPr>
              <a:t>Now</a:t>
            </a:r>
            <a:r>
              <a:rPr sz="999" spc="-20" dirty="0">
                <a:solidFill>
                  <a:srgbClr val="699954"/>
                </a:solidFill>
                <a:latin typeface="Courier New"/>
                <a:cs typeface="Courier New"/>
              </a:rPr>
              <a:t> </a:t>
            </a:r>
            <a:r>
              <a:rPr sz="999" dirty="0">
                <a:solidFill>
                  <a:srgbClr val="699954"/>
                </a:solidFill>
                <a:latin typeface="Courier New"/>
                <a:cs typeface="Courier New"/>
              </a:rPr>
              <a:t>numbers</a:t>
            </a:r>
            <a:r>
              <a:rPr sz="999" spc="-20" dirty="0">
                <a:solidFill>
                  <a:srgbClr val="699954"/>
                </a:solidFill>
                <a:latin typeface="Courier New"/>
                <a:cs typeface="Courier New"/>
              </a:rPr>
              <a:t> </a:t>
            </a:r>
            <a:r>
              <a:rPr sz="999" dirty="0">
                <a:solidFill>
                  <a:srgbClr val="699954"/>
                </a:solidFill>
                <a:latin typeface="Courier New"/>
                <a:cs typeface="Courier New"/>
              </a:rPr>
              <a:t>and</a:t>
            </a:r>
            <a:r>
              <a:rPr sz="999" spc="-20" dirty="0">
                <a:solidFill>
                  <a:srgbClr val="699954"/>
                </a:solidFill>
                <a:latin typeface="Courier New"/>
                <a:cs typeface="Courier New"/>
              </a:rPr>
              <a:t> </a:t>
            </a:r>
            <a:r>
              <a:rPr sz="999" dirty="0">
                <a:solidFill>
                  <a:srgbClr val="699954"/>
                </a:solidFill>
                <a:latin typeface="Courier New"/>
                <a:cs typeface="Courier New"/>
              </a:rPr>
              <a:t>dates</a:t>
            </a:r>
            <a:r>
              <a:rPr sz="999" spc="-20" dirty="0">
                <a:solidFill>
                  <a:srgbClr val="699954"/>
                </a:solidFill>
                <a:latin typeface="Courier New"/>
                <a:cs typeface="Courier New"/>
              </a:rPr>
              <a:t> </a:t>
            </a:r>
            <a:r>
              <a:rPr sz="999" dirty="0">
                <a:solidFill>
                  <a:srgbClr val="699954"/>
                </a:solidFill>
                <a:latin typeface="Courier New"/>
                <a:cs typeface="Courier New"/>
              </a:rPr>
              <a:t>behave</a:t>
            </a:r>
            <a:r>
              <a:rPr sz="999" spc="-20" dirty="0">
                <a:solidFill>
                  <a:srgbClr val="699954"/>
                </a:solidFill>
                <a:latin typeface="Courier New"/>
                <a:cs typeface="Courier New"/>
              </a:rPr>
              <a:t> </a:t>
            </a:r>
            <a:r>
              <a:rPr sz="999" spc="-10" dirty="0">
                <a:solidFill>
                  <a:srgbClr val="699954"/>
                </a:solidFill>
                <a:latin typeface="Courier New"/>
                <a:cs typeface="Courier New"/>
              </a:rPr>
              <a:t>correctly:</a:t>
            </a:r>
            <a:endParaRPr sz="999">
              <a:latin typeface="Courier New"/>
              <a:cs typeface="Courier New"/>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638" y="3"/>
            <a:ext cx="9132725" cy="5137792"/>
          </a:xfrm>
          <a:custGeom>
            <a:avLst/>
            <a:gdLst/>
            <a:ahLst/>
            <a:cxnLst/>
            <a:rect l="l" t="t" r="r" b="b"/>
            <a:pathLst>
              <a:path w="9144000" h="5144135">
                <a:moveTo>
                  <a:pt x="9144000" y="0"/>
                </a:moveTo>
                <a:lnTo>
                  <a:pt x="0" y="0"/>
                </a:lnTo>
                <a:lnTo>
                  <a:pt x="0" y="5143677"/>
                </a:lnTo>
                <a:lnTo>
                  <a:pt x="9144000" y="5143677"/>
                </a:lnTo>
                <a:lnTo>
                  <a:pt x="9144000" y="0"/>
                </a:lnTo>
                <a:close/>
              </a:path>
            </a:pathLst>
          </a:custGeom>
          <a:solidFill>
            <a:srgbClr val="1D1D1D"/>
          </a:solidFill>
        </p:spPr>
        <p:txBody>
          <a:bodyPr wrap="square" lIns="0" tIns="0" rIns="0" bIns="0" rtlCol="0"/>
          <a:lstStyle/>
          <a:p>
            <a:endParaRPr sz="1798"/>
          </a:p>
        </p:txBody>
      </p:sp>
      <p:sp>
        <p:nvSpPr>
          <p:cNvPr id="3" name="object 3"/>
          <p:cNvSpPr/>
          <p:nvPr/>
        </p:nvSpPr>
        <p:spPr>
          <a:xfrm>
            <a:off x="5283" y="4839990"/>
            <a:ext cx="9132725" cy="296814"/>
          </a:xfrm>
          <a:custGeom>
            <a:avLst/>
            <a:gdLst/>
            <a:ahLst/>
            <a:cxnLst/>
            <a:rect l="l" t="t" r="r" b="b"/>
            <a:pathLst>
              <a:path w="9144000" h="297179">
                <a:moveTo>
                  <a:pt x="9143631" y="0"/>
                </a:moveTo>
                <a:lnTo>
                  <a:pt x="0" y="0"/>
                </a:lnTo>
                <a:lnTo>
                  <a:pt x="0" y="296989"/>
                </a:lnTo>
                <a:lnTo>
                  <a:pt x="4572000" y="296989"/>
                </a:lnTo>
                <a:lnTo>
                  <a:pt x="9143631" y="296989"/>
                </a:lnTo>
                <a:lnTo>
                  <a:pt x="9143631" y="0"/>
                </a:lnTo>
                <a:close/>
              </a:path>
            </a:pathLst>
          </a:custGeom>
          <a:solidFill>
            <a:srgbClr val="333333"/>
          </a:solidFill>
        </p:spPr>
        <p:txBody>
          <a:bodyPr wrap="square" lIns="0" tIns="0" rIns="0" bIns="0" rtlCol="0"/>
          <a:lstStyle/>
          <a:p>
            <a:endParaRPr sz="1798"/>
          </a:p>
        </p:txBody>
      </p:sp>
      <p:sp>
        <p:nvSpPr>
          <p:cNvPr id="4" name="object 4"/>
          <p:cNvSpPr/>
          <p:nvPr/>
        </p:nvSpPr>
        <p:spPr>
          <a:xfrm>
            <a:off x="5283" y="-353"/>
            <a:ext cx="9132725" cy="54543"/>
          </a:xfrm>
          <a:custGeom>
            <a:avLst/>
            <a:gdLst/>
            <a:ahLst/>
            <a:cxnLst/>
            <a:rect l="l" t="t" r="r" b="b"/>
            <a:pathLst>
              <a:path w="9144000" h="54610">
                <a:moveTo>
                  <a:pt x="9143631" y="0"/>
                </a:moveTo>
                <a:lnTo>
                  <a:pt x="0" y="0"/>
                </a:lnTo>
                <a:lnTo>
                  <a:pt x="0" y="54355"/>
                </a:lnTo>
                <a:lnTo>
                  <a:pt x="4572000" y="54355"/>
                </a:lnTo>
                <a:lnTo>
                  <a:pt x="9143631" y="54355"/>
                </a:lnTo>
                <a:lnTo>
                  <a:pt x="9143631" y="0"/>
                </a:lnTo>
                <a:close/>
              </a:path>
            </a:pathLst>
          </a:custGeom>
          <a:solidFill>
            <a:srgbClr val="9C27AF"/>
          </a:solidFill>
        </p:spPr>
        <p:txBody>
          <a:bodyPr wrap="square" lIns="0" tIns="0" rIns="0" bIns="0" rtlCol="0"/>
          <a:lstStyle/>
          <a:p>
            <a:endParaRPr sz="1798"/>
          </a:p>
        </p:txBody>
      </p:sp>
      <p:sp>
        <p:nvSpPr>
          <p:cNvPr id="5" name="object 5"/>
          <p:cNvSpPr/>
          <p:nvPr/>
        </p:nvSpPr>
        <p:spPr>
          <a:xfrm>
            <a:off x="7311462" y="136637"/>
            <a:ext cx="1461236" cy="365309"/>
          </a:xfrm>
          <a:custGeom>
            <a:avLst/>
            <a:gdLst/>
            <a:ahLst/>
            <a:cxnLst/>
            <a:rect l="l" t="t" r="r" b="b"/>
            <a:pathLst>
              <a:path w="1463040" h="365759">
                <a:moveTo>
                  <a:pt x="1462671" y="0"/>
                </a:moveTo>
                <a:lnTo>
                  <a:pt x="0" y="0"/>
                </a:lnTo>
                <a:lnTo>
                  <a:pt x="0" y="365391"/>
                </a:lnTo>
                <a:lnTo>
                  <a:pt x="731520" y="365391"/>
                </a:lnTo>
                <a:lnTo>
                  <a:pt x="1462671" y="365391"/>
                </a:lnTo>
                <a:lnTo>
                  <a:pt x="1462671" y="0"/>
                </a:lnTo>
                <a:close/>
              </a:path>
            </a:pathLst>
          </a:custGeom>
          <a:solidFill>
            <a:srgbClr val="9C27AF"/>
          </a:solidFill>
        </p:spPr>
        <p:txBody>
          <a:bodyPr wrap="square" lIns="0" tIns="0" rIns="0" bIns="0" rtlCol="0"/>
          <a:lstStyle/>
          <a:p>
            <a:endParaRPr sz="1798"/>
          </a:p>
        </p:txBody>
      </p:sp>
      <p:sp>
        <p:nvSpPr>
          <p:cNvPr id="6" name="object 6"/>
          <p:cNvSpPr txBox="1"/>
          <p:nvPr/>
        </p:nvSpPr>
        <p:spPr>
          <a:xfrm>
            <a:off x="7685650" y="187953"/>
            <a:ext cx="712226" cy="223183"/>
          </a:xfrm>
          <a:prstGeom prst="rect">
            <a:avLst/>
          </a:prstGeom>
        </p:spPr>
        <p:txBody>
          <a:bodyPr vert="horz" wrap="square" lIns="0" tIns="15855" rIns="0" bIns="0" rtlCol="0">
            <a:spAutoFit/>
          </a:bodyPr>
          <a:lstStyle/>
          <a:p>
            <a:pPr marL="12685">
              <a:spcBef>
                <a:spcPts val="125"/>
              </a:spcBef>
            </a:pPr>
            <a:r>
              <a:rPr sz="1348" spc="-155" dirty="0">
                <a:solidFill>
                  <a:srgbClr val="FFFFFF"/>
                </a:solidFill>
                <a:latin typeface="Segoe UI Symbol"/>
                <a:cs typeface="Segoe UI Symbol"/>
              </a:rPr>
              <a:t>✅</a:t>
            </a:r>
            <a:r>
              <a:rPr sz="1348" spc="-225" dirty="0">
                <a:solidFill>
                  <a:srgbClr val="FFFFFF"/>
                </a:solidFill>
                <a:latin typeface="Segoe UI Symbol"/>
                <a:cs typeface="Segoe UI Symbol"/>
              </a:rPr>
              <a:t> </a:t>
            </a:r>
            <a:r>
              <a:rPr sz="1099" b="1" spc="-10" dirty="0">
                <a:solidFill>
                  <a:srgbClr val="FFFFFF"/>
                </a:solidFill>
                <a:latin typeface="Calibri"/>
                <a:cs typeface="Calibri"/>
              </a:rPr>
              <a:t>ANSWER</a:t>
            </a:r>
            <a:endParaRPr sz="1099">
              <a:latin typeface="Calibri"/>
              <a:cs typeface="Calibri"/>
            </a:endParaRPr>
          </a:p>
        </p:txBody>
      </p:sp>
      <p:sp>
        <p:nvSpPr>
          <p:cNvPr id="7" name="object 7" descr="$PPTXTitle"/>
          <p:cNvSpPr txBox="1">
            <a:spLocks noGrp="1"/>
          </p:cNvSpPr>
          <p:nvPr>
            <p:ph type="title"/>
          </p:nvPr>
        </p:nvSpPr>
        <p:spPr>
          <a:xfrm>
            <a:off x="357907" y="180766"/>
            <a:ext cx="1398449" cy="257766"/>
          </a:xfrm>
          <a:prstGeom prst="rect">
            <a:avLst/>
          </a:prstGeom>
        </p:spPr>
        <p:txBody>
          <a:bodyPr vert="horz" wrap="square" lIns="0" tIns="12050" rIns="0" bIns="0" rtlCol="0">
            <a:spAutoFit/>
          </a:bodyPr>
          <a:lstStyle/>
          <a:p>
            <a:pPr marL="12685">
              <a:spcBef>
                <a:spcPts val="95"/>
              </a:spcBef>
            </a:pPr>
            <a:r>
              <a:rPr dirty="0">
                <a:latin typeface="Georgia"/>
                <a:cs typeface="Georgia"/>
              </a:rPr>
              <a:t>Answer</a:t>
            </a:r>
            <a:r>
              <a:rPr spc="-95" dirty="0">
                <a:latin typeface="Georgia"/>
                <a:cs typeface="Georgia"/>
              </a:rPr>
              <a:t> </a:t>
            </a:r>
            <a:r>
              <a:rPr spc="-20" dirty="0">
                <a:latin typeface="Georgia"/>
                <a:cs typeface="Georgia"/>
              </a:rPr>
              <a:t>(2/2)</a:t>
            </a:r>
          </a:p>
        </p:txBody>
      </p:sp>
      <p:sp>
        <p:nvSpPr>
          <p:cNvPr id="8" name="object 8"/>
          <p:cNvSpPr txBox="1"/>
          <p:nvPr/>
        </p:nvSpPr>
        <p:spPr>
          <a:xfrm>
            <a:off x="356461" y="625393"/>
            <a:ext cx="4516259" cy="528303"/>
          </a:xfrm>
          <a:prstGeom prst="rect">
            <a:avLst/>
          </a:prstGeom>
        </p:spPr>
        <p:txBody>
          <a:bodyPr vert="horz" wrap="square" lIns="0" tIns="12684" rIns="0" bIns="0" rtlCol="0">
            <a:spAutoFit/>
          </a:bodyPr>
          <a:lstStyle/>
          <a:p>
            <a:pPr marL="12685" marR="993850">
              <a:lnSpc>
                <a:spcPct val="110100"/>
              </a:lnSpc>
              <a:spcBef>
                <a:spcPts val="100"/>
              </a:spcBef>
            </a:pPr>
            <a:r>
              <a:rPr sz="999" dirty="0">
                <a:solidFill>
                  <a:srgbClr val="D3D3D3"/>
                </a:solidFill>
                <a:latin typeface="Courier New"/>
                <a:cs typeface="Courier New"/>
              </a:rPr>
              <a:t>SELECT</a:t>
            </a:r>
            <a:r>
              <a:rPr sz="999" spc="-30" dirty="0">
                <a:solidFill>
                  <a:srgbClr val="D3D3D3"/>
                </a:solidFill>
                <a:latin typeface="Courier New"/>
                <a:cs typeface="Courier New"/>
              </a:rPr>
              <a:t> </a:t>
            </a:r>
            <a:r>
              <a:rPr sz="999" dirty="0">
                <a:solidFill>
                  <a:srgbClr val="D3D3D3"/>
                </a:solidFill>
                <a:latin typeface="Courier New"/>
                <a:cs typeface="Courier New"/>
              </a:rPr>
              <a:t>order_id,</a:t>
            </a:r>
            <a:r>
              <a:rPr sz="999" spc="-30" dirty="0">
                <a:solidFill>
                  <a:srgbClr val="D3D3D3"/>
                </a:solidFill>
                <a:latin typeface="Courier New"/>
                <a:cs typeface="Courier New"/>
              </a:rPr>
              <a:t> </a:t>
            </a:r>
            <a:r>
              <a:rPr sz="999" dirty="0">
                <a:solidFill>
                  <a:srgbClr val="D3D3D3"/>
                </a:solidFill>
                <a:latin typeface="Courier New"/>
                <a:cs typeface="Courier New"/>
              </a:rPr>
              <a:t>total</a:t>
            </a:r>
            <a:r>
              <a:rPr sz="999" spc="-30" dirty="0">
                <a:solidFill>
                  <a:srgbClr val="D3D3D3"/>
                </a:solidFill>
                <a:latin typeface="Courier New"/>
                <a:cs typeface="Courier New"/>
              </a:rPr>
              <a:t> </a:t>
            </a:r>
            <a:r>
              <a:rPr sz="999" dirty="0">
                <a:solidFill>
                  <a:srgbClr val="D3D3D3"/>
                </a:solidFill>
                <a:latin typeface="Courier New"/>
                <a:cs typeface="Courier New"/>
              </a:rPr>
              <a:t>FROM</a:t>
            </a:r>
            <a:r>
              <a:rPr sz="999" spc="-30" dirty="0">
                <a:solidFill>
                  <a:srgbClr val="D3D3D3"/>
                </a:solidFill>
                <a:latin typeface="Courier New"/>
                <a:cs typeface="Courier New"/>
              </a:rPr>
              <a:t> </a:t>
            </a:r>
            <a:r>
              <a:rPr sz="999" spc="-10" dirty="0">
                <a:solidFill>
                  <a:srgbClr val="D3D3D3"/>
                </a:solidFill>
                <a:latin typeface="Courier New"/>
                <a:cs typeface="Courier New"/>
              </a:rPr>
              <a:t>shop.legacy_orders </a:t>
            </a:r>
            <a:r>
              <a:rPr sz="999" dirty="0">
                <a:solidFill>
                  <a:srgbClr val="D3D3D3"/>
                </a:solidFill>
                <a:latin typeface="Courier New"/>
                <a:cs typeface="Courier New"/>
              </a:rPr>
              <a:t>WHERE</a:t>
            </a:r>
            <a:r>
              <a:rPr sz="999" spc="-20" dirty="0">
                <a:solidFill>
                  <a:srgbClr val="D3D3D3"/>
                </a:solidFill>
                <a:latin typeface="Courier New"/>
                <a:cs typeface="Courier New"/>
              </a:rPr>
              <a:t> </a:t>
            </a:r>
            <a:r>
              <a:rPr sz="999" dirty="0">
                <a:solidFill>
                  <a:srgbClr val="D3D3D3"/>
                </a:solidFill>
                <a:latin typeface="Courier New"/>
                <a:cs typeface="Courier New"/>
              </a:rPr>
              <a:t>total</a:t>
            </a:r>
            <a:r>
              <a:rPr sz="999" spc="-15" dirty="0">
                <a:solidFill>
                  <a:srgbClr val="D3D3D3"/>
                </a:solidFill>
                <a:latin typeface="Courier New"/>
                <a:cs typeface="Courier New"/>
              </a:rPr>
              <a:t> </a:t>
            </a:r>
            <a:r>
              <a:rPr sz="999" dirty="0">
                <a:solidFill>
                  <a:srgbClr val="D3D3D3"/>
                </a:solidFill>
                <a:latin typeface="Courier New"/>
                <a:cs typeface="Courier New"/>
              </a:rPr>
              <a:t>&gt;</a:t>
            </a:r>
            <a:r>
              <a:rPr sz="999" spc="-20" dirty="0">
                <a:solidFill>
                  <a:srgbClr val="D3D3D3"/>
                </a:solidFill>
                <a:latin typeface="Courier New"/>
                <a:cs typeface="Courier New"/>
              </a:rPr>
              <a:t> </a:t>
            </a:r>
            <a:r>
              <a:rPr sz="999" dirty="0">
                <a:solidFill>
                  <a:srgbClr val="D3D3D3"/>
                </a:solidFill>
                <a:latin typeface="Courier New"/>
                <a:cs typeface="Courier New"/>
              </a:rPr>
              <a:t>900</a:t>
            </a:r>
            <a:r>
              <a:rPr sz="999" spc="-15" dirty="0">
                <a:solidFill>
                  <a:srgbClr val="D3D3D3"/>
                </a:solidFill>
                <a:latin typeface="Courier New"/>
                <a:cs typeface="Courier New"/>
              </a:rPr>
              <a:t> </a:t>
            </a:r>
            <a:r>
              <a:rPr sz="999" dirty="0">
                <a:solidFill>
                  <a:srgbClr val="D3D3D3"/>
                </a:solidFill>
                <a:latin typeface="Courier New"/>
                <a:cs typeface="Courier New"/>
              </a:rPr>
              <a:t>ORDER</a:t>
            </a:r>
            <a:r>
              <a:rPr sz="999" spc="-20" dirty="0">
                <a:solidFill>
                  <a:srgbClr val="D3D3D3"/>
                </a:solidFill>
                <a:latin typeface="Courier New"/>
                <a:cs typeface="Courier New"/>
              </a:rPr>
              <a:t> </a:t>
            </a:r>
            <a:r>
              <a:rPr sz="999" dirty="0">
                <a:solidFill>
                  <a:srgbClr val="D3D3D3"/>
                </a:solidFill>
                <a:latin typeface="Courier New"/>
                <a:cs typeface="Courier New"/>
              </a:rPr>
              <a:t>BY</a:t>
            </a:r>
            <a:r>
              <a:rPr sz="999" spc="-15" dirty="0">
                <a:solidFill>
                  <a:srgbClr val="D3D3D3"/>
                </a:solidFill>
                <a:latin typeface="Courier New"/>
                <a:cs typeface="Courier New"/>
              </a:rPr>
              <a:t> </a:t>
            </a:r>
            <a:r>
              <a:rPr sz="999" spc="-10" dirty="0">
                <a:solidFill>
                  <a:srgbClr val="D3D3D3"/>
                </a:solidFill>
                <a:latin typeface="Courier New"/>
                <a:cs typeface="Courier New"/>
              </a:rPr>
              <a:t>order_date;</a:t>
            </a:r>
            <a:endParaRPr sz="999">
              <a:latin typeface="Courier New"/>
              <a:cs typeface="Courier New"/>
            </a:endParaRPr>
          </a:p>
          <a:p>
            <a:pPr marL="12685">
              <a:spcBef>
                <a:spcPts val="120"/>
              </a:spcBef>
            </a:pPr>
            <a:r>
              <a:rPr sz="999" spc="-10" dirty="0">
                <a:solidFill>
                  <a:srgbClr val="699954"/>
                </a:solidFill>
                <a:latin typeface="Courier New"/>
                <a:cs typeface="Courier New"/>
              </a:rPr>
              <a:t>-</a:t>
            </a:r>
            <a:r>
              <a:rPr sz="999" dirty="0">
                <a:solidFill>
                  <a:srgbClr val="699954"/>
                </a:solidFill>
                <a:latin typeface="Courier New"/>
                <a:cs typeface="Courier New"/>
              </a:rPr>
              <a:t>-</a:t>
            </a:r>
            <a:r>
              <a:rPr sz="999" spc="-35" dirty="0">
                <a:solidFill>
                  <a:srgbClr val="699954"/>
                </a:solidFill>
                <a:latin typeface="Courier New"/>
                <a:cs typeface="Courier New"/>
              </a:rPr>
              <a:t> </a:t>
            </a:r>
            <a:r>
              <a:rPr sz="999" dirty="0">
                <a:solidFill>
                  <a:srgbClr val="699954"/>
                </a:solidFill>
                <a:latin typeface="Courier New"/>
                <a:cs typeface="Courier New"/>
              </a:rPr>
              <a:t>'1000'</a:t>
            </a:r>
            <a:r>
              <a:rPr sz="999" spc="-25" dirty="0">
                <a:solidFill>
                  <a:srgbClr val="699954"/>
                </a:solidFill>
                <a:latin typeface="Courier New"/>
                <a:cs typeface="Courier New"/>
              </a:rPr>
              <a:t> </a:t>
            </a:r>
            <a:r>
              <a:rPr sz="999" dirty="0">
                <a:solidFill>
                  <a:srgbClr val="699954"/>
                </a:solidFill>
                <a:latin typeface="Courier New"/>
                <a:cs typeface="Courier New"/>
              </a:rPr>
              <a:t>and</a:t>
            </a:r>
            <a:r>
              <a:rPr sz="999" spc="-20" dirty="0">
                <a:solidFill>
                  <a:srgbClr val="699954"/>
                </a:solidFill>
                <a:latin typeface="Courier New"/>
                <a:cs typeface="Courier New"/>
              </a:rPr>
              <a:t> </a:t>
            </a:r>
            <a:r>
              <a:rPr sz="999" dirty="0">
                <a:solidFill>
                  <a:srgbClr val="699954"/>
                </a:solidFill>
                <a:latin typeface="Courier New"/>
                <a:cs typeface="Courier New"/>
              </a:rPr>
              <a:t>'4999'</a:t>
            </a:r>
            <a:r>
              <a:rPr sz="999" spc="-25" dirty="0">
                <a:solidFill>
                  <a:srgbClr val="699954"/>
                </a:solidFill>
                <a:latin typeface="Courier New"/>
                <a:cs typeface="Courier New"/>
              </a:rPr>
              <a:t> </a:t>
            </a:r>
            <a:r>
              <a:rPr sz="999" dirty="0">
                <a:solidFill>
                  <a:srgbClr val="699954"/>
                </a:solidFill>
                <a:latin typeface="Courier New"/>
                <a:cs typeface="Courier New"/>
              </a:rPr>
              <a:t>both</a:t>
            </a:r>
            <a:r>
              <a:rPr sz="999" spc="-20" dirty="0">
                <a:solidFill>
                  <a:srgbClr val="699954"/>
                </a:solidFill>
                <a:latin typeface="Courier New"/>
                <a:cs typeface="Courier New"/>
              </a:rPr>
              <a:t> </a:t>
            </a:r>
            <a:r>
              <a:rPr sz="999" dirty="0">
                <a:solidFill>
                  <a:srgbClr val="699954"/>
                </a:solidFill>
                <a:latin typeface="Courier New"/>
                <a:cs typeface="Courier New"/>
              </a:rPr>
              <a:t>return</a:t>
            </a:r>
            <a:r>
              <a:rPr sz="999" spc="-20" dirty="0">
                <a:solidFill>
                  <a:srgbClr val="699954"/>
                </a:solidFill>
                <a:latin typeface="Courier New"/>
                <a:cs typeface="Courier New"/>
              </a:rPr>
              <a:t> </a:t>
            </a:r>
            <a:r>
              <a:rPr sz="999" dirty="0">
                <a:solidFill>
                  <a:srgbClr val="699954"/>
                </a:solidFill>
                <a:latin typeface="Courier New"/>
                <a:cs typeface="Courier New"/>
              </a:rPr>
              <a:t>(real</a:t>
            </a:r>
            <a:r>
              <a:rPr sz="999" spc="-25" dirty="0">
                <a:solidFill>
                  <a:srgbClr val="699954"/>
                </a:solidFill>
                <a:latin typeface="Courier New"/>
                <a:cs typeface="Courier New"/>
              </a:rPr>
              <a:t> </a:t>
            </a:r>
            <a:r>
              <a:rPr sz="999" dirty="0">
                <a:solidFill>
                  <a:srgbClr val="699954"/>
                </a:solidFill>
                <a:latin typeface="Courier New"/>
                <a:cs typeface="Courier New"/>
              </a:rPr>
              <a:t>numeric</a:t>
            </a:r>
            <a:r>
              <a:rPr sz="999" spc="-20" dirty="0">
                <a:solidFill>
                  <a:srgbClr val="699954"/>
                </a:solidFill>
                <a:latin typeface="Courier New"/>
                <a:cs typeface="Courier New"/>
              </a:rPr>
              <a:t> </a:t>
            </a:r>
            <a:r>
              <a:rPr sz="999" spc="-10" dirty="0">
                <a:solidFill>
                  <a:srgbClr val="699954"/>
                </a:solidFill>
                <a:latin typeface="Courier New"/>
                <a:cs typeface="Courier New"/>
              </a:rPr>
              <a:t>comparison).</a:t>
            </a:r>
            <a:endParaRPr sz="999">
              <a:latin typeface="Courier New"/>
              <a:cs typeface="Courier New"/>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79619" y="273628"/>
            <a:ext cx="2054228" cy="4566363"/>
          </a:xfrm>
          <a:custGeom>
            <a:avLst/>
            <a:gdLst/>
            <a:ahLst/>
            <a:cxnLst/>
            <a:rect l="l" t="t" r="r" b="b"/>
            <a:pathLst>
              <a:path w="2056764" h="4572000">
                <a:moveTo>
                  <a:pt x="72720" y="0"/>
                </a:moveTo>
                <a:lnTo>
                  <a:pt x="0" y="0"/>
                </a:lnTo>
                <a:lnTo>
                  <a:pt x="0" y="4571631"/>
                </a:lnTo>
                <a:lnTo>
                  <a:pt x="36360" y="4571631"/>
                </a:lnTo>
                <a:lnTo>
                  <a:pt x="72720" y="4571631"/>
                </a:lnTo>
                <a:lnTo>
                  <a:pt x="72720" y="0"/>
                </a:lnTo>
                <a:close/>
              </a:path>
              <a:path w="2056764" h="4572000">
                <a:moveTo>
                  <a:pt x="2056676" y="355"/>
                </a:moveTo>
                <a:lnTo>
                  <a:pt x="228244" y="355"/>
                </a:lnTo>
                <a:lnTo>
                  <a:pt x="228244" y="320040"/>
                </a:lnTo>
                <a:lnTo>
                  <a:pt x="1142644" y="320040"/>
                </a:lnTo>
                <a:lnTo>
                  <a:pt x="2056676" y="320040"/>
                </a:lnTo>
                <a:lnTo>
                  <a:pt x="2056676" y="355"/>
                </a:lnTo>
                <a:close/>
              </a:path>
            </a:pathLst>
          </a:custGeom>
          <a:solidFill>
            <a:srgbClr val="1565C0"/>
          </a:solidFill>
        </p:spPr>
        <p:txBody>
          <a:bodyPr wrap="square" lIns="0" tIns="0" rIns="0" bIns="0" rtlCol="0"/>
          <a:lstStyle/>
          <a:p>
            <a:endParaRPr sz="1798"/>
          </a:p>
        </p:txBody>
      </p:sp>
      <p:sp>
        <p:nvSpPr>
          <p:cNvPr id="3" name="object 3"/>
          <p:cNvSpPr txBox="1"/>
          <p:nvPr/>
        </p:nvSpPr>
        <p:spPr>
          <a:xfrm>
            <a:off x="1239532" y="345079"/>
            <a:ext cx="363406" cy="166379"/>
          </a:xfrm>
          <a:prstGeom prst="rect">
            <a:avLst/>
          </a:prstGeom>
        </p:spPr>
        <p:txBody>
          <a:bodyPr vert="horz" wrap="square" lIns="0" tIns="12684" rIns="0" bIns="0" rtlCol="0">
            <a:spAutoFit/>
          </a:bodyPr>
          <a:lstStyle/>
          <a:p>
            <a:pPr marL="12685">
              <a:spcBef>
                <a:spcPts val="100"/>
              </a:spcBef>
            </a:pPr>
            <a:r>
              <a:rPr sz="999" b="1" spc="-10" dirty="0">
                <a:solidFill>
                  <a:srgbClr val="FFFFFF"/>
                </a:solidFill>
                <a:latin typeface="Calibri"/>
                <a:cs typeface="Calibri"/>
              </a:rPr>
              <a:t>STORY</a:t>
            </a:r>
            <a:endParaRPr sz="999">
              <a:latin typeface="Calibri"/>
              <a:cs typeface="Calibri"/>
            </a:endParaRPr>
          </a:p>
        </p:txBody>
      </p:sp>
      <p:sp>
        <p:nvSpPr>
          <p:cNvPr id="4" name="object 4" descr="$PPTXTitle"/>
          <p:cNvSpPr txBox="1">
            <a:spLocks noGrp="1"/>
          </p:cNvSpPr>
          <p:nvPr>
            <p:ph type="title"/>
          </p:nvPr>
        </p:nvSpPr>
        <p:spPr>
          <a:xfrm>
            <a:off x="494898" y="748137"/>
            <a:ext cx="3894727" cy="330427"/>
          </a:xfrm>
          <a:prstGeom prst="rect">
            <a:avLst/>
          </a:prstGeom>
        </p:spPr>
        <p:txBody>
          <a:bodyPr vert="horz" wrap="square" lIns="0" tIns="12684" rIns="0" bIns="0" rtlCol="0">
            <a:spAutoFit/>
          </a:bodyPr>
          <a:lstStyle/>
          <a:p>
            <a:pPr marL="12685">
              <a:spcBef>
                <a:spcPts val="100"/>
              </a:spcBef>
            </a:pPr>
            <a:r>
              <a:rPr sz="1998" dirty="0">
                <a:solidFill>
                  <a:srgbClr val="202020"/>
                </a:solidFill>
                <a:latin typeface="Georgia"/>
                <a:cs typeface="Georgia"/>
              </a:rPr>
              <a:t>The</a:t>
            </a:r>
            <a:r>
              <a:rPr sz="1998" spc="-35" dirty="0">
                <a:solidFill>
                  <a:srgbClr val="202020"/>
                </a:solidFill>
                <a:latin typeface="Georgia"/>
                <a:cs typeface="Georgia"/>
              </a:rPr>
              <a:t> </a:t>
            </a:r>
            <a:r>
              <a:rPr sz="1998" dirty="0">
                <a:solidFill>
                  <a:srgbClr val="202020"/>
                </a:solidFill>
                <a:latin typeface="Georgia"/>
                <a:cs typeface="Georgia"/>
              </a:rPr>
              <a:t>Exam</a:t>
            </a:r>
            <a:r>
              <a:rPr sz="1998" spc="-25" dirty="0">
                <a:solidFill>
                  <a:srgbClr val="202020"/>
                </a:solidFill>
                <a:latin typeface="Georgia"/>
                <a:cs typeface="Georgia"/>
              </a:rPr>
              <a:t> </a:t>
            </a:r>
            <a:r>
              <a:rPr sz="1998" dirty="0">
                <a:solidFill>
                  <a:srgbClr val="202020"/>
                </a:solidFill>
                <a:latin typeface="Georgia"/>
                <a:cs typeface="Georgia"/>
              </a:rPr>
              <a:t>Hall</a:t>
            </a:r>
            <a:r>
              <a:rPr sz="1998" spc="-30" dirty="0">
                <a:solidFill>
                  <a:srgbClr val="202020"/>
                </a:solidFill>
                <a:latin typeface="Georgia"/>
                <a:cs typeface="Georgia"/>
              </a:rPr>
              <a:t> </a:t>
            </a:r>
            <a:r>
              <a:rPr sz="1998" dirty="0">
                <a:solidFill>
                  <a:srgbClr val="202020"/>
                </a:solidFill>
                <a:latin typeface="Georgia"/>
                <a:cs typeface="Georgia"/>
              </a:rPr>
              <a:t>Without</a:t>
            </a:r>
            <a:r>
              <a:rPr sz="1998" spc="-40" dirty="0">
                <a:solidFill>
                  <a:srgbClr val="202020"/>
                </a:solidFill>
                <a:latin typeface="Georgia"/>
                <a:cs typeface="Georgia"/>
              </a:rPr>
              <a:t> </a:t>
            </a:r>
            <a:r>
              <a:rPr sz="1998" spc="-10" dirty="0">
                <a:solidFill>
                  <a:srgbClr val="202020"/>
                </a:solidFill>
                <a:latin typeface="Georgia"/>
                <a:cs typeface="Georgia"/>
              </a:rPr>
              <a:t>Rules</a:t>
            </a:r>
            <a:endParaRPr sz="1998">
              <a:latin typeface="Georgia"/>
              <a:cs typeface="Georgia"/>
            </a:endParaRPr>
          </a:p>
        </p:txBody>
      </p:sp>
      <p:sp>
        <p:nvSpPr>
          <p:cNvPr id="5" name="object 5"/>
          <p:cNvSpPr txBox="1"/>
          <p:nvPr/>
        </p:nvSpPr>
        <p:spPr>
          <a:xfrm>
            <a:off x="584779" y="1258707"/>
            <a:ext cx="2996675" cy="212297"/>
          </a:xfrm>
          <a:prstGeom prst="rect">
            <a:avLst/>
          </a:prstGeom>
        </p:spPr>
        <p:txBody>
          <a:bodyPr vert="horz" wrap="square" lIns="0" tIns="12684" rIns="0" bIns="0" rtlCol="0">
            <a:spAutoFit/>
          </a:bodyPr>
          <a:lstStyle/>
          <a:p>
            <a:pPr marL="12685">
              <a:spcBef>
                <a:spcPts val="100"/>
              </a:spcBef>
            </a:pPr>
            <a:r>
              <a:rPr sz="1298" dirty="0">
                <a:solidFill>
                  <a:srgbClr val="202020"/>
                </a:solidFill>
                <a:latin typeface="Calibri"/>
                <a:cs typeface="Calibri"/>
              </a:rPr>
              <a:t>A</a:t>
            </a:r>
            <a:r>
              <a:rPr sz="1298" spc="-40" dirty="0">
                <a:solidFill>
                  <a:srgbClr val="202020"/>
                </a:solidFill>
                <a:latin typeface="Calibri"/>
                <a:cs typeface="Calibri"/>
              </a:rPr>
              <a:t> </a:t>
            </a:r>
            <a:r>
              <a:rPr sz="1298" dirty="0">
                <a:solidFill>
                  <a:srgbClr val="202020"/>
                </a:solidFill>
                <a:latin typeface="Calibri"/>
                <a:cs typeface="Calibri"/>
              </a:rPr>
              <a:t>school</a:t>
            </a:r>
            <a:r>
              <a:rPr sz="1298" spc="-40" dirty="0">
                <a:solidFill>
                  <a:srgbClr val="202020"/>
                </a:solidFill>
                <a:latin typeface="Calibri"/>
                <a:cs typeface="Calibri"/>
              </a:rPr>
              <a:t> </a:t>
            </a:r>
            <a:r>
              <a:rPr sz="1298" dirty="0">
                <a:solidFill>
                  <a:srgbClr val="202020"/>
                </a:solidFill>
                <a:latin typeface="Calibri"/>
                <a:cs typeface="Calibri"/>
              </a:rPr>
              <a:t>runs</a:t>
            </a:r>
            <a:r>
              <a:rPr sz="1298" spc="-40" dirty="0">
                <a:solidFill>
                  <a:srgbClr val="202020"/>
                </a:solidFill>
                <a:latin typeface="Calibri"/>
                <a:cs typeface="Calibri"/>
              </a:rPr>
              <a:t> </a:t>
            </a:r>
            <a:r>
              <a:rPr sz="1298" dirty="0">
                <a:solidFill>
                  <a:srgbClr val="202020"/>
                </a:solidFill>
                <a:latin typeface="Calibri"/>
                <a:cs typeface="Calibri"/>
              </a:rPr>
              <a:t>an</a:t>
            </a:r>
            <a:r>
              <a:rPr sz="1298" spc="-35" dirty="0">
                <a:solidFill>
                  <a:srgbClr val="202020"/>
                </a:solidFill>
                <a:latin typeface="Calibri"/>
                <a:cs typeface="Calibri"/>
              </a:rPr>
              <a:t> </a:t>
            </a:r>
            <a:r>
              <a:rPr sz="1298" dirty="0">
                <a:solidFill>
                  <a:srgbClr val="202020"/>
                </a:solidFill>
                <a:latin typeface="Calibri"/>
                <a:cs typeface="Calibri"/>
              </a:rPr>
              <a:t>exam</a:t>
            </a:r>
            <a:r>
              <a:rPr sz="1298" spc="-40" dirty="0">
                <a:solidFill>
                  <a:srgbClr val="202020"/>
                </a:solidFill>
                <a:latin typeface="Calibri"/>
                <a:cs typeface="Calibri"/>
              </a:rPr>
              <a:t> </a:t>
            </a:r>
            <a:r>
              <a:rPr sz="1298" dirty="0">
                <a:solidFill>
                  <a:srgbClr val="202020"/>
                </a:solidFill>
                <a:latin typeface="Calibri"/>
                <a:cs typeface="Calibri"/>
              </a:rPr>
              <a:t>with</a:t>
            </a:r>
            <a:r>
              <a:rPr sz="1298" spc="-40" dirty="0">
                <a:solidFill>
                  <a:srgbClr val="202020"/>
                </a:solidFill>
                <a:latin typeface="Calibri"/>
                <a:cs typeface="Calibri"/>
              </a:rPr>
              <a:t> </a:t>
            </a:r>
            <a:r>
              <a:rPr sz="1298" dirty="0">
                <a:solidFill>
                  <a:srgbClr val="202020"/>
                </a:solidFill>
                <a:latin typeface="Calibri"/>
                <a:cs typeface="Calibri"/>
              </a:rPr>
              <a:t>NO</a:t>
            </a:r>
            <a:r>
              <a:rPr sz="1298" spc="-40" dirty="0">
                <a:solidFill>
                  <a:srgbClr val="202020"/>
                </a:solidFill>
                <a:latin typeface="Calibri"/>
                <a:cs typeface="Calibri"/>
              </a:rPr>
              <a:t> </a:t>
            </a:r>
            <a:r>
              <a:rPr sz="1298" dirty="0">
                <a:solidFill>
                  <a:srgbClr val="202020"/>
                </a:solidFill>
                <a:latin typeface="Calibri"/>
                <a:cs typeface="Calibri"/>
              </a:rPr>
              <a:t>rules.</a:t>
            </a:r>
            <a:r>
              <a:rPr sz="1298" spc="-35" dirty="0">
                <a:solidFill>
                  <a:srgbClr val="202020"/>
                </a:solidFill>
                <a:latin typeface="Calibri"/>
                <a:cs typeface="Calibri"/>
              </a:rPr>
              <a:t> </a:t>
            </a:r>
            <a:r>
              <a:rPr sz="1298" spc="-10" dirty="0">
                <a:solidFill>
                  <a:srgbClr val="202020"/>
                </a:solidFill>
                <a:latin typeface="Calibri"/>
                <a:cs typeface="Calibri"/>
              </a:rPr>
              <a:t>Chaos:</a:t>
            </a:r>
            <a:endParaRPr sz="1298">
              <a:latin typeface="Calibri"/>
              <a:cs typeface="Calibri"/>
            </a:endParaRPr>
          </a:p>
        </p:txBody>
      </p:sp>
      <p:sp>
        <p:nvSpPr>
          <p:cNvPr id="6" name="object 6"/>
          <p:cNvSpPr txBox="1"/>
          <p:nvPr/>
        </p:nvSpPr>
        <p:spPr>
          <a:xfrm>
            <a:off x="584779" y="1432231"/>
            <a:ext cx="79911" cy="901856"/>
          </a:xfrm>
          <a:prstGeom prst="rect">
            <a:avLst/>
          </a:prstGeom>
        </p:spPr>
        <p:txBody>
          <a:bodyPr vert="horz" wrap="square" lIns="0" tIns="48835" rIns="0" bIns="0" rtlCol="0">
            <a:spAutoFit/>
          </a:bodyPr>
          <a:lstStyle/>
          <a:p>
            <a:pPr marL="12685">
              <a:spcBef>
                <a:spcPts val="385"/>
              </a:spcBef>
            </a:pPr>
            <a:r>
              <a:rPr sz="1199" spc="-50" dirty="0">
                <a:solidFill>
                  <a:srgbClr val="202020"/>
                </a:solidFill>
                <a:latin typeface="Arial MT"/>
                <a:cs typeface="Arial MT"/>
              </a:rPr>
              <a:t>•</a:t>
            </a:r>
            <a:endParaRPr sz="1199">
              <a:latin typeface="Arial MT"/>
              <a:cs typeface="Arial MT"/>
            </a:endParaRPr>
          </a:p>
          <a:p>
            <a:pPr marL="12685">
              <a:spcBef>
                <a:spcPts val="285"/>
              </a:spcBef>
            </a:pPr>
            <a:r>
              <a:rPr sz="1199" spc="-50" dirty="0">
                <a:solidFill>
                  <a:srgbClr val="202020"/>
                </a:solidFill>
                <a:latin typeface="Arial MT"/>
                <a:cs typeface="Arial MT"/>
              </a:rPr>
              <a:t>•</a:t>
            </a:r>
            <a:endParaRPr sz="1199">
              <a:latin typeface="Arial MT"/>
              <a:cs typeface="Arial MT"/>
            </a:endParaRPr>
          </a:p>
          <a:p>
            <a:pPr marL="12685">
              <a:spcBef>
                <a:spcPts val="290"/>
              </a:spcBef>
            </a:pPr>
            <a:r>
              <a:rPr sz="1199" spc="-50" dirty="0">
                <a:solidFill>
                  <a:srgbClr val="202020"/>
                </a:solidFill>
                <a:latin typeface="Arial MT"/>
                <a:cs typeface="Arial MT"/>
              </a:rPr>
              <a:t>•</a:t>
            </a:r>
            <a:endParaRPr sz="1199">
              <a:latin typeface="Arial MT"/>
              <a:cs typeface="Arial MT"/>
            </a:endParaRPr>
          </a:p>
          <a:p>
            <a:pPr marL="12685">
              <a:spcBef>
                <a:spcPts val="285"/>
              </a:spcBef>
            </a:pPr>
            <a:r>
              <a:rPr sz="1199" spc="-50" dirty="0">
                <a:solidFill>
                  <a:srgbClr val="202020"/>
                </a:solidFill>
                <a:latin typeface="Arial MT"/>
                <a:cs typeface="Arial MT"/>
              </a:rPr>
              <a:t>•</a:t>
            </a:r>
            <a:endParaRPr sz="1199">
              <a:latin typeface="Arial MT"/>
              <a:cs typeface="Arial MT"/>
            </a:endParaRPr>
          </a:p>
        </p:txBody>
      </p:sp>
      <p:sp>
        <p:nvSpPr>
          <p:cNvPr id="7" name="object 7"/>
          <p:cNvSpPr txBox="1"/>
          <p:nvPr/>
        </p:nvSpPr>
        <p:spPr>
          <a:xfrm>
            <a:off x="927434" y="1456687"/>
            <a:ext cx="3679093" cy="901856"/>
          </a:xfrm>
          <a:prstGeom prst="rect">
            <a:avLst/>
          </a:prstGeom>
        </p:spPr>
        <p:txBody>
          <a:bodyPr vert="horz" wrap="square" lIns="0" tIns="48835" rIns="0" bIns="0" rtlCol="0">
            <a:spAutoFit/>
          </a:bodyPr>
          <a:lstStyle/>
          <a:p>
            <a:pPr marL="12685">
              <a:spcBef>
                <a:spcPts val="385"/>
              </a:spcBef>
            </a:pPr>
            <a:r>
              <a:rPr sz="1199" spc="-20" dirty="0">
                <a:solidFill>
                  <a:srgbClr val="202020"/>
                </a:solidFill>
                <a:latin typeface="Calibri"/>
                <a:cs typeface="Calibri"/>
              </a:rPr>
              <a:t>Two</a:t>
            </a:r>
            <a:r>
              <a:rPr sz="1199" spc="-25" dirty="0">
                <a:solidFill>
                  <a:srgbClr val="202020"/>
                </a:solidFill>
                <a:latin typeface="Calibri"/>
                <a:cs typeface="Calibri"/>
              </a:rPr>
              <a:t> </a:t>
            </a:r>
            <a:r>
              <a:rPr sz="1199" spc="-10" dirty="0">
                <a:solidFill>
                  <a:srgbClr val="202020"/>
                </a:solidFill>
                <a:latin typeface="Calibri"/>
                <a:cs typeface="Calibri"/>
              </a:rPr>
              <a:t>students</a:t>
            </a:r>
            <a:r>
              <a:rPr sz="1199" spc="-25" dirty="0">
                <a:solidFill>
                  <a:srgbClr val="202020"/>
                </a:solidFill>
                <a:latin typeface="Calibri"/>
                <a:cs typeface="Calibri"/>
              </a:rPr>
              <a:t> </a:t>
            </a:r>
            <a:r>
              <a:rPr sz="1199" dirty="0">
                <a:solidFill>
                  <a:srgbClr val="202020"/>
                </a:solidFill>
                <a:latin typeface="Calibri"/>
                <a:cs typeface="Calibri"/>
              </a:rPr>
              <a:t>sit</a:t>
            </a:r>
            <a:r>
              <a:rPr sz="1199" spc="-25" dirty="0">
                <a:solidFill>
                  <a:srgbClr val="202020"/>
                </a:solidFill>
                <a:latin typeface="Calibri"/>
                <a:cs typeface="Calibri"/>
              </a:rPr>
              <a:t> </a:t>
            </a:r>
            <a:r>
              <a:rPr sz="1199" dirty="0">
                <a:solidFill>
                  <a:srgbClr val="202020"/>
                </a:solidFill>
                <a:latin typeface="Calibri"/>
                <a:cs typeface="Calibri"/>
              </a:rPr>
              <a:t>in</a:t>
            </a:r>
            <a:r>
              <a:rPr sz="1199" spc="-20" dirty="0">
                <a:solidFill>
                  <a:srgbClr val="202020"/>
                </a:solidFill>
                <a:latin typeface="Calibri"/>
                <a:cs typeface="Calibri"/>
              </a:rPr>
              <a:t> </a:t>
            </a:r>
            <a:r>
              <a:rPr sz="1199" dirty="0">
                <a:solidFill>
                  <a:srgbClr val="202020"/>
                </a:solidFill>
                <a:latin typeface="Calibri"/>
                <a:cs typeface="Calibri"/>
              </a:rPr>
              <a:t>the</a:t>
            </a:r>
            <a:r>
              <a:rPr sz="1199" spc="-25" dirty="0">
                <a:solidFill>
                  <a:srgbClr val="202020"/>
                </a:solidFill>
                <a:latin typeface="Calibri"/>
                <a:cs typeface="Calibri"/>
              </a:rPr>
              <a:t> </a:t>
            </a:r>
            <a:r>
              <a:rPr sz="1199" dirty="0">
                <a:solidFill>
                  <a:srgbClr val="202020"/>
                </a:solidFill>
                <a:latin typeface="Calibri"/>
                <a:cs typeface="Calibri"/>
              </a:rPr>
              <a:t>same</a:t>
            </a:r>
            <a:r>
              <a:rPr sz="1199" spc="-25" dirty="0">
                <a:solidFill>
                  <a:srgbClr val="202020"/>
                </a:solidFill>
                <a:latin typeface="Calibri"/>
                <a:cs typeface="Calibri"/>
              </a:rPr>
              <a:t> </a:t>
            </a:r>
            <a:r>
              <a:rPr sz="1199" dirty="0">
                <a:solidFill>
                  <a:srgbClr val="202020"/>
                </a:solidFill>
                <a:latin typeface="Calibri"/>
                <a:cs typeface="Calibri"/>
              </a:rPr>
              <a:t>seat</a:t>
            </a:r>
            <a:r>
              <a:rPr sz="1199" spc="-25" dirty="0">
                <a:solidFill>
                  <a:srgbClr val="202020"/>
                </a:solidFill>
                <a:latin typeface="Calibri"/>
                <a:cs typeface="Calibri"/>
              </a:rPr>
              <a:t> </a:t>
            </a:r>
            <a:r>
              <a:rPr sz="1199" dirty="0">
                <a:solidFill>
                  <a:srgbClr val="202020"/>
                </a:solidFill>
                <a:latin typeface="Calibri"/>
                <a:cs typeface="Calibri"/>
              </a:rPr>
              <a:t>-</a:t>
            </a:r>
            <a:r>
              <a:rPr sz="1199" spc="-20" dirty="0">
                <a:solidFill>
                  <a:srgbClr val="202020"/>
                </a:solidFill>
                <a:latin typeface="Calibri"/>
                <a:cs typeface="Calibri"/>
              </a:rPr>
              <a:t> </a:t>
            </a:r>
            <a:r>
              <a:rPr sz="1199" dirty="0">
                <a:solidFill>
                  <a:srgbClr val="202020"/>
                </a:solidFill>
                <a:latin typeface="Calibri"/>
                <a:cs typeface="Calibri"/>
              </a:rPr>
              <a:t>fight</a:t>
            </a:r>
            <a:r>
              <a:rPr sz="1199" spc="-25" dirty="0">
                <a:solidFill>
                  <a:srgbClr val="202020"/>
                </a:solidFill>
                <a:latin typeface="Calibri"/>
                <a:cs typeface="Calibri"/>
              </a:rPr>
              <a:t> </a:t>
            </a:r>
            <a:r>
              <a:rPr sz="1199" dirty="0">
                <a:solidFill>
                  <a:srgbClr val="202020"/>
                </a:solidFill>
                <a:latin typeface="Calibri"/>
                <a:cs typeface="Calibri"/>
              </a:rPr>
              <a:t>(no</a:t>
            </a:r>
            <a:r>
              <a:rPr sz="1199" spc="-25" dirty="0">
                <a:solidFill>
                  <a:srgbClr val="202020"/>
                </a:solidFill>
                <a:latin typeface="Calibri"/>
                <a:cs typeface="Calibri"/>
              </a:rPr>
              <a:t> </a:t>
            </a:r>
            <a:r>
              <a:rPr sz="1199" spc="-10" dirty="0">
                <a:solidFill>
                  <a:srgbClr val="202020"/>
                </a:solidFill>
                <a:latin typeface="Calibri"/>
                <a:cs typeface="Calibri"/>
              </a:rPr>
              <a:t>UNIQUE)</a:t>
            </a:r>
            <a:endParaRPr sz="1199">
              <a:latin typeface="Calibri"/>
              <a:cs typeface="Calibri"/>
            </a:endParaRPr>
          </a:p>
          <a:p>
            <a:pPr marL="12685" marR="10148">
              <a:lnSpc>
                <a:spcPct val="119900"/>
              </a:lnSpc>
            </a:pPr>
            <a:r>
              <a:rPr sz="1199" dirty="0">
                <a:solidFill>
                  <a:srgbClr val="202020"/>
                </a:solidFill>
                <a:latin typeface="Calibri"/>
                <a:cs typeface="Calibri"/>
              </a:rPr>
              <a:t>A</a:t>
            </a:r>
            <a:r>
              <a:rPr sz="1199" spc="-35" dirty="0">
                <a:solidFill>
                  <a:srgbClr val="202020"/>
                </a:solidFill>
                <a:latin typeface="Calibri"/>
                <a:cs typeface="Calibri"/>
              </a:rPr>
              <a:t> </a:t>
            </a:r>
            <a:r>
              <a:rPr sz="1199" spc="-10" dirty="0">
                <a:solidFill>
                  <a:srgbClr val="202020"/>
                </a:solidFill>
                <a:latin typeface="Calibri"/>
                <a:cs typeface="Calibri"/>
              </a:rPr>
              <a:t>student's</a:t>
            </a:r>
            <a:r>
              <a:rPr sz="1199" spc="-25" dirty="0">
                <a:solidFill>
                  <a:srgbClr val="202020"/>
                </a:solidFill>
                <a:latin typeface="Calibri"/>
                <a:cs typeface="Calibri"/>
              </a:rPr>
              <a:t> </a:t>
            </a:r>
            <a:r>
              <a:rPr sz="1199" dirty="0">
                <a:solidFill>
                  <a:srgbClr val="202020"/>
                </a:solidFill>
                <a:latin typeface="Calibri"/>
                <a:cs typeface="Calibri"/>
              </a:rPr>
              <a:t>name</a:t>
            </a:r>
            <a:r>
              <a:rPr sz="1199" spc="-25" dirty="0">
                <a:solidFill>
                  <a:srgbClr val="202020"/>
                </a:solidFill>
                <a:latin typeface="Calibri"/>
                <a:cs typeface="Calibri"/>
              </a:rPr>
              <a:t> </a:t>
            </a:r>
            <a:r>
              <a:rPr sz="1199" dirty="0">
                <a:solidFill>
                  <a:srgbClr val="202020"/>
                </a:solidFill>
                <a:latin typeface="Calibri"/>
                <a:cs typeface="Calibri"/>
              </a:rPr>
              <a:t>is</a:t>
            </a:r>
            <a:r>
              <a:rPr sz="1199" spc="-25" dirty="0">
                <a:solidFill>
                  <a:srgbClr val="202020"/>
                </a:solidFill>
                <a:latin typeface="Calibri"/>
                <a:cs typeface="Calibri"/>
              </a:rPr>
              <a:t> </a:t>
            </a:r>
            <a:r>
              <a:rPr sz="1199" dirty="0">
                <a:solidFill>
                  <a:srgbClr val="202020"/>
                </a:solidFill>
                <a:latin typeface="Calibri"/>
                <a:cs typeface="Calibri"/>
              </a:rPr>
              <a:t>blank</a:t>
            </a:r>
            <a:r>
              <a:rPr sz="1199" spc="-25" dirty="0">
                <a:solidFill>
                  <a:srgbClr val="202020"/>
                </a:solidFill>
                <a:latin typeface="Calibri"/>
                <a:cs typeface="Calibri"/>
              </a:rPr>
              <a:t> </a:t>
            </a:r>
            <a:r>
              <a:rPr sz="1199" dirty="0">
                <a:solidFill>
                  <a:srgbClr val="202020"/>
                </a:solidFill>
                <a:latin typeface="Calibri"/>
                <a:cs typeface="Calibri"/>
              </a:rPr>
              <a:t>on</a:t>
            </a:r>
            <a:r>
              <a:rPr sz="1199" spc="-25" dirty="0">
                <a:solidFill>
                  <a:srgbClr val="202020"/>
                </a:solidFill>
                <a:latin typeface="Calibri"/>
                <a:cs typeface="Calibri"/>
              </a:rPr>
              <a:t> </a:t>
            </a:r>
            <a:r>
              <a:rPr sz="1199" dirty="0">
                <a:solidFill>
                  <a:srgbClr val="202020"/>
                </a:solidFill>
                <a:latin typeface="Calibri"/>
                <a:cs typeface="Calibri"/>
              </a:rPr>
              <a:t>the</a:t>
            </a:r>
            <a:r>
              <a:rPr sz="1199" spc="-25" dirty="0">
                <a:solidFill>
                  <a:srgbClr val="202020"/>
                </a:solidFill>
                <a:latin typeface="Calibri"/>
                <a:cs typeface="Calibri"/>
              </a:rPr>
              <a:t> </a:t>
            </a:r>
            <a:r>
              <a:rPr sz="1199" dirty="0">
                <a:solidFill>
                  <a:srgbClr val="202020"/>
                </a:solidFill>
                <a:latin typeface="Calibri"/>
                <a:cs typeface="Calibri"/>
              </a:rPr>
              <a:t>admit</a:t>
            </a:r>
            <a:r>
              <a:rPr sz="1199" spc="-25" dirty="0">
                <a:solidFill>
                  <a:srgbClr val="202020"/>
                </a:solidFill>
                <a:latin typeface="Calibri"/>
                <a:cs typeface="Calibri"/>
              </a:rPr>
              <a:t> </a:t>
            </a:r>
            <a:r>
              <a:rPr sz="1199" dirty="0">
                <a:solidFill>
                  <a:srgbClr val="202020"/>
                </a:solidFill>
                <a:latin typeface="Calibri"/>
                <a:cs typeface="Calibri"/>
              </a:rPr>
              <a:t>card</a:t>
            </a:r>
            <a:r>
              <a:rPr sz="1199" spc="-25" dirty="0">
                <a:solidFill>
                  <a:srgbClr val="202020"/>
                </a:solidFill>
                <a:latin typeface="Calibri"/>
                <a:cs typeface="Calibri"/>
              </a:rPr>
              <a:t> </a:t>
            </a:r>
            <a:r>
              <a:rPr sz="1199" dirty="0">
                <a:solidFill>
                  <a:srgbClr val="202020"/>
                </a:solidFill>
                <a:latin typeface="Calibri"/>
                <a:cs typeface="Calibri"/>
              </a:rPr>
              <a:t>(no</a:t>
            </a:r>
            <a:r>
              <a:rPr sz="1199" spc="-25" dirty="0">
                <a:solidFill>
                  <a:srgbClr val="202020"/>
                </a:solidFill>
                <a:latin typeface="Calibri"/>
                <a:cs typeface="Calibri"/>
              </a:rPr>
              <a:t> </a:t>
            </a:r>
            <a:r>
              <a:rPr sz="1199" dirty="0">
                <a:solidFill>
                  <a:srgbClr val="202020"/>
                </a:solidFill>
                <a:latin typeface="Calibri"/>
                <a:cs typeface="Calibri"/>
              </a:rPr>
              <a:t>NOT</a:t>
            </a:r>
            <a:r>
              <a:rPr sz="1199" spc="-20" dirty="0">
                <a:solidFill>
                  <a:srgbClr val="202020"/>
                </a:solidFill>
                <a:latin typeface="Calibri"/>
                <a:cs typeface="Calibri"/>
              </a:rPr>
              <a:t> </a:t>
            </a:r>
            <a:r>
              <a:rPr sz="1199" spc="-10" dirty="0">
                <a:solidFill>
                  <a:srgbClr val="202020"/>
                </a:solidFill>
                <a:latin typeface="Calibri"/>
                <a:cs typeface="Calibri"/>
              </a:rPr>
              <a:t>NULL) </a:t>
            </a:r>
            <a:r>
              <a:rPr sz="1199" dirty="0">
                <a:solidFill>
                  <a:srgbClr val="202020"/>
                </a:solidFill>
                <a:latin typeface="Calibri"/>
                <a:cs typeface="Calibri"/>
              </a:rPr>
              <a:t>Roll</a:t>
            </a:r>
            <a:r>
              <a:rPr sz="1199" spc="-25" dirty="0">
                <a:solidFill>
                  <a:srgbClr val="202020"/>
                </a:solidFill>
                <a:latin typeface="Calibri"/>
                <a:cs typeface="Calibri"/>
              </a:rPr>
              <a:t> </a:t>
            </a:r>
            <a:r>
              <a:rPr sz="1199" dirty="0">
                <a:solidFill>
                  <a:srgbClr val="202020"/>
                </a:solidFill>
                <a:latin typeface="Calibri"/>
                <a:cs typeface="Calibri"/>
              </a:rPr>
              <a:t>number</a:t>
            </a:r>
            <a:r>
              <a:rPr sz="1199" spc="-25" dirty="0">
                <a:solidFill>
                  <a:srgbClr val="202020"/>
                </a:solidFill>
                <a:latin typeface="Calibri"/>
                <a:cs typeface="Calibri"/>
              </a:rPr>
              <a:t> </a:t>
            </a:r>
            <a:r>
              <a:rPr sz="1199" spc="-10" dirty="0">
                <a:solidFill>
                  <a:srgbClr val="202020"/>
                </a:solidFill>
                <a:latin typeface="Calibri"/>
                <a:cs typeface="Calibri"/>
              </a:rPr>
              <a:t>-</a:t>
            </a:r>
            <a:r>
              <a:rPr sz="1199" dirty="0">
                <a:solidFill>
                  <a:srgbClr val="202020"/>
                </a:solidFill>
                <a:latin typeface="Calibri"/>
                <a:cs typeface="Calibri"/>
              </a:rPr>
              <a:t>47</a:t>
            </a:r>
            <a:r>
              <a:rPr sz="1199" spc="-20" dirty="0">
                <a:solidFill>
                  <a:srgbClr val="202020"/>
                </a:solidFill>
                <a:latin typeface="Calibri"/>
                <a:cs typeface="Calibri"/>
              </a:rPr>
              <a:t> </a:t>
            </a:r>
            <a:r>
              <a:rPr sz="1199" dirty="0">
                <a:solidFill>
                  <a:srgbClr val="202020"/>
                </a:solidFill>
                <a:latin typeface="Calibri"/>
                <a:cs typeface="Calibri"/>
              </a:rPr>
              <a:t>is</a:t>
            </a:r>
            <a:r>
              <a:rPr sz="1199" spc="-25" dirty="0">
                <a:solidFill>
                  <a:srgbClr val="202020"/>
                </a:solidFill>
                <a:latin typeface="Calibri"/>
                <a:cs typeface="Calibri"/>
              </a:rPr>
              <a:t> </a:t>
            </a:r>
            <a:r>
              <a:rPr sz="1199" spc="-10" dirty="0">
                <a:solidFill>
                  <a:srgbClr val="202020"/>
                </a:solidFill>
                <a:latin typeface="Calibri"/>
                <a:cs typeface="Calibri"/>
              </a:rPr>
              <a:t>accepted</a:t>
            </a:r>
            <a:r>
              <a:rPr sz="1199" spc="-25" dirty="0">
                <a:solidFill>
                  <a:srgbClr val="202020"/>
                </a:solidFill>
                <a:latin typeface="Calibri"/>
                <a:cs typeface="Calibri"/>
              </a:rPr>
              <a:t> </a:t>
            </a:r>
            <a:r>
              <a:rPr sz="1199" dirty="0">
                <a:solidFill>
                  <a:srgbClr val="202020"/>
                </a:solidFill>
                <a:latin typeface="Calibri"/>
                <a:cs typeface="Calibri"/>
              </a:rPr>
              <a:t>(no</a:t>
            </a:r>
            <a:r>
              <a:rPr sz="1199" spc="-20" dirty="0">
                <a:solidFill>
                  <a:srgbClr val="202020"/>
                </a:solidFill>
                <a:latin typeface="Calibri"/>
                <a:cs typeface="Calibri"/>
              </a:rPr>
              <a:t> </a:t>
            </a:r>
            <a:r>
              <a:rPr sz="1199" spc="-10" dirty="0">
                <a:solidFill>
                  <a:srgbClr val="202020"/>
                </a:solidFill>
                <a:latin typeface="Calibri"/>
                <a:cs typeface="Calibri"/>
              </a:rPr>
              <a:t>CHECK)</a:t>
            </a:r>
            <a:endParaRPr sz="1199">
              <a:latin typeface="Calibri"/>
              <a:cs typeface="Calibri"/>
            </a:endParaRPr>
          </a:p>
          <a:p>
            <a:pPr marL="12685">
              <a:spcBef>
                <a:spcPts val="285"/>
              </a:spcBef>
            </a:pPr>
            <a:r>
              <a:rPr sz="1199" dirty="0">
                <a:solidFill>
                  <a:srgbClr val="202020"/>
                </a:solidFill>
                <a:latin typeface="Calibri"/>
                <a:cs typeface="Calibri"/>
              </a:rPr>
              <a:t>Hall</a:t>
            </a:r>
            <a:r>
              <a:rPr sz="1199" spc="-30" dirty="0">
                <a:solidFill>
                  <a:srgbClr val="202020"/>
                </a:solidFill>
                <a:latin typeface="Calibri"/>
                <a:cs typeface="Calibri"/>
              </a:rPr>
              <a:t> </a:t>
            </a:r>
            <a:r>
              <a:rPr sz="1199" dirty="0">
                <a:solidFill>
                  <a:srgbClr val="202020"/>
                </a:solidFill>
                <a:latin typeface="Calibri"/>
                <a:cs typeface="Calibri"/>
              </a:rPr>
              <a:t>99</a:t>
            </a:r>
            <a:r>
              <a:rPr sz="1199" spc="-25" dirty="0">
                <a:solidFill>
                  <a:srgbClr val="202020"/>
                </a:solidFill>
                <a:latin typeface="Calibri"/>
                <a:cs typeface="Calibri"/>
              </a:rPr>
              <a:t> </a:t>
            </a:r>
            <a:r>
              <a:rPr sz="1199" dirty="0">
                <a:solidFill>
                  <a:srgbClr val="202020"/>
                </a:solidFill>
                <a:latin typeface="Calibri"/>
                <a:cs typeface="Calibri"/>
              </a:rPr>
              <a:t>does</a:t>
            </a:r>
            <a:r>
              <a:rPr sz="1199" spc="-30" dirty="0">
                <a:solidFill>
                  <a:srgbClr val="202020"/>
                </a:solidFill>
                <a:latin typeface="Calibri"/>
                <a:cs typeface="Calibri"/>
              </a:rPr>
              <a:t> </a:t>
            </a:r>
            <a:r>
              <a:rPr sz="1199" dirty="0">
                <a:solidFill>
                  <a:srgbClr val="202020"/>
                </a:solidFill>
                <a:latin typeface="Calibri"/>
                <a:cs typeface="Calibri"/>
              </a:rPr>
              <a:t>not</a:t>
            </a:r>
            <a:r>
              <a:rPr sz="1199" spc="-25" dirty="0">
                <a:solidFill>
                  <a:srgbClr val="202020"/>
                </a:solidFill>
                <a:latin typeface="Calibri"/>
                <a:cs typeface="Calibri"/>
              </a:rPr>
              <a:t> </a:t>
            </a:r>
            <a:r>
              <a:rPr sz="1199" spc="-10" dirty="0">
                <a:solidFill>
                  <a:srgbClr val="202020"/>
                </a:solidFill>
                <a:latin typeface="Calibri"/>
                <a:cs typeface="Calibri"/>
              </a:rPr>
              <a:t>exist</a:t>
            </a:r>
            <a:r>
              <a:rPr sz="1199" spc="-30" dirty="0">
                <a:solidFill>
                  <a:srgbClr val="202020"/>
                </a:solidFill>
                <a:latin typeface="Calibri"/>
                <a:cs typeface="Calibri"/>
              </a:rPr>
              <a:t> </a:t>
            </a:r>
            <a:r>
              <a:rPr sz="1199" dirty="0">
                <a:solidFill>
                  <a:srgbClr val="202020"/>
                </a:solidFill>
                <a:latin typeface="Calibri"/>
                <a:cs typeface="Calibri"/>
              </a:rPr>
              <a:t>but</a:t>
            </a:r>
            <a:r>
              <a:rPr sz="1199" spc="-25" dirty="0">
                <a:solidFill>
                  <a:srgbClr val="202020"/>
                </a:solidFill>
                <a:latin typeface="Calibri"/>
                <a:cs typeface="Calibri"/>
              </a:rPr>
              <a:t> </a:t>
            </a:r>
            <a:r>
              <a:rPr sz="1199" dirty="0">
                <a:solidFill>
                  <a:srgbClr val="202020"/>
                </a:solidFill>
                <a:latin typeface="Calibri"/>
                <a:cs typeface="Calibri"/>
              </a:rPr>
              <a:t>the</a:t>
            </a:r>
            <a:r>
              <a:rPr sz="1199" spc="-30" dirty="0">
                <a:solidFill>
                  <a:srgbClr val="202020"/>
                </a:solidFill>
                <a:latin typeface="Calibri"/>
                <a:cs typeface="Calibri"/>
              </a:rPr>
              <a:t> </a:t>
            </a:r>
            <a:r>
              <a:rPr sz="1199" dirty="0">
                <a:solidFill>
                  <a:srgbClr val="202020"/>
                </a:solidFill>
                <a:latin typeface="Calibri"/>
                <a:cs typeface="Calibri"/>
              </a:rPr>
              <a:t>card</a:t>
            </a:r>
            <a:r>
              <a:rPr sz="1199" spc="-25" dirty="0">
                <a:solidFill>
                  <a:srgbClr val="202020"/>
                </a:solidFill>
                <a:latin typeface="Calibri"/>
                <a:cs typeface="Calibri"/>
              </a:rPr>
              <a:t> </a:t>
            </a:r>
            <a:r>
              <a:rPr sz="1199" spc="-10" dirty="0">
                <a:solidFill>
                  <a:srgbClr val="202020"/>
                </a:solidFill>
                <a:latin typeface="Calibri"/>
                <a:cs typeface="Calibri"/>
              </a:rPr>
              <a:t>says</a:t>
            </a:r>
            <a:r>
              <a:rPr sz="1199" spc="-25" dirty="0">
                <a:solidFill>
                  <a:srgbClr val="202020"/>
                </a:solidFill>
                <a:latin typeface="Calibri"/>
                <a:cs typeface="Calibri"/>
              </a:rPr>
              <a:t> </a:t>
            </a:r>
            <a:r>
              <a:rPr sz="1199" dirty="0">
                <a:solidFill>
                  <a:srgbClr val="202020"/>
                </a:solidFill>
                <a:latin typeface="Calibri"/>
                <a:cs typeface="Calibri"/>
              </a:rPr>
              <a:t>it</a:t>
            </a:r>
            <a:r>
              <a:rPr sz="1199" spc="-30" dirty="0">
                <a:solidFill>
                  <a:srgbClr val="202020"/>
                </a:solidFill>
                <a:latin typeface="Calibri"/>
                <a:cs typeface="Calibri"/>
              </a:rPr>
              <a:t> </a:t>
            </a:r>
            <a:r>
              <a:rPr sz="1199" dirty="0">
                <a:solidFill>
                  <a:srgbClr val="202020"/>
                </a:solidFill>
                <a:latin typeface="Calibri"/>
                <a:cs typeface="Calibri"/>
              </a:rPr>
              <a:t>(no</a:t>
            </a:r>
            <a:r>
              <a:rPr sz="1199" spc="-25" dirty="0">
                <a:solidFill>
                  <a:srgbClr val="202020"/>
                </a:solidFill>
                <a:latin typeface="Calibri"/>
                <a:cs typeface="Calibri"/>
              </a:rPr>
              <a:t> </a:t>
            </a:r>
            <a:r>
              <a:rPr sz="1199" dirty="0">
                <a:solidFill>
                  <a:srgbClr val="202020"/>
                </a:solidFill>
                <a:latin typeface="Calibri"/>
                <a:cs typeface="Calibri"/>
              </a:rPr>
              <a:t>FOREIGN</a:t>
            </a:r>
            <a:r>
              <a:rPr sz="1199" spc="-30" dirty="0">
                <a:solidFill>
                  <a:srgbClr val="202020"/>
                </a:solidFill>
                <a:latin typeface="Calibri"/>
                <a:cs typeface="Calibri"/>
              </a:rPr>
              <a:t> </a:t>
            </a:r>
            <a:r>
              <a:rPr sz="1199" spc="-20" dirty="0">
                <a:solidFill>
                  <a:srgbClr val="202020"/>
                </a:solidFill>
                <a:latin typeface="Calibri"/>
                <a:cs typeface="Calibri"/>
              </a:rPr>
              <a:t>KEY)</a:t>
            </a:r>
            <a:endParaRPr sz="1199">
              <a:latin typeface="Calibri"/>
              <a:cs typeface="Calibri"/>
            </a:endParaRPr>
          </a:p>
        </p:txBody>
      </p:sp>
      <p:sp>
        <p:nvSpPr>
          <p:cNvPr id="8" name="object 8"/>
          <p:cNvSpPr txBox="1"/>
          <p:nvPr/>
        </p:nvSpPr>
        <p:spPr>
          <a:xfrm>
            <a:off x="584779" y="2405260"/>
            <a:ext cx="7920736" cy="1048995"/>
          </a:xfrm>
          <a:prstGeom prst="rect">
            <a:avLst/>
          </a:prstGeom>
        </p:spPr>
        <p:txBody>
          <a:bodyPr vert="horz" wrap="square" lIns="0" tIns="12684" rIns="0" bIns="0" rtlCol="0">
            <a:spAutoFit/>
          </a:bodyPr>
          <a:lstStyle/>
          <a:p>
            <a:pPr marL="12685" marR="5074">
              <a:lnSpc>
                <a:spcPct val="120100"/>
              </a:lnSpc>
              <a:spcBef>
                <a:spcPts val="100"/>
              </a:spcBef>
            </a:pPr>
            <a:r>
              <a:rPr sz="1298" dirty="0">
                <a:solidFill>
                  <a:srgbClr val="202020"/>
                </a:solidFill>
                <a:latin typeface="Calibri"/>
                <a:cs typeface="Calibri"/>
              </a:rPr>
              <a:t>The</a:t>
            </a:r>
            <a:r>
              <a:rPr sz="1298" spc="-40" dirty="0">
                <a:solidFill>
                  <a:srgbClr val="202020"/>
                </a:solidFill>
                <a:latin typeface="Calibri"/>
                <a:cs typeface="Calibri"/>
              </a:rPr>
              <a:t> </a:t>
            </a:r>
            <a:r>
              <a:rPr sz="1298" spc="-10" dirty="0">
                <a:solidFill>
                  <a:srgbClr val="202020"/>
                </a:solidFill>
                <a:latin typeface="Calibri"/>
                <a:cs typeface="Calibri"/>
              </a:rPr>
              <a:t>vice-principal</a:t>
            </a:r>
            <a:r>
              <a:rPr sz="1298" spc="-40" dirty="0">
                <a:solidFill>
                  <a:srgbClr val="202020"/>
                </a:solidFill>
                <a:latin typeface="Calibri"/>
                <a:cs typeface="Calibri"/>
              </a:rPr>
              <a:t> </a:t>
            </a:r>
            <a:r>
              <a:rPr sz="1298" spc="-10" dirty="0">
                <a:solidFill>
                  <a:srgbClr val="202020"/>
                </a:solidFill>
                <a:latin typeface="Calibri"/>
                <a:cs typeface="Calibri"/>
              </a:rPr>
              <a:t>fixes</a:t>
            </a:r>
            <a:r>
              <a:rPr sz="1298" spc="-40" dirty="0">
                <a:solidFill>
                  <a:srgbClr val="202020"/>
                </a:solidFill>
                <a:latin typeface="Calibri"/>
                <a:cs typeface="Calibri"/>
              </a:rPr>
              <a:t> </a:t>
            </a:r>
            <a:r>
              <a:rPr sz="1298" dirty="0">
                <a:solidFill>
                  <a:srgbClr val="202020"/>
                </a:solidFill>
                <a:latin typeface="Calibri"/>
                <a:cs typeface="Calibri"/>
              </a:rPr>
              <a:t>it:</a:t>
            </a:r>
            <a:r>
              <a:rPr sz="1298" spc="-40" dirty="0">
                <a:solidFill>
                  <a:srgbClr val="202020"/>
                </a:solidFill>
                <a:latin typeface="Calibri"/>
                <a:cs typeface="Calibri"/>
              </a:rPr>
              <a:t> </a:t>
            </a:r>
            <a:r>
              <a:rPr sz="1298" dirty="0">
                <a:solidFill>
                  <a:srgbClr val="202020"/>
                </a:solidFill>
                <a:latin typeface="Calibri"/>
                <a:cs typeface="Calibri"/>
              </a:rPr>
              <a:t>every</a:t>
            </a:r>
            <a:r>
              <a:rPr sz="1298" spc="-35" dirty="0">
                <a:solidFill>
                  <a:srgbClr val="202020"/>
                </a:solidFill>
                <a:latin typeface="Calibri"/>
                <a:cs typeface="Calibri"/>
              </a:rPr>
              <a:t> </a:t>
            </a:r>
            <a:r>
              <a:rPr sz="1298" dirty="0">
                <a:solidFill>
                  <a:srgbClr val="202020"/>
                </a:solidFill>
                <a:latin typeface="Calibri"/>
                <a:cs typeface="Calibri"/>
              </a:rPr>
              <a:t>seat</a:t>
            </a:r>
            <a:r>
              <a:rPr sz="1298" spc="-40" dirty="0">
                <a:solidFill>
                  <a:srgbClr val="202020"/>
                </a:solidFill>
                <a:latin typeface="Calibri"/>
                <a:cs typeface="Calibri"/>
              </a:rPr>
              <a:t> </a:t>
            </a:r>
            <a:r>
              <a:rPr sz="1298" dirty="0">
                <a:solidFill>
                  <a:srgbClr val="202020"/>
                </a:solidFill>
                <a:latin typeface="Calibri"/>
                <a:cs typeface="Calibri"/>
              </a:rPr>
              <a:t>a</a:t>
            </a:r>
            <a:r>
              <a:rPr sz="1298" spc="-40" dirty="0">
                <a:solidFill>
                  <a:srgbClr val="202020"/>
                </a:solidFill>
                <a:latin typeface="Calibri"/>
                <a:cs typeface="Calibri"/>
              </a:rPr>
              <a:t> </a:t>
            </a:r>
            <a:r>
              <a:rPr sz="1298" dirty="0">
                <a:solidFill>
                  <a:srgbClr val="202020"/>
                </a:solidFill>
                <a:latin typeface="Calibri"/>
                <a:cs typeface="Calibri"/>
              </a:rPr>
              <a:t>unique</a:t>
            </a:r>
            <a:r>
              <a:rPr sz="1298" spc="-40" dirty="0">
                <a:solidFill>
                  <a:srgbClr val="202020"/>
                </a:solidFill>
                <a:latin typeface="Calibri"/>
                <a:cs typeface="Calibri"/>
              </a:rPr>
              <a:t> </a:t>
            </a:r>
            <a:r>
              <a:rPr sz="1298" dirty="0">
                <a:solidFill>
                  <a:srgbClr val="202020"/>
                </a:solidFill>
                <a:latin typeface="Calibri"/>
                <a:cs typeface="Calibri"/>
              </a:rPr>
              <a:t>number</a:t>
            </a:r>
            <a:r>
              <a:rPr sz="1298" spc="-40" dirty="0">
                <a:solidFill>
                  <a:srgbClr val="202020"/>
                </a:solidFill>
                <a:latin typeface="Calibri"/>
                <a:cs typeface="Calibri"/>
              </a:rPr>
              <a:t> </a:t>
            </a:r>
            <a:r>
              <a:rPr sz="1298" dirty="0">
                <a:solidFill>
                  <a:srgbClr val="202020"/>
                </a:solidFill>
                <a:latin typeface="Calibri"/>
                <a:cs typeface="Calibri"/>
              </a:rPr>
              <a:t>(PRIMARY</a:t>
            </a:r>
            <a:r>
              <a:rPr sz="1298" spc="-35" dirty="0">
                <a:solidFill>
                  <a:srgbClr val="202020"/>
                </a:solidFill>
                <a:latin typeface="Calibri"/>
                <a:cs typeface="Calibri"/>
              </a:rPr>
              <a:t> </a:t>
            </a:r>
            <a:r>
              <a:rPr sz="1298" dirty="0">
                <a:solidFill>
                  <a:srgbClr val="202020"/>
                </a:solidFill>
                <a:latin typeface="Calibri"/>
                <a:cs typeface="Calibri"/>
              </a:rPr>
              <a:t>KEY),</a:t>
            </a:r>
            <a:r>
              <a:rPr sz="1298" spc="-40" dirty="0">
                <a:solidFill>
                  <a:srgbClr val="202020"/>
                </a:solidFill>
                <a:latin typeface="Calibri"/>
                <a:cs typeface="Calibri"/>
              </a:rPr>
              <a:t> </a:t>
            </a:r>
            <a:r>
              <a:rPr sz="1298" dirty="0">
                <a:solidFill>
                  <a:srgbClr val="202020"/>
                </a:solidFill>
                <a:latin typeface="Calibri"/>
                <a:cs typeface="Calibri"/>
              </a:rPr>
              <a:t>every</a:t>
            </a:r>
            <a:r>
              <a:rPr sz="1298" spc="-40" dirty="0">
                <a:solidFill>
                  <a:srgbClr val="202020"/>
                </a:solidFill>
                <a:latin typeface="Calibri"/>
                <a:cs typeface="Calibri"/>
              </a:rPr>
              <a:t> </a:t>
            </a:r>
            <a:r>
              <a:rPr sz="1298" spc="-10" dirty="0">
                <a:solidFill>
                  <a:srgbClr val="202020"/>
                </a:solidFill>
                <a:latin typeface="Calibri"/>
                <a:cs typeface="Calibri"/>
              </a:rPr>
              <a:t>student</a:t>
            </a:r>
            <a:r>
              <a:rPr sz="1298" spc="-40" dirty="0">
                <a:solidFill>
                  <a:srgbClr val="202020"/>
                </a:solidFill>
                <a:latin typeface="Calibri"/>
                <a:cs typeface="Calibri"/>
              </a:rPr>
              <a:t> </a:t>
            </a:r>
            <a:r>
              <a:rPr sz="1298" dirty="0">
                <a:solidFill>
                  <a:srgbClr val="202020"/>
                </a:solidFill>
                <a:latin typeface="Calibri"/>
                <a:cs typeface="Calibri"/>
              </a:rPr>
              <a:t>a</a:t>
            </a:r>
            <a:r>
              <a:rPr sz="1298" spc="-40" dirty="0">
                <a:solidFill>
                  <a:srgbClr val="202020"/>
                </a:solidFill>
                <a:latin typeface="Calibri"/>
                <a:cs typeface="Calibri"/>
              </a:rPr>
              <a:t> </a:t>
            </a:r>
            <a:r>
              <a:rPr sz="1298" dirty="0">
                <a:solidFill>
                  <a:srgbClr val="202020"/>
                </a:solidFill>
                <a:latin typeface="Calibri"/>
                <a:cs typeface="Calibri"/>
              </a:rPr>
              <a:t>name</a:t>
            </a:r>
            <a:r>
              <a:rPr sz="1298" spc="-35" dirty="0">
                <a:solidFill>
                  <a:srgbClr val="202020"/>
                </a:solidFill>
                <a:latin typeface="Calibri"/>
                <a:cs typeface="Calibri"/>
              </a:rPr>
              <a:t> </a:t>
            </a:r>
            <a:r>
              <a:rPr sz="1298" spc="-10" dirty="0">
                <a:solidFill>
                  <a:srgbClr val="202020"/>
                </a:solidFill>
                <a:latin typeface="Calibri"/>
                <a:cs typeface="Calibri"/>
              </a:rPr>
              <a:t>(NOT</a:t>
            </a:r>
            <a:r>
              <a:rPr sz="1298" spc="-40" dirty="0">
                <a:solidFill>
                  <a:srgbClr val="202020"/>
                </a:solidFill>
                <a:latin typeface="Calibri"/>
                <a:cs typeface="Calibri"/>
              </a:rPr>
              <a:t> </a:t>
            </a:r>
            <a:r>
              <a:rPr sz="1298" dirty="0">
                <a:solidFill>
                  <a:srgbClr val="202020"/>
                </a:solidFill>
                <a:latin typeface="Calibri"/>
                <a:cs typeface="Calibri"/>
              </a:rPr>
              <a:t>NULL),</a:t>
            </a:r>
            <a:r>
              <a:rPr sz="1298" spc="-40" dirty="0">
                <a:solidFill>
                  <a:srgbClr val="202020"/>
                </a:solidFill>
                <a:latin typeface="Calibri"/>
                <a:cs typeface="Calibri"/>
              </a:rPr>
              <a:t> </a:t>
            </a:r>
            <a:r>
              <a:rPr sz="1298" spc="-10" dirty="0">
                <a:solidFill>
                  <a:srgbClr val="202020"/>
                </a:solidFill>
                <a:latin typeface="Calibri"/>
                <a:cs typeface="Calibri"/>
              </a:rPr>
              <a:t>positive</a:t>
            </a:r>
            <a:r>
              <a:rPr sz="1298" spc="-40" dirty="0">
                <a:solidFill>
                  <a:srgbClr val="202020"/>
                </a:solidFill>
                <a:latin typeface="Calibri"/>
                <a:cs typeface="Calibri"/>
              </a:rPr>
              <a:t> </a:t>
            </a:r>
            <a:r>
              <a:rPr sz="1298" spc="-10" dirty="0">
                <a:solidFill>
                  <a:srgbClr val="202020"/>
                </a:solidFill>
                <a:latin typeface="Calibri"/>
                <a:cs typeface="Calibri"/>
              </a:rPr>
              <a:t>rolls </a:t>
            </a:r>
            <a:r>
              <a:rPr sz="1298" dirty="0">
                <a:solidFill>
                  <a:srgbClr val="202020"/>
                </a:solidFill>
                <a:latin typeface="Calibri"/>
                <a:cs typeface="Calibri"/>
              </a:rPr>
              <a:t>only</a:t>
            </a:r>
            <a:r>
              <a:rPr sz="1298" spc="-45" dirty="0">
                <a:solidFill>
                  <a:srgbClr val="202020"/>
                </a:solidFill>
                <a:latin typeface="Calibri"/>
                <a:cs typeface="Calibri"/>
              </a:rPr>
              <a:t> </a:t>
            </a:r>
            <a:r>
              <a:rPr sz="1298" spc="-10" dirty="0">
                <a:solidFill>
                  <a:srgbClr val="202020"/>
                </a:solidFill>
                <a:latin typeface="Calibri"/>
                <a:cs typeface="Calibri"/>
              </a:rPr>
              <a:t>(CHECK),</a:t>
            </a:r>
            <a:r>
              <a:rPr sz="1298" spc="-40" dirty="0">
                <a:solidFill>
                  <a:srgbClr val="202020"/>
                </a:solidFill>
                <a:latin typeface="Calibri"/>
                <a:cs typeface="Calibri"/>
              </a:rPr>
              <a:t> </a:t>
            </a:r>
            <a:r>
              <a:rPr sz="1298" dirty="0">
                <a:solidFill>
                  <a:srgbClr val="202020"/>
                </a:solidFill>
                <a:latin typeface="Calibri"/>
                <a:cs typeface="Calibri"/>
              </a:rPr>
              <a:t>hall</a:t>
            </a:r>
            <a:r>
              <a:rPr sz="1298" spc="-40" dirty="0">
                <a:solidFill>
                  <a:srgbClr val="202020"/>
                </a:solidFill>
                <a:latin typeface="Calibri"/>
                <a:cs typeface="Calibri"/>
              </a:rPr>
              <a:t> </a:t>
            </a:r>
            <a:r>
              <a:rPr sz="1298" spc="-10" dirty="0">
                <a:solidFill>
                  <a:srgbClr val="202020"/>
                </a:solidFill>
                <a:latin typeface="Calibri"/>
                <a:cs typeface="Calibri"/>
              </a:rPr>
              <a:t>numbers</a:t>
            </a:r>
            <a:r>
              <a:rPr sz="1298" spc="-40" dirty="0">
                <a:solidFill>
                  <a:srgbClr val="202020"/>
                </a:solidFill>
                <a:latin typeface="Calibri"/>
                <a:cs typeface="Calibri"/>
              </a:rPr>
              <a:t> </a:t>
            </a:r>
            <a:r>
              <a:rPr sz="1298" dirty="0">
                <a:solidFill>
                  <a:srgbClr val="202020"/>
                </a:solidFill>
                <a:latin typeface="Calibri"/>
                <a:cs typeface="Calibri"/>
              </a:rPr>
              <a:t>must</a:t>
            </a:r>
            <a:r>
              <a:rPr sz="1298" spc="-40" dirty="0">
                <a:solidFill>
                  <a:srgbClr val="202020"/>
                </a:solidFill>
                <a:latin typeface="Calibri"/>
                <a:cs typeface="Calibri"/>
              </a:rPr>
              <a:t> </a:t>
            </a:r>
            <a:r>
              <a:rPr sz="1298" dirty="0">
                <a:solidFill>
                  <a:srgbClr val="202020"/>
                </a:solidFill>
                <a:latin typeface="Calibri"/>
                <a:cs typeface="Calibri"/>
              </a:rPr>
              <a:t>match</a:t>
            </a:r>
            <a:r>
              <a:rPr sz="1298" spc="-40" dirty="0">
                <a:solidFill>
                  <a:srgbClr val="202020"/>
                </a:solidFill>
                <a:latin typeface="Calibri"/>
                <a:cs typeface="Calibri"/>
              </a:rPr>
              <a:t> </a:t>
            </a:r>
            <a:r>
              <a:rPr sz="1298" dirty="0">
                <a:solidFill>
                  <a:srgbClr val="202020"/>
                </a:solidFill>
                <a:latin typeface="Calibri"/>
                <a:cs typeface="Calibri"/>
              </a:rPr>
              <a:t>the</a:t>
            </a:r>
            <a:r>
              <a:rPr sz="1298" spc="-40" dirty="0">
                <a:solidFill>
                  <a:srgbClr val="202020"/>
                </a:solidFill>
                <a:latin typeface="Calibri"/>
                <a:cs typeface="Calibri"/>
              </a:rPr>
              <a:t> </a:t>
            </a:r>
            <a:r>
              <a:rPr sz="1298" dirty="0">
                <a:solidFill>
                  <a:srgbClr val="202020"/>
                </a:solidFill>
                <a:latin typeface="Calibri"/>
                <a:cs typeface="Calibri"/>
              </a:rPr>
              <a:t>real</a:t>
            </a:r>
            <a:r>
              <a:rPr sz="1298" spc="-40" dirty="0">
                <a:solidFill>
                  <a:srgbClr val="202020"/>
                </a:solidFill>
                <a:latin typeface="Calibri"/>
                <a:cs typeface="Calibri"/>
              </a:rPr>
              <a:t> </a:t>
            </a:r>
            <a:r>
              <a:rPr sz="1298" dirty="0">
                <a:solidFill>
                  <a:srgbClr val="202020"/>
                </a:solidFill>
                <a:latin typeface="Calibri"/>
                <a:cs typeface="Calibri"/>
              </a:rPr>
              <a:t>list</a:t>
            </a:r>
            <a:r>
              <a:rPr sz="1298" spc="-40" dirty="0">
                <a:solidFill>
                  <a:srgbClr val="202020"/>
                </a:solidFill>
                <a:latin typeface="Calibri"/>
                <a:cs typeface="Calibri"/>
              </a:rPr>
              <a:t> </a:t>
            </a:r>
            <a:r>
              <a:rPr sz="1298" spc="-10" dirty="0">
                <a:solidFill>
                  <a:srgbClr val="202020"/>
                </a:solidFill>
                <a:latin typeface="Calibri"/>
                <a:cs typeface="Calibri"/>
              </a:rPr>
              <a:t>(FOREIGN</a:t>
            </a:r>
            <a:r>
              <a:rPr sz="1298" spc="-40" dirty="0">
                <a:solidFill>
                  <a:srgbClr val="202020"/>
                </a:solidFill>
                <a:latin typeface="Calibri"/>
                <a:cs typeface="Calibri"/>
              </a:rPr>
              <a:t> </a:t>
            </a:r>
            <a:r>
              <a:rPr sz="1298" dirty="0">
                <a:solidFill>
                  <a:srgbClr val="202020"/>
                </a:solidFill>
                <a:latin typeface="Calibri"/>
                <a:cs typeface="Calibri"/>
              </a:rPr>
              <a:t>KEY).</a:t>
            </a:r>
            <a:r>
              <a:rPr sz="1298" spc="-40" dirty="0">
                <a:solidFill>
                  <a:srgbClr val="202020"/>
                </a:solidFill>
                <a:latin typeface="Calibri"/>
                <a:cs typeface="Calibri"/>
              </a:rPr>
              <a:t> </a:t>
            </a:r>
            <a:r>
              <a:rPr sz="1298" dirty="0">
                <a:solidFill>
                  <a:srgbClr val="202020"/>
                </a:solidFill>
                <a:latin typeface="Calibri"/>
                <a:cs typeface="Calibri"/>
              </a:rPr>
              <a:t>Next</a:t>
            </a:r>
            <a:r>
              <a:rPr sz="1298" spc="-40" dirty="0">
                <a:solidFill>
                  <a:srgbClr val="202020"/>
                </a:solidFill>
                <a:latin typeface="Calibri"/>
                <a:cs typeface="Calibri"/>
              </a:rPr>
              <a:t> </a:t>
            </a:r>
            <a:r>
              <a:rPr sz="1298" spc="-10" dirty="0">
                <a:solidFill>
                  <a:srgbClr val="202020"/>
                </a:solidFill>
                <a:latin typeface="Calibri"/>
                <a:cs typeface="Calibri"/>
              </a:rPr>
              <a:t>exam:</a:t>
            </a:r>
            <a:r>
              <a:rPr sz="1298" spc="-40" dirty="0">
                <a:solidFill>
                  <a:srgbClr val="202020"/>
                </a:solidFill>
                <a:latin typeface="Calibri"/>
                <a:cs typeface="Calibri"/>
              </a:rPr>
              <a:t> </a:t>
            </a:r>
            <a:r>
              <a:rPr sz="1298" spc="-10" dirty="0">
                <a:solidFill>
                  <a:srgbClr val="202020"/>
                </a:solidFill>
                <a:latin typeface="Calibri"/>
                <a:cs typeface="Calibri"/>
              </a:rPr>
              <a:t>zero</a:t>
            </a:r>
            <a:r>
              <a:rPr sz="1298" spc="-40" dirty="0">
                <a:solidFill>
                  <a:srgbClr val="202020"/>
                </a:solidFill>
                <a:latin typeface="Calibri"/>
                <a:cs typeface="Calibri"/>
              </a:rPr>
              <a:t> </a:t>
            </a:r>
            <a:r>
              <a:rPr sz="1298" dirty="0">
                <a:solidFill>
                  <a:srgbClr val="202020"/>
                </a:solidFill>
                <a:latin typeface="Calibri"/>
                <a:cs typeface="Calibri"/>
              </a:rPr>
              <a:t>chaos.</a:t>
            </a:r>
            <a:r>
              <a:rPr sz="1298" spc="-40" dirty="0">
                <a:solidFill>
                  <a:srgbClr val="202020"/>
                </a:solidFill>
                <a:latin typeface="Calibri"/>
                <a:cs typeface="Calibri"/>
              </a:rPr>
              <a:t> </a:t>
            </a:r>
            <a:r>
              <a:rPr sz="1298" dirty="0">
                <a:solidFill>
                  <a:srgbClr val="202020"/>
                </a:solidFill>
                <a:latin typeface="Calibri"/>
                <a:cs typeface="Calibri"/>
              </a:rPr>
              <a:t>Those</a:t>
            </a:r>
            <a:r>
              <a:rPr sz="1298" spc="-40" dirty="0">
                <a:solidFill>
                  <a:srgbClr val="202020"/>
                </a:solidFill>
                <a:latin typeface="Calibri"/>
                <a:cs typeface="Calibri"/>
              </a:rPr>
              <a:t> </a:t>
            </a:r>
            <a:r>
              <a:rPr sz="1298" dirty="0">
                <a:solidFill>
                  <a:srgbClr val="202020"/>
                </a:solidFill>
                <a:latin typeface="Calibri"/>
                <a:cs typeface="Calibri"/>
              </a:rPr>
              <a:t>rules</a:t>
            </a:r>
            <a:r>
              <a:rPr sz="1298" spc="-40" dirty="0">
                <a:solidFill>
                  <a:srgbClr val="202020"/>
                </a:solidFill>
                <a:latin typeface="Calibri"/>
                <a:cs typeface="Calibri"/>
              </a:rPr>
              <a:t> </a:t>
            </a:r>
            <a:r>
              <a:rPr sz="1298" spc="-25" dirty="0">
                <a:solidFill>
                  <a:srgbClr val="202020"/>
                </a:solidFill>
                <a:latin typeface="Calibri"/>
                <a:cs typeface="Calibri"/>
              </a:rPr>
              <a:t>are </a:t>
            </a:r>
            <a:r>
              <a:rPr sz="1298" spc="-10" dirty="0">
                <a:solidFill>
                  <a:srgbClr val="202020"/>
                </a:solidFill>
                <a:latin typeface="Calibri"/>
                <a:cs typeface="Calibri"/>
              </a:rPr>
              <a:t>CONSTRAINTS.</a:t>
            </a:r>
            <a:endParaRPr sz="1298">
              <a:latin typeface="Calibri"/>
              <a:cs typeface="Calibri"/>
            </a:endParaRPr>
          </a:p>
          <a:p>
            <a:pPr marL="12685">
              <a:spcBef>
                <a:spcPts val="884"/>
              </a:spcBef>
            </a:pPr>
            <a:r>
              <a:rPr sz="1298" spc="-10" dirty="0">
                <a:solidFill>
                  <a:srgbClr val="202020"/>
                </a:solidFill>
                <a:latin typeface="Calibri"/>
                <a:cs typeface="Calibri"/>
              </a:rPr>
              <a:t>Application</a:t>
            </a:r>
            <a:r>
              <a:rPr sz="1298" spc="-40" dirty="0">
                <a:solidFill>
                  <a:srgbClr val="202020"/>
                </a:solidFill>
                <a:latin typeface="Calibri"/>
                <a:cs typeface="Calibri"/>
              </a:rPr>
              <a:t> </a:t>
            </a:r>
            <a:r>
              <a:rPr sz="1298" dirty="0">
                <a:solidFill>
                  <a:srgbClr val="202020"/>
                </a:solidFill>
                <a:latin typeface="Calibri"/>
                <a:cs typeface="Calibri"/>
              </a:rPr>
              <a:t>code</a:t>
            </a:r>
            <a:r>
              <a:rPr sz="1298" spc="-35" dirty="0">
                <a:solidFill>
                  <a:srgbClr val="202020"/>
                </a:solidFill>
                <a:latin typeface="Calibri"/>
                <a:cs typeface="Calibri"/>
              </a:rPr>
              <a:t> </a:t>
            </a:r>
            <a:r>
              <a:rPr sz="1298" dirty="0">
                <a:solidFill>
                  <a:srgbClr val="202020"/>
                </a:solidFill>
                <a:latin typeface="Calibri"/>
                <a:cs typeface="Calibri"/>
              </a:rPr>
              <a:t>can</a:t>
            </a:r>
            <a:r>
              <a:rPr sz="1298" spc="-35" dirty="0">
                <a:solidFill>
                  <a:srgbClr val="202020"/>
                </a:solidFill>
                <a:latin typeface="Calibri"/>
                <a:cs typeface="Calibri"/>
              </a:rPr>
              <a:t> </a:t>
            </a:r>
            <a:r>
              <a:rPr sz="1298" dirty="0">
                <a:solidFill>
                  <a:srgbClr val="202020"/>
                </a:solidFill>
                <a:latin typeface="Calibri"/>
                <a:cs typeface="Calibri"/>
              </a:rPr>
              <a:t>be</a:t>
            </a:r>
            <a:r>
              <a:rPr sz="1298" spc="-35" dirty="0">
                <a:solidFill>
                  <a:srgbClr val="202020"/>
                </a:solidFill>
                <a:latin typeface="Calibri"/>
                <a:cs typeface="Calibri"/>
              </a:rPr>
              <a:t> </a:t>
            </a:r>
            <a:r>
              <a:rPr sz="1298" spc="-10" dirty="0">
                <a:solidFill>
                  <a:srgbClr val="202020"/>
                </a:solidFill>
                <a:latin typeface="Calibri"/>
                <a:cs typeface="Calibri"/>
              </a:rPr>
              <a:t>bypassed.</a:t>
            </a:r>
            <a:r>
              <a:rPr sz="1298" spc="-35" dirty="0">
                <a:solidFill>
                  <a:srgbClr val="202020"/>
                </a:solidFill>
                <a:latin typeface="Calibri"/>
                <a:cs typeface="Calibri"/>
              </a:rPr>
              <a:t> </a:t>
            </a:r>
            <a:r>
              <a:rPr sz="1298" spc="-10" dirty="0">
                <a:solidFill>
                  <a:srgbClr val="202020"/>
                </a:solidFill>
                <a:latin typeface="Calibri"/>
                <a:cs typeface="Calibri"/>
              </a:rPr>
              <a:t>Database</a:t>
            </a:r>
            <a:r>
              <a:rPr sz="1298" spc="-35" dirty="0">
                <a:solidFill>
                  <a:srgbClr val="202020"/>
                </a:solidFill>
                <a:latin typeface="Calibri"/>
                <a:cs typeface="Calibri"/>
              </a:rPr>
              <a:t> </a:t>
            </a:r>
            <a:r>
              <a:rPr sz="1298" spc="-10" dirty="0">
                <a:solidFill>
                  <a:srgbClr val="202020"/>
                </a:solidFill>
                <a:latin typeface="Calibri"/>
                <a:cs typeface="Calibri"/>
              </a:rPr>
              <a:t>constraints</a:t>
            </a:r>
            <a:r>
              <a:rPr sz="1298" spc="-35" dirty="0">
                <a:solidFill>
                  <a:srgbClr val="202020"/>
                </a:solidFill>
                <a:latin typeface="Calibri"/>
                <a:cs typeface="Calibri"/>
              </a:rPr>
              <a:t> </a:t>
            </a:r>
            <a:r>
              <a:rPr sz="1298" spc="-25" dirty="0">
                <a:solidFill>
                  <a:srgbClr val="202020"/>
                </a:solidFill>
                <a:latin typeface="Calibri"/>
                <a:cs typeface="Calibri"/>
              </a:rPr>
              <a:t>CANNOT.</a:t>
            </a:r>
            <a:r>
              <a:rPr sz="1298" spc="-35" dirty="0">
                <a:solidFill>
                  <a:srgbClr val="202020"/>
                </a:solidFill>
                <a:latin typeface="Calibri"/>
                <a:cs typeface="Calibri"/>
              </a:rPr>
              <a:t> </a:t>
            </a:r>
            <a:r>
              <a:rPr sz="1298" dirty="0">
                <a:solidFill>
                  <a:srgbClr val="202020"/>
                </a:solidFill>
                <a:latin typeface="Calibri"/>
                <a:cs typeface="Calibri"/>
              </a:rPr>
              <a:t>A</a:t>
            </a:r>
            <a:r>
              <a:rPr sz="1298" spc="-35" dirty="0">
                <a:solidFill>
                  <a:srgbClr val="202020"/>
                </a:solidFill>
                <a:latin typeface="Calibri"/>
                <a:cs typeface="Calibri"/>
              </a:rPr>
              <a:t> </a:t>
            </a:r>
            <a:r>
              <a:rPr sz="1298" dirty="0">
                <a:solidFill>
                  <a:srgbClr val="202020"/>
                </a:solidFill>
                <a:latin typeface="Calibri"/>
                <a:cs typeface="Calibri"/>
              </a:rPr>
              <a:t>single</a:t>
            </a:r>
            <a:r>
              <a:rPr sz="1298" spc="-35" dirty="0">
                <a:solidFill>
                  <a:srgbClr val="202020"/>
                </a:solidFill>
                <a:latin typeface="Calibri"/>
                <a:cs typeface="Calibri"/>
              </a:rPr>
              <a:t> </a:t>
            </a:r>
            <a:r>
              <a:rPr sz="1298" dirty="0">
                <a:solidFill>
                  <a:srgbClr val="202020"/>
                </a:solidFill>
                <a:latin typeface="Calibri"/>
                <a:cs typeface="Calibri"/>
              </a:rPr>
              <a:t>CHECK</a:t>
            </a:r>
            <a:r>
              <a:rPr sz="1298" spc="-40" dirty="0">
                <a:solidFill>
                  <a:srgbClr val="202020"/>
                </a:solidFill>
                <a:latin typeface="Calibri"/>
                <a:cs typeface="Calibri"/>
              </a:rPr>
              <a:t> </a:t>
            </a:r>
            <a:r>
              <a:rPr sz="1298" dirty="0">
                <a:solidFill>
                  <a:srgbClr val="202020"/>
                </a:solidFill>
                <a:latin typeface="Calibri"/>
                <a:cs typeface="Calibri"/>
              </a:rPr>
              <a:t>(price</a:t>
            </a:r>
            <a:r>
              <a:rPr sz="1298" spc="-35" dirty="0">
                <a:solidFill>
                  <a:srgbClr val="202020"/>
                </a:solidFill>
                <a:latin typeface="Calibri"/>
                <a:cs typeface="Calibri"/>
              </a:rPr>
              <a:t> </a:t>
            </a:r>
            <a:r>
              <a:rPr sz="1298" dirty="0">
                <a:solidFill>
                  <a:srgbClr val="202020"/>
                </a:solidFill>
                <a:latin typeface="Calibri"/>
                <a:cs typeface="Calibri"/>
              </a:rPr>
              <a:t>&gt;</a:t>
            </a:r>
            <a:r>
              <a:rPr sz="1298" spc="-35" dirty="0">
                <a:solidFill>
                  <a:srgbClr val="202020"/>
                </a:solidFill>
                <a:latin typeface="Calibri"/>
                <a:cs typeface="Calibri"/>
              </a:rPr>
              <a:t> </a:t>
            </a:r>
            <a:r>
              <a:rPr sz="1298" dirty="0">
                <a:solidFill>
                  <a:srgbClr val="202020"/>
                </a:solidFill>
                <a:latin typeface="Calibri"/>
                <a:cs typeface="Calibri"/>
              </a:rPr>
              <a:t>0)</a:t>
            </a:r>
            <a:r>
              <a:rPr sz="1298" spc="-35" dirty="0">
                <a:solidFill>
                  <a:srgbClr val="202020"/>
                </a:solidFill>
                <a:latin typeface="Calibri"/>
                <a:cs typeface="Calibri"/>
              </a:rPr>
              <a:t> </a:t>
            </a:r>
            <a:r>
              <a:rPr sz="1298" dirty="0">
                <a:solidFill>
                  <a:srgbClr val="202020"/>
                </a:solidFill>
                <a:latin typeface="Calibri"/>
                <a:cs typeface="Calibri"/>
              </a:rPr>
              <a:t>can</a:t>
            </a:r>
            <a:r>
              <a:rPr sz="1298" spc="-35" dirty="0">
                <a:solidFill>
                  <a:srgbClr val="202020"/>
                </a:solidFill>
                <a:latin typeface="Calibri"/>
                <a:cs typeface="Calibri"/>
              </a:rPr>
              <a:t> </a:t>
            </a:r>
            <a:r>
              <a:rPr sz="1298" dirty="0">
                <a:solidFill>
                  <a:srgbClr val="202020"/>
                </a:solidFill>
                <a:latin typeface="Calibri"/>
                <a:cs typeface="Calibri"/>
              </a:rPr>
              <a:t>save</a:t>
            </a:r>
            <a:r>
              <a:rPr sz="1298" spc="-35" dirty="0">
                <a:solidFill>
                  <a:srgbClr val="202020"/>
                </a:solidFill>
                <a:latin typeface="Calibri"/>
                <a:cs typeface="Calibri"/>
              </a:rPr>
              <a:t> </a:t>
            </a:r>
            <a:r>
              <a:rPr sz="1298" spc="-10" dirty="0">
                <a:solidFill>
                  <a:srgbClr val="202020"/>
                </a:solidFill>
                <a:latin typeface="Calibri"/>
                <a:cs typeface="Calibri"/>
              </a:rPr>
              <a:t>crores.</a:t>
            </a:r>
            <a:endParaRPr sz="1298">
              <a:latin typeface="Calibri"/>
              <a:cs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79619" y="273628"/>
            <a:ext cx="2054228" cy="4566363"/>
          </a:xfrm>
          <a:custGeom>
            <a:avLst/>
            <a:gdLst/>
            <a:ahLst/>
            <a:cxnLst/>
            <a:rect l="l" t="t" r="r" b="b"/>
            <a:pathLst>
              <a:path w="2056764" h="4572000">
                <a:moveTo>
                  <a:pt x="72720" y="0"/>
                </a:moveTo>
                <a:lnTo>
                  <a:pt x="0" y="0"/>
                </a:lnTo>
                <a:lnTo>
                  <a:pt x="0" y="4571631"/>
                </a:lnTo>
                <a:lnTo>
                  <a:pt x="36360" y="4571631"/>
                </a:lnTo>
                <a:lnTo>
                  <a:pt x="72720" y="4571631"/>
                </a:lnTo>
                <a:lnTo>
                  <a:pt x="72720" y="0"/>
                </a:lnTo>
                <a:close/>
              </a:path>
              <a:path w="2056764" h="4572000">
                <a:moveTo>
                  <a:pt x="2056676" y="355"/>
                </a:moveTo>
                <a:lnTo>
                  <a:pt x="228244" y="355"/>
                </a:lnTo>
                <a:lnTo>
                  <a:pt x="228244" y="320040"/>
                </a:lnTo>
                <a:lnTo>
                  <a:pt x="1142644" y="320040"/>
                </a:lnTo>
                <a:lnTo>
                  <a:pt x="2056676" y="320040"/>
                </a:lnTo>
                <a:lnTo>
                  <a:pt x="2056676" y="355"/>
                </a:lnTo>
                <a:close/>
              </a:path>
            </a:pathLst>
          </a:custGeom>
          <a:solidFill>
            <a:srgbClr val="00695B"/>
          </a:solidFill>
        </p:spPr>
        <p:txBody>
          <a:bodyPr wrap="square" lIns="0" tIns="0" rIns="0" bIns="0" rtlCol="0"/>
          <a:lstStyle/>
          <a:p>
            <a:endParaRPr sz="1798"/>
          </a:p>
        </p:txBody>
      </p:sp>
      <p:sp>
        <p:nvSpPr>
          <p:cNvPr id="3" name="object 3"/>
          <p:cNvSpPr txBox="1"/>
          <p:nvPr/>
        </p:nvSpPr>
        <p:spPr>
          <a:xfrm>
            <a:off x="1100740" y="345079"/>
            <a:ext cx="641193" cy="166379"/>
          </a:xfrm>
          <a:prstGeom prst="rect">
            <a:avLst/>
          </a:prstGeom>
        </p:spPr>
        <p:txBody>
          <a:bodyPr vert="horz" wrap="square" lIns="0" tIns="12684" rIns="0" bIns="0" rtlCol="0">
            <a:spAutoFit/>
          </a:bodyPr>
          <a:lstStyle/>
          <a:p>
            <a:pPr marL="12685">
              <a:spcBef>
                <a:spcPts val="100"/>
              </a:spcBef>
            </a:pPr>
            <a:r>
              <a:rPr sz="999" b="1" spc="-10" dirty="0">
                <a:solidFill>
                  <a:srgbClr val="FFFFFF"/>
                </a:solidFill>
                <a:latin typeface="Calibri"/>
                <a:cs typeface="Calibri"/>
              </a:rPr>
              <a:t>DEFINITION</a:t>
            </a:r>
            <a:endParaRPr sz="999">
              <a:latin typeface="Calibri"/>
              <a:cs typeface="Calibri"/>
            </a:endParaRPr>
          </a:p>
        </p:txBody>
      </p:sp>
      <p:sp>
        <p:nvSpPr>
          <p:cNvPr id="4" name="object 4" descr="$PPTXTitle"/>
          <p:cNvSpPr txBox="1">
            <a:spLocks noGrp="1"/>
          </p:cNvSpPr>
          <p:nvPr>
            <p:ph type="title"/>
          </p:nvPr>
        </p:nvSpPr>
        <p:spPr>
          <a:xfrm>
            <a:off x="494898" y="748137"/>
            <a:ext cx="3107663" cy="330427"/>
          </a:xfrm>
          <a:prstGeom prst="rect">
            <a:avLst/>
          </a:prstGeom>
        </p:spPr>
        <p:txBody>
          <a:bodyPr vert="horz" wrap="square" lIns="0" tIns="12684" rIns="0" bIns="0" rtlCol="0">
            <a:spAutoFit/>
          </a:bodyPr>
          <a:lstStyle/>
          <a:p>
            <a:pPr marL="12685">
              <a:spcBef>
                <a:spcPts val="100"/>
              </a:spcBef>
            </a:pPr>
            <a:r>
              <a:rPr sz="1998" dirty="0">
                <a:solidFill>
                  <a:srgbClr val="202020"/>
                </a:solidFill>
                <a:latin typeface="Georgia"/>
                <a:cs typeface="Georgia"/>
              </a:rPr>
              <a:t>NOT</a:t>
            </a:r>
            <a:r>
              <a:rPr sz="1998" spc="-20" dirty="0">
                <a:solidFill>
                  <a:srgbClr val="202020"/>
                </a:solidFill>
                <a:latin typeface="Georgia"/>
                <a:cs typeface="Georgia"/>
              </a:rPr>
              <a:t> </a:t>
            </a:r>
            <a:r>
              <a:rPr sz="1998" dirty="0">
                <a:solidFill>
                  <a:srgbClr val="202020"/>
                </a:solidFill>
                <a:latin typeface="Georgia"/>
                <a:cs typeface="Georgia"/>
              </a:rPr>
              <a:t>NULL</a:t>
            </a:r>
            <a:r>
              <a:rPr sz="1998" spc="-25" dirty="0">
                <a:solidFill>
                  <a:srgbClr val="202020"/>
                </a:solidFill>
                <a:latin typeface="Georgia"/>
                <a:cs typeface="Georgia"/>
              </a:rPr>
              <a:t> </a:t>
            </a:r>
            <a:r>
              <a:rPr sz="1998" dirty="0">
                <a:solidFill>
                  <a:srgbClr val="202020"/>
                </a:solidFill>
                <a:latin typeface="Georgia"/>
                <a:cs typeface="Georgia"/>
              </a:rPr>
              <a:t>&amp;</a:t>
            </a:r>
            <a:r>
              <a:rPr sz="1998" spc="-15" dirty="0">
                <a:solidFill>
                  <a:srgbClr val="202020"/>
                </a:solidFill>
                <a:latin typeface="Georgia"/>
                <a:cs typeface="Georgia"/>
              </a:rPr>
              <a:t> </a:t>
            </a:r>
            <a:r>
              <a:rPr sz="1998" spc="-10" dirty="0">
                <a:solidFill>
                  <a:srgbClr val="202020"/>
                </a:solidFill>
                <a:latin typeface="Georgia"/>
                <a:cs typeface="Georgia"/>
              </a:rPr>
              <a:t>DEFAULT</a:t>
            </a:r>
            <a:endParaRPr sz="1998">
              <a:latin typeface="Georgia"/>
              <a:cs typeface="Georgia"/>
            </a:endParaRPr>
          </a:p>
        </p:txBody>
      </p:sp>
      <p:sp>
        <p:nvSpPr>
          <p:cNvPr id="5" name="object 5"/>
          <p:cNvSpPr txBox="1"/>
          <p:nvPr/>
        </p:nvSpPr>
        <p:spPr>
          <a:xfrm>
            <a:off x="584779" y="1219084"/>
            <a:ext cx="7681636" cy="3466798"/>
          </a:xfrm>
          <a:prstGeom prst="rect">
            <a:avLst/>
          </a:prstGeom>
        </p:spPr>
        <p:txBody>
          <a:bodyPr vert="horz" wrap="square" lIns="0" tIns="12684" rIns="0" bIns="0" rtlCol="0">
            <a:spAutoFit/>
          </a:bodyPr>
          <a:lstStyle/>
          <a:p>
            <a:pPr marL="12685" marR="5074">
              <a:lnSpc>
                <a:spcPct val="120100"/>
              </a:lnSpc>
              <a:spcBef>
                <a:spcPts val="100"/>
              </a:spcBef>
            </a:pPr>
            <a:r>
              <a:rPr sz="1298" dirty="0">
                <a:solidFill>
                  <a:srgbClr val="202020"/>
                </a:solidFill>
                <a:latin typeface="Calibri"/>
                <a:cs typeface="Calibri"/>
              </a:rPr>
              <a:t>NOT</a:t>
            </a:r>
            <a:r>
              <a:rPr sz="1298" spc="-40" dirty="0">
                <a:solidFill>
                  <a:srgbClr val="202020"/>
                </a:solidFill>
                <a:latin typeface="Calibri"/>
                <a:cs typeface="Calibri"/>
              </a:rPr>
              <a:t> </a:t>
            </a:r>
            <a:r>
              <a:rPr sz="1298" dirty="0">
                <a:solidFill>
                  <a:srgbClr val="202020"/>
                </a:solidFill>
                <a:latin typeface="Calibri"/>
                <a:cs typeface="Calibri"/>
              </a:rPr>
              <a:t>NULL:</a:t>
            </a:r>
            <a:r>
              <a:rPr sz="1298" spc="-35" dirty="0">
                <a:solidFill>
                  <a:srgbClr val="202020"/>
                </a:solidFill>
                <a:latin typeface="Calibri"/>
                <a:cs typeface="Calibri"/>
              </a:rPr>
              <a:t> </a:t>
            </a:r>
            <a:r>
              <a:rPr sz="1298" dirty="0">
                <a:solidFill>
                  <a:srgbClr val="202020"/>
                </a:solidFill>
                <a:latin typeface="Calibri"/>
                <a:cs typeface="Calibri"/>
              </a:rPr>
              <a:t>the</a:t>
            </a:r>
            <a:r>
              <a:rPr sz="1298" spc="-35" dirty="0">
                <a:solidFill>
                  <a:srgbClr val="202020"/>
                </a:solidFill>
                <a:latin typeface="Calibri"/>
                <a:cs typeface="Calibri"/>
              </a:rPr>
              <a:t> </a:t>
            </a:r>
            <a:r>
              <a:rPr sz="1298" dirty="0">
                <a:solidFill>
                  <a:srgbClr val="202020"/>
                </a:solidFill>
                <a:latin typeface="Calibri"/>
                <a:cs typeface="Calibri"/>
              </a:rPr>
              <a:t>column</a:t>
            </a:r>
            <a:r>
              <a:rPr sz="1298" spc="-35" dirty="0">
                <a:solidFill>
                  <a:srgbClr val="202020"/>
                </a:solidFill>
                <a:latin typeface="Calibri"/>
                <a:cs typeface="Calibri"/>
              </a:rPr>
              <a:t> </a:t>
            </a:r>
            <a:r>
              <a:rPr sz="1298" dirty="0">
                <a:solidFill>
                  <a:srgbClr val="202020"/>
                </a:solidFill>
                <a:latin typeface="Calibri"/>
                <a:cs typeface="Calibri"/>
              </a:rPr>
              <a:t>can</a:t>
            </a:r>
            <a:r>
              <a:rPr sz="1298" spc="-35" dirty="0">
                <a:solidFill>
                  <a:srgbClr val="202020"/>
                </a:solidFill>
                <a:latin typeface="Calibri"/>
                <a:cs typeface="Calibri"/>
              </a:rPr>
              <a:t> </a:t>
            </a:r>
            <a:r>
              <a:rPr sz="1298" dirty="0">
                <a:solidFill>
                  <a:srgbClr val="202020"/>
                </a:solidFill>
                <a:latin typeface="Calibri"/>
                <a:cs typeface="Calibri"/>
              </a:rPr>
              <a:t>never</a:t>
            </a:r>
            <a:r>
              <a:rPr sz="1298" spc="-35" dirty="0">
                <a:solidFill>
                  <a:srgbClr val="202020"/>
                </a:solidFill>
                <a:latin typeface="Calibri"/>
                <a:cs typeface="Calibri"/>
              </a:rPr>
              <a:t> </a:t>
            </a:r>
            <a:r>
              <a:rPr sz="1298" dirty="0">
                <a:solidFill>
                  <a:srgbClr val="202020"/>
                </a:solidFill>
                <a:latin typeface="Calibri"/>
                <a:cs typeface="Calibri"/>
              </a:rPr>
              <a:t>be</a:t>
            </a:r>
            <a:r>
              <a:rPr sz="1298" spc="-35" dirty="0">
                <a:solidFill>
                  <a:srgbClr val="202020"/>
                </a:solidFill>
                <a:latin typeface="Calibri"/>
                <a:cs typeface="Calibri"/>
              </a:rPr>
              <a:t> </a:t>
            </a:r>
            <a:r>
              <a:rPr sz="1298" dirty="0">
                <a:solidFill>
                  <a:srgbClr val="202020"/>
                </a:solidFill>
                <a:latin typeface="Calibri"/>
                <a:cs typeface="Calibri"/>
              </a:rPr>
              <a:t>empty</a:t>
            </a:r>
            <a:r>
              <a:rPr sz="1298" spc="-35" dirty="0">
                <a:solidFill>
                  <a:srgbClr val="202020"/>
                </a:solidFill>
                <a:latin typeface="Calibri"/>
                <a:cs typeface="Calibri"/>
              </a:rPr>
              <a:t> </a:t>
            </a:r>
            <a:r>
              <a:rPr sz="1298" dirty="0">
                <a:solidFill>
                  <a:srgbClr val="202020"/>
                </a:solidFill>
                <a:latin typeface="Calibri"/>
                <a:cs typeface="Calibri"/>
              </a:rPr>
              <a:t>-</a:t>
            </a:r>
            <a:r>
              <a:rPr sz="1298" spc="-35" dirty="0">
                <a:solidFill>
                  <a:srgbClr val="202020"/>
                </a:solidFill>
                <a:latin typeface="Calibri"/>
                <a:cs typeface="Calibri"/>
              </a:rPr>
              <a:t> </a:t>
            </a:r>
            <a:r>
              <a:rPr sz="1298" dirty="0">
                <a:solidFill>
                  <a:srgbClr val="202020"/>
                </a:solidFill>
                <a:latin typeface="Calibri"/>
                <a:cs typeface="Calibri"/>
              </a:rPr>
              <a:t>any</a:t>
            </a:r>
            <a:r>
              <a:rPr sz="1298" spc="-35" dirty="0">
                <a:solidFill>
                  <a:srgbClr val="202020"/>
                </a:solidFill>
                <a:latin typeface="Calibri"/>
                <a:cs typeface="Calibri"/>
              </a:rPr>
              <a:t> </a:t>
            </a:r>
            <a:r>
              <a:rPr sz="1298" spc="-25" dirty="0">
                <a:solidFill>
                  <a:srgbClr val="202020"/>
                </a:solidFill>
                <a:latin typeface="Calibri"/>
                <a:cs typeface="Calibri"/>
              </a:rPr>
              <a:t>INSERT/UPDATE</a:t>
            </a:r>
            <a:r>
              <a:rPr sz="1298" spc="-35" dirty="0">
                <a:solidFill>
                  <a:srgbClr val="202020"/>
                </a:solidFill>
                <a:latin typeface="Calibri"/>
                <a:cs typeface="Calibri"/>
              </a:rPr>
              <a:t> </a:t>
            </a:r>
            <a:r>
              <a:rPr sz="1298" spc="-10" dirty="0">
                <a:solidFill>
                  <a:srgbClr val="202020"/>
                </a:solidFill>
                <a:latin typeface="Calibri"/>
                <a:cs typeface="Calibri"/>
              </a:rPr>
              <a:t>setting</a:t>
            </a:r>
            <a:r>
              <a:rPr sz="1298" spc="-35" dirty="0">
                <a:solidFill>
                  <a:srgbClr val="202020"/>
                </a:solidFill>
                <a:latin typeface="Calibri"/>
                <a:cs typeface="Calibri"/>
              </a:rPr>
              <a:t> </a:t>
            </a:r>
            <a:r>
              <a:rPr sz="1298" dirty="0">
                <a:solidFill>
                  <a:srgbClr val="202020"/>
                </a:solidFill>
                <a:latin typeface="Calibri"/>
                <a:cs typeface="Calibri"/>
              </a:rPr>
              <a:t>NULL</a:t>
            </a:r>
            <a:r>
              <a:rPr sz="1298" spc="-35" dirty="0">
                <a:solidFill>
                  <a:srgbClr val="202020"/>
                </a:solidFill>
                <a:latin typeface="Calibri"/>
                <a:cs typeface="Calibri"/>
              </a:rPr>
              <a:t> </a:t>
            </a:r>
            <a:r>
              <a:rPr sz="1298" dirty="0">
                <a:solidFill>
                  <a:srgbClr val="202020"/>
                </a:solidFill>
                <a:latin typeface="Calibri"/>
                <a:cs typeface="Calibri"/>
              </a:rPr>
              <a:t>is</a:t>
            </a:r>
            <a:r>
              <a:rPr sz="1298" spc="-35" dirty="0">
                <a:solidFill>
                  <a:srgbClr val="202020"/>
                </a:solidFill>
                <a:latin typeface="Calibri"/>
                <a:cs typeface="Calibri"/>
              </a:rPr>
              <a:t> </a:t>
            </a:r>
            <a:r>
              <a:rPr sz="1298" spc="-10" dirty="0">
                <a:solidFill>
                  <a:srgbClr val="202020"/>
                </a:solidFill>
                <a:latin typeface="Calibri"/>
                <a:cs typeface="Calibri"/>
              </a:rPr>
              <a:t>rejected.</a:t>
            </a:r>
            <a:r>
              <a:rPr sz="1298" spc="-35" dirty="0">
                <a:solidFill>
                  <a:srgbClr val="202020"/>
                </a:solidFill>
                <a:latin typeface="Calibri"/>
                <a:cs typeface="Calibri"/>
              </a:rPr>
              <a:t> </a:t>
            </a:r>
            <a:r>
              <a:rPr sz="1298" spc="-45" dirty="0">
                <a:solidFill>
                  <a:srgbClr val="202020"/>
                </a:solidFill>
                <a:latin typeface="Calibri"/>
                <a:cs typeface="Calibri"/>
              </a:rPr>
              <a:t>DEFAULT:</a:t>
            </a:r>
            <a:r>
              <a:rPr sz="1298" spc="-30" dirty="0">
                <a:solidFill>
                  <a:srgbClr val="202020"/>
                </a:solidFill>
                <a:latin typeface="Calibri"/>
                <a:cs typeface="Calibri"/>
              </a:rPr>
              <a:t> </a:t>
            </a:r>
            <a:r>
              <a:rPr sz="1298" dirty="0">
                <a:solidFill>
                  <a:srgbClr val="202020"/>
                </a:solidFill>
                <a:latin typeface="Calibri"/>
                <a:cs typeface="Calibri"/>
              </a:rPr>
              <a:t>if</a:t>
            </a:r>
            <a:r>
              <a:rPr sz="1298" spc="-35" dirty="0">
                <a:solidFill>
                  <a:srgbClr val="202020"/>
                </a:solidFill>
                <a:latin typeface="Calibri"/>
                <a:cs typeface="Calibri"/>
              </a:rPr>
              <a:t> </a:t>
            </a:r>
            <a:r>
              <a:rPr sz="1298" dirty="0">
                <a:solidFill>
                  <a:srgbClr val="202020"/>
                </a:solidFill>
                <a:latin typeface="Calibri"/>
                <a:cs typeface="Calibri"/>
              </a:rPr>
              <a:t>you</a:t>
            </a:r>
            <a:r>
              <a:rPr sz="1298" spc="-35" dirty="0">
                <a:solidFill>
                  <a:srgbClr val="202020"/>
                </a:solidFill>
                <a:latin typeface="Calibri"/>
                <a:cs typeface="Calibri"/>
              </a:rPr>
              <a:t> </a:t>
            </a:r>
            <a:r>
              <a:rPr sz="1298" dirty="0">
                <a:solidFill>
                  <a:srgbClr val="202020"/>
                </a:solidFill>
                <a:latin typeface="Calibri"/>
                <a:cs typeface="Calibri"/>
              </a:rPr>
              <a:t>do</a:t>
            </a:r>
            <a:r>
              <a:rPr sz="1298" spc="-35" dirty="0">
                <a:solidFill>
                  <a:srgbClr val="202020"/>
                </a:solidFill>
                <a:latin typeface="Calibri"/>
                <a:cs typeface="Calibri"/>
              </a:rPr>
              <a:t> </a:t>
            </a:r>
            <a:r>
              <a:rPr sz="1298" spc="-25" dirty="0">
                <a:solidFill>
                  <a:srgbClr val="202020"/>
                </a:solidFill>
                <a:latin typeface="Calibri"/>
                <a:cs typeface="Calibri"/>
              </a:rPr>
              <a:t>not </a:t>
            </a:r>
            <a:r>
              <a:rPr sz="1298" spc="-10" dirty="0">
                <a:solidFill>
                  <a:srgbClr val="202020"/>
                </a:solidFill>
                <a:latin typeface="Calibri"/>
                <a:cs typeface="Calibri"/>
              </a:rPr>
              <a:t>provide</a:t>
            </a:r>
            <a:r>
              <a:rPr sz="1298" spc="-30" dirty="0">
                <a:solidFill>
                  <a:srgbClr val="202020"/>
                </a:solidFill>
                <a:latin typeface="Calibri"/>
                <a:cs typeface="Calibri"/>
              </a:rPr>
              <a:t> </a:t>
            </a:r>
            <a:r>
              <a:rPr sz="1298" dirty="0">
                <a:solidFill>
                  <a:srgbClr val="202020"/>
                </a:solidFill>
                <a:latin typeface="Calibri"/>
                <a:cs typeface="Calibri"/>
              </a:rPr>
              <a:t>a</a:t>
            </a:r>
            <a:r>
              <a:rPr sz="1298" spc="-30" dirty="0">
                <a:solidFill>
                  <a:srgbClr val="202020"/>
                </a:solidFill>
                <a:latin typeface="Calibri"/>
                <a:cs typeface="Calibri"/>
              </a:rPr>
              <a:t> </a:t>
            </a:r>
            <a:r>
              <a:rPr sz="1298" spc="-10" dirty="0">
                <a:solidFill>
                  <a:srgbClr val="202020"/>
                </a:solidFill>
                <a:latin typeface="Calibri"/>
                <a:cs typeface="Calibri"/>
              </a:rPr>
              <a:t>value,</a:t>
            </a:r>
            <a:r>
              <a:rPr sz="1298" spc="-30" dirty="0">
                <a:solidFill>
                  <a:srgbClr val="202020"/>
                </a:solidFill>
                <a:latin typeface="Calibri"/>
                <a:cs typeface="Calibri"/>
              </a:rPr>
              <a:t> </a:t>
            </a:r>
            <a:r>
              <a:rPr sz="1298" spc="-10" dirty="0">
                <a:solidFill>
                  <a:srgbClr val="202020"/>
                </a:solidFill>
                <a:latin typeface="Calibri"/>
                <a:cs typeface="Calibri"/>
              </a:rPr>
              <a:t>PostgreSQL</a:t>
            </a:r>
            <a:r>
              <a:rPr sz="1298" spc="-30" dirty="0">
                <a:solidFill>
                  <a:srgbClr val="202020"/>
                </a:solidFill>
                <a:latin typeface="Calibri"/>
                <a:cs typeface="Calibri"/>
              </a:rPr>
              <a:t> </a:t>
            </a:r>
            <a:r>
              <a:rPr sz="1298" spc="-20" dirty="0">
                <a:solidFill>
                  <a:srgbClr val="202020"/>
                </a:solidFill>
                <a:latin typeface="Calibri"/>
                <a:cs typeface="Calibri"/>
              </a:rPr>
              <a:t>auto-</a:t>
            </a:r>
            <a:r>
              <a:rPr sz="1298" dirty="0">
                <a:solidFill>
                  <a:srgbClr val="202020"/>
                </a:solidFill>
                <a:latin typeface="Calibri"/>
                <a:cs typeface="Calibri"/>
              </a:rPr>
              <a:t>fills</a:t>
            </a:r>
            <a:r>
              <a:rPr sz="1298" spc="-25" dirty="0">
                <a:solidFill>
                  <a:srgbClr val="202020"/>
                </a:solidFill>
                <a:latin typeface="Calibri"/>
                <a:cs typeface="Calibri"/>
              </a:rPr>
              <a:t> </a:t>
            </a:r>
            <a:r>
              <a:rPr sz="1298" dirty="0">
                <a:solidFill>
                  <a:srgbClr val="202020"/>
                </a:solidFill>
                <a:latin typeface="Calibri"/>
                <a:cs typeface="Calibri"/>
              </a:rPr>
              <a:t>one.</a:t>
            </a:r>
            <a:r>
              <a:rPr sz="1298" spc="-30" dirty="0">
                <a:solidFill>
                  <a:srgbClr val="202020"/>
                </a:solidFill>
                <a:latin typeface="Calibri"/>
                <a:cs typeface="Calibri"/>
              </a:rPr>
              <a:t> </a:t>
            </a:r>
            <a:r>
              <a:rPr sz="1298" spc="-25" dirty="0">
                <a:solidFill>
                  <a:srgbClr val="202020"/>
                </a:solidFill>
                <a:latin typeface="Calibri"/>
                <a:cs typeface="Calibri"/>
              </a:rPr>
              <a:t>Together</a:t>
            </a:r>
            <a:r>
              <a:rPr sz="1298" spc="-30" dirty="0">
                <a:solidFill>
                  <a:srgbClr val="202020"/>
                </a:solidFill>
                <a:latin typeface="Calibri"/>
                <a:cs typeface="Calibri"/>
              </a:rPr>
              <a:t> </a:t>
            </a:r>
            <a:r>
              <a:rPr sz="1298" dirty="0">
                <a:solidFill>
                  <a:srgbClr val="202020"/>
                </a:solidFill>
                <a:latin typeface="Calibri"/>
                <a:cs typeface="Calibri"/>
              </a:rPr>
              <a:t>they</a:t>
            </a:r>
            <a:r>
              <a:rPr sz="1298" spc="-30" dirty="0">
                <a:solidFill>
                  <a:srgbClr val="202020"/>
                </a:solidFill>
                <a:latin typeface="Calibri"/>
                <a:cs typeface="Calibri"/>
              </a:rPr>
              <a:t> </a:t>
            </a:r>
            <a:r>
              <a:rPr sz="1298" dirty="0">
                <a:solidFill>
                  <a:srgbClr val="202020"/>
                </a:solidFill>
                <a:latin typeface="Calibri"/>
                <a:cs typeface="Calibri"/>
              </a:rPr>
              <a:t>mean</a:t>
            </a:r>
            <a:r>
              <a:rPr sz="1298" spc="-25" dirty="0">
                <a:solidFill>
                  <a:srgbClr val="202020"/>
                </a:solidFill>
                <a:latin typeface="Calibri"/>
                <a:cs typeface="Calibri"/>
              </a:rPr>
              <a:t> </a:t>
            </a:r>
            <a:r>
              <a:rPr sz="1298" dirty="0">
                <a:solidFill>
                  <a:srgbClr val="202020"/>
                </a:solidFill>
                <a:latin typeface="Calibri"/>
                <a:cs typeface="Calibri"/>
              </a:rPr>
              <a:t>'this</a:t>
            </a:r>
            <a:r>
              <a:rPr sz="1298" spc="-30" dirty="0">
                <a:solidFill>
                  <a:srgbClr val="202020"/>
                </a:solidFill>
                <a:latin typeface="Calibri"/>
                <a:cs typeface="Calibri"/>
              </a:rPr>
              <a:t> </a:t>
            </a:r>
            <a:r>
              <a:rPr sz="1298" dirty="0">
                <a:solidFill>
                  <a:srgbClr val="202020"/>
                </a:solidFill>
                <a:latin typeface="Calibri"/>
                <a:cs typeface="Calibri"/>
              </a:rPr>
              <a:t>column</a:t>
            </a:r>
            <a:r>
              <a:rPr sz="1298" spc="-30" dirty="0">
                <a:solidFill>
                  <a:srgbClr val="202020"/>
                </a:solidFill>
                <a:latin typeface="Calibri"/>
                <a:cs typeface="Calibri"/>
              </a:rPr>
              <a:t> </a:t>
            </a:r>
            <a:r>
              <a:rPr sz="1298" spc="-10" dirty="0">
                <a:solidFill>
                  <a:srgbClr val="202020"/>
                </a:solidFill>
                <a:latin typeface="Calibri"/>
                <a:cs typeface="Calibri"/>
              </a:rPr>
              <a:t>always</a:t>
            </a:r>
            <a:r>
              <a:rPr sz="1298" spc="-30" dirty="0">
                <a:solidFill>
                  <a:srgbClr val="202020"/>
                </a:solidFill>
                <a:latin typeface="Calibri"/>
                <a:cs typeface="Calibri"/>
              </a:rPr>
              <a:t> </a:t>
            </a:r>
            <a:r>
              <a:rPr sz="1298" dirty="0">
                <a:solidFill>
                  <a:srgbClr val="202020"/>
                </a:solidFill>
                <a:latin typeface="Calibri"/>
                <a:cs typeface="Calibri"/>
              </a:rPr>
              <a:t>has</a:t>
            </a:r>
            <a:r>
              <a:rPr sz="1298" spc="-30" dirty="0">
                <a:solidFill>
                  <a:srgbClr val="202020"/>
                </a:solidFill>
                <a:latin typeface="Calibri"/>
                <a:cs typeface="Calibri"/>
              </a:rPr>
              <a:t> </a:t>
            </a:r>
            <a:r>
              <a:rPr sz="1298" dirty="0">
                <a:solidFill>
                  <a:srgbClr val="202020"/>
                </a:solidFill>
                <a:latin typeface="Calibri"/>
                <a:cs typeface="Calibri"/>
              </a:rPr>
              <a:t>a</a:t>
            </a:r>
            <a:r>
              <a:rPr sz="1298" spc="-25" dirty="0">
                <a:solidFill>
                  <a:srgbClr val="202020"/>
                </a:solidFill>
                <a:latin typeface="Calibri"/>
                <a:cs typeface="Calibri"/>
              </a:rPr>
              <a:t> </a:t>
            </a:r>
            <a:r>
              <a:rPr sz="1298" spc="-10" dirty="0">
                <a:solidFill>
                  <a:srgbClr val="202020"/>
                </a:solidFill>
                <a:latin typeface="Calibri"/>
                <a:cs typeface="Calibri"/>
              </a:rPr>
              <a:t>sensible</a:t>
            </a:r>
            <a:r>
              <a:rPr sz="1298" spc="-30" dirty="0">
                <a:solidFill>
                  <a:srgbClr val="202020"/>
                </a:solidFill>
                <a:latin typeface="Calibri"/>
                <a:cs typeface="Calibri"/>
              </a:rPr>
              <a:t> </a:t>
            </a:r>
            <a:r>
              <a:rPr sz="1298" spc="-10" dirty="0">
                <a:solidFill>
                  <a:srgbClr val="202020"/>
                </a:solidFill>
                <a:latin typeface="Calibri"/>
                <a:cs typeface="Calibri"/>
              </a:rPr>
              <a:t>value,</a:t>
            </a:r>
            <a:r>
              <a:rPr sz="1298" spc="-30" dirty="0">
                <a:solidFill>
                  <a:srgbClr val="202020"/>
                </a:solidFill>
                <a:latin typeface="Calibri"/>
                <a:cs typeface="Calibri"/>
              </a:rPr>
              <a:t> </a:t>
            </a:r>
            <a:r>
              <a:rPr sz="1298" dirty="0">
                <a:solidFill>
                  <a:srgbClr val="202020"/>
                </a:solidFill>
                <a:latin typeface="Calibri"/>
                <a:cs typeface="Calibri"/>
              </a:rPr>
              <a:t>even</a:t>
            </a:r>
            <a:r>
              <a:rPr sz="1298" spc="-30" dirty="0">
                <a:solidFill>
                  <a:srgbClr val="202020"/>
                </a:solidFill>
                <a:latin typeface="Calibri"/>
                <a:cs typeface="Calibri"/>
              </a:rPr>
              <a:t> </a:t>
            </a:r>
            <a:r>
              <a:rPr sz="1298" dirty="0">
                <a:solidFill>
                  <a:srgbClr val="202020"/>
                </a:solidFill>
                <a:latin typeface="Calibri"/>
                <a:cs typeface="Calibri"/>
              </a:rPr>
              <a:t>if</a:t>
            </a:r>
            <a:r>
              <a:rPr sz="1298" spc="-25" dirty="0">
                <a:solidFill>
                  <a:srgbClr val="202020"/>
                </a:solidFill>
                <a:latin typeface="Calibri"/>
                <a:cs typeface="Calibri"/>
              </a:rPr>
              <a:t> the </a:t>
            </a:r>
            <a:r>
              <a:rPr sz="1298" spc="-10" dirty="0">
                <a:solidFill>
                  <a:srgbClr val="202020"/>
                </a:solidFill>
                <a:latin typeface="Calibri"/>
                <a:cs typeface="Calibri"/>
              </a:rPr>
              <a:t>developer</a:t>
            </a:r>
            <a:r>
              <a:rPr sz="1298" spc="-20" dirty="0">
                <a:solidFill>
                  <a:srgbClr val="202020"/>
                </a:solidFill>
                <a:latin typeface="Calibri"/>
                <a:cs typeface="Calibri"/>
              </a:rPr>
              <a:t> </a:t>
            </a:r>
            <a:r>
              <a:rPr sz="1298" spc="-10" dirty="0">
                <a:solidFill>
                  <a:srgbClr val="202020"/>
                </a:solidFill>
                <a:latin typeface="Calibri"/>
                <a:cs typeface="Calibri"/>
              </a:rPr>
              <a:t>forgets'.</a:t>
            </a:r>
            <a:endParaRPr sz="1298">
              <a:latin typeface="Calibri"/>
              <a:cs typeface="Calibri"/>
            </a:endParaRPr>
          </a:p>
          <a:p>
            <a:pPr marL="12685">
              <a:spcBef>
                <a:spcPts val="789"/>
              </a:spcBef>
            </a:pPr>
            <a:r>
              <a:rPr sz="899" b="1" dirty="0">
                <a:solidFill>
                  <a:srgbClr val="FFB200"/>
                </a:solidFill>
                <a:latin typeface="Courier New"/>
                <a:cs typeface="Courier New"/>
              </a:rPr>
              <a:t>[Syntax + Worked </a:t>
            </a:r>
            <a:r>
              <a:rPr sz="899" b="1" spc="-10" dirty="0">
                <a:solidFill>
                  <a:srgbClr val="FFB200"/>
                </a:solidFill>
                <a:latin typeface="Courier New"/>
                <a:cs typeface="Courier New"/>
              </a:rPr>
              <a:t>Example]</a:t>
            </a:r>
            <a:endParaRPr sz="899">
              <a:latin typeface="Courier New"/>
              <a:cs typeface="Courier New"/>
            </a:endParaRPr>
          </a:p>
          <a:p>
            <a:pPr marL="150314" marR="5250856" indent="-138264">
              <a:lnSpc>
                <a:spcPct val="120200"/>
              </a:lnSpc>
              <a:tabLst>
                <a:tab pos="1114356" algn="l"/>
              </a:tabLst>
            </a:pPr>
            <a:r>
              <a:rPr sz="899" dirty="0">
                <a:solidFill>
                  <a:srgbClr val="333333"/>
                </a:solidFill>
                <a:latin typeface="Courier New"/>
                <a:cs typeface="Courier New"/>
              </a:rPr>
              <a:t>CREATE TABLE day_4.orders </a:t>
            </a:r>
            <a:r>
              <a:rPr sz="899" spc="-50" dirty="0">
                <a:solidFill>
                  <a:srgbClr val="333333"/>
                </a:solidFill>
                <a:latin typeface="Courier New"/>
                <a:cs typeface="Courier New"/>
              </a:rPr>
              <a:t>(</a:t>
            </a:r>
            <a:r>
              <a:rPr sz="899" spc="499" dirty="0">
                <a:solidFill>
                  <a:srgbClr val="333333"/>
                </a:solidFill>
                <a:latin typeface="Courier New"/>
                <a:cs typeface="Courier New"/>
              </a:rPr>
              <a:t> </a:t>
            </a:r>
            <a:r>
              <a:rPr sz="899" spc="-10" dirty="0">
                <a:solidFill>
                  <a:srgbClr val="333333"/>
                </a:solidFill>
                <a:latin typeface="Courier New"/>
                <a:cs typeface="Courier New"/>
              </a:rPr>
              <a:t>order_id</a:t>
            </a:r>
            <a:r>
              <a:rPr sz="899" dirty="0">
                <a:solidFill>
                  <a:srgbClr val="333333"/>
                </a:solidFill>
                <a:latin typeface="Courier New"/>
                <a:cs typeface="Courier New"/>
              </a:rPr>
              <a:t>	SERIAL</a:t>
            </a:r>
            <a:r>
              <a:rPr sz="899" spc="-10" dirty="0">
                <a:solidFill>
                  <a:srgbClr val="333333"/>
                </a:solidFill>
                <a:latin typeface="Courier New"/>
                <a:cs typeface="Courier New"/>
              </a:rPr>
              <a:t> </a:t>
            </a:r>
            <a:r>
              <a:rPr sz="899" dirty="0">
                <a:solidFill>
                  <a:srgbClr val="333333"/>
                </a:solidFill>
                <a:latin typeface="Courier New"/>
                <a:cs typeface="Courier New"/>
              </a:rPr>
              <a:t>PRIMARY </a:t>
            </a:r>
            <a:r>
              <a:rPr sz="899" spc="-20" dirty="0">
                <a:solidFill>
                  <a:srgbClr val="333333"/>
                </a:solidFill>
                <a:latin typeface="Courier New"/>
                <a:cs typeface="Courier New"/>
              </a:rPr>
              <a:t>KEY,</a:t>
            </a:r>
            <a:endParaRPr sz="899">
              <a:latin typeface="Courier New"/>
              <a:cs typeface="Courier New"/>
            </a:endParaRPr>
          </a:p>
          <a:p>
            <a:pPr marL="150314">
              <a:spcBef>
                <a:spcPts val="215"/>
              </a:spcBef>
            </a:pPr>
            <a:r>
              <a:rPr sz="899" dirty="0">
                <a:solidFill>
                  <a:srgbClr val="333333"/>
                </a:solidFill>
                <a:latin typeface="Courier New"/>
                <a:cs typeface="Courier New"/>
              </a:rPr>
              <a:t>customer_name VARCHAR(100) NOT </a:t>
            </a:r>
            <a:r>
              <a:rPr sz="899" spc="-10" dirty="0">
                <a:solidFill>
                  <a:srgbClr val="333333"/>
                </a:solidFill>
                <a:latin typeface="Courier New"/>
                <a:cs typeface="Courier New"/>
              </a:rPr>
              <a:t>NULL,</a:t>
            </a:r>
            <a:endParaRPr sz="899">
              <a:latin typeface="Courier New"/>
              <a:cs typeface="Courier New"/>
            </a:endParaRPr>
          </a:p>
          <a:p>
            <a:pPr marL="150314" marR="3804794">
              <a:lnSpc>
                <a:spcPct val="120200"/>
              </a:lnSpc>
              <a:tabLst>
                <a:tab pos="1114356" algn="l"/>
              </a:tabLst>
            </a:pPr>
            <a:r>
              <a:rPr sz="899" dirty="0">
                <a:solidFill>
                  <a:srgbClr val="333333"/>
                </a:solidFill>
                <a:latin typeface="Courier New"/>
                <a:cs typeface="Courier New"/>
              </a:rPr>
              <a:t>order_status  VARCHAR(20)  NOT</a:t>
            </a:r>
            <a:r>
              <a:rPr sz="899" spc="5" dirty="0">
                <a:solidFill>
                  <a:srgbClr val="333333"/>
                </a:solidFill>
                <a:latin typeface="Courier New"/>
                <a:cs typeface="Courier New"/>
              </a:rPr>
              <a:t> </a:t>
            </a:r>
            <a:r>
              <a:rPr sz="899" dirty="0">
                <a:solidFill>
                  <a:srgbClr val="333333"/>
                </a:solidFill>
                <a:latin typeface="Courier New"/>
                <a:cs typeface="Courier New"/>
              </a:rPr>
              <a:t>NULL DEFAULT </a:t>
            </a:r>
            <a:r>
              <a:rPr sz="899" spc="-10" dirty="0">
                <a:solidFill>
                  <a:srgbClr val="333333"/>
                </a:solidFill>
                <a:latin typeface="Courier New"/>
                <a:cs typeface="Courier New"/>
              </a:rPr>
              <a:t>'pending', created_at</a:t>
            </a:r>
            <a:r>
              <a:rPr sz="899" dirty="0">
                <a:solidFill>
                  <a:srgbClr val="333333"/>
                </a:solidFill>
                <a:latin typeface="Courier New"/>
                <a:cs typeface="Courier New"/>
              </a:rPr>
              <a:t>	TIMESTAMPTZ  NOT NULL DEFAULT </a:t>
            </a:r>
            <a:r>
              <a:rPr sz="899" spc="-10" dirty="0">
                <a:solidFill>
                  <a:srgbClr val="333333"/>
                </a:solidFill>
                <a:latin typeface="Courier New"/>
                <a:cs typeface="Courier New"/>
              </a:rPr>
              <a:t>now()</a:t>
            </a:r>
            <a:endParaRPr sz="899">
              <a:latin typeface="Courier New"/>
              <a:cs typeface="Courier New"/>
            </a:endParaRPr>
          </a:p>
          <a:p>
            <a:pPr marL="12685">
              <a:spcBef>
                <a:spcPts val="220"/>
              </a:spcBef>
            </a:pPr>
            <a:r>
              <a:rPr sz="899" spc="-25" dirty="0">
                <a:solidFill>
                  <a:srgbClr val="333333"/>
                </a:solidFill>
                <a:latin typeface="Courier New"/>
                <a:cs typeface="Courier New"/>
              </a:rPr>
              <a:t>);</a:t>
            </a:r>
            <a:endParaRPr sz="899">
              <a:latin typeface="Courier New"/>
              <a:cs typeface="Courier New"/>
            </a:endParaRPr>
          </a:p>
          <a:p>
            <a:pPr>
              <a:spcBef>
                <a:spcPts val="854"/>
              </a:spcBef>
            </a:pPr>
            <a:endParaRPr sz="899">
              <a:latin typeface="Courier New"/>
              <a:cs typeface="Courier New"/>
            </a:endParaRPr>
          </a:p>
          <a:p>
            <a:pPr marL="12685" marR="3598031">
              <a:lnSpc>
                <a:spcPct val="120200"/>
              </a:lnSpc>
            </a:pPr>
            <a:r>
              <a:rPr sz="899" dirty="0">
                <a:solidFill>
                  <a:srgbClr val="699954"/>
                </a:solidFill>
                <a:latin typeface="Courier New"/>
                <a:cs typeface="Courier New"/>
              </a:rPr>
              <a:t>-- Provide only the required value; defaults fill the </a:t>
            </a:r>
            <a:r>
              <a:rPr sz="899" spc="-10" dirty="0">
                <a:solidFill>
                  <a:srgbClr val="699954"/>
                </a:solidFill>
                <a:latin typeface="Courier New"/>
                <a:cs typeface="Courier New"/>
              </a:rPr>
              <a:t>rest: </a:t>
            </a:r>
            <a:r>
              <a:rPr sz="899" dirty="0">
                <a:solidFill>
                  <a:srgbClr val="333333"/>
                </a:solidFill>
                <a:latin typeface="Courier New"/>
                <a:cs typeface="Courier New"/>
              </a:rPr>
              <a:t>INSERT INTO day_4.orders (customer_name) VALUES </a:t>
            </a:r>
            <a:r>
              <a:rPr sz="899" spc="-10" dirty="0">
                <a:solidFill>
                  <a:srgbClr val="333333"/>
                </a:solidFill>
                <a:latin typeface="Courier New"/>
                <a:cs typeface="Courier New"/>
              </a:rPr>
              <a:t>('Priya');</a:t>
            </a:r>
            <a:endParaRPr sz="899">
              <a:latin typeface="Courier New"/>
              <a:cs typeface="Courier New"/>
            </a:endParaRPr>
          </a:p>
          <a:p>
            <a:pPr marL="12685">
              <a:spcBef>
                <a:spcPts val="219"/>
              </a:spcBef>
            </a:pPr>
            <a:r>
              <a:rPr sz="899" dirty="0">
                <a:solidFill>
                  <a:srgbClr val="699954"/>
                </a:solidFill>
                <a:latin typeface="Courier New"/>
                <a:cs typeface="Courier New"/>
              </a:rPr>
              <a:t>-- order_status='pending', created_at=now (auto-</a:t>
            </a:r>
            <a:r>
              <a:rPr sz="899" spc="-10" dirty="0">
                <a:solidFill>
                  <a:srgbClr val="699954"/>
                </a:solidFill>
                <a:latin typeface="Courier New"/>
                <a:cs typeface="Courier New"/>
              </a:rPr>
              <a:t>filled)</a:t>
            </a:r>
            <a:endParaRPr sz="899">
              <a:latin typeface="Courier New"/>
              <a:cs typeface="Courier New"/>
            </a:endParaRPr>
          </a:p>
          <a:p>
            <a:pPr>
              <a:lnSpc>
                <a:spcPct val="100000"/>
              </a:lnSpc>
            </a:pPr>
            <a:endParaRPr sz="899">
              <a:latin typeface="Courier New"/>
              <a:cs typeface="Courier New"/>
            </a:endParaRPr>
          </a:p>
          <a:p>
            <a:pPr>
              <a:spcBef>
                <a:spcPts val="50"/>
              </a:spcBef>
            </a:pPr>
            <a:endParaRPr sz="899">
              <a:latin typeface="Courier New"/>
              <a:cs typeface="Courier New"/>
            </a:endParaRPr>
          </a:p>
          <a:p>
            <a:pPr marL="12685"/>
            <a:r>
              <a:rPr sz="899" dirty="0">
                <a:solidFill>
                  <a:srgbClr val="699954"/>
                </a:solidFill>
                <a:latin typeface="Courier New"/>
                <a:cs typeface="Courier New"/>
              </a:rPr>
              <a:t>-- FAILS: customer_name is NOT NULL and </a:t>
            </a:r>
            <a:r>
              <a:rPr sz="899" spc="-10" dirty="0">
                <a:solidFill>
                  <a:srgbClr val="699954"/>
                </a:solidFill>
                <a:latin typeface="Courier New"/>
                <a:cs typeface="Courier New"/>
              </a:rPr>
              <a:t>missing</a:t>
            </a:r>
            <a:endParaRPr sz="899">
              <a:latin typeface="Courier New"/>
              <a:cs typeface="Courier New"/>
            </a:endParaRPr>
          </a:p>
          <a:p>
            <a:pPr marL="12685">
              <a:spcBef>
                <a:spcPts val="220"/>
              </a:spcBef>
            </a:pPr>
            <a:r>
              <a:rPr sz="899" dirty="0">
                <a:solidFill>
                  <a:srgbClr val="333333"/>
                </a:solidFill>
                <a:latin typeface="Courier New"/>
                <a:cs typeface="Courier New"/>
              </a:rPr>
              <a:t>INSERT INTO day_4.orders (order_status) VALUES </a:t>
            </a:r>
            <a:r>
              <a:rPr sz="899" spc="-10" dirty="0">
                <a:solidFill>
                  <a:srgbClr val="333333"/>
                </a:solidFill>
                <a:latin typeface="Courier New"/>
                <a:cs typeface="Courier New"/>
              </a:rPr>
              <a:t>('shipped');</a:t>
            </a:r>
            <a:endParaRPr sz="899">
              <a:latin typeface="Courier New"/>
              <a:cs typeface="Courier New"/>
            </a:endParaRPr>
          </a:p>
          <a:p>
            <a:pPr marL="12685">
              <a:spcBef>
                <a:spcPts val="215"/>
              </a:spcBef>
            </a:pPr>
            <a:r>
              <a:rPr sz="899" dirty="0">
                <a:solidFill>
                  <a:srgbClr val="699954"/>
                </a:solidFill>
                <a:latin typeface="Courier New"/>
                <a:cs typeface="Courier New"/>
              </a:rPr>
              <a:t>-- ERROR: null value in column "customer_name" violates not-null </a:t>
            </a:r>
            <a:r>
              <a:rPr sz="899" spc="-10" dirty="0">
                <a:solidFill>
                  <a:srgbClr val="699954"/>
                </a:solidFill>
                <a:latin typeface="Courier New"/>
                <a:cs typeface="Courier New"/>
              </a:rPr>
              <a:t>constraint</a:t>
            </a:r>
            <a:endParaRPr sz="899">
              <a:latin typeface="Courier New"/>
              <a:cs typeface="Courier New"/>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79619" y="273628"/>
            <a:ext cx="2054228" cy="4566363"/>
          </a:xfrm>
          <a:custGeom>
            <a:avLst/>
            <a:gdLst/>
            <a:ahLst/>
            <a:cxnLst/>
            <a:rect l="l" t="t" r="r" b="b"/>
            <a:pathLst>
              <a:path w="2056764" h="4572000">
                <a:moveTo>
                  <a:pt x="72720" y="0"/>
                </a:moveTo>
                <a:lnTo>
                  <a:pt x="0" y="0"/>
                </a:lnTo>
                <a:lnTo>
                  <a:pt x="0" y="4571631"/>
                </a:lnTo>
                <a:lnTo>
                  <a:pt x="36360" y="4571631"/>
                </a:lnTo>
                <a:lnTo>
                  <a:pt x="72720" y="4571631"/>
                </a:lnTo>
                <a:lnTo>
                  <a:pt x="72720" y="0"/>
                </a:lnTo>
                <a:close/>
              </a:path>
              <a:path w="2056764" h="4572000">
                <a:moveTo>
                  <a:pt x="2056676" y="355"/>
                </a:moveTo>
                <a:lnTo>
                  <a:pt x="228244" y="355"/>
                </a:lnTo>
                <a:lnTo>
                  <a:pt x="228244" y="320040"/>
                </a:lnTo>
                <a:lnTo>
                  <a:pt x="1142644" y="320040"/>
                </a:lnTo>
                <a:lnTo>
                  <a:pt x="2056676" y="320040"/>
                </a:lnTo>
                <a:lnTo>
                  <a:pt x="2056676" y="355"/>
                </a:lnTo>
                <a:close/>
              </a:path>
            </a:pathLst>
          </a:custGeom>
          <a:solidFill>
            <a:srgbClr val="00695B"/>
          </a:solidFill>
        </p:spPr>
        <p:txBody>
          <a:bodyPr wrap="square" lIns="0" tIns="0" rIns="0" bIns="0" rtlCol="0"/>
          <a:lstStyle/>
          <a:p>
            <a:endParaRPr sz="1798"/>
          </a:p>
        </p:txBody>
      </p:sp>
      <p:sp>
        <p:nvSpPr>
          <p:cNvPr id="3" name="object 3"/>
          <p:cNvSpPr txBox="1"/>
          <p:nvPr/>
        </p:nvSpPr>
        <p:spPr>
          <a:xfrm>
            <a:off x="1100740" y="345079"/>
            <a:ext cx="641193" cy="166379"/>
          </a:xfrm>
          <a:prstGeom prst="rect">
            <a:avLst/>
          </a:prstGeom>
        </p:spPr>
        <p:txBody>
          <a:bodyPr vert="horz" wrap="square" lIns="0" tIns="12684" rIns="0" bIns="0" rtlCol="0">
            <a:spAutoFit/>
          </a:bodyPr>
          <a:lstStyle/>
          <a:p>
            <a:pPr marL="12685">
              <a:spcBef>
                <a:spcPts val="100"/>
              </a:spcBef>
            </a:pPr>
            <a:r>
              <a:rPr sz="999" b="1" spc="-10" dirty="0">
                <a:solidFill>
                  <a:srgbClr val="FFFFFF"/>
                </a:solidFill>
                <a:latin typeface="Calibri"/>
                <a:cs typeface="Calibri"/>
              </a:rPr>
              <a:t>DEFINITION</a:t>
            </a:r>
            <a:endParaRPr sz="999">
              <a:latin typeface="Calibri"/>
              <a:cs typeface="Calibri"/>
            </a:endParaRPr>
          </a:p>
        </p:txBody>
      </p:sp>
      <p:sp>
        <p:nvSpPr>
          <p:cNvPr id="4" name="object 4" descr="$PPTXTitle"/>
          <p:cNvSpPr txBox="1">
            <a:spLocks noGrp="1"/>
          </p:cNvSpPr>
          <p:nvPr>
            <p:ph type="title"/>
          </p:nvPr>
        </p:nvSpPr>
        <p:spPr>
          <a:xfrm>
            <a:off x="494897" y="748137"/>
            <a:ext cx="3178696" cy="330427"/>
          </a:xfrm>
          <a:prstGeom prst="rect">
            <a:avLst/>
          </a:prstGeom>
        </p:spPr>
        <p:txBody>
          <a:bodyPr vert="horz" wrap="square" lIns="0" tIns="12684" rIns="0" bIns="0" rtlCol="0">
            <a:spAutoFit/>
          </a:bodyPr>
          <a:lstStyle/>
          <a:p>
            <a:pPr marL="12685">
              <a:spcBef>
                <a:spcPts val="100"/>
              </a:spcBef>
            </a:pPr>
            <a:r>
              <a:rPr sz="1998" dirty="0">
                <a:solidFill>
                  <a:srgbClr val="202020"/>
                </a:solidFill>
                <a:latin typeface="Georgia"/>
                <a:cs typeface="Georgia"/>
              </a:rPr>
              <a:t>UNIQUE</a:t>
            </a:r>
            <a:r>
              <a:rPr sz="1998" spc="-20" dirty="0">
                <a:solidFill>
                  <a:srgbClr val="202020"/>
                </a:solidFill>
                <a:latin typeface="Georgia"/>
                <a:cs typeface="Georgia"/>
              </a:rPr>
              <a:t> </a:t>
            </a:r>
            <a:r>
              <a:rPr sz="1998" dirty="0">
                <a:solidFill>
                  <a:srgbClr val="202020"/>
                </a:solidFill>
                <a:latin typeface="Georgia"/>
                <a:cs typeface="Georgia"/>
              </a:rPr>
              <a:t>&amp;</a:t>
            </a:r>
            <a:r>
              <a:rPr sz="1998" spc="-20" dirty="0">
                <a:solidFill>
                  <a:srgbClr val="202020"/>
                </a:solidFill>
                <a:latin typeface="Georgia"/>
                <a:cs typeface="Georgia"/>
              </a:rPr>
              <a:t> </a:t>
            </a:r>
            <a:r>
              <a:rPr sz="1998" dirty="0">
                <a:solidFill>
                  <a:srgbClr val="202020"/>
                </a:solidFill>
                <a:latin typeface="Georgia"/>
                <a:cs typeface="Georgia"/>
              </a:rPr>
              <a:t>CHECK</a:t>
            </a:r>
            <a:r>
              <a:rPr sz="1998" spc="-15" dirty="0">
                <a:solidFill>
                  <a:srgbClr val="202020"/>
                </a:solidFill>
                <a:latin typeface="Georgia"/>
                <a:cs typeface="Georgia"/>
              </a:rPr>
              <a:t> </a:t>
            </a:r>
            <a:r>
              <a:rPr sz="1998" spc="-20" dirty="0">
                <a:solidFill>
                  <a:srgbClr val="202020"/>
                </a:solidFill>
                <a:latin typeface="Georgia"/>
                <a:cs typeface="Georgia"/>
              </a:rPr>
              <a:t>(1/2)</a:t>
            </a:r>
            <a:endParaRPr sz="1998">
              <a:latin typeface="Georgia"/>
              <a:cs typeface="Georgia"/>
            </a:endParaRPr>
          </a:p>
        </p:txBody>
      </p:sp>
      <p:sp>
        <p:nvSpPr>
          <p:cNvPr id="5" name="object 5"/>
          <p:cNvSpPr txBox="1"/>
          <p:nvPr/>
        </p:nvSpPr>
        <p:spPr>
          <a:xfrm>
            <a:off x="584779" y="1219084"/>
            <a:ext cx="7505324" cy="475634"/>
          </a:xfrm>
          <a:prstGeom prst="rect">
            <a:avLst/>
          </a:prstGeom>
        </p:spPr>
        <p:txBody>
          <a:bodyPr vert="horz" wrap="square" lIns="0" tIns="12684" rIns="0" bIns="0" rtlCol="0">
            <a:spAutoFit/>
          </a:bodyPr>
          <a:lstStyle/>
          <a:p>
            <a:pPr marL="12685" marR="5074">
              <a:lnSpc>
                <a:spcPct val="120100"/>
              </a:lnSpc>
              <a:spcBef>
                <a:spcPts val="100"/>
              </a:spcBef>
            </a:pPr>
            <a:r>
              <a:rPr sz="1298" dirty="0">
                <a:solidFill>
                  <a:srgbClr val="202020"/>
                </a:solidFill>
                <a:latin typeface="Calibri"/>
                <a:cs typeface="Calibri"/>
              </a:rPr>
              <a:t>UNIQUE:</a:t>
            </a:r>
            <a:r>
              <a:rPr sz="1298" spc="-35" dirty="0">
                <a:solidFill>
                  <a:srgbClr val="202020"/>
                </a:solidFill>
                <a:latin typeface="Calibri"/>
                <a:cs typeface="Calibri"/>
              </a:rPr>
              <a:t> </a:t>
            </a:r>
            <a:r>
              <a:rPr sz="1298" dirty="0">
                <a:solidFill>
                  <a:srgbClr val="202020"/>
                </a:solidFill>
                <a:latin typeface="Calibri"/>
                <a:cs typeface="Calibri"/>
              </a:rPr>
              <a:t>no</a:t>
            </a:r>
            <a:r>
              <a:rPr sz="1298" spc="-35" dirty="0">
                <a:solidFill>
                  <a:srgbClr val="202020"/>
                </a:solidFill>
                <a:latin typeface="Calibri"/>
                <a:cs typeface="Calibri"/>
              </a:rPr>
              <a:t> </a:t>
            </a:r>
            <a:r>
              <a:rPr sz="1298" dirty="0">
                <a:solidFill>
                  <a:srgbClr val="202020"/>
                </a:solidFill>
                <a:latin typeface="Calibri"/>
                <a:cs typeface="Calibri"/>
              </a:rPr>
              <a:t>two</a:t>
            </a:r>
            <a:r>
              <a:rPr sz="1298" spc="-30" dirty="0">
                <a:solidFill>
                  <a:srgbClr val="202020"/>
                </a:solidFill>
                <a:latin typeface="Calibri"/>
                <a:cs typeface="Calibri"/>
              </a:rPr>
              <a:t> </a:t>
            </a:r>
            <a:r>
              <a:rPr sz="1298" dirty="0">
                <a:solidFill>
                  <a:srgbClr val="202020"/>
                </a:solidFill>
                <a:latin typeface="Calibri"/>
                <a:cs typeface="Calibri"/>
              </a:rPr>
              <a:t>rows</a:t>
            </a:r>
            <a:r>
              <a:rPr sz="1298" spc="-35" dirty="0">
                <a:solidFill>
                  <a:srgbClr val="202020"/>
                </a:solidFill>
                <a:latin typeface="Calibri"/>
                <a:cs typeface="Calibri"/>
              </a:rPr>
              <a:t> </a:t>
            </a:r>
            <a:r>
              <a:rPr sz="1298" dirty="0">
                <a:solidFill>
                  <a:srgbClr val="202020"/>
                </a:solidFill>
                <a:latin typeface="Calibri"/>
                <a:cs typeface="Calibri"/>
              </a:rPr>
              <a:t>may</a:t>
            </a:r>
            <a:r>
              <a:rPr sz="1298" spc="-30" dirty="0">
                <a:solidFill>
                  <a:srgbClr val="202020"/>
                </a:solidFill>
                <a:latin typeface="Calibri"/>
                <a:cs typeface="Calibri"/>
              </a:rPr>
              <a:t> </a:t>
            </a:r>
            <a:r>
              <a:rPr sz="1298" dirty="0">
                <a:solidFill>
                  <a:srgbClr val="202020"/>
                </a:solidFill>
                <a:latin typeface="Calibri"/>
                <a:cs typeface="Calibri"/>
              </a:rPr>
              <a:t>share</a:t>
            </a:r>
            <a:r>
              <a:rPr sz="1298" spc="-35" dirty="0">
                <a:solidFill>
                  <a:srgbClr val="202020"/>
                </a:solidFill>
                <a:latin typeface="Calibri"/>
                <a:cs typeface="Calibri"/>
              </a:rPr>
              <a:t> </a:t>
            </a:r>
            <a:r>
              <a:rPr sz="1298" dirty="0">
                <a:solidFill>
                  <a:srgbClr val="202020"/>
                </a:solidFill>
                <a:latin typeface="Calibri"/>
                <a:cs typeface="Calibri"/>
              </a:rPr>
              <a:t>the</a:t>
            </a:r>
            <a:r>
              <a:rPr sz="1298" spc="-35" dirty="0">
                <a:solidFill>
                  <a:srgbClr val="202020"/>
                </a:solidFill>
                <a:latin typeface="Calibri"/>
                <a:cs typeface="Calibri"/>
              </a:rPr>
              <a:t> </a:t>
            </a:r>
            <a:r>
              <a:rPr sz="1298" dirty="0">
                <a:solidFill>
                  <a:srgbClr val="202020"/>
                </a:solidFill>
                <a:latin typeface="Calibri"/>
                <a:cs typeface="Calibri"/>
              </a:rPr>
              <a:t>value</a:t>
            </a:r>
            <a:r>
              <a:rPr sz="1298" spc="-30" dirty="0">
                <a:solidFill>
                  <a:srgbClr val="202020"/>
                </a:solidFill>
                <a:latin typeface="Calibri"/>
                <a:cs typeface="Calibri"/>
              </a:rPr>
              <a:t> </a:t>
            </a:r>
            <a:r>
              <a:rPr sz="1298" spc="-10" dirty="0">
                <a:solidFill>
                  <a:srgbClr val="202020"/>
                </a:solidFill>
                <a:latin typeface="Calibri"/>
                <a:cs typeface="Calibri"/>
              </a:rPr>
              <a:t>(emails,</a:t>
            </a:r>
            <a:r>
              <a:rPr sz="1298" spc="-35" dirty="0">
                <a:solidFill>
                  <a:srgbClr val="202020"/>
                </a:solidFill>
                <a:latin typeface="Calibri"/>
                <a:cs typeface="Calibri"/>
              </a:rPr>
              <a:t> </a:t>
            </a:r>
            <a:r>
              <a:rPr sz="1298" spc="-10" dirty="0">
                <a:solidFill>
                  <a:srgbClr val="202020"/>
                </a:solidFill>
                <a:latin typeface="Calibri"/>
                <a:cs typeface="Calibri"/>
              </a:rPr>
              <a:t>phones,</a:t>
            </a:r>
            <a:r>
              <a:rPr sz="1298" spc="-30" dirty="0">
                <a:solidFill>
                  <a:srgbClr val="202020"/>
                </a:solidFill>
                <a:latin typeface="Calibri"/>
                <a:cs typeface="Calibri"/>
              </a:rPr>
              <a:t> </a:t>
            </a:r>
            <a:r>
              <a:rPr sz="1298" spc="-20" dirty="0">
                <a:solidFill>
                  <a:srgbClr val="202020"/>
                </a:solidFill>
                <a:latin typeface="Calibri"/>
                <a:cs typeface="Calibri"/>
              </a:rPr>
              <a:t>PAN).</a:t>
            </a:r>
            <a:r>
              <a:rPr sz="1298" spc="-35" dirty="0">
                <a:solidFill>
                  <a:srgbClr val="202020"/>
                </a:solidFill>
                <a:latin typeface="Calibri"/>
                <a:cs typeface="Calibri"/>
              </a:rPr>
              <a:t> </a:t>
            </a:r>
            <a:r>
              <a:rPr sz="1298" spc="-10" dirty="0">
                <a:solidFill>
                  <a:srgbClr val="202020"/>
                </a:solidFill>
                <a:latin typeface="Calibri"/>
                <a:cs typeface="Calibri"/>
              </a:rPr>
              <a:t>Multiple</a:t>
            </a:r>
            <a:r>
              <a:rPr sz="1298" spc="-35" dirty="0">
                <a:solidFill>
                  <a:srgbClr val="202020"/>
                </a:solidFill>
                <a:latin typeface="Calibri"/>
                <a:cs typeface="Calibri"/>
              </a:rPr>
              <a:t> </a:t>
            </a:r>
            <a:r>
              <a:rPr sz="1298" dirty="0">
                <a:solidFill>
                  <a:srgbClr val="202020"/>
                </a:solidFill>
                <a:latin typeface="Calibri"/>
                <a:cs typeface="Calibri"/>
              </a:rPr>
              <a:t>NULLs</a:t>
            </a:r>
            <a:r>
              <a:rPr sz="1298" spc="-30" dirty="0">
                <a:solidFill>
                  <a:srgbClr val="202020"/>
                </a:solidFill>
                <a:latin typeface="Calibri"/>
                <a:cs typeface="Calibri"/>
              </a:rPr>
              <a:t> </a:t>
            </a:r>
            <a:r>
              <a:rPr sz="1298" dirty="0">
                <a:solidFill>
                  <a:srgbClr val="202020"/>
                </a:solidFill>
                <a:latin typeface="Calibri"/>
                <a:cs typeface="Calibri"/>
              </a:rPr>
              <a:t>ARE</a:t>
            </a:r>
            <a:r>
              <a:rPr sz="1298" spc="-35" dirty="0">
                <a:solidFill>
                  <a:srgbClr val="202020"/>
                </a:solidFill>
                <a:latin typeface="Calibri"/>
                <a:cs typeface="Calibri"/>
              </a:rPr>
              <a:t> </a:t>
            </a:r>
            <a:r>
              <a:rPr sz="1298" spc="-10" dirty="0">
                <a:solidFill>
                  <a:srgbClr val="202020"/>
                </a:solidFill>
                <a:latin typeface="Calibri"/>
                <a:cs typeface="Calibri"/>
              </a:rPr>
              <a:t>allowed</a:t>
            </a:r>
            <a:r>
              <a:rPr sz="1298" spc="-30" dirty="0">
                <a:solidFill>
                  <a:srgbClr val="202020"/>
                </a:solidFill>
                <a:latin typeface="Calibri"/>
                <a:cs typeface="Calibri"/>
              </a:rPr>
              <a:t> </a:t>
            </a:r>
            <a:r>
              <a:rPr sz="1298" dirty="0">
                <a:solidFill>
                  <a:srgbClr val="202020"/>
                </a:solidFill>
                <a:latin typeface="Calibri"/>
                <a:cs typeface="Calibri"/>
              </a:rPr>
              <a:t>-</a:t>
            </a:r>
            <a:r>
              <a:rPr sz="1298" spc="-35" dirty="0">
                <a:solidFill>
                  <a:srgbClr val="202020"/>
                </a:solidFill>
                <a:latin typeface="Calibri"/>
                <a:cs typeface="Calibri"/>
              </a:rPr>
              <a:t> </a:t>
            </a:r>
            <a:r>
              <a:rPr sz="1298" dirty="0">
                <a:solidFill>
                  <a:srgbClr val="202020"/>
                </a:solidFill>
                <a:latin typeface="Calibri"/>
                <a:cs typeface="Calibri"/>
              </a:rPr>
              <a:t>NULL</a:t>
            </a:r>
            <a:r>
              <a:rPr sz="1298" spc="-30" dirty="0">
                <a:solidFill>
                  <a:srgbClr val="202020"/>
                </a:solidFill>
                <a:latin typeface="Calibri"/>
                <a:cs typeface="Calibri"/>
              </a:rPr>
              <a:t> </a:t>
            </a:r>
            <a:r>
              <a:rPr sz="1298" dirty="0">
                <a:solidFill>
                  <a:srgbClr val="202020"/>
                </a:solidFill>
                <a:latin typeface="Calibri"/>
                <a:cs typeface="Calibri"/>
              </a:rPr>
              <a:t>!=</a:t>
            </a:r>
            <a:r>
              <a:rPr sz="1298" spc="-35" dirty="0">
                <a:solidFill>
                  <a:srgbClr val="202020"/>
                </a:solidFill>
                <a:latin typeface="Calibri"/>
                <a:cs typeface="Calibri"/>
              </a:rPr>
              <a:t> </a:t>
            </a:r>
            <a:r>
              <a:rPr sz="1298" dirty="0">
                <a:solidFill>
                  <a:srgbClr val="202020"/>
                </a:solidFill>
                <a:latin typeface="Calibri"/>
                <a:cs typeface="Calibri"/>
              </a:rPr>
              <a:t>NULL</a:t>
            </a:r>
            <a:r>
              <a:rPr sz="1298" spc="-35" dirty="0">
                <a:solidFill>
                  <a:srgbClr val="202020"/>
                </a:solidFill>
                <a:latin typeface="Calibri"/>
                <a:cs typeface="Calibri"/>
              </a:rPr>
              <a:t> </a:t>
            </a:r>
            <a:r>
              <a:rPr sz="1298" spc="-25" dirty="0">
                <a:solidFill>
                  <a:srgbClr val="202020"/>
                </a:solidFill>
                <a:latin typeface="Calibri"/>
                <a:cs typeface="Calibri"/>
              </a:rPr>
              <a:t>in </a:t>
            </a:r>
            <a:r>
              <a:rPr sz="1298" spc="-10" dirty="0">
                <a:solidFill>
                  <a:srgbClr val="202020"/>
                </a:solidFill>
                <a:latin typeface="Calibri"/>
                <a:cs typeface="Calibri"/>
              </a:rPr>
              <a:t>PostgreSQL.</a:t>
            </a:r>
            <a:r>
              <a:rPr sz="1298" spc="-35" dirty="0">
                <a:solidFill>
                  <a:srgbClr val="202020"/>
                </a:solidFill>
                <a:latin typeface="Calibri"/>
                <a:cs typeface="Calibri"/>
              </a:rPr>
              <a:t> </a:t>
            </a:r>
            <a:r>
              <a:rPr sz="1298" dirty="0">
                <a:solidFill>
                  <a:srgbClr val="202020"/>
                </a:solidFill>
                <a:latin typeface="Calibri"/>
                <a:cs typeface="Calibri"/>
              </a:rPr>
              <a:t>CHECK:</a:t>
            </a:r>
            <a:r>
              <a:rPr sz="1298" spc="-30" dirty="0">
                <a:solidFill>
                  <a:srgbClr val="202020"/>
                </a:solidFill>
                <a:latin typeface="Calibri"/>
                <a:cs typeface="Calibri"/>
              </a:rPr>
              <a:t> </a:t>
            </a:r>
            <a:r>
              <a:rPr sz="1298" dirty="0">
                <a:solidFill>
                  <a:srgbClr val="202020"/>
                </a:solidFill>
                <a:latin typeface="Calibri"/>
                <a:cs typeface="Calibri"/>
              </a:rPr>
              <a:t>a</a:t>
            </a:r>
            <a:r>
              <a:rPr sz="1298" spc="-35" dirty="0">
                <a:solidFill>
                  <a:srgbClr val="202020"/>
                </a:solidFill>
                <a:latin typeface="Calibri"/>
                <a:cs typeface="Calibri"/>
              </a:rPr>
              <a:t> </a:t>
            </a:r>
            <a:r>
              <a:rPr sz="1298" spc="-10" dirty="0">
                <a:solidFill>
                  <a:srgbClr val="202020"/>
                </a:solidFill>
                <a:latin typeface="Calibri"/>
                <a:cs typeface="Calibri"/>
              </a:rPr>
              <a:t>custom</a:t>
            </a:r>
            <a:r>
              <a:rPr sz="1298" spc="-30" dirty="0">
                <a:solidFill>
                  <a:srgbClr val="202020"/>
                </a:solidFill>
                <a:latin typeface="Calibri"/>
                <a:cs typeface="Calibri"/>
              </a:rPr>
              <a:t> </a:t>
            </a:r>
            <a:r>
              <a:rPr sz="1298" dirty="0">
                <a:solidFill>
                  <a:srgbClr val="202020"/>
                </a:solidFill>
                <a:latin typeface="Calibri"/>
                <a:cs typeface="Calibri"/>
              </a:rPr>
              <a:t>rule</a:t>
            </a:r>
            <a:r>
              <a:rPr sz="1298" spc="-35" dirty="0">
                <a:solidFill>
                  <a:srgbClr val="202020"/>
                </a:solidFill>
                <a:latin typeface="Calibri"/>
                <a:cs typeface="Calibri"/>
              </a:rPr>
              <a:t> </a:t>
            </a:r>
            <a:r>
              <a:rPr sz="1298" spc="-10" dirty="0">
                <a:solidFill>
                  <a:srgbClr val="202020"/>
                </a:solidFill>
                <a:latin typeface="Calibri"/>
                <a:cs typeface="Calibri"/>
              </a:rPr>
              <a:t>evaluated</a:t>
            </a:r>
            <a:r>
              <a:rPr sz="1298" spc="-30" dirty="0">
                <a:solidFill>
                  <a:srgbClr val="202020"/>
                </a:solidFill>
                <a:latin typeface="Calibri"/>
                <a:cs typeface="Calibri"/>
              </a:rPr>
              <a:t> </a:t>
            </a:r>
            <a:r>
              <a:rPr sz="1298" dirty="0">
                <a:solidFill>
                  <a:srgbClr val="202020"/>
                </a:solidFill>
                <a:latin typeface="Calibri"/>
                <a:cs typeface="Calibri"/>
              </a:rPr>
              <a:t>on</a:t>
            </a:r>
            <a:r>
              <a:rPr sz="1298" spc="-35" dirty="0">
                <a:solidFill>
                  <a:srgbClr val="202020"/>
                </a:solidFill>
                <a:latin typeface="Calibri"/>
                <a:cs typeface="Calibri"/>
              </a:rPr>
              <a:t> </a:t>
            </a:r>
            <a:r>
              <a:rPr sz="1298" dirty="0">
                <a:solidFill>
                  <a:srgbClr val="202020"/>
                </a:solidFill>
                <a:latin typeface="Calibri"/>
                <a:cs typeface="Calibri"/>
              </a:rPr>
              <a:t>every</a:t>
            </a:r>
            <a:r>
              <a:rPr sz="1298" spc="-30" dirty="0">
                <a:solidFill>
                  <a:srgbClr val="202020"/>
                </a:solidFill>
                <a:latin typeface="Calibri"/>
                <a:cs typeface="Calibri"/>
              </a:rPr>
              <a:t> </a:t>
            </a:r>
            <a:r>
              <a:rPr sz="1298" dirty="0">
                <a:solidFill>
                  <a:srgbClr val="202020"/>
                </a:solidFill>
                <a:latin typeface="Calibri"/>
                <a:cs typeface="Calibri"/>
              </a:rPr>
              <a:t>write;</a:t>
            </a:r>
            <a:r>
              <a:rPr sz="1298" spc="-35" dirty="0">
                <a:solidFill>
                  <a:srgbClr val="202020"/>
                </a:solidFill>
                <a:latin typeface="Calibri"/>
                <a:cs typeface="Calibri"/>
              </a:rPr>
              <a:t> </a:t>
            </a:r>
            <a:r>
              <a:rPr sz="1298" dirty="0">
                <a:solidFill>
                  <a:srgbClr val="202020"/>
                </a:solidFill>
                <a:latin typeface="Calibri"/>
                <a:cs typeface="Calibri"/>
              </a:rPr>
              <a:t>if</a:t>
            </a:r>
            <a:r>
              <a:rPr sz="1298" spc="-30" dirty="0">
                <a:solidFill>
                  <a:srgbClr val="202020"/>
                </a:solidFill>
                <a:latin typeface="Calibri"/>
                <a:cs typeface="Calibri"/>
              </a:rPr>
              <a:t> </a:t>
            </a:r>
            <a:r>
              <a:rPr sz="1298" dirty="0">
                <a:solidFill>
                  <a:srgbClr val="202020"/>
                </a:solidFill>
                <a:latin typeface="Calibri"/>
                <a:cs typeface="Calibri"/>
              </a:rPr>
              <a:t>it</a:t>
            </a:r>
            <a:r>
              <a:rPr sz="1298" spc="-35" dirty="0">
                <a:solidFill>
                  <a:srgbClr val="202020"/>
                </a:solidFill>
                <a:latin typeface="Calibri"/>
                <a:cs typeface="Calibri"/>
              </a:rPr>
              <a:t> </a:t>
            </a:r>
            <a:r>
              <a:rPr sz="1298" dirty="0">
                <a:solidFill>
                  <a:srgbClr val="202020"/>
                </a:solidFill>
                <a:latin typeface="Calibri"/>
                <a:cs typeface="Calibri"/>
              </a:rPr>
              <a:t>is</a:t>
            </a:r>
            <a:r>
              <a:rPr sz="1298" spc="-30" dirty="0">
                <a:solidFill>
                  <a:srgbClr val="202020"/>
                </a:solidFill>
                <a:latin typeface="Calibri"/>
                <a:cs typeface="Calibri"/>
              </a:rPr>
              <a:t> </a:t>
            </a:r>
            <a:r>
              <a:rPr sz="1298" spc="-10" dirty="0">
                <a:solidFill>
                  <a:srgbClr val="202020"/>
                </a:solidFill>
                <a:latin typeface="Calibri"/>
                <a:cs typeface="Calibri"/>
              </a:rPr>
              <a:t>false,</a:t>
            </a:r>
            <a:r>
              <a:rPr sz="1298" spc="-35" dirty="0">
                <a:solidFill>
                  <a:srgbClr val="202020"/>
                </a:solidFill>
                <a:latin typeface="Calibri"/>
                <a:cs typeface="Calibri"/>
              </a:rPr>
              <a:t> </a:t>
            </a:r>
            <a:r>
              <a:rPr sz="1298" dirty="0">
                <a:solidFill>
                  <a:srgbClr val="202020"/>
                </a:solidFill>
                <a:latin typeface="Calibri"/>
                <a:cs typeface="Calibri"/>
              </a:rPr>
              <a:t>the</a:t>
            </a:r>
            <a:r>
              <a:rPr sz="1298" spc="-30" dirty="0">
                <a:solidFill>
                  <a:srgbClr val="202020"/>
                </a:solidFill>
                <a:latin typeface="Calibri"/>
                <a:cs typeface="Calibri"/>
              </a:rPr>
              <a:t> </a:t>
            </a:r>
            <a:r>
              <a:rPr sz="1298" dirty="0">
                <a:solidFill>
                  <a:srgbClr val="202020"/>
                </a:solidFill>
                <a:latin typeface="Calibri"/>
                <a:cs typeface="Calibri"/>
              </a:rPr>
              <a:t>write</a:t>
            </a:r>
            <a:r>
              <a:rPr sz="1298" spc="-35" dirty="0">
                <a:solidFill>
                  <a:srgbClr val="202020"/>
                </a:solidFill>
                <a:latin typeface="Calibri"/>
                <a:cs typeface="Calibri"/>
              </a:rPr>
              <a:t> </a:t>
            </a:r>
            <a:r>
              <a:rPr sz="1298" dirty="0">
                <a:solidFill>
                  <a:srgbClr val="202020"/>
                </a:solidFill>
                <a:latin typeface="Calibri"/>
                <a:cs typeface="Calibri"/>
              </a:rPr>
              <a:t>is</a:t>
            </a:r>
            <a:r>
              <a:rPr sz="1298" spc="-30" dirty="0">
                <a:solidFill>
                  <a:srgbClr val="202020"/>
                </a:solidFill>
                <a:latin typeface="Calibri"/>
                <a:cs typeface="Calibri"/>
              </a:rPr>
              <a:t> </a:t>
            </a:r>
            <a:r>
              <a:rPr sz="1298" spc="-10" dirty="0">
                <a:solidFill>
                  <a:srgbClr val="202020"/>
                </a:solidFill>
                <a:latin typeface="Calibri"/>
                <a:cs typeface="Calibri"/>
              </a:rPr>
              <a:t>rejected.</a:t>
            </a:r>
            <a:endParaRPr sz="1298">
              <a:latin typeface="Calibri"/>
              <a:cs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79619" y="273628"/>
            <a:ext cx="2054228" cy="4566363"/>
          </a:xfrm>
          <a:custGeom>
            <a:avLst/>
            <a:gdLst/>
            <a:ahLst/>
            <a:cxnLst/>
            <a:rect l="l" t="t" r="r" b="b"/>
            <a:pathLst>
              <a:path w="2056764" h="4572000">
                <a:moveTo>
                  <a:pt x="72720" y="0"/>
                </a:moveTo>
                <a:lnTo>
                  <a:pt x="0" y="0"/>
                </a:lnTo>
                <a:lnTo>
                  <a:pt x="0" y="4571631"/>
                </a:lnTo>
                <a:lnTo>
                  <a:pt x="36360" y="4571631"/>
                </a:lnTo>
                <a:lnTo>
                  <a:pt x="72720" y="4571631"/>
                </a:lnTo>
                <a:lnTo>
                  <a:pt x="72720" y="0"/>
                </a:lnTo>
                <a:close/>
              </a:path>
              <a:path w="2056764" h="4572000">
                <a:moveTo>
                  <a:pt x="2056676" y="355"/>
                </a:moveTo>
                <a:lnTo>
                  <a:pt x="228244" y="355"/>
                </a:lnTo>
                <a:lnTo>
                  <a:pt x="228244" y="320040"/>
                </a:lnTo>
                <a:lnTo>
                  <a:pt x="1142644" y="320040"/>
                </a:lnTo>
                <a:lnTo>
                  <a:pt x="2056676" y="320040"/>
                </a:lnTo>
                <a:lnTo>
                  <a:pt x="2056676" y="355"/>
                </a:lnTo>
                <a:close/>
              </a:path>
            </a:pathLst>
          </a:custGeom>
          <a:solidFill>
            <a:srgbClr val="00695B"/>
          </a:solidFill>
        </p:spPr>
        <p:txBody>
          <a:bodyPr wrap="square" lIns="0" tIns="0" rIns="0" bIns="0" rtlCol="0"/>
          <a:lstStyle/>
          <a:p>
            <a:endParaRPr sz="1798"/>
          </a:p>
        </p:txBody>
      </p:sp>
      <p:sp>
        <p:nvSpPr>
          <p:cNvPr id="3" name="object 3"/>
          <p:cNvSpPr txBox="1"/>
          <p:nvPr/>
        </p:nvSpPr>
        <p:spPr>
          <a:xfrm>
            <a:off x="1100740" y="345079"/>
            <a:ext cx="641193" cy="166379"/>
          </a:xfrm>
          <a:prstGeom prst="rect">
            <a:avLst/>
          </a:prstGeom>
        </p:spPr>
        <p:txBody>
          <a:bodyPr vert="horz" wrap="square" lIns="0" tIns="12684" rIns="0" bIns="0" rtlCol="0">
            <a:spAutoFit/>
          </a:bodyPr>
          <a:lstStyle/>
          <a:p>
            <a:pPr marL="12685">
              <a:spcBef>
                <a:spcPts val="100"/>
              </a:spcBef>
            </a:pPr>
            <a:r>
              <a:rPr sz="999" b="1" spc="-10" dirty="0">
                <a:solidFill>
                  <a:srgbClr val="FFFFFF"/>
                </a:solidFill>
                <a:latin typeface="Calibri"/>
                <a:cs typeface="Calibri"/>
              </a:rPr>
              <a:t>DEFINITION</a:t>
            </a:r>
            <a:endParaRPr sz="999">
              <a:latin typeface="Calibri"/>
              <a:cs typeface="Calibri"/>
            </a:endParaRPr>
          </a:p>
        </p:txBody>
      </p:sp>
      <p:sp>
        <p:nvSpPr>
          <p:cNvPr id="4" name="object 4" descr="$PPTXTitle"/>
          <p:cNvSpPr txBox="1">
            <a:spLocks noGrp="1"/>
          </p:cNvSpPr>
          <p:nvPr>
            <p:ph type="title"/>
          </p:nvPr>
        </p:nvSpPr>
        <p:spPr>
          <a:xfrm>
            <a:off x="494898" y="748137"/>
            <a:ext cx="3213578" cy="330427"/>
          </a:xfrm>
          <a:prstGeom prst="rect">
            <a:avLst/>
          </a:prstGeom>
        </p:spPr>
        <p:txBody>
          <a:bodyPr vert="horz" wrap="square" lIns="0" tIns="12684" rIns="0" bIns="0" rtlCol="0">
            <a:spAutoFit/>
          </a:bodyPr>
          <a:lstStyle/>
          <a:p>
            <a:pPr marL="12685">
              <a:spcBef>
                <a:spcPts val="100"/>
              </a:spcBef>
            </a:pPr>
            <a:r>
              <a:rPr sz="1998" dirty="0">
                <a:solidFill>
                  <a:srgbClr val="202020"/>
                </a:solidFill>
                <a:latin typeface="Georgia"/>
                <a:cs typeface="Georgia"/>
              </a:rPr>
              <a:t>UNIQUE</a:t>
            </a:r>
            <a:r>
              <a:rPr sz="1998" spc="-20" dirty="0">
                <a:solidFill>
                  <a:srgbClr val="202020"/>
                </a:solidFill>
                <a:latin typeface="Georgia"/>
                <a:cs typeface="Georgia"/>
              </a:rPr>
              <a:t> </a:t>
            </a:r>
            <a:r>
              <a:rPr sz="1998" dirty="0">
                <a:solidFill>
                  <a:srgbClr val="202020"/>
                </a:solidFill>
                <a:latin typeface="Georgia"/>
                <a:cs typeface="Georgia"/>
              </a:rPr>
              <a:t>&amp;</a:t>
            </a:r>
            <a:r>
              <a:rPr sz="1998" spc="-20" dirty="0">
                <a:solidFill>
                  <a:srgbClr val="202020"/>
                </a:solidFill>
                <a:latin typeface="Georgia"/>
                <a:cs typeface="Georgia"/>
              </a:rPr>
              <a:t> </a:t>
            </a:r>
            <a:r>
              <a:rPr sz="1998" dirty="0">
                <a:solidFill>
                  <a:srgbClr val="202020"/>
                </a:solidFill>
                <a:latin typeface="Georgia"/>
                <a:cs typeface="Georgia"/>
              </a:rPr>
              <a:t>CHECK</a:t>
            </a:r>
            <a:r>
              <a:rPr sz="1998" spc="-15" dirty="0">
                <a:solidFill>
                  <a:srgbClr val="202020"/>
                </a:solidFill>
                <a:latin typeface="Georgia"/>
                <a:cs typeface="Georgia"/>
              </a:rPr>
              <a:t> </a:t>
            </a:r>
            <a:r>
              <a:rPr sz="1998" spc="-20" dirty="0">
                <a:solidFill>
                  <a:srgbClr val="202020"/>
                </a:solidFill>
                <a:latin typeface="Georgia"/>
                <a:cs typeface="Georgia"/>
              </a:rPr>
              <a:t>(2/2)</a:t>
            </a:r>
            <a:endParaRPr sz="1998">
              <a:latin typeface="Georgia"/>
              <a:cs typeface="Georgia"/>
            </a:endParaRPr>
          </a:p>
        </p:txBody>
      </p:sp>
      <p:sp>
        <p:nvSpPr>
          <p:cNvPr id="5" name="object 5"/>
          <p:cNvSpPr txBox="1"/>
          <p:nvPr/>
        </p:nvSpPr>
        <p:spPr>
          <a:xfrm>
            <a:off x="584779" y="1219002"/>
            <a:ext cx="2160143" cy="519424"/>
          </a:xfrm>
          <a:prstGeom prst="rect">
            <a:avLst/>
          </a:prstGeom>
        </p:spPr>
        <p:txBody>
          <a:bodyPr vert="horz" wrap="square" lIns="0" tIns="39956" rIns="0" bIns="0" rtlCol="0">
            <a:spAutoFit/>
          </a:bodyPr>
          <a:lstStyle/>
          <a:p>
            <a:pPr marL="12685">
              <a:spcBef>
                <a:spcPts val="315"/>
              </a:spcBef>
            </a:pPr>
            <a:r>
              <a:rPr sz="899" b="1" dirty="0">
                <a:solidFill>
                  <a:srgbClr val="FFB200"/>
                </a:solidFill>
                <a:latin typeface="Courier New"/>
                <a:cs typeface="Courier New"/>
              </a:rPr>
              <a:t>[Syntax + Worked </a:t>
            </a:r>
            <a:r>
              <a:rPr sz="899" b="1" spc="-10" dirty="0">
                <a:solidFill>
                  <a:srgbClr val="FFB200"/>
                </a:solidFill>
                <a:latin typeface="Courier New"/>
                <a:cs typeface="Courier New"/>
              </a:rPr>
              <a:t>Example]</a:t>
            </a:r>
            <a:endParaRPr sz="899">
              <a:latin typeface="Courier New"/>
              <a:cs typeface="Courier New"/>
            </a:endParaRPr>
          </a:p>
          <a:p>
            <a:pPr marL="150314" marR="5074" indent="-138264">
              <a:lnSpc>
                <a:spcPct val="120200"/>
              </a:lnSpc>
            </a:pPr>
            <a:r>
              <a:rPr sz="899" dirty="0">
                <a:solidFill>
                  <a:srgbClr val="333333"/>
                </a:solidFill>
                <a:latin typeface="Courier New"/>
                <a:cs typeface="Courier New"/>
              </a:rPr>
              <a:t>CREATE TABLE day_4.signups </a:t>
            </a:r>
            <a:r>
              <a:rPr sz="899" spc="-50" dirty="0">
                <a:solidFill>
                  <a:srgbClr val="333333"/>
                </a:solidFill>
                <a:latin typeface="Courier New"/>
                <a:cs typeface="Courier New"/>
              </a:rPr>
              <a:t>( </a:t>
            </a:r>
            <a:r>
              <a:rPr sz="899" dirty="0">
                <a:solidFill>
                  <a:srgbClr val="333333"/>
                </a:solidFill>
                <a:latin typeface="Courier New"/>
                <a:cs typeface="Courier New"/>
              </a:rPr>
              <a:t>signup_id SERIAL PRIMARY </a:t>
            </a:r>
            <a:r>
              <a:rPr sz="899" spc="-20" dirty="0">
                <a:solidFill>
                  <a:srgbClr val="333333"/>
                </a:solidFill>
                <a:latin typeface="Courier New"/>
                <a:cs typeface="Courier New"/>
              </a:rPr>
              <a:t>KEY,</a:t>
            </a:r>
            <a:endParaRPr sz="899">
              <a:latin typeface="Courier New"/>
              <a:cs typeface="Courier New"/>
            </a:endParaRPr>
          </a:p>
        </p:txBody>
      </p:sp>
      <p:sp>
        <p:nvSpPr>
          <p:cNvPr id="6" name="object 6"/>
          <p:cNvSpPr txBox="1"/>
          <p:nvPr/>
        </p:nvSpPr>
        <p:spPr>
          <a:xfrm>
            <a:off x="722440" y="1713033"/>
            <a:ext cx="438878" cy="519424"/>
          </a:xfrm>
          <a:prstGeom prst="rect">
            <a:avLst/>
          </a:prstGeom>
        </p:spPr>
        <p:txBody>
          <a:bodyPr vert="horz" wrap="square" lIns="0" tIns="12684" rIns="0" bIns="0" rtlCol="0">
            <a:spAutoFit/>
          </a:bodyPr>
          <a:lstStyle/>
          <a:p>
            <a:pPr marL="12685" marR="5074">
              <a:lnSpc>
                <a:spcPct val="120200"/>
              </a:lnSpc>
              <a:spcBef>
                <a:spcPts val="100"/>
              </a:spcBef>
            </a:pPr>
            <a:r>
              <a:rPr sz="899" spc="-10" dirty="0">
                <a:solidFill>
                  <a:srgbClr val="333333"/>
                </a:solidFill>
                <a:latin typeface="Courier New"/>
                <a:cs typeface="Courier New"/>
              </a:rPr>
              <a:t>email </a:t>
            </a:r>
            <a:r>
              <a:rPr sz="899" spc="-25" dirty="0">
                <a:solidFill>
                  <a:srgbClr val="333333"/>
                </a:solidFill>
                <a:latin typeface="Courier New"/>
                <a:cs typeface="Courier New"/>
              </a:rPr>
              <a:t>age </a:t>
            </a:r>
            <a:r>
              <a:rPr sz="899" spc="-10" dirty="0">
                <a:solidFill>
                  <a:srgbClr val="333333"/>
                </a:solidFill>
                <a:latin typeface="Courier New"/>
                <a:cs typeface="Courier New"/>
              </a:rPr>
              <a:t>status</a:t>
            </a:r>
            <a:endParaRPr sz="899">
              <a:latin typeface="Courier New"/>
              <a:cs typeface="Courier New"/>
            </a:endParaRPr>
          </a:p>
        </p:txBody>
      </p:sp>
      <p:sp>
        <p:nvSpPr>
          <p:cNvPr id="7" name="object 7"/>
          <p:cNvSpPr txBox="1"/>
          <p:nvPr/>
        </p:nvSpPr>
        <p:spPr>
          <a:xfrm>
            <a:off x="1410975" y="1713033"/>
            <a:ext cx="2573653" cy="519424"/>
          </a:xfrm>
          <a:prstGeom prst="rect">
            <a:avLst/>
          </a:prstGeom>
        </p:spPr>
        <p:txBody>
          <a:bodyPr vert="horz" wrap="square" lIns="0" tIns="12684" rIns="0" bIns="0" rtlCol="0">
            <a:spAutoFit/>
          </a:bodyPr>
          <a:lstStyle/>
          <a:p>
            <a:pPr marL="12685" marR="555592">
              <a:lnSpc>
                <a:spcPct val="120200"/>
              </a:lnSpc>
              <a:spcBef>
                <a:spcPts val="100"/>
              </a:spcBef>
            </a:pPr>
            <a:r>
              <a:rPr sz="899" dirty="0">
                <a:solidFill>
                  <a:srgbClr val="333333"/>
                </a:solidFill>
                <a:latin typeface="Courier New"/>
                <a:cs typeface="Courier New"/>
              </a:rPr>
              <a:t>VARCHAR(150) UNIQUE NOT </a:t>
            </a:r>
            <a:r>
              <a:rPr sz="899" spc="-10" dirty="0">
                <a:solidFill>
                  <a:srgbClr val="333333"/>
                </a:solidFill>
                <a:latin typeface="Courier New"/>
                <a:cs typeface="Courier New"/>
              </a:rPr>
              <a:t>NULL, </a:t>
            </a:r>
            <a:r>
              <a:rPr sz="899" dirty="0">
                <a:solidFill>
                  <a:srgbClr val="333333"/>
                </a:solidFill>
                <a:latin typeface="Courier New"/>
                <a:cs typeface="Courier New"/>
              </a:rPr>
              <a:t>INT CHECK (age &gt;= </a:t>
            </a:r>
            <a:r>
              <a:rPr sz="899" spc="-20" dirty="0">
                <a:solidFill>
                  <a:srgbClr val="333333"/>
                </a:solidFill>
                <a:latin typeface="Courier New"/>
                <a:cs typeface="Courier New"/>
              </a:rPr>
              <a:t>18),</a:t>
            </a:r>
            <a:endParaRPr sz="899">
              <a:latin typeface="Courier New"/>
              <a:cs typeface="Courier New"/>
            </a:endParaRPr>
          </a:p>
          <a:p>
            <a:pPr marL="12685">
              <a:spcBef>
                <a:spcPts val="215"/>
              </a:spcBef>
            </a:pPr>
            <a:r>
              <a:rPr sz="899" dirty="0">
                <a:solidFill>
                  <a:srgbClr val="333333"/>
                </a:solidFill>
                <a:latin typeface="Courier New"/>
                <a:cs typeface="Courier New"/>
              </a:rPr>
              <a:t>VARCHAR(20) NOT NULL DEFAULT </a:t>
            </a:r>
            <a:r>
              <a:rPr sz="899" spc="-10" dirty="0">
                <a:solidFill>
                  <a:srgbClr val="333333"/>
                </a:solidFill>
                <a:latin typeface="Courier New"/>
                <a:cs typeface="Courier New"/>
              </a:rPr>
              <a:t>'active'</a:t>
            </a:r>
            <a:endParaRPr sz="899">
              <a:latin typeface="Courier New"/>
              <a:cs typeface="Courier New"/>
            </a:endParaRPr>
          </a:p>
        </p:txBody>
      </p:sp>
      <p:sp>
        <p:nvSpPr>
          <p:cNvPr id="8" name="object 8"/>
          <p:cNvSpPr txBox="1"/>
          <p:nvPr/>
        </p:nvSpPr>
        <p:spPr>
          <a:xfrm>
            <a:off x="584779" y="2207087"/>
            <a:ext cx="4570802" cy="2174066"/>
          </a:xfrm>
          <a:prstGeom prst="rect">
            <a:avLst/>
          </a:prstGeom>
        </p:spPr>
        <p:txBody>
          <a:bodyPr vert="horz" wrap="square" lIns="0" tIns="39956" rIns="0" bIns="0" rtlCol="0">
            <a:spAutoFit/>
          </a:bodyPr>
          <a:lstStyle/>
          <a:p>
            <a:pPr marL="287944">
              <a:spcBef>
                <a:spcPts val="315"/>
              </a:spcBef>
            </a:pPr>
            <a:r>
              <a:rPr sz="899" dirty="0">
                <a:solidFill>
                  <a:srgbClr val="333333"/>
                </a:solidFill>
                <a:latin typeface="Courier New"/>
                <a:cs typeface="Courier New"/>
              </a:rPr>
              <a:t>CHECK (status IN </a:t>
            </a:r>
            <a:r>
              <a:rPr sz="899" spc="-10" dirty="0">
                <a:solidFill>
                  <a:srgbClr val="333333"/>
                </a:solidFill>
                <a:latin typeface="Courier New"/>
                <a:cs typeface="Courier New"/>
              </a:rPr>
              <a:t>('active','paused','closed')),</a:t>
            </a:r>
            <a:endParaRPr sz="899">
              <a:latin typeface="Courier New"/>
              <a:cs typeface="Courier New"/>
            </a:endParaRPr>
          </a:p>
          <a:p>
            <a:pPr marL="150314">
              <a:spcBef>
                <a:spcPts val="220"/>
              </a:spcBef>
            </a:pPr>
            <a:r>
              <a:rPr sz="899" dirty="0">
                <a:solidFill>
                  <a:srgbClr val="699954"/>
                </a:solidFill>
                <a:latin typeface="Courier New"/>
                <a:cs typeface="Courier New"/>
              </a:rPr>
              <a:t>-- table-level CHECK can span </a:t>
            </a:r>
            <a:r>
              <a:rPr sz="899" spc="-10" dirty="0">
                <a:solidFill>
                  <a:srgbClr val="699954"/>
                </a:solidFill>
                <a:latin typeface="Courier New"/>
                <a:cs typeface="Courier New"/>
              </a:rPr>
              <a:t>columns:</a:t>
            </a:r>
            <a:endParaRPr sz="899">
              <a:latin typeface="Courier New"/>
              <a:cs typeface="Courier New"/>
            </a:endParaRPr>
          </a:p>
          <a:p>
            <a:pPr marL="150314">
              <a:spcBef>
                <a:spcPts val="219"/>
              </a:spcBef>
            </a:pPr>
            <a:r>
              <a:rPr sz="899" dirty="0">
                <a:solidFill>
                  <a:srgbClr val="333333"/>
                </a:solidFill>
                <a:latin typeface="Courier New"/>
                <a:cs typeface="Courier New"/>
              </a:rPr>
              <a:t>start_date DATE, end_date </a:t>
            </a:r>
            <a:r>
              <a:rPr sz="899" spc="-10" dirty="0">
                <a:solidFill>
                  <a:srgbClr val="333333"/>
                </a:solidFill>
                <a:latin typeface="Courier New"/>
                <a:cs typeface="Courier New"/>
              </a:rPr>
              <a:t>DATE,</a:t>
            </a:r>
            <a:endParaRPr sz="899">
              <a:latin typeface="Courier New"/>
              <a:cs typeface="Courier New"/>
            </a:endParaRPr>
          </a:p>
          <a:p>
            <a:pPr marL="150314">
              <a:spcBef>
                <a:spcPts val="215"/>
              </a:spcBef>
            </a:pPr>
            <a:r>
              <a:rPr sz="899" dirty="0">
                <a:solidFill>
                  <a:srgbClr val="333333"/>
                </a:solidFill>
                <a:latin typeface="Courier New"/>
                <a:cs typeface="Courier New"/>
              </a:rPr>
              <a:t>CONSTRAINT valid_dates CHECK (end_date &gt;= </a:t>
            </a:r>
            <a:r>
              <a:rPr sz="899" spc="-10" dirty="0">
                <a:solidFill>
                  <a:srgbClr val="333333"/>
                </a:solidFill>
                <a:latin typeface="Courier New"/>
                <a:cs typeface="Courier New"/>
              </a:rPr>
              <a:t>start_date)</a:t>
            </a:r>
            <a:endParaRPr sz="899">
              <a:latin typeface="Courier New"/>
              <a:cs typeface="Courier New"/>
            </a:endParaRPr>
          </a:p>
          <a:p>
            <a:pPr marL="12685">
              <a:spcBef>
                <a:spcPts val="220"/>
              </a:spcBef>
            </a:pPr>
            <a:r>
              <a:rPr sz="899" spc="-25" dirty="0">
                <a:solidFill>
                  <a:srgbClr val="333333"/>
                </a:solidFill>
                <a:latin typeface="Courier New"/>
                <a:cs typeface="Courier New"/>
              </a:rPr>
              <a:t>);</a:t>
            </a:r>
            <a:endParaRPr sz="899">
              <a:latin typeface="Courier New"/>
              <a:cs typeface="Courier New"/>
            </a:endParaRPr>
          </a:p>
          <a:p>
            <a:pPr>
              <a:spcBef>
                <a:spcPts val="854"/>
              </a:spcBef>
            </a:pPr>
            <a:endParaRPr sz="899">
              <a:latin typeface="Courier New"/>
              <a:cs typeface="Courier New"/>
            </a:endParaRPr>
          </a:p>
          <a:p>
            <a:pPr marL="12685" marR="5074">
              <a:lnSpc>
                <a:spcPct val="120200"/>
              </a:lnSpc>
            </a:pPr>
            <a:r>
              <a:rPr sz="899" dirty="0">
                <a:solidFill>
                  <a:srgbClr val="333333"/>
                </a:solidFill>
                <a:latin typeface="Courier New"/>
                <a:cs typeface="Courier New"/>
              </a:rPr>
              <a:t>INSERT INTO day_4.signups (email, age, start_date, </a:t>
            </a:r>
            <a:r>
              <a:rPr sz="899" spc="-10" dirty="0">
                <a:solidFill>
                  <a:srgbClr val="333333"/>
                </a:solidFill>
                <a:latin typeface="Courier New"/>
                <a:cs typeface="Courier New"/>
              </a:rPr>
              <a:t>end_date)</a:t>
            </a:r>
            <a:r>
              <a:rPr sz="899" spc="499" dirty="0">
                <a:solidFill>
                  <a:srgbClr val="333333"/>
                </a:solidFill>
                <a:latin typeface="Courier New"/>
                <a:cs typeface="Courier New"/>
              </a:rPr>
              <a:t> </a:t>
            </a:r>
            <a:r>
              <a:rPr sz="899" dirty="0">
                <a:solidFill>
                  <a:srgbClr val="333333"/>
                </a:solidFill>
                <a:latin typeface="Courier New"/>
                <a:cs typeface="Courier New"/>
              </a:rPr>
              <a:t>VALUES (</a:t>
            </a:r>
            <a:r>
              <a:rPr sz="899" dirty="0">
                <a:solidFill>
                  <a:srgbClr val="333333"/>
                </a:solidFill>
                <a:latin typeface="Courier New"/>
                <a:cs typeface="Courier New"/>
                <a:hlinkClick r:id="rId2"/>
              </a:rPr>
              <a:t>'priya@gmail.com'</a:t>
            </a:r>
            <a:r>
              <a:rPr sz="899" dirty="0">
                <a:solidFill>
                  <a:srgbClr val="333333"/>
                </a:solidFill>
                <a:latin typeface="Courier New"/>
                <a:cs typeface="Courier New"/>
              </a:rPr>
              <a:t>, 25, '2026-01-01', '2026-12-31');  -- </a:t>
            </a:r>
            <a:r>
              <a:rPr sz="899" spc="-25" dirty="0">
                <a:solidFill>
                  <a:srgbClr val="333333"/>
                </a:solidFill>
                <a:latin typeface="Courier New"/>
                <a:cs typeface="Courier New"/>
              </a:rPr>
              <a:t>OK</a:t>
            </a:r>
            <a:endParaRPr sz="899">
              <a:latin typeface="Courier New"/>
              <a:cs typeface="Courier New"/>
            </a:endParaRPr>
          </a:p>
          <a:p>
            <a:pPr>
              <a:lnSpc>
                <a:spcPct val="100000"/>
              </a:lnSpc>
            </a:pPr>
            <a:endParaRPr sz="899">
              <a:latin typeface="Courier New"/>
              <a:cs typeface="Courier New"/>
            </a:endParaRPr>
          </a:p>
          <a:p>
            <a:pPr>
              <a:spcBef>
                <a:spcPts val="50"/>
              </a:spcBef>
            </a:pPr>
            <a:endParaRPr sz="899">
              <a:latin typeface="Courier New"/>
              <a:cs typeface="Courier New"/>
            </a:endParaRPr>
          </a:p>
          <a:p>
            <a:pPr marL="12685"/>
            <a:r>
              <a:rPr sz="899" dirty="0">
                <a:solidFill>
                  <a:srgbClr val="699954"/>
                </a:solidFill>
                <a:latin typeface="Courier New"/>
                <a:cs typeface="Courier New"/>
              </a:rPr>
              <a:t>-- FAILS: duplicate email </a:t>
            </a:r>
            <a:r>
              <a:rPr sz="899" spc="-10" dirty="0">
                <a:solidFill>
                  <a:srgbClr val="699954"/>
                </a:solidFill>
                <a:latin typeface="Courier New"/>
                <a:cs typeface="Courier New"/>
              </a:rPr>
              <a:t>(UNIQUE)</a:t>
            </a:r>
            <a:endParaRPr sz="899">
              <a:latin typeface="Courier New"/>
              <a:cs typeface="Courier New"/>
            </a:endParaRPr>
          </a:p>
          <a:p>
            <a:pPr marL="12685">
              <a:spcBef>
                <a:spcPts val="220"/>
              </a:spcBef>
            </a:pPr>
            <a:r>
              <a:rPr sz="899" dirty="0">
                <a:solidFill>
                  <a:srgbClr val="699954"/>
                </a:solidFill>
                <a:latin typeface="Courier New"/>
                <a:cs typeface="Courier New"/>
              </a:rPr>
              <a:t>-- FAILS: age 16 (CHECK age &gt;= </a:t>
            </a:r>
            <a:r>
              <a:rPr sz="899" spc="-25" dirty="0">
                <a:solidFill>
                  <a:srgbClr val="699954"/>
                </a:solidFill>
                <a:latin typeface="Courier New"/>
                <a:cs typeface="Courier New"/>
              </a:rPr>
              <a:t>18)</a:t>
            </a:r>
            <a:endParaRPr sz="899">
              <a:latin typeface="Courier New"/>
              <a:cs typeface="Courier New"/>
            </a:endParaRPr>
          </a:p>
          <a:p>
            <a:pPr marL="12685">
              <a:spcBef>
                <a:spcPts val="219"/>
              </a:spcBef>
            </a:pPr>
            <a:r>
              <a:rPr sz="899" dirty="0">
                <a:solidFill>
                  <a:srgbClr val="699954"/>
                </a:solidFill>
                <a:latin typeface="Courier New"/>
                <a:cs typeface="Courier New"/>
              </a:rPr>
              <a:t>-- FAILS: status 'banned' (CHECK IN </a:t>
            </a:r>
            <a:r>
              <a:rPr sz="899" spc="-10" dirty="0">
                <a:solidFill>
                  <a:srgbClr val="699954"/>
                </a:solidFill>
                <a:latin typeface="Courier New"/>
                <a:cs typeface="Courier New"/>
              </a:rPr>
              <a:t>list)</a:t>
            </a:r>
            <a:endParaRPr sz="899">
              <a:latin typeface="Courier New"/>
              <a:cs typeface="Courier New"/>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79619" y="273628"/>
            <a:ext cx="2054228" cy="4566363"/>
          </a:xfrm>
          <a:custGeom>
            <a:avLst/>
            <a:gdLst/>
            <a:ahLst/>
            <a:cxnLst/>
            <a:rect l="l" t="t" r="r" b="b"/>
            <a:pathLst>
              <a:path w="2056764" h="4572000">
                <a:moveTo>
                  <a:pt x="72720" y="0"/>
                </a:moveTo>
                <a:lnTo>
                  <a:pt x="0" y="0"/>
                </a:lnTo>
                <a:lnTo>
                  <a:pt x="0" y="4571631"/>
                </a:lnTo>
                <a:lnTo>
                  <a:pt x="36360" y="4571631"/>
                </a:lnTo>
                <a:lnTo>
                  <a:pt x="72720" y="4571631"/>
                </a:lnTo>
                <a:lnTo>
                  <a:pt x="72720" y="0"/>
                </a:lnTo>
                <a:close/>
              </a:path>
              <a:path w="2056764" h="4572000">
                <a:moveTo>
                  <a:pt x="2056676" y="355"/>
                </a:moveTo>
                <a:lnTo>
                  <a:pt x="228244" y="355"/>
                </a:lnTo>
                <a:lnTo>
                  <a:pt x="228244" y="320040"/>
                </a:lnTo>
                <a:lnTo>
                  <a:pt x="1142644" y="320040"/>
                </a:lnTo>
                <a:lnTo>
                  <a:pt x="2056676" y="320040"/>
                </a:lnTo>
                <a:lnTo>
                  <a:pt x="2056676" y="355"/>
                </a:lnTo>
                <a:close/>
              </a:path>
            </a:pathLst>
          </a:custGeom>
          <a:solidFill>
            <a:srgbClr val="00695B"/>
          </a:solidFill>
        </p:spPr>
        <p:txBody>
          <a:bodyPr wrap="square" lIns="0" tIns="0" rIns="0" bIns="0" rtlCol="0"/>
          <a:lstStyle/>
          <a:p>
            <a:endParaRPr sz="1798"/>
          </a:p>
        </p:txBody>
      </p:sp>
      <p:sp>
        <p:nvSpPr>
          <p:cNvPr id="3" name="object 3"/>
          <p:cNvSpPr txBox="1"/>
          <p:nvPr/>
        </p:nvSpPr>
        <p:spPr>
          <a:xfrm>
            <a:off x="1100740" y="345079"/>
            <a:ext cx="641193" cy="166379"/>
          </a:xfrm>
          <a:prstGeom prst="rect">
            <a:avLst/>
          </a:prstGeom>
        </p:spPr>
        <p:txBody>
          <a:bodyPr vert="horz" wrap="square" lIns="0" tIns="12684" rIns="0" bIns="0" rtlCol="0">
            <a:spAutoFit/>
          </a:bodyPr>
          <a:lstStyle/>
          <a:p>
            <a:pPr marL="12685">
              <a:spcBef>
                <a:spcPts val="100"/>
              </a:spcBef>
            </a:pPr>
            <a:r>
              <a:rPr sz="999" b="1" spc="-10" dirty="0">
                <a:solidFill>
                  <a:srgbClr val="FFFFFF"/>
                </a:solidFill>
                <a:latin typeface="Calibri"/>
                <a:cs typeface="Calibri"/>
              </a:rPr>
              <a:t>DEFINITION</a:t>
            </a:r>
            <a:endParaRPr sz="999">
              <a:latin typeface="Calibri"/>
              <a:cs typeface="Calibri"/>
            </a:endParaRPr>
          </a:p>
        </p:txBody>
      </p:sp>
      <p:sp>
        <p:nvSpPr>
          <p:cNvPr id="4" name="object 4" descr="$PPTXTitle"/>
          <p:cNvSpPr txBox="1">
            <a:spLocks noGrp="1"/>
          </p:cNvSpPr>
          <p:nvPr>
            <p:ph type="title"/>
          </p:nvPr>
        </p:nvSpPr>
        <p:spPr>
          <a:xfrm>
            <a:off x="494898" y="748137"/>
            <a:ext cx="5603307" cy="330427"/>
          </a:xfrm>
          <a:prstGeom prst="rect">
            <a:avLst/>
          </a:prstGeom>
        </p:spPr>
        <p:txBody>
          <a:bodyPr vert="horz" wrap="square" lIns="0" tIns="12684" rIns="0" bIns="0" rtlCol="0">
            <a:spAutoFit/>
          </a:bodyPr>
          <a:lstStyle/>
          <a:p>
            <a:pPr marL="12685">
              <a:spcBef>
                <a:spcPts val="100"/>
              </a:spcBef>
            </a:pPr>
            <a:r>
              <a:rPr sz="1998" dirty="0">
                <a:solidFill>
                  <a:srgbClr val="202020"/>
                </a:solidFill>
                <a:latin typeface="Georgia"/>
                <a:cs typeface="Georgia"/>
              </a:rPr>
              <a:t>PRIMARY</a:t>
            </a:r>
            <a:r>
              <a:rPr sz="1998" spc="-30" dirty="0">
                <a:solidFill>
                  <a:srgbClr val="202020"/>
                </a:solidFill>
                <a:latin typeface="Georgia"/>
                <a:cs typeface="Georgia"/>
              </a:rPr>
              <a:t> </a:t>
            </a:r>
            <a:r>
              <a:rPr sz="1998" dirty="0">
                <a:solidFill>
                  <a:srgbClr val="202020"/>
                </a:solidFill>
                <a:latin typeface="Georgia"/>
                <a:cs typeface="Georgia"/>
              </a:rPr>
              <a:t>KEY</a:t>
            </a:r>
            <a:r>
              <a:rPr sz="1998" spc="-30" dirty="0">
                <a:solidFill>
                  <a:srgbClr val="202020"/>
                </a:solidFill>
                <a:latin typeface="Georgia"/>
                <a:cs typeface="Georgia"/>
              </a:rPr>
              <a:t> </a:t>
            </a:r>
            <a:r>
              <a:rPr sz="1998" dirty="0">
                <a:solidFill>
                  <a:srgbClr val="202020"/>
                </a:solidFill>
                <a:latin typeface="Georgia"/>
                <a:cs typeface="Georgia"/>
              </a:rPr>
              <a:t>-</a:t>
            </a:r>
            <a:r>
              <a:rPr sz="1998" spc="-30" dirty="0">
                <a:solidFill>
                  <a:srgbClr val="202020"/>
                </a:solidFill>
                <a:latin typeface="Georgia"/>
                <a:cs typeface="Georgia"/>
              </a:rPr>
              <a:t> </a:t>
            </a:r>
            <a:r>
              <a:rPr sz="1998" dirty="0">
                <a:solidFill>
                  <a:srgbClr val="202020"/>
                </a:solidFill>
                <a:latin typeface="Georgia"/>
                <a:cs typeface="Georgia"/>
              </a:rPr>
              <a:t>The</a:t>
            </a:r>
            <a:r>
              <a:rPr sz="1998" spc="-25" dirty="0">
                <a:solidFill>
                  <a:srgbClr val="202020"/>
                </a:solidFill>
                <a:latin typeface="Georgia"/>
                <a:cs typeface="Georgia"/>
              </a:rPr>
              <a:t> </a:t>
            </a:r>
            <a:r>
              <a:rPr sz="1998" dirty="0">
                <a:solidFill>
                  <a:srgbClr val="202020"/>
                </a:solidFill>
                <a:latin typeface="Georgia"/>
                <a:cs typeface="Georgia"/>
              </a:rPr>
              <a:t>Identity</a:t>
            </a:r>
            <a:r>
              <a:rPr sz="1998" spc="-30" dirty="0">
                <a:solidFill>
                  <a:srgbClr val="202020"/>
                </a:solidFill>
                <a:latin typeface="Georgia"/>
                <a:cs typeface="Georgia"/>
              </a:rPr>
              <a:t> </a:t>
            </a:r>
            <a:r>
              <a:rPr sz="1998" dirty="0">
                <a:solidFill>
                  <a:srgbClr val="202020"/>
                </a:solidFill>
                <a:latin typeface="Georgia"/>
                <a:cs typeface="Georgia"/>
              </a:rPr>
              <a:t>of</a:t>
            </a:r>
            <a:r>
              <a:rPr sz="1998" spc="-30" dirty="0">
                <a:solidFill>
                  <a:srgbClr val="202020"/>
                </a:solidFill>
                <a:latin typeface="Georgia"/>
                <a:cs typeface="Georgia"/>
              </a:rPr>
              <a:t> </a:t>
            </a:r>
            <a:r>
              <a:rPr sz="1998" dirty="0">
                <a:solidFill>
                  <a:srgbClr val="202020"/>
                </a:solidFill>
                <a:latin typeface="Georgia"/>
                <a:cs typeface="Georgia"/>
              </a:rPr>
              <a:t>Every</a:t>
            </a:r>
            <a:r>
              <a:rPr sz="1998" spc="-30" dirty="0">
                <a:solidFill>
                  <a:srgbClr val="202020"/>
                </a:solidFill>
                <a:latin typeface="Georgia"/>
                <a:cs typeface="Georgia"/>
              </a:rPr>
              <a:t> </a:t>
            </a:r>
            <a:r>
              <a:rPr sz="1998" spc="-25" dirty="0">
                <a:solidFill>
                  <a:srgbClr val="202020"/>
                </a:solidFill>
                <a:latin typeface="Georgia"/>
                <a:cs typeface="Georgia"/>
              </a:rPr>
              <a:t>Row</a:t>
            </a:r>
            <a:endParaRPr sz="1998">
              <a:latin typeface="Georgia"/>
              <a:cs typeface="Georgia"/>
            </a:endParaRPr>
          </a:p>
        </p:txBody>
      </p:sp>
      <p:sp>
        <p:nvSpPr>
          <p:cNvPr id="5" name="object 5"/>
          <p:cNvSpPr txBox="1"/>
          <p:nvPr/>
        </p:nvSpPr>
        <p:spPr>
          <a:xfrm>
            <a:off x="584778" y="1219085"/>
            <a:ext cx="7883951" cy="3519270"/>
          </a:xfrm>
          <a:prstGeom prst="rect">
            <a:avLst/>
          </a:prstGeom>
        </p:spPr>
        <p:txBody>
          <a:bodyPr vert="horz" wrap="square" lIns="0" tIns="12684" rIns="0" bIns="0" rtlCol="0">
            <a:spAutoFit/>
          </a:bodyPr>
          <a:lstStyle/>
          <a:p>
            <a:pPr marL="12685" marR="5074">
              <a:lnSpc>
                <a:spcPct val="120100"/>
              </a:lnSpc>
              <a:spcBef>
                <a:spcPts val="100"/>
              </a:spcBef>
            </a:pPr>
            <a:r>
              <a:rPr sz="1298" dirty="0">
                <a:solidFill>
                  <a:srgbClr val="202020"/>
                </a:solidFill>
                <a:latin typeface="Calibri"/>
                <a:cs typeface="Calibri"/>
              </a:rPr>
              <a:t>PRIMARY</a:t>
            </a:r>
            <a:r>
              <a:rPr sz="1298" spc="-35" dirty="0">
                <a:solidFill>
                  <a:srgbClr val="202020"/>
                </a:solidFill>
                <a:latin typeface="Calibri"/>
                <a:cs typeface="Calibri"/>
              </a:rPr>
              <a:t> </a:t>
            </a:r>
            <a:r>
              <a:rPr sz="1298" dirty="0">
                <a:solidFill>
                  <a:srgbClr val="202020"/>
                </a:solidFill>
                <a:latin typeface="Calibri"/>
                <a:cs typeface="Calibri"/>
              </a:rPr>
              <a:t>KEY</a:t>
            </a:r>
            <a:r>
              <a:rPr sz="1298" spc="-30" dirty="0">
                <a:solidFill>
                  <a:srgbClr val="202020"/>
                </a:solidFill>
                <a:latin typeface="Calibri"/>
                <a:cs typeface="Calibri"/>
              </a:rPr>
              <a:t> </a:t>
            </a:r>
            <a:r>
              <a:rPr sz="1298" dirty="0">
                <a:solidFill>
                  <a:srgbClr val="202020"/>
                </a:solidFill>
                <a:latin typeface="Calibri"/>
                <a:cs typeface="Calibri"/>
              </a:rPr>
              <a:t>=</a:t>
            </a:r>
            <a:r>
              <a:rPr sz="1298" spc="-30" dirty="0">
                <a:solidFill>
                  <a:srgbClr val="202020"/>
                </a:solidFill>
                <a:latin typeface="Calibri"/>
                <a:cs typeface="Calibri"/>
              </a:rPr>
              <a:t> </a:t>
            </a:r>
            <a:r>
              <a:rPr sz="1298" dirty="0">
                <a:solidFill>
                  <a:srgbClr val="202020"/>
                </a:solidFill>
                <a:latin typeface="Calibri"/>
                <a:cs typeface="Calibri"/>
              </a:rPr>
              <a:t>UNIQUE</a:t>
            </a:r>
            <a:r>
              <a:rPr sz="1298" spc="-30" dirty="0">
                <a:solidFill>
                  <a:srgbClr val="202020"/>
                </a:solidFill>
                <a:latin typeface="Calibri"/>
                <a:cs typeface="Calibri"/>
              </a:rPr>
              <a:t> </a:t>
            </a:r>
            <a:r>
              <a:rPr sz="1298" dirty="0">
                <a:solidFill>
                  <a:srgbClr val="202020"/>
                </a:solidFill>
                <a:latin typeface="Calibri"/>
                <a:cs typeface="Calibri"/>
              </a:rPr>
              <a:t>+</a:t>
            </a:r>
            <a:r>
              <a:rPr sz="1298" spc="-30" dirty="0">
                <a:solidFill>
                  <a:srgbClr val="202020"/>
                </a:solidFill>
                <a:latin typeface="Calibri"/>
                <a:cs typeface="Calibri"/>
              </a:rPr>
              <a:t> </a:t>
            </a:r>
            <a:r>
              <a:rPr sz="1298" dirty="0">
                <a:solidFill>
                  <a:srgbClr val="202020"/>
                </a:solidFill>
                <a:latin typeface="Calibri"/>
                <a:cs typeface="Calibri"/>
              </a:rPr>
              <a:t>NOT</a:t>
            </a:r>
            <a:r>
              <a:rPr sz="1298" spc="-30" dirty="0">
                <a:solidFill>
                  <a:srgbClr val="202020"/>
                </a:solidFill>
                <a:latin typeface="Calibri"/>
                <a:cs typeface="Calibri"/>
              </a:rPr>
              <a:t> </a:t>
            </a:r>
            <a:r>
              <a:rPr sz="1298" dirty="0">
                <a:solidFill>
                  <a:srgbClr val="202020"/>
                </a:solidFill>
                <a:latin typeface="Calibri"/>
                <a:cs typeface="Calibri"/>
              </a:rPr>
              <a:t>NULL.</a:t>
            </a:r>
            <a:r>
              <a:rPr sz="1298" spc="-35" dirty="0">
                <a:solidFill>
                  <a:srgbClr val="202020"/>
                </a:solidFill>
                <a:latin typeface="Calibri"/>
                <a:cs typeface="Calibri"/>
              </a:rPr>
              <a:t> </a:t>
            </a:r>
            <a:r>
              <a:rPr sz="1298" dirty="0">
                <a:solidFill>
                  <a:srgbClr val="202020"/>
                </a:solidFill>
                <a:latin typeface="Calibri"/>
                <a:cs typeface="Calibri"/>
              </a:rPr>
              <a:t>It</a:t>
            </a:r>
            <a:r>
              <a:rPr sz="1298" spc="-30" dirty="0">
                <a:solidFill>
                  <a:srgbClr val="202020"/>
                </a:solidFill>
                <a:latin typeface="Calibri"/>
                <a:cs typeface="Calibri"/>
              </a:rPr>
              <a:t> </a:t>
            </a:r>
            <a:r>
              <a:rPr sz="1298" spc="-10" dirty="0">
                <a:solidFill>
                  <a:srgbClr val="202020"/>
                </a:solidFill>
                <a:latin typeface="Calibri"/>
                <a:cs typeface="Calibri"/>
              </a:rPr>
              <a:t>uniquely</a:t>
            </a:r>
            <a:r>
              <a:rPr sz="1298" spc="-30" dirty="0">
                <a:solidFill>
                  <a:srgbClr val="202020"/>
                </a:solidFill>
                <a:latin typeface="Calibri"/>
                <a:cs typeface="Calibri"/>
              </a:rPr>
              <a:t> </a:t>
            </a:r>
            <a:r>
              <a:rPr sz="1298" spc="-10" dirty="0">
                <a:solidFill>
                  <a:srgbClr val="202020"/>
                </a:solidFill>
                <a:latin typeface="Calibri"/>
                <a:cs typeface="Calibri"/>
              </a:rPr>
              <a:t>identifies</a:t>
            </a:r>
            <a:r>
              <a:rPr sz="1298" spc="-30" dirty="0">
                <a:solidFill>
                  <a:srgbClr val="202020"/>
                </a:solidFill>
                <a:latin typeface="Calibri"/>
                <a:cs typeface="Calibri"/>
              </a:rPr>
              <a:t> </a:t>
            </a:r>
            <a:r>
              <a:rPr sz="1298" dirty="0">
                <a:solidFill>
                  <a:srgbClr val="202020"/>
                </a:solidFill>
                <a:latin typeface="Calibri"/>
                <a:cs typeface="Calibri"/>
              </a:rPr>
              <a:t>each</a:t>
            </a:r>
            <a:r>
              <a:rPr sz="1298" spc="-30" dirty="0">
                <a:solidFill>
                  <a:srgbClr val="202020"/>
                </a:solidFill>
                <a:latin typeface="Calibri"/>
                <a:cs typeface="Calibri"/>
              </a:rPr>
              <a:t> </a:t>
            </a:r>
            <a:r>
              <a:rPr sz="1298" spc="-40" dirty="0">
                <a:solidFill>
                  <a:srgbClr val="202020"/>
                </a:solidFill>
                <a:latin typeface="Calibri"/>
                <a:cs typeface="Calibri"/>
              </a:rPr>
              <a:t>row,</a:t>
            </a:r>
            <a:r>
              <a:rPr sz="1298" spc="-30" dirty="0">
                <a:solidFill>
                  <a:srgbClr val="202020"/>
                </a:solidFill>
                <a:latin typeface="Calibri"/>
                <a:cs typeface="Calibri"/>
              </a:rPr>
              <a:t> </a:t>
            </a:r>
            <a:r>
              <a:rPr sz="1298" dirty="0">
                <a:solidFill>
                  <a:srgbClr val="202020"/>
                </a:solidFill>
                <a:latin typeface="Calibri"/>
                <a:cs typeface="Calibri"/>
              </a:rPr>
              <a:t>only</a:t>
            </a:r>
            <a:r>
              <a:rPr sz="1298" spc="-35" dirty="0">
                <a:solidFill>
                  <a:srgbClr val="202020"/>
                </a:solidFill>
                <a:latin typeface="Calibri"/>
                <a:cs typeface="Calibri"/>
              </a:rPr>
              <a:t> </a:t>
            </a:r>
            <a:r>
              <a:rPr sz="1298" dirty="0">
                <a:solidFill>
                  <a:srgbClr val="202020"/>
                </a:solidFill>
                <a:latin typeface="Calibri"/>
                <a:cs typeface="Calibri"/>
              </a:rPr>
              <a:t>ONE</a:t>
            </a:r>
            <a:r>
              <a:rPr sz="1298" spc="-30" dirty="0">
                <a:solidFill>
                  <a:srgbClr val="202020"/>
                </a:solidFill>
                <a:latin typeface="Calibri"/>
                <a:cs typeface="Calibri"/>
              </a:rPr>
              <a:t> </a:t>
            </a:r>
            <a:r>
              <a:rPr sz="1298" dirty="0">
                <a:solidFill>
                  <a:srgbClr val="202020"/>
                </a:solidFill>
                <a:latin typeface="Calibri"/>
                <a:cs typeface="Calibri"/>
              </a:rPr>
              <a:t>per</a:t>
            </a:r>
            <a:r>
              <a:rPr sz="1298" spc="-30" dirty="0">
                <a:solidFill>
                  <a:srgbClr val="202020"/>
                </a:solidFill>
                <a:latin typeface="Calibri"/>
                <a:cs typeface="Calibri"/>
              </a:rPr>
              <a:t> </a:t>
            </a:r>
            <a:r>
              <a:rPr sz="1298" dirty="0">
                <a:solidFill>
                  <a:srgbClr val="202020"/>
                </a:solidFill>
                <a:latin typeface="Calibri"/>
                <a:cs typeface="Calibri"/>
              </a:rPr>
              <a:t>table.</a:t>
            </a:r>
            <a:r>
              <a:rPr sz="1298" spc="-30" dirty="0">
                <a:solidFill>
                  <a:srgbClr val="202020"/>
                </a:solidFill>
                <a:latin typeface="Calibri"/>
                <a:cs typeface="Calibri"/>
              </a:rPr>
              <a:t> </a:t>
            </a:r>
            <a:r>
              <a:rPr sz="1298" dirty="0">
                <a:solidFill>
                  <a:srgbClr val="202020"/>
                </a:solidFill>
                <a:latin typeface="Calibri"/>
                <a:cs typeface="Calibri"/>
              </a:rPr>
              <a:t>Usually</a:t>
            </a:r>
            <a:r>
              <a:rPr sz="1298" spc="-30" dirty="0">
                <a:solidFill>
                  <a:srgbClr val="202020"/>
                </a:solidFill>
                <a:latin typeface="Calibri"/>
                <a:cs typeface="Calibri"/>
              </a:rPr>
              <a:t> </a:t>
            </a:r>
            <a:r>
              <a:rPr sz="1298" dirty="0">
                <a:solidFill>
                  <a:srgbClr val="202020"/>
                </a:solidFill>
                <a:latin typeface="Calibri"/>
                <a:cs typeface="Calibri"/>
              </a:rPr>
              <a:t>a</a:t>
            </a:r>
            <a:r>
              <a:rPr sz="1298" spc="-30" dirty="0">
                <a:solidFill>
                  <a:srgbClr val="202020"/>
                </a:solidFill>
                <a:latin typeface="Calibri"/>
                <a:cs typeface="Calibri"/>
              </a:rPr>
              <a:t> </a:t>
            </a:r>
            <a:r>
              <a:rPr sz="1298" dirty="0">
                <a:solidFill>
                  <a:srgbClr val="202020"/>
                </a:solidFill>
                <a:latin typeface="Calibri"/>
                <a:cs typeface="Calibri"/>
              </a:rPr>
              <a:t>SERIAL</a:t>
            </a:r>
            <a:r>
              <a:rPr sz="1298" spc="-35" dirty="0">
                <a:solidFill>
                  <a:srgbClr val="202020"/>
                </a:solidFill>
                <a:latin typeface="Calibri"/>
                <a:cs typeface="Calibri"/>
              </a:rPr>
              <a:t> </a:t>
            </a:r>
            <a:r>
              <a:rPr sz="1298" spc="-20" dirty="0">
                <a:solidFill>
                  <a:srgbClr val="202020"/>
                </a:solidFill>
                <a:latin typeface="Calibri"/>
                <a:cs typeface="Calibri"/>
              </a:rPr>
              <a:t>surrogate</a:t>
            </a:r>
            <a:r>
              <a:rPr sz="1298" spc="-30" dirty="0">
                <a:solidFill>
                  <a:srgbClr val="202020"/>
                </a:solidFill>
                <a:latin typeface="Calibri"/>
                <a:cs typeface="Calibri"/>
              </a:rPr>
              <a:t> </a:t>
            </a:r>
            <a:r>
              <a:rPr sz="1298" spc="-25" dirty="0">
                <a:solidFill>
                  <a:srgbClr val="202020"/>
                </a:solidFill>
                <a:latin typeface="Calibri"/>
                <a:cs typeface="Calibri"/>
              </a:rPr>
              <a:t>id </a:t>
            </a:r>
            <a:r>
              <a:rPr sz="1298" spc="-10" dirty="0">
                <a:solidFill>
                  <a:srgbClr val="202020"/>
                </a:solidFill>
                <a:latin typeface="Calibri"/>
                <a:cs typeface="Calibri"/>
              </a:rPr>
              <a:t>(immutable,</a:t>
            </a:r>
            <a:r>
              <a:rPr sz="1298" spc="-35" dirty="0">
                <a:solidFill>
                  <a:srgbClr val="202020"/>
                </a:solidFill>
                <a:latin typeface="Calibri"/>
                <a:cs typeface="Calibri"/>
              </a:rPr>
              <a:t> </a:t>
            </a:r>
            <a:r>
              <a:rPr sz="1298" spc="-10" dirty="0">
                <a:solidFill>
                  <a:srgbClr val="202020"/>
                </a:solidFill>
                <a:latin typeface="Calibri"/>
                <a:cs typeface="Calibri"/>
              </a:rPr>
              <a:t>compact).</a:t>
            </a:r>
            <a:r>
              <a:rPr sz="1298" spc="-35" dirty="0">
                <a:solidFill>
                  <a:srgbClr val="202020"/>
                </a:solidFill>
                <a:latin typeface="Calibri"/>
                <a:cs typeface="Calibri"/>
              </a:rPr>
              <a:t> </a:t>
            </a:r>
            <a:r>
              <a:rPr sz="1298" dirty="0">
                <a:solidFill>
                  <a:srgbClr val="202020"/>
                </a:solidFill>
                <a:latin typeface="Calibri"/>
                <a:cs typeface="Calibri"/>
              </a:rPr>
              <a:t>Use</a:t>
            </a:r>
            <a:r>
              <a:rPr sz="1298" spc="-30" dirty="0">
                <a:solidFill>
                  <a:srgbClr val="202020"/>
                </a:solidFill>
                <a:latin typeface="Calibri"/>
                <a:cs typeface="Calibri"/>
              </a:rPr>
              <a:t> </a:t>
            </a:r>
            <a:r>
              <a:rPr sz="1298" dirty="0">
                <a:solidFill>
                  <a:srgbClr val="202020"/>
                </a:solidFill>
                <a:latin typeface="Calibri"/>
                <a:cs typeface="Calibri"/>
              </a:rPr>
              <a:t>UNIQUE</a:t>
            </a:r>
            <a:r>
              <a:rPr sz="1298" spc="-35" dirty="0">
                <a:solidFill>
                  <a:srgbClr val="202020"/>
                </a:solidFill>
                <a:latin typeface="Calibri"/>
                <a:cs typeface="Calibri"/>
              </a:rPr>
              <a:t> </a:t>
            </a:r>
            <a:r>
              <a:rPr sz="1298" dirty="0">
                <a:solidFill>
                  <a:srgbClr val="202020"/>
                </a:solidFill>
                <a:latin typeface="Calibri"/>
                <a:cs typeface="Calibri"/>
              </a:rPr>
              <a:t>-</a:t>
            </a:r>
            <a:r>
              <a:rPr sz="1298" spc="-30" dirty="0">
                <a:solidFill>
                  <a:srgbClr val="202020"/>
                </a:solidFill>
                <a:latin typeface="Calibri"/>
                <a:cs typeface="Calibri"/>
              </a:rPr>
              <a:t> </a:t>
            </a:r>
            <a:r>
              <a:rPr sz="1298" dirty="0">
                <a:solidFill>
                  <a:srgbClr val="202020"/>
                </a:solidFill>
                <a:latin typeface="Calibri"/>
                <a:cs typeface="Calibri"/>
              </a:rPr>
              <a:t>not</a:t>
            </a:r>
            <a:r>
              <a:rPr sz="1298" spc="-35" dirty="0">
                <a:solidFill>
                  <a:srgbClr val="202020"/>
                </a:solidFill>
                <a:latin typeface="Calibri"/>
                <a:cs typeface="Calibri"/>
              </a:rPr>
              <a:t> </a:t>
            </a:r>
            <a:r>
              <a:rPr sz="1298" dirty="0">
                <a:solidFill>
                  <a:srgbClr val="202020"/>
                </a:solidFill>
                <a:latin typeface="Calibri"/>
                <a:cs typeface="Calibri"/>
              </a:rPr>
              <a:t>PRIMARY</a:t>
            </a:r>
            <a:r>
              <a:rPr sz="1298" spc="-30" dirty="0">
                <a:solidFill>
                  <a:srgbClr val="202020"/>
                </a:solidFill>
                <a:latin typeface="Calibri"/>
                <a:cs typeface="Calibri"/>
              </a:rPr>
              <a:t> </a:t>
            </a:r>
            <a:r>
              <a:rPr sz="1298" dirty="0">
                <a:solidFill>
                  <a:srgbClr val="202020"/>
                </a:solidFill>
                <a:latin typeface="Calibri"/>
                <a:cs typeface="Calibri"/>
              </a:rPr>
              <a:t>KEY</a:t>
            </a:r>
            <a:r>
              <a:rPr sz="1298" spc="-35" dirty="0">
                <a:solidFill>
                  <a:srgbClr val="202020"/>
                </a:solidFill>
                <a:latin typeface="Calibri"/>
                <a:cs typeface="Calibri"/>
              </a:rPr>
              <a:t> </a:t>
            </a:r>
            <a:r>
              <a:rPr sz="1298" dirty="0">
                <a:solidFill>
                  <a:srgbClr val="202020"/>
                </a:solidFill>
                <a:latin typeface="Calibri"/>
                <a:cs typeface="Calibri"/>
              </a:rPr>
              <a:t>-</a:t>
            </a:r>
            <a:r>
              <a:rPr sz="1298" spc="-35" dirty="0">
                <a:solidFill>
                  <a:srgbClr val="202020"/>
                </a:solidFill>
                <a:latin typeface="Calibri"/>
                <a:cs typeface="Calibri"/>
              </a:rPr>
              <a:t> </a:t>
            </a:r>
            <a:r>
              <a:rPr sz="1298" dirty="0">
                <a:solidFill>
                  <a:srgbClr val="202020"/>
                </a:solidFill>
                <a:latin typeface="Calibri"/>
                <a:cs typeface="Calibri"/>
              </a:rPr>
              <a:t>for</a:t>
            </a:r>
            <a:r>
              <a:rPr sz="1298" spc="-30" dirty="0">
                <a:solidFill>
                  <a:srgbClr val="202020"/>
                </a:solidFill>
                <a:latin typeface="Calibri"/>
                <a:cs typeface="Calibri"/>
              </a:rPr>
              <a:t> </a:t>
            </a:r>
            <a:r>
              <a:rPr sz="1298" spc="-10" dirty="0">
                <a:solidFill>
                  <a:srgbClr val="202020"/>
                </a:solidFill>
                <a:latin typeface="Calibri"/>
                <a:cs typeface="Calibri"/>
              </a:rPr>
              <a:t>natural</a:t>
            </a:r>
            <a:r>
              <a:rPr sz="1298" spc="-35" dirty="0">
                <a:solidFill>
                  <a:srgbClr val="202020"/>
                </a:solidFill>
                <a:latin typeface="Calibri"/>
                <a:cs typeface="Calibri"/>
              </a:rPr>
              <a:t> </a:t>
            </a:r>
            <a:r>
              <a:rPr sz="1298" spc="-10" dirty="0">
                <a:solidFill>
                  <a:srgbClr val="202020"/>
                </a:solidFill>
                <a:latin typeface="Calibri"/>
                <a:cs typeface="Calibri"/>
              </a:rPr>
              <a:t>identifiers</a:t>
            </a:r>
            <a:r>
              <a:rPr sz="1298" spc="-30" dirty="0">
                <a:solidFill>
                  <a:srgbClr val="202020"/>
                </a:solidFill>
                <a:latin typeface="Calibri"/>
                <a:cs typeface="Calibri"/>
              </a:rPr>
              <a:t> </a:t>
            </a:r>
            <a:r>
              <a:rPr sz="1298" dirty="0">
                <a:solidFill>
                  <a:srgbClr val="202020"/>
                </a:solidFill>
                <a:latin typeface="Calibri"/>
                <a:cs typeface="Calibri"/>
              </a:rPr>
              <a:t>like</a:t>
            </a:r>
            <a:r>
              <a:rPr sz="1298" spc="-35" dirty="0">
                <a:solidFill>
                  <a:srgbClr val="202020"/>
                </a:solidFill>
                <a:latin typeface="Calibri"/>
                <a:cs typeface="Calibri"/>
              </a:rPr>
              <a:t> </a:t>
            </a:r>
            <a:r>
              <a:rPr sz="1298" dirty="0">
                <a:solidFill>
                  <a:srgbClr val="202020"/>
                </a:solidFill>
                <a:latin typeface="Calibri"/>
                <a:cs typeface="Calibri"/>
              </a:rPr>
              <a:t>email</a:t>
            </a:r>
            <a:r>
              <a:rPr sz="1298" spc="-30" dirty="0">
                <a:solidFill>
                  <a:srgbClr val="202020"/>
                </a:solidFill>
                <a:latin typeface="Calibri"/>
                <a:cs typeface="Calibri"/>
              </a:rPr>
              <a:t> </a:t>
            </a:r>
            <a:r>
              <a:rPr sz="1298" dirty="0">
                <a:solidFill>
                  <a:srgbClr val="202020"/>
                </a:solidFill>
                <a:latin typeface="Calibri"/>
                <a:cs typeface="Calibri"/>
              </a:rPr>
              <a:t>(those</a:t>
            </a:r>
            <a:r>
              <a:rPr sz="1298" spc="-35" dirty="0">
                <a:solidFill>
                  <a:srgbClr val="202020"/>
                </a:solidFill>
                <a:latin typeface="Calibri"/>
                <a:cs typeface="Calibri"/>
              </a:rPr>
              <a:t> </a:t>
            </a:r>
            <a:r>
              <a:rPr sz="1298" spc="-10" dirty="0">
                <a:solidFill>
                  <a:srgbClr val="202020"/>
                </a:solidFill>
                <a:latin typeface="Calibri"/>
                <a:cs typeface="Calibri"/>
              </a:rPr>
              <a:t>change;</a:t>
            </a:r>
            <a:r>
              <a:rPr sz="1298" spc="-30" dirty="0">
                <a:solidFill>
                  <a:srgbClr val="202020"/>
                </a:solidFill>
                <a:latin typeface="Calibri"/>
                <a:cs typeface="Calibri"/>
              </a:rPr>
              <a:t> </a:t>
            </a:r>
            <a:r>
              <a:rPr sz="1298" dirty="0">
                <a:solidFill>
                  <a:srgbClr val="202020"/>
                </a:solidFill>
                <a:latin typeface="Calibri"/>
                <a:cs typeface="Calibri"/>
              </a:rPr>
              <a:t>a</a:t>
            </a:r>
            <a:r>
              <a:rPr sz="1298" spc="-35" dirty="0">
                <a:solidFill>
                  <a:srgbClr val="202020"/>
                </a:solidFill>
                <a:latin typeface="Calibri"/>
                <a:cs typeface="Calibri"/>
              </a:rPr>
              <a:t> </a:t>
            </a:r>
            <a:r>
              <a:rPr sz="1298" dirty="0">
                <a:solidFill>
                  <a:srgbClr val="202020"/>
                </a:solidFill>
                <a:latin typeface="Calibri"/>
                <a:cs typeface="Calibri"/>
              </a:rPr>
              <a:t>PK</a:t>
            </a:r>
            <a:r>
              <a:rPr sz="1298" spc="-35" dirty="0">
                <a:solidFill>
                  <a:srgbClr val="202020"/>
                </a:solidFill>
                <a:latin typeface="Calibri"/>
                <a:cs typeface="Calibri"/>
              </a:rPr>
              <a:t> </a:t>
            </a:r>
            <a:r>
              <a:rPr sz="1298" spc="-10" dirty="0">
                <a:solidFill>
                  <a:srgbClr val="202020"/>
                </a:solidFill>
                <a:latin typeface="Calibri"/>
                <a:cs typeface="Calibri"/>
              </a:rPr>
              <a:t>should </a:t>
            </a:r>
            <a:r>
              <a:rPr sz="1298" dirty="0">
                <a:solidFill>
                  <a:srgbClr val="202020"/>
                </a:solidFill>
                <a:latin typeface="Calibri"/>
                <a:cs typeface="Calibri"/>
              </a:rPr>
              <a:t>never</a:t>
            </a:r>
            <a:r>
              <a:rPr sz="1298" spc="-65" dirty="0">
                <a:solidFill>
                  <a:srgbClr val="202020"/>
                </a:solidFill>
                <a:latin typeface="Calibri"/>
                <a:cs typeface="Calibri"/>
              </a:rPr>
              <a:t> </a:t>
            </a:r>
            <a:r>
              <a:rPr sz="1298" spc="-10" dirty="0">
                <a:solidFill>
                  <a:srgbClr val="202020"/>
                </a:solidFill>
                <a:latin typeface="Calibri"/>
                <a:cs typeface="Calibri"/>
              </a:rPr>
              <a:t>change).</a:t>
            </a:r>
            <a:endParaRPr sz="1298">
              <a:latin typeface="Calibri"/>
              <a:cs typeface="Calibri"/>
            </a:endParaRPr>
          </a:p>
          <a:p>
            <a:pPr marL="12685">
              <a:spcBef>
                <a:spcPts val="789"/>
              </a:spcBef>
            </a:pPr>
            <a:r>
              <a:rPr sz="899" b="1" dirty="0">
                <a:solidFill>
                  <a:srgbClr val="FFB200"/>
                </a:solidFill>
                <a:latin typeface="Courier New"/>
                <a:cs typeface="Courier New"/>
              </a:rPr>
              <a:t>[Syntax + Composite </a:t>
            </a:r>
            <a:r>
              <a:rPr sz="899" b="1" spc="-20" dirty="0">
                <a:solidFill>
                  <a:srgbClr val="FFB200"/>
                </a:solidFill>
                <a:latin typeface="Courier New"/>
                <a:cs typeface="Courier New"/>
              </a:rPr>
              <a:t>Key]</a:t>
            </a:r>
            <a:endParaRPr sz="899">
              <a:latin typeface="Courier New"/>
              <a:cs typeface="Courier New"/>
            </a:endParaRPr>
          </a:p>
          <a:p>
            <a:pPr marL="12685">
              <a:spcBef>
                <a:spcPts val="215"/>
              </a:spcBef>
            </a:pPr>
            <a:r>
              <a:rPr sz="899" dirty="0">
                <a:solidFill>
                  <a:srgbClr val="699954"/>
                </a:solidFill>
                <a:latin typeface="Courier New"/>
                <a:cs typeface="Courier New"/>
              </a:rPr>
              <a:t>-- Single-column (most </a:t>
            </a:r>
            <a:r>
              <a:rPr sz="899" spc="-10" dirty="0">
                <a:solidFill>
                  <a:srgbClr val="699954"/>
                </a:solidFill>
                <a:latin typeface="Courier New"/>
                <a:cs typeface="Courier New"/>
              </a:rPr>
              <a:t>common):</a:t>
            </a:r>
            <a:endParaRPr sz="899">
              <a:latin typeface="Courier New"/>
              <a:cs typeface="Courier New"/>
            </a:endParaRPr>
          </a:p>
          <a:p>
            <a:pPr marL="150314" marR="5590808" indent="-138264">
              <a:lnSpc>
                <a:spcPct val="120200"/>
              </a:lnSpc>
            </a:pPr>
            <a:r>
              <a:rPr sz="899" dirty="0">
                <a:solidFill>
                  <a:srgbClr val="333333"/>
                </a:solidFill>
                <a:latin typeface="Courier New"/>
                <a:cs typeface="Courier New"/>
              </a:rPr>
              <a:t>CREATE TABLE day_4.customers </a:t>
            </a:r>
            <a:r>
              <a:rPr sz="899" spc="-50" dirty="0">
                <a:solidFill>
                  <a:srgbClr val="333333"/>
                </a:solidFill>
                <a:latin typeface="Courier New"/>
                <a:cs typeface="Courier New"/>
              </a:rPr>
              <a:t>( </a:t>
            </a:r>
            <a:r>
              <a:rPr sz="899" dirty="0">
                <a:solidFill>
                  <a:srgbClr val="333333"/>
                </a:solidFill>
                <a:latin typeface="Courier New"/>
                <a:cs typeface="Courier New"/>
              </a:rPr>
              <a:t>customer_id SERIAL PRIMARY </a:t>
            </a:r>
            <a:r>
              <a:rPr sz="899" spc="-20" dirty="0">
                <a:solidFill>
                  <a:srgbClr val="333333"/>
                </a:solidFill>
                <a:latin typeface="Courier New"/>
                <a:cs typeface="Courier New"/>
              </a:rPr>
              <a:t>KEY,</a:t>
            </a:r>
            <a:endParaRPr sz="899">
              <a:latin typeface="Courier New"/>
              <a:cs typeface="Courier New"/>
            </a:endParaRPr>
          </a:p>
          <a:p>
            <a:pPr marL="150314">
              <a:spcBef>
                <a:spcPts val="220"/>
              </a:spcBef>
              <a:tabLst>
                <a:tab pos="976727" algn="l"/>
              </a:tabLst>
            </a:pPr>
            <a:r>
              <a:rPr sz="899" spc="-10" dirty="0">
                <a:solidFill>
                  <a:srgbClr val="333333"/>
                </a:solidFill>
                <a:latin typeface="Courier New"/>
                <a:cs typeface="Courier New"/>
              </a:rPr>
              <a:t>email</a:t>
            </a:r>
            <a:r>
              <a:rPr sz="899" dirty="0">
                <a:solidFill>
                  <a:srgbClr val="333333"/>
                </a:solidFill>
                <a:latin typeface="Courier New"/>
                <a:cs typeface="Courier New"/>
              </a:rPr>
              <a:t>	VARCHAR(150) UNIQUE NOT </a:t>
            </a:r>
            <a:r>
              <a:rPr sz="899" spc="-20" dirty="0">
                <a:solidFill>
                  <a:srgbClr val="333333"/>
                </a:solidFill>
                <a:latin typeface="Courier New"/>
                <a:cs typeface="Courier New"/>
              </a:rPr>
              <a:t>NULL</a:t>
            </a:r>
            <a:endParaRPr sz="899">
              <a:latin typeface="Courier New"/>
              <a:cs typeface="Courier New"/>
            </a:endParaRPr>
          </a:p>
          <a:p>
            <a:pPr marL="12685">
              <a:spcBef>
                <a:spcPts val="220"/>
              </a:spcBef>
            </a:pPr>
            <a:r>
              <a:rPr sz="899" spc="-25" dirty="0">
                <a:solidFill>
                  <a:srgbClr val="333333"/>
                </a:solidFill>
                <a:latin typeface="Courier New"/>
                <a:cs typeface="Courier New"/>
              </a:rPr>
              <a:t>);</a:t>
            </a:r>
            <a:endParaRPr sz="899">
              <a:latin typeface="Courier New"/>
              <a:cs typeface="Courier New"/>
            </a:endParaRPr>
          </a:p>
          <a:p>
            <a:pPr>
              <a:lnSpc>
                <a:spcPct val="100000"/>
              </a:lnSpc>
            </a:pPr>
            <a:endParaRPr sz="899">
              <a:latin typeface="Courier New"/>
              <a:cs typeface="Courier New"/>
            </a:endParaRPr>
          </a:p>
          <a:p>
            <a:pPr>
              <a:spcBef>
                <a:spcPts val="50"/>
              </a:spcBef>
            </a:pPr>
            <a:endParaRPr sz="899">
              <a:latin typeface="Courier New"/>
              <a:cs typeface="Courier New"/>
            </a:endParaRPr>
          </a:p>
          <a:p>
            <a:pPr marL="12685"/>
            <a:r>
              <a:rPr sz="899" dirty="0">
                <a:solidFill>
                  <a:srgbClr val="699954"/>
                </a:solidFill>
                <a:latin typeface="Courier New"/>
                <a:cs typeface="Courier New"/>
              </a:rPr>
              <a:t>-- Composite PK - the COMBINATION must be </a:t>
            </a:r>
            <a:r>
              <a:rPr sz="899" spc="-10" dirty="0">
                <a:solidFill>
                  <a:srgbClr val="699954"/>
                </a:solidFill>
                <a:latin typeface="Courier New"/>
                <a:cs typeface="Courier New"/>
              </a:rPr>
              <a:t>unique</a:t>
            </a:r>
            <a:endParaRPr sz="899">
              <a:latin typeface="Courier New"/>
              <a:cs typeface="Courier New"/>
            </a:endParaRPr>
          </a:p>
          <a:p>
            <a:pPr marL="12685">
              <a:spcBef>
                <a:spcPts val="220"/>
              </a:spcBef>
            </a:pPr>
            <a:r>
              <a:rPr sz="899" dirty="0">
                <a:solidFill>
                  <a:srgbClr val="699954"/>
                </a:solidFill>
                <a:latin typeface="Courier New"/>
                <a:cs typeface="Courier New"/>
              </a:rPr>
              <a:t>-- (one attendance row per employee per </a:t>
            </a:r>
            <a:r>
              <a:rPr sz="899" spc="-10" dirty="0">
                <a:solidFill>
                  <a:srgbClr val="699954"/>
                </a:solidFill>
                <a:latin typeface="Courier New"/>
                <a:cs typeface="Courier New"/>
              </a:rPr>
              <a:t>day):</a:t>
            </a:r>
            <a:endParaRPr sz="899">
              <a:latin typeface="Courier New"/>
              <a:cs typeface="Courier New"/>
            </a:endParaRPr>
          </a:p>
          <a:p>
            <a:pPr marL="150314" marR="5728438" indent="-138264">
              <a:lnSpc>
                <a:spcPct val="120200"/>
              </a:lnSpc>
              <a:tabLst>
                <a:tab pos="769965" algn="l"/>
              </a:tabLst>
            </a:pPr>
            <a:r>
              <a:rPr sz="899" dirty="0">
                <a:solidFill>
                  <a:srgbClr val="333333"/>
                </a:solidFill>
                <a:latin typeface="Courier New"/>
                <a:cs typeface="Courier New"/>
              </a:rPr>
              <a:t>CREATE TABLE day_4.attendance </a:t>
            </a:r>
            <a:r>
              <a:rPr sz="899" spc="-50" dirty="0">
                <a:solidFill>
                  <a:srgbClr val="333333"/>
                </a:solidFill>
                <a:latin typeface="Courier New"/>
                <a:cs typeface="Courier New"/>
              </a:rPr>
              <a:t>( </a:t>
            </a:r>
            <a:r>
              <a:rPr sz="899" spc="-10" dirty="0">
                <a:solidFill>
                  <a:srgbClr val="333333"/>
                </a:solidFill>
                <a:latin typeface="Courier New"/>
                <a:cs typeface="Courier New"/>
              </a:rPr>
              <a:t>emp_id</a:t>
            </a:r>
            <a:r>
              <a:rPr sz="899" dirty="0">
                <a:solidFill>
                  <a:srgbClr val="333333"/>
                </a:solidFill>
                <a:latin typeface="Courier New"/>
                <a:cs typeface="Courier New"/>
              </a:rPr>
              <a:t>	INT  NOT </a:t>
            </a:r>
            <a:r>
              <a:rPr sz="899" spc="-10" dirty="0">
                <a:solidFill>
                  <a:srgbClr val="333333"/>
                </a:solidFill>
                <a:latin typeface="Courier New"/>
                <a:cs typeface="Courier New"/>
              </a:rPr>
              <a:t>NULL, </a:t>
            </a:r>
            <a:r>
              <a:rPr sz="899" dirty="0">
                <a:solidFill>
                  <a:srgbClr val="333333"/>
                </a:solidFill>
                <a:latin typeface="Courier New"/>
                <a:cs typeface="Courier New"/>
              </a:rPr>
              <a:t>att_date DATE NOT </a:t>
            </a:r>
            <a:r>
              <a:rPr sz="899" spc="-10" dirty="0">
                <a:solidFill>
                  <a:srgbClr val="333333"/>
                </a:solidFill>
                <a:latin typeface="Courier New"/>
                <a:cs typeface="Courier New"/>
              </a:rPr>
              <a:t>NULL,</a:t>
            </a:r>
            <a:endParaRPr sz="899">
              <a:latin typeface="Courier New"/>
              <a:cs typeface="Courier New"/>
            </a:endParaRPr>
          </a:p>
          <a:p>
            <a:pPr marL="150314" marR="4420005">
              <a:lnSpc>
                <a:spcPct val="120200"/>
              </a:lnSpc>
              <a:tabLst>
                <a:tab pos="769965" algn="l"/>
              </a:tabLst>
            </a:pPr>
            <a:r>
              <a:rPr sz="899" spc="-10" dirty="0">
                <a:solidFill>
                  <a:srgbClr val="333333"/>
                </a:solidFill>
                <a:latin typeface="Courier New"/>
                <a:cs typeface="Courier New"/>
              </a:rPr>
              <a:t>status</a:t>
            </a:r>
            <a:r>
              <a:rPr sz="899" dirty="0">
                <a:solidFill>
                  <a:srgbClr val="333333"/>
                </a:solidFill>
                <a:latin typeface="Courier New"/>
                <a:cs typeface="Courier New"/>
              </a:rPr>
              <a:t>	VARCHAR(10)</a:t>
            </a:r>
            <a:r>
              <a:rPr sz="899" spc="-10" dirty="0">
                <a:solidFill>
                  <a:srgbClr val="333333"/>
                </a:solidFill>
                <a:latin typeface="Courier New"/>
                <a:cs typeface="Courier New"/>
              </a:rPr>
              <a:t> </a:t>
            </a:r>
            <a:r>
              <a:rPr sz="899" dirty="0">
                <a:solidFill>
                  <a:srgbClr val="333333"/>
                </a:solidFill>
                <a:latin typeface="Courier New"/>
                <a:cs typeface="Courier New"/>
              </a:rPr>
              <a:t>NOT NULL DEFAULT </a:t>
            </a:r>
            <a:r>
              <a:rPr sz="899" spc="-10" dirty="0">
                <a:solidFill>
                  <a:srgbClr val="333333"/>
                </a:solidFill>
                <a:latin typeface="Courier New"/>
                <a:cs typeface="Courier New"/>
              </a:rPr>
              <a:t>'present', </a:t>
            </a:r>
            <a:r>
              <a:rPr sz="899" dirty="0">
                <a:solidFill>
                  <a:srgbClr val="333333"/>
                </a:solidFill>
                <a:latin typeface="Courier New"/>
                <a:cs typeface="Courier New"/>
              </a:rPr>
              <a:t>PRIMARY KEY (emp_id, </a:t>
            </a:r>
            <a:r>
              <a:rPr sz="899" spc="-10" dirty="0">
                <a:solidFill>
                  <a:srgbClr val="333333"/>
                </a:solidFill>
                <a:latin typeface="Courier New"/>
                <a:cs typeface="Courier New"/>
              </a:rPr>
              <a:t>att_date)</a:t>
            </a:r>
            <a:endParaRPr sz="899">
              <a:latin typeface="Courier New"/>
              <a:cs typeface="Courier New"/>
            </a:endParaRPr>
          </a:p>
          <a:p>
            <a:pPr marL="12685">
              <a:spcBef>
                <a:spcPts val="219"/>
              </a:spcBef>
            </a:pPr>
            <a:r>
              <a:rPr sz="899" spc="-25" dirty="0">
                <a:solidFill>
                  <a:srgbClr val="333333"/>
                </a:solidFill>
                <a:latin typeface="Courier New"/>
                <a:cs typeface="Courier New"/>
              </a:rPr>
              <a:t>);</a:t>
            </a:r>
            <a:endParaRPr sz="899">
              <a:latin typeface="Courier New"/>
              <a:cs typeface="Courier New"/>
            </a:endParaRPr>
          </a:p>
          <a:p>
            <a:pPr marL="12685">
              <a:spcBef>
                <a:spcPts val="215"/>
              </a:spcBef>
            </a:pPr>
            <a:r>
              <a:rPr sz="899" dirty="0">
                <a:solidFill>
                  <a:srgbClr val="699954"/>
                </a:solidFill>
                <a:latin typeface="Courier New"/>
                <a:cs typeface="Courier New"/>
              </a:rPr>
              <a:t>-- inserting the same (emp_id, att_date) twice -&gt; duplicate key </a:t>
            </a:r>
            <a:r>
              <a:rPr sz="899" spc="-10" dirty="0">
                <a:solidFill>
                  <a:srgbClr val="699954"/>
                </a:solidFill>
                <a:latin typeface="Courier New"/>
                <a:cs typeface="Courier New"/>
              </a:rPr>
              <a:t>error</a:t>
            </a:r>
            <a:endParaRPr sz="899">
              <a:latin typeface="Courier New"/>
              <a:cs typeface="Courier New"/>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79619" y="273628"/>
            <a:ext cx="2054228" cy="4566363"/>
          </a:xfrm>
          <a:custGeom>
            <a:avLst/>
            <a:gdLst/>
            <a:ahLst/>
            <a:cxnLst/>
            <a:rect l="l" t="t" r="r" b="b"/>
            <a:pathLst>
              <a:path w="2056764" h="4572000">
                <a:moveTo>
                  <a:pt x="72720" y="0"/>
                </a:moveTo>
                <a:lnTo>
                  <a:pt x="0" y="0"/>
                </a:lnTo>
                <a:lnTo>
                  <a:pt x="0" y="4571631"/>
                </a:lnTo>
                <a:lnTo>
                  <a:pt x="36360" y="4571631"/>
                </a:lnTo>
                <a:lnTo>
                  <a:pt x="72720" y="4571631"/>
                </a:lnTo>
                <a:lnTo>
                  <a:pt x="72720" y="0"/>
                </a:lnTo>
                <a:close/>
              </a:path>
              <a:path w="2056764" h="4572000">
                <a:moveTo>
                  <a:pt x="2056676" y="355"/>
                </a:moveTo>
                <a:lnTo>
                  <a:pt x="228244" y="355"/>
                </a:lnTo>
                <a:lnTo>
                  <a:pt x="228244" y="320040"/>
                </a:lnTo>
                <a:lnTo>
                  <a:pt x="1142644" y="320040"/>
                </a:lnTo>
                <a:lnTo>
                  <a:pt x="2056676" y="320040"/>
                </a:lnTo>
                <a:lnTo>
                  <a:pt x="2056676" y="355"/>
                </a:lnTo>
                <a:close/>
              </a:path>
            </a:pathLst>
          </a:custGeom>
          <a:solidFill>
            <a:srgbClr val="00695B"/>
          </a:solidFill>
        </p:spPr>
        <p:txBody>
          <a:bodyPr wrap="square" lIns="0" tIns="0" rIns="0" bIns="0" rtlCol="0"/>
          <a:lstStyle/>
          <a:p>
            <a:endParaRPr sz="1798"/>
          </a:p>
        </p:txBody>
      </p:sp>
      <p:sp>
        <p:nvSpPr>
          <p:cNvPr id="3" name="object 3"/>
          <p:cNvSpPr txBox="1"/>
          <p:nvPr/>
        </p:nvSpPr>
        <p:spPr>
          <a:xfrm>
            <a:off x="1100740" y="345079"/>
            <a:ext cx="641193" cy="166379"/>
          </a:xfrm>
          <a:prstGeom prst="rect">
            <a:avLst/>
          </a:prstGeom>
        </p:spPr>
        <p:txBody>
          <a:bodyPr vert="horz" wrap="square" lIns="0" tIns="12684" rIns="0" bIns="0" rtlCol="0">
            <a:spAutoFit/>
          </a:bodyPr>
          <a:lstStyle/>
          <a:p>
            <a:pPr marL="12685">
              <a:spcBef>
                <a:spcPts val="100"/>
              </a:spcBef>
            </a:pPr>
            <a:r>
              <a:rPr sz="999" b="1" spc="-10" dirty="0">
                <a:solidFill>
                  <a:srgbClr val="FFFFFF"/>
                </a:solidFill>
                <a:latin typeface="Calibri"/>
                <a:cs typeface="Calibri"/>
              </a:rPr>
              <a:t>DEFINITION</a:t>
            </a:r>
            <a:endParaRPr sz="999">
              <a:latin typeface="Calibri"/>
              <a:cs typeface="Calibri"/>
            </a:endParaRPr>
          </a:p>
        </p:txBody>
      </p:sp>
      <p:sp>
        <p:nvSpPr>
          <p:cNvPr id="4" name="object 4" descr="$PPTXTitle"/>
          <p:cNvSpPr txBox="1">
            <a:spLocks noGrp="1"/>
          </p:cNvSpPr>
          <p:nvPr>
            <p:ph type="title"/>
          </p:nvPr>
        </p:nvSpPr>
        <p:spPr>
          <a:xfrm>
            <a:off x="494898" y="748137"/>
            <a:ext cx="6415105" cy="330427"/>
          </a:xfrm>
          <a:prstGeom prst="rect">
            <a:avLst/>
          </a:prstGeom>
        </p:spPr>
        <p:txBody>
          <a:bodyPr vert="horz" wrap="square" lIns="0" tIns="12684" rIns="0" bIns="0" rtlCol="0">
            <a:spAutoFit/>
          </a:bodyPr>
          <a:lstStyle/>
          <a:p>
            <a:pPr marL="12685">
              <a:spcBef>
                <a:spcPts val="100"/>
              </a:spcBef>
            </a:pPr>
            <a:r>
              <a:rPr sz="1998" dirty="0">
                <a:solidFill>
                  <a:srgbClr val="202020"/>
                </a:solidFill>
                <a:latin typeface="Georgia"/>
                <a:cs typeface="Georgia"/>
              </a:rPr>
              <a:t>FOREIGN</a:t>
            </a:r>
            <a:r>
              <a:rPr sz="1998" spc="-20" dirty="0">
                <a:solidFill>
                  <a:srgbClr val="202020"/>
                </a:solidFill>
                <a:latin typeface="Georgia"/>
                <a:cs typeface="Georgia"/>
              </a:rPr>
              <a:t> </a:t>
            </a:r>
            <a:r>
              <a:rPr sz="1998" dirty="0">
                <a:solidFill>
                  <a:srgbClr val="202020"/>
                </a:solidFill>
                <a:latin typeface="Georgia"/>
                <a:cs typeface="Georgia"/>
              </a:rPr>
              <a:t>KEY</a:t>
            </a:r>
            <a:r>
              <a:rPr sz="1998" spc="-15" dirty="0">
                <a:solidFill>
                  <a:srgbClr val="202020"/>
                </a:solidFill>
                <a:latin typeface="Georgia"/>
                <a:cs typeface="Georgia"/>
              </a:rPr>
              <a:t> </a:t>
            </a:r>
            <a:r>
              <a:rPr sz="1998" dirty="0">
                <a:solidFill>
                  <a:srgbClr val="202020"/>
                </a:solidFill>
                <a:latin typeface="Georgia"/>
                <a:cs typeface="Georgia"/>
              </a:rPr>
              <a:t>-</a:t>
            </a:r>
            <a:r>
              <a:rPr sz="1998" spc="-15" dirty="0">
                <a:solidFill>
                  <a:srgbClr val="202020"/>
                </a:solidFill>
                <a:latin typeface="Georgia"/>
                <a:cs typeface="Georgia"/>
              </a:rPr>
              <a:t> </a:t>
            </a:r>
            <a:r>
              <a:rPr sz="1998" dirty="0">
                <a:solidFill>
                  <a:srgbClr val="202020"/>
                </a:solidFill>
                <a:latin typeface="Georgia"/>
                <a:cs typeface="Georgia"/>
              </a:rPr>
              <a:t>The</a:t>
            </a:r>
            <a:r>
              <a:rPr sz="1998" spc="-15" dirty="0">
                <a:solidFill>
                  <a:srgbClr val="202020"/>
                </a:solidFill>
                <a:latin typeface="Georgia"/>
                <a:cs typeface="Georgia"/>
              </a:rPr>
              <a:t> </a:t>
            </a:r>
            <a:r>
              <a:rPr sz="1998" dirty="0">
                <a:solidFill>
                  <a:srgbClr val="202020"/>
                </a:solidFill>
                <a:latin typeface="Georgia"/>
                <a:cs typeface="Georgia"/>
              </a:rPr>
              <a:t>Bridge</a:t>
            </a:r>
            <a:r>
              <a:rPr sz="1998" spc="-15" dirty="0">
                <a:solidFill>
                  <a:srgbClr val="202020"/>
                </a:solidFill>
                <a:latin typeface="Georgia"/>
                <a:cs typeface="Georgia"/>
              </a:rPr>
              <a:t> </a:t>
            </a:r>
            <a:r>
              <a:rPr sz="1998" dirty="0">
                <a:solidFill>
                  <a:srgbClr val="202020"/>
                </a:solidFill>
                <a:latin typeface="Georgia"/>
                <a:cs typeface="Georgia"/>
              </a:rPr>
              <a:t>Between</a:t>
            </a:r>
            <a:r>
              <a:rPr sz="1998" spc="-15" dirty="0">
                <a:solidFill>
                  <a:srgbClr val="202020"/>
                </a:solidFill>
                <a:latin typeface="Georgia"/>
                <a:cs typeface="Georgia"/>
              </a:rPr>
              <a:t> </a:t>
            </a:r>
            <a:r>
              <a:rPr sz="1998" dirty="0">
                <a:solidFill>
                  <a:srgbClr val="202020"/>
                </a:solidFill>
                <a:latin typeface="Georgia"/>
                <a:cs typeface="Georgia"/>
              </a:rPr>
              <a:t>Tables</a:t>
            </a:r>
            <a:r>
              <a:rPr sz="1998" spc="-15" dirty="0">
                <a:solidFill>
                  <a:srgbClr val="202020"/>
                </a:solidFill>
                <a:latin typeface="Georgia"/>
                <a:cs typeface="Georgia"/>
              </a:rPr>
              <a:t> </a:t>
            </a:r>
            <a:r>
              <a:rPr sz="1998" spc="-10" dirty="0">
                <a:solidFill>
                  <a:srgbClr val="202020"/>
                </a:solidFill>
                <a:latin typeface="Georgia"/>
                <a:cs typeface="Georgia"/>
              </a:rPr>
              <a:t>(1/2)</a:t>
            </a:r>
            <a:endParaRPr sz="1998">
              <a:latin typeface="Georgia"/>
              <a:cs typeface="Georgia"/>
            </a:endParaRPr>
          </a:p>
        </p:txBody>
      </p:sp>
      <p:sp>
        <p:nvSpPr>
          <p:cNvPr id="5" name="object 5"/>
          <p:cNvSpPr txBox="1"/>
          <p:nvPr/>
        </p:nvSpPr>
        <p:spPr>
          <a:xfrm>
            <a:off x="584779" y="1219085"/>
            <a:ext cx="7832580" cy="1067387"/>
          </a:xfrm>
          <a:prstGeom prst="rect">
            <a:avLst/>
          </a:prstGeom>
        </p:spPr>
        <p:txBody>
          <a:bodyPr vert="horz" wrap="square" lIns="0" tIns="12684" rIns="0" bIns="0" rtlCol="0">
            <a:spAutoFit/>
          </a:bodyPr>
          <a:lstStyle/>
          <a:p>
            <a:pPr marL="12685" marR="5074">
              <a:lnSpc>
                <a:spcPct val="120100"/>
              </a:lnSpc>
              <a:spcBef>
                <a:spcPts val="100"/>
              </a:spcBef>
            </a:pPr>
            <a:r>
              <a:rPr sz="1298" dirty="0">
                <a:solidFill>
                  <a:srgbClr val="202020"/>
                </a:solidFill>
                <a:latin typeface="Calibri"/>
                <a:cs typeface="Calibri"/>
              </a:rPr>
              <a:t>A</a:t>
            </a:r>
            <a:r>
              <a:rPr sz="1298" spc="-35" dirty="0">
                <a:solidFill>
                  <a:srgbClr val="202020"/>
                </a:solidFill>
                <a:latin typeface="Calibri"/>
                <a:cs typeface="Calibri"/>
              </a:rPr>
              <a:t> </a:t>
            </a:r>
            <a:r>
              <a:rPr sz="1298" spc="-10" dirty="0">
                <a:solidFill>
                  <a:srgbClr val="202020"/>
                </a:solidFill>
                <a:latin typeface="Calibri"/>
                <a:cs typeface="Calibri"/>
              </a:rPr>
              <a:t>FOREIGN</a:t>
            </a:r>
            <a:r>
              <a:rPr sz="1298" spc="-30" dirty="0">
                <a:solidFill>
                  <a:srgbClr val="202020"/>
                </a:solidFill>
                <a:latin typeface="Calibri"/>
                <a:cs typeface="Calibri"/>
              </a:rPr>
              <a:t> </a:t>
            </a:r>
            <a:r>
              <a:rPr sz="1298" dirty="0">
                <a:solidFill>
                  <a:srgbClr val="202020"/>
                </a:solidFill>
                <a:latin typeface="Calibri"/>
                <a:cs typeface="Calibri"/>
              </a:rPr>
              <a:t>KEY</a:t>
            </a:r>
            <a:r>
              <a:rPr sz="1298" spc="-30" dirty="0">
                <a:solidFill>
                  <a:srgbClr val="202020"/>
                </a:solidFill>
                <a:latin typeface="Calibri"/>
                <a:cs typeface="Calibri"/>
              </a:rPr>
              <a:t> </a:t>
            </a:r>
            <a:r>
              <a:rPr sz="1298" dirty="0">
                <a:solidFill>
                  <a:srgbClr val="202020"/>
                </a:solidFill>
                <a:latin typeface="Calibri"/>
                <a:cs typeface="Calibri"/>
              </a:rPr>
              <a:t>column</a:t>
            </a:r>
            <a:r>
              <a:rPr sz="1298" spc="-30" dirty="0">
                <a:solidFill>
                  <a:srgbClr val="202020"/>
                </a:solidFill>
                <a:latin typeface="Calibri"/>
                <a:cs typeface="Calibri"/>
              </a:rPr>
              <a:t> </a:t>
            </a:r>
            <a:r>
              <a:rPr sz="1298" spc="-10" dirty="0">
                <a:solidFill>
                  <a:srgbClr val="202020"/>
                </a:solidFill>
                <a:latin typeface="Calibri"/>
                <a:cs typeface="Calibri"/>
              </a:rPr>
              <a:t>references</a:t>
            </a:r>
            <a:r>
              <a:rPr sz="1298" spc="-30" dirty="0">
                <a:solidFill>
                  <a:srgbClr val="202020"/>
                </a:solidFill>
                <a:latin typeface="Calibri"/>
                <a:cs typeface="Calibri"/>
              </a:rPr>
              <a:t> </a:t>
            </a:r>
            <a:r>
              <a:rPr sz="1298" dirty="0">
                <a:solidFill>
                  <a:srgbClr val="202020"/>
                </a:solidFill>
                <a:latin typeface="Calibri"/>
                <a:cs typeface="Calibri"/>
              </a:rPr>
              <a:t>the</a:t>
            </a:r>
            <a:r>
              <a:rPr sz="1298" spc="-30" dirty="0">
                <a:solidFill>
                  <a:srgbClr val="202020"/>
                </a:solidFill>
                <a:latin typeface="Calibri"/>
                <a:cs typeface="Calibri"/>
              </a:rPr>
              <a:t> </a:t>
            </a:r>
            <a:r>
              <a:rPr sz="1298" dirty="0">
                <a:solidFill>
                  <a:srgbClr val="202020"/>
                </a:solidFill>
                <a:latin typeface="Calibri"/>
                <a:cs typeface="Calibri"/>
              </a:rPr>
              <a:t>PRIMARY</a:t>
            </a:r>
            <a:r>
              <a:rPr sz="1298" spc="-30" dirty="0">
                <a:solidFill>
                  <a:srgbClr val="202020"/>
                </a:solidFill>
                <a:latin typeface="Calibri"/>
                <a:cs typeface="Calibri"/>
              </a:rPr>
              <a:t> </a:t>
            </a:r>
            <a:r>
              <a:rPr sz="1298" dirty="0">
                <a:solidFill>
                  <a:srgbClr val="202020"/>
                </a:solidFill>
                <a:latin typeface="Calibri"/>
                <a:cs typeface="Calibri"/>
              </a:rPr>
              <a:t>KEY</a:t>
            </a:r>
            <a:r>
              <a:rPr sz="1298" spc="-30" dirty="0">
                <a:solidFill>
                  <a:srgbClr val="202020"/>
                </a:solidFill>
                <a:latin typeface="Calibri"/>
                <a:cs typeface="Calibri"/>
              </a:rPr>
              <a:t> </a:t>
            </a:r>
            <a:r>
              <a:rPr sz="1298" dirty="0">
                <a:solidFill>
                  <a:srgbClr val="202020"/>
                </a:solidFill>
                <a:latin typeface="Calibri"/>
                <a:cs typeface="Calibri"/>
              </a:rPr>
              <a:t>of</a:t>
            </a:r>
            <a:r>
              <a:rPr sz="1298" spc="-30" dirty="0">
                <a:solidFill>
                  <a:srgbClr val="202020"/>
                </a:solidFill>
                <a:latin typeface="Calibri"/>
                <a:cs typeface="Calibri"/>
              </a:rPr>
              <a:t> </a:t>
            </a:r>
            <a:r>
              <a:rPr sz="1298" dirty="0">
                <a:solidFill>
                  <a:srgbClr val="202020"/>
                </a:solidFill>
                <a:latin typeface="Calibri"/>
                <a:cs typeface="Calibri"/>
              </a:rPr>
              <a:t>another</a:t>
            </a:r>
            <a:r>
              <a:rPr sz="1298" spc="-30" dirty="0">
                <a:solidFill>
                  <a:srgbClr val="202020"/>
                </a:solidFill>
                <a:latin typeface="Calibri"/>
                <a:cs typeface="Calibri"/>
              </a:rPr>
              <a:t> </a:t>
            </a:r>
            <a:r>
              <a:rPr sz="1298" spc="-10" dirty="0">
                <a:solidFill>
                  <a:srgbClr val="202020"/>
                </a:solidFill>
                <a:latin typeface="Calibri"/>
                <a:cs typeface="Calibri"/>
              </a:rPr>
              <a:t>table.</a:t>
            </a:r>
            <a:r>
              <a:rPr sz="1298" spc="-35" dirty="0">
                <a:solidFill>
                  <a:srgbClr val="202020"/>
                </a:solidFill>
                <a:latin typeface="Calibri"/>
                <a:cs typeface="Calibri"/>
              </a:rPr>
              <a:t> </a:t>
            </a:r>
            <a:r>
              <a:rPr sz="1298" dirty="0">
                <a:solidFill>
                  <a:srgbClr val="202020"/>
                </a:solidFill>
                <a:latin typeface="Calibri"/>
                <a:cs typeface="Calibri"/>
              </a:rPr>
              <a:t>It</a:t>
            </a:r>
            <a:r>
              <a:rPr sz="1298" spc="-30" dirty="0">
                <a:solidFill>
                  <a:srgbClr val="202020"/>
                </a:solidFill>
                <a:latin typeface="Calibri"/>
                <a:cs typeface="Calibri"/>
              </a:rPr>
              <a:t> </a:t>
            </a:r>
            <a:r>
              <a:rPr sz="1298" spc="-10" dirty="0">
                <a:solidFill>
                  <a:srgbClr val="202020"/>
                </a:solidFill>
                <a:latin typeface="Calibri"/>
                <a:cs typeface="Calibri"/>
              </a:rPr>
              <a:t>enforces</a:t>
            </a:r>
            <a:r>
              <a:rPr sz="1298" spc="-30" dirty="0">
                <a:solidFill>
                  <a:srgbClr val="202020"/>
                </a:solidFill>
                <a:latin typeface="Calibri"/>
                <a:cs typeface="Calibri"/>
              </a:rPr>
              <a:t> </a:t>
            </a:r>
            <a:r>
              <a:rPr sz="1298" spc="-20" dirty="0">
                <a:solidFill>
                  <a:srgbClr val="202020"/>
                </a:solidFill>
                <a:latin typeface="Calibri"/>
                <a:cs typeface="Calibri"/>
              </a:rPr>
              <a:t>referential</a:t>
            </a:r>
            <a:r>
              <a:rPr sz="1298" spc="-30" dirty="0">
                <a:solidFill>
                  <a:srgbClr val="202020"/>
                </a:solidFill>
                <a:latin typeface="Calibri"/>
                <a:cs typeface="Calibri"/>
              </a:rPr>
              <a:t> </a:t>
            </a:r>
            <a:r>
              <a:rPr sz="1298" spc="-10" dirty="0">
                <a:solidFill>
                  <a:srgbClr val="202020"/>
                </a:solidFill>
                <a:latin typeface="Calibri"/>
                <a:cs typeface="Calibri"/>
              </a:rPr>
              <a:t>integrity:</a:t>
            </a:r>
            <a:r>
              <a:rPr sz="1298" spc="-30" dirty="0">
                <a:solidFill>
                  <a:srgbClr val="202020"/>
                </a:solidFill>
                <a:latin typeface="Calibri"/>
                <a:cs typeface="Calibri"/>
              </a:rPr>
              <a:t> </a:t>
            </a:r>
            <a:r>
              <a:rPr sz="1298" dirty="0">
                <a:solidFill>
                  <a:srgbClr val="202020"/>
                </a:solidFill>
                <a:latin typeface="Calibri"/>
                <a:cs typeface="Calibri"/>
              </a:rPr>
              <a:t>a</a:t>
            </a:r>
            <a:r>
              <a:rPr sz="1298" spc="-30" dirty="0">
                <a:solidFill>
                  <a:srgbClr val="202020"/>
                </a:solidFill>
                <a:latin typeface="Calibri"/>
                <a:cs typeface="Calibri"/>
              </a:rPr>
              <a:t> </a:t>
            </a:r>
            <a:r>
              <a:rPr sz="1298" dirty="0">
                <a:solidFill>
                  <a:srgbClr val="202020"/>
                </a:solidFill>
                <a:latin typeface="Calibri"/>
                <a:cs typeface="Calibri"/>
              </a:rPr>
              <a:t>child</a:t>
            </a:r>
            <a:r>
              <a:rPr sz="1298" spc="-30" dirty="0">
                <a:solidFill>
                  <a:srgbClr val="202020"/>
                </a:solidFill>
                <a:latin typeface="Calibri"/>
                <a:cs typeface="Calibri"/>
              </a:rPr>
              <a:t> </a:t>
            </a:r>
            <a:r>
              <a:rPr sz="1298" dirty="0">
                <a:solidFill>
                  <a:srgbClr val="202020"/>
                </a:solidFill>
                <a:latin typeface="Calibri"/>
                <a:cs typeface="Calibri"/>
              </a:rPr>
              <a:t>row</a:t>
            </a:r>
            <a:r>
              <a:rPr sz="1298" spc="-30" dirty="0">
                <a:solidFill>
                  <a:srgbClr val="202020"/>
                </a:solidFill>
                <a:latin typeface="Calibri"/>
                <a:cs typeface="Calibri"/>
              </a:rPr>
              <a:t> </a:t>
            </a:r>
            <a:r>
              <a:rPr sz="1298" spc="-25" dirty="0">
                <a:solidFill>
                  <a:srgbClr val="202020"/>
                </a:solidFill>
                <a:latin typeface="Calibri"/>
                <a:cs typeface="Calibri"/>
              </a:rPr>
              <a:t>can </a:t>
            </a:r>
            <a:r>
              <a:rPr sz="1298" dirty="0">
                <a:solidFill>
                  <a:srgbClr val="202020"/>
                </a:solidFill>
                <a:latin typeface="Calibri"/>
                <a:cs typeface="Calibri"/>
              </a:rPr>
              <a:t>only</a:t>
            </a:r>
            <a:r>
              <a:rPr sz="1298" spc="-35" dirty="0">
                <a:solidFill>
                  <a:srgbClr val="202020"/>
                </a:solidFill>
                <a:latin typeface="Calibri"/>
                <a:cs typeface="Calibri"/>
              </a:rPr>
              <a:t> </a:t>
            </a:r>
            <a:r>
              <a:rPr sz="1298" spc="-20" dirty="0">
                <a:solidFill>
                  <a:srgbClr val="202020"/>
                </a:solidFill>
                <a:latin typeface="Calibri"/>
                <a:cs typeface="Calibri"/>
              </a:rPr>
              <a:t>reference</a:t>
            </a:r>
            <a:r>
              <a:rPr sz="1298" spc="-30" dirty="0">
                <a:solidFill>
                  <a:srgbClr val="202020"/>
                </a:solidFill>
                <a:latin typeface="Calibri"/>
                <a:cs typeface="Calibri"/>
              </a:rPr>
              <a:t> </a:t>
            </a:r>
            <a:r>
              <a:rPr sz="1298" dirty="0">
                <a:solidFill>
                  <a:srgbClr val="202020"/>
                </a:solidFill>
                <a:latin typeface="Calibri"/>
                <a:cs typeface="Calibri"/>
              </a:rPr>
              <a:t>a</a:t>
            </a:r>
            <a:r>
              <a:rPr sz="1298" spc="-30" dirty="0">
                <a:solidFill>
                  <a:srgbClr val="202020"/>
                </a:solidFill>
                <a:latin typeface="Calibri"/>
                <a:cs typeface="Calibri"/>
              </a:rPr>
              <a:t> </a:t>
            </a:r>
            <a:r>
              <a:rPr sz="1298" spc="-10" dirty="0">
                <a:solidFill>
                  <a:srgbClr val="202020"/>
                </a:solidFill>
                <a:latin typeface="Calibri"/>
                <a:cs typeface="Calibri"/>
              </a:rPr>
              <a:t>parent</a:t>
            </a:r>
            <a:r>
              <a:rPr sz="1298" spc="-30" dirty="0">
                <a:solidFill>
                  <a:srgbClr val="202020"/>
                </a:solidFill>
                <a:latin typeface="Calibri"/>
                <a:cs typeface="Calibri"/>
              </a:rPr>
              <a:t> </a:t>
            </a:r>
            <a:r>
              <a:rPr sz="1298" dirty="0">
                <a:solidFill>
                  <a:srgbClr val="202020"/>
                </a:solidFill>
                <a:latin typeface="Calibri"/>
                <a:cs typeface="Calibri"/>
              </a:rPr>
              <a:t>that</a:t>
            </a:r>
            <a:r>
              <a:rPr sz="1298" spc="-30" dirty="0">
                <a:solidFill>
                  <a:srgbClr val="202020"/>
                </a:solidFill>
                <a:latin typeface="Calibri"/>
                <a:cs typeface="Calibri"/>
              </a:rPr>
              <a:t> </a:t>
            </a:r>
            <a:r>
              <a:rPr sz="1298" spc="-10" dirty="0">
                <a:solidFill>
                  <a:srgbClr val="202020"/>
                </a:solidFill>
                <a:latin typeface="Calibri"/>
                <a:cs typeface="Calibri"/>
              </a:rPr>
              <a:t>exists</a:t>
            </a:r>
            <a:r>
              <a:rPr sz="1298" spc="-30" dirty="0">
                <a:solidFill>
                  <a:srgbClr val="202020"/>
                </a:solidFill>
                <a:latin typeface="Calibri"/>
                <a:cs typeface="Calibri"/>
              </a:rPr>
              <a:t> </a:t>
            </a:r>
            <a:r>
              <a:rPr sz="1298" dirty="0">
                <a:solidFill>
                  <a:srgbClr val="202020"/>
                </a:solidFill>
                <a:latin typeface="Calibri"/>
                <a:cs typeface="Calibri"/>
              </a:rPr>
              <a:t>-</a:t>
            </a:r>
            <a:r>
              <a:rPr sz="1298" spc="-30" dirty="0">
                <a:solidFill>
                  <a:srgbClr val="202020"/>
                </a:solidFill>
                <a:latin typeface="Calibri"/>
                <a:cs typeface="Calibri"/>
              </a:rPr>
              <a:t> </a:t>
            </a:r>
            <a:r>
              <a:rPr sz="1298" dirty="0">
                <a:solidFill>
                  <a:srgbClr val="202020"/>
                </a:solidFill>
                <a:latin typeface="Calibri"/>
                <a:cs typeface="Calibri"/>
              </a:rPr>
              <a:t>no</a:t>
            </a:r>
            <a:r>
              <a:rPr sz="1298" spc="-30" dirty="0">
                <a:solidFill>
                  <a:srgbClr val="202020"/>
                </a:solidFill>
                <a:latin typeface="Calibri"/>
                <a:cs typeface="Calibri"/>
              </a:rPr>
              <a:t> </a:t>
            </a:r>
            <a:r>
              <a:rPr sz="1298" dirty="0">
                <a:solidFill>
                  <a:srgbClr val="202020"/>
                </a:solidFill>
                <a:latin typeface="Calibri"/>
                <a:cs typeface="Calibri"/>
              </a:rPr>
              <a:t>orphan</a:t>
            </a:r>
            <a:r>
              <a:rPr sz="1298" spc="-30" dirty="0">
                <a:solidFill>
                  <a:srgbClr val="202020"/>
                </a:solidFill>
                <a:latin typeface="Calibri"/>
                <a:cs typeface="Calibri"/>
              </a:rPr>
              <a:t> </a:t>
            </a:r>
            <a:r>
              <a:rPr sz="1298" spc="-10" dirty="0">
                <a:solidFill>
                  <a:srgbClr val="202020"/>
                </a:solidFill>
                <a:latin typeface="Calibri"/>
                <a:cs typeface="Calibri"/>
              </a:rPr>
              <a:t>records.</a:t>
            </a:r>
            <a:r>
              <a:rPr sz="1298" spc="-30" dirty="0">
                <a:solidFill>
                  <a:srgbClr val="202020"/>
                </a:solidFill>
                <a:latin typeface="Calibri"/>
                <a:cs typeface="Calibri"/>
              </a:rPr>
              <a:t> </a:t>
            </a:r>
            <a:r>
              <a:rPr sz="1298" dirty="0">
                <a:solidFill>
                  <a:srgbClr val="202020"/>
                </a:solidFill>
                <a:latin typeface="Calibri"/>
                <a:cs typeface="Calibri"/>
              </a:rPr>
              <a:t>Insert</a:t>
            </a:r>
            <a:r>
              <a:rPr sz="1298" spc="-30" dirty="0">
                <a:solidFill>
                  <a:srgbClr val="202020"/>
                </a:solidFill>
                <a:latin typeface="Calibri"/>
                <a:cs typeface="Calibri"/>
              </a:rPr>
              <a:t> </a:t>
            </a:r>
            <a:r>
              <a:rPr sz="1298" dirty="0">
                <a:solidFill>
                  <a:srgbClr val="202020"/>
                </a:solidFill>
                <a:latin typeface="Calibri"/>
                <a:cs typeface="Calibri"/>
              </a:rPr>
              <a:t>the</a:t>
            </a:r>
            <a:r>
              <a:rPr sz="1298" spc="-30" dirty="0">
                <a:solidFill>
                  <a:srgbClr val="202020"/>
                </a:solidFill>
                <a:latin typeface="Calibri"/>
                <a:cs typeface="Calibri"/>
              </a:rPr>
              <a:t> </a:t>
            </a:r>
            <a:r>
              <a:rPr sz="1298" spc="-10" dirty="0">
                <a:solidFill>
                  <a:srgbClr val="202020"/>
                </a:solidFill>
                <a:latin typeface="Calibri"/>
                <a:cs typeface="Calibri"/>
              </a:rPr>
              <a:t>parent</a:t>
            </a:r>
            <a:r>
              <a:rPr sz="1298" spc="-30" dirty="0">
                <a:solidFill>
                  <a:srgbClr val="202020"/>
                </a:solidFill>
                <a:latin typeface="Calibri"/>
                <a:cs typeface="Calibri"/>
              </a:rPr>
              <a:t> </a:t>
            </a:r>
            <a:r>
              <a:rPr sz="1298" dirty="0">
                <a:solidFill>
                  <a:srgbClr val="202020"/>
                </a:solidFill>
                <a:latin typeface="Calibri"/>
                <a:cs typeface="Calibri"/>
              </a:rPr>
              <a:t>BEFORE</a:t>
            </a:r>
            <a:r>
              <a:rPr sz="1298" spc="-35" dirty="0">
                <a:solidFill>
                  <a:srgbClr val="202020"/>
                </a:solidFill>
                <a:latin typeface="Calibri"/>
                <a:cs typeface="Calibri"/>
              </a:rPr>
              <a:t> </a:t>
            </a:r>
            <a:r>
              <a:rPr sz="1298" dirty="0">
                <a:solidFill>
                  <a:srgbClr val="202020"/>
                </a:solidFill>
                <a:latin typeface="Calibri"/>
                <a:cs typeface="Calibri"/>
              </a:rPr>
              <a:t>the</a:t>
            </a:r>
            <a:r>
              <a:rPr sz="1298" spc="-30" dirty="0">
                <a:solidFill>
                  <a:srgbClr val="202020"/>
                </a:solidFill>
                <a:latin typeface="Calibri"/>
                <a:cs typeface="Calibri"/>
              </a:rPr>
              <a:t> </a:t>
            </a:r>
            <a:r>
              <a:rPr sz="1298" spc="-10" dirty="0">
                <a:solidFill>
                  <a:srgbClr val="202020"/>
                </a:solidFill>
                <a:latin typeface="Calibri"/>
                <a:cs typeface="Calibri"/>
              </a:rPr>
              <a:t>child.</a:t>
            </a:r>
            <a:endParaRPr sz="1298">
              <a:latin typeface="Calibri"/>
              <a:cs typeface="Calibri"/>
            </a:endParaRPr>
          </a:p>
          <a:p>
            <a:pPr marL="12685">
              <a:spcBef>
                <a:spcPts val="789"/>
              </a:spcBef>
            </a:pPr>
            <a:r>
              <a:rPr sz="899" b="1" dirty="0">
                <a:solidFill>
                  <a:srgbClr val="FFB200"/>
                </a:solidFill>
                <a:latin typeface="Courier New"/>
                <a:cs typeface="Courier New"/>
              </a:rPr>
              <a:t>[Syntax + Worked </a:t>
            </a:r>
            <a:r>
              <a:rPr sz="899" b="1" spc="-10" dirty="0">
                <a:solidFill>
                  <a:srgbClr val="FFB200"/>
                </a:solidFill>
                <a:latin typeface="Courier New"/>
                <a:cs typeface="Courier New"/>
              </a:rPr>
              <a:t>Example]</a:t>
            </a:r>
            <a:endParaRPr sz="899">
              <a:latin typeface="Courier New"/>
              <a:cs typeface="Courier New"/>
            </a:endParaRPr>
          </a:p>
          <a:p>
            <a:pPr marL="150314" marR="5539435" indent="-138264">
              <a:lnSpc>
                <a:spcPct val="120200"/>
              </a:lnSpc>
            </a:pPr>
            <a:r>
              <a:rPr sz="899" dirty="0">
                <a:solidFill>
                  <a:srgbClr val="333333"/>
                </a:solidFill>
                <a:latin typeface="Courier New"/>
                <a:cs typeface="Courier New"/>
              </a:rPr>
              <a:t>CREATE TABLE day_4.rm_customers </a:t>
            </a:r>
            <a:r>
              <a:rPr sz="899" spc="-50" dirty="0">
                <a:solidFill>
                  <a:srgbClr val="333333"/>
                </a:solidFill>
                <a:latin typeface="Courier New"/>
                <a:cs typeface="Courier New"/>
              </a:rPr>
              <a:t>( </a:t>
            </a:r>
            <a:r>
              <a:rPr sz="899" dirty="0">
                <a:solidFill>
                  <a:srgbClr val="333333"/>
                </a:solidFill>
                <a:latin typeface="Courier New"/>
                <a:cs typeface="Courier New"/>
              </a:rPr>
              <a:t>customer_id SERIAL PRIMARY </a:t>
            </a:r>
            <a:r>
              <a:rPr sz="899" spc="-20" dirty="0">
                <a:solidFill>
                  <a:srgbClr val="333333"/>
                </a:solidFill>
                <a:latin typeface="Courier New"/>
                <a:cs typeface="Courier New"/>
              </a:rPr>
              <a:t>KEY,</a:t>
            </a:r>
            <a:endParaRPr sz="899">
              <a:latin typeface="Courier New"/>
              <a:cs typeface="Courier New"/>
            </a:endParaRPr>
          </a:p>
        </p:txBody>
      </p:sp>
      <p:sp>
        <p:nvSpPr>
          <p:cNvPr id="6" name="object 6"/>
          <p:cNvSpPr txBox="1"/>
          <p:nvPr/>
        </p:nvSpPr>
        <p:spPr>
          <a:xfrm>
            <a:off x="1548866" y="2260996"/>
            <a:ext cx="1954023" cy="337624"/>
          </a:xfrm>
          <a:prstGeom prst="rect">
            <a:avLst/>
          </a:prstGeom>
        </p:spPr>
        <p:txBody>
          <a:bodyPr vert="horz" wrap="square" lIns="0" tIns="12684" rIns="0" bIns="0" rtlCol="0">
            <a:spAutoFit/>
          </a:bodyPr>
          <a:lstStyle/>
          <a:p>
            <a:pPr marL="12685" marR="5074">
              <a:lnSpc>
                <a:spcPct val="120200"/>
              </a:lnSpc>
              <a:spcBef>
                <a:spcPts val="100"/>
              </a:spcBef>
            </a:pPr>
            <a:r>
              <a:rPr sz="899" dirty="0">
                <a:solidFill>
                  <a:srgbClr val="333333"/>
                </a:solidFill>
                <a:latin typeface="Courier New"/>
                <a:cs typeface="Courier New"/>
              </a:rPr>
              <a:t>VARCHAR(100) NOT </a:t>
            </a:r>
            <a:r>
              <a:rPr sz="899" spc="-10" dirty="0">
                <a:solidFill>
                  <a:srgbClr val="333333"/>
                </a:solidFill>
                <a:latin typeface="Courier New"/>
                <a:cs typeface="Courier New"/>
              </a:rPr>
              <a:t>NULL, </a:t>
            </a:r>
            <a:r>
              <a:rPr sz="899" dirty="0">
                <a:solidFill>
                  <a:srgbClr val="333333"/>
                </a:solidFill>
                <a:latin typeface="Courier New"/>
                <a:cs typeface="Courier New"/>
              </a:rPr>
              <a:t>VARCHAR(150) UNIQUE NOT </a:t>
            </a:r>
            <a:r>
              <a:rPr sz="899" spc="-20" dirty="0">
                <a:solidFill>
                  <a:srgbClr val="333333"/>
                </a:solidFill>
                <a:latin typeface="Courier New"/>
                <a:cs typeface="Courier New"/>
              </a:rPr>
              <a:t>NULL</a:t>
            </a:r>
            <a:endParaRPr sz="899">
              <a:latin typeface="Courier New"/>
              <a:cs typeface="Courier New"/>
            </a:endParaRPr>
          </a:p>
        </p:txBody>
      </p:sp>
      <p:sp>
        <p:nvSpPr>
          <p:cNvPr id="7" name="object 7"/>
          <p:cNvSpPr txBox="1"/>
          <p:nvPr/>
        </p:nvSpPr>
        <p:spPr>
          <a:xfrm>
            <a:off x="584779" y="2260996"/>
            <a:ext cx="783258" cy="519424"/>
          </a:xfrm>
          <a:prstGeom prst="rect">
            <a:avLst/>
          </a:prstGeom>
        </p:spPr>
        <p:txBody>
          <a:bodyPr vert="horz" wrap="square" lIns="0" tIns="12684" rIns="0" bIns="0" rtlCol="0">
            <a:spAutoFit/>
          </a:bodyPr>
          <a:lstStyle/>
          <a:p>
            <a:pPr marL="150314" marR="5074">
              <a:lnSpc>
                <a:spcPct val="120200"/>
              </a:lnSpc>
              <a:spcBef>
                <a:spcPts val="100"/>
              </a:spcBef>
            </a:pPr>
            <a:r>
              <a:rPr sz="899" spc="-10" dirty="0">
                <a:solidFill>
                  <a:srgbClr val="333333"/>
                </a:solidFill>
                <a:latin typeface="Courier New"/>
                <a:cs typeface="Courier New"/>
              </a:rPr>
              <a:t>full_name email</a:t>
            </a:r>
            <a:endParaRPr sz="899">
              <a:latin typeface="Courier New"/>
              <a:cs typeface="Courier New"/>
            </a:endParaRPr>
          </a:p>
          <a:p>
            <a:pPr marL="12685">
              <a:spcBef>
                <a:spcPts val="215"/>
              </a:spcBef>
            </a:pPr>
            <a:r>
              <a:rPr sz="899" spc="-25" dirty="0">
                <a:solidFill>
                  <a:srgbClr val="333333"/>
                </a:solidFill>
                <a:latin typeface="Courier New"/>
                <a:cs typeface="Courier New"/>
              </a:rPr>
              <a:t>);</a:t>
            </a:r>
            <a:endParaRPr sz="899">
              <a:latin typeface="Courier New"/>
              <a:cs typeface="Courier New"/>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79619" y="273628"/>
            <a:ext cx="2054228" cy="4566363"/>
          </a:xfrm>
          <a:custGeom>
            <a:avLst/>
            <a:gdLst/>
            <a:ahLst/>
            <a:cxnLst/>
            <a:rect l="l" t="t" r="r" b="b"/>
            <a:pathLst>
              <a:path w="2056764" h="4572000">
                <a:moveTo>
                  <a:pt x="72720" y="0"/>
                </a:moveTo>
                <a:lnTo>
                  <a:pt x="0" y="0"/>
                </a:lnTo>
                <a:lnTo>
                  <a:pt x="0" y="4571631"/>
                </a:lnTo>
                <a:lnTo>
                  <a:pt x="36360" y="4571631"/>
                </a:lnTo>
                <a:lnTo>
                  <a:pt x="72720" y="4571631"/>
                </a:lnTo>
                <a:lnTo>
                  <a:pt x="72720" y="0"/>
                </a:lnTo>
                <a:close/>
              </a:path>
              <a:path w="2056764" h="4572000">
                <a:moveTo>
                  <a:pt x="2056676" y="355"/>
                </a:moveTo>
                <a:lnTo>
                  <a:pt x="228244" y="355"/>
                </a:lnTo>
                <a:lnTo>
                  <a:pt x="228244" y="320040"/>
                </a:lnTo>
                <a:lnTo>
                  <a:pt x="1142644" y="320040"/>
                </a:lnTo>
                <a:lnTo>
                  <a:pt x="2056676" y="320040"/>
                </a:lnTo>
                <a:lnTo>
                  <a:pt x="2056676" y="355"/>
                </a:lnTo>
                <a:close/>
              </a:path>
            </a:pathLst>
          </a:custGeom>
          <a:solidFill>
            <a:srgbClr val="00695B"/>
          </a:solidFill>
        </p:spPr>
        <p:txBody>
          <a:bodyPr wrap="square" lIns="0" tIns="0" rIns="0" bIns="0" rtlCol="0"/>
          <a:lstStyle/>
          <a:p>
            <a:endParaRPr sz="1798"/>
          </a:p>
        </p:txBody>
      </p:sp>
      <p:sp>
        <p:nvSpPr>
          <p:cNvPr id="3" name="object 3"/>
          <p:cNvSpPr txBox="1"/>
          <p:nvPr/>
        </p:nvSpPr>
        <p:spPr>
          <a:xfrm>
            <a:off x="1100740" y="345079"/>
            <a:ext cx="641193" cy="166379"/>
          </a:xfrm>
          <a:prstGeom prst="rect">
            <a:avLst/>
          </a:prstGeom>
        </p:spPr>
        <p:txBody>
          <a:bodyPr vert="horz" wrap="square" lIns="0" tIns="12684" rIns="0" bIns="0" rtlCol="0">
            <a:spAutoFit/>
          </a:bodyPr>
          <a:lstStyle/>
          <a:p>
            <a:pPr marL="12685">
              <a:spcBef>
                <a:spcPts val="100"/>
              </a:spcBef>
            </a:pPr>
            <a:r>
              <a:rPr sz="999" b="1" spc="-10" dirty="0">
                <a:solidFill>
                  <a:srgbClr val="FFFFFF"/>
                </a:solidFill>
                <a:latin typeface="Calibri"/>
                <a:cs typeface="Calibri"/>
              </a:rPr>
              <a:t>DEFINITION</a:t>
            </a:r>
            <a:endParaRPr sz="999">
              <a:latin typeface="Calibri"/>
              <a:cs typeface="Calibri"/>
            </a:endParaRPr>
          </a:p>
        </p:txBody>
      </p:sp>
      <p:sp>
        <p:nvSpPr>
          <p:cNvPr id="4" name="object 4" descr="$PPTXTitle"/>
          <p:cNvSpPr txBox="1">
            <a:spLocks noGrp="1"/>
          </p:cNvSpPr>
          <p:nvPr>
            <p:ph type="title"/>
          </p:nvPr>
        </p:nvSpPr>
        <p:spPr>
          <a:xfrm>
            <a:off x="494898" y="748137"/>
            <a:ext cx="6450621" cy="330427"/>
          </a:xfrm>
          <a:prstGeom prst="rect">
            <a:avLst/>
          </a:prstGeom>
        </p:spPr>
        <p:txBody>
          <a:bodyPr vert="horz" wrap="square" lIns="0" tIns="12684" rIns="0" bIns="0" rtlCol="0">
            <a:spAutoFit/>
          </a:bodyPr>
          <a:lstStyle/>
          <a:p>
            <a:pPr marL="12685">
              <a:spcBef>
                <a:spcPts val="100"/>
              </a:spcBef>
            </a:pPr>
            <a:r>
              <a:rPr sz="1998" dirty="0">
                <a:solidFill>
                  <a:srgbClr val="202020"/>
                </a:solidFill>
                <a:latin typeface="Georgia"/>
                <a:cs typeface="Georgia"/>
              </a:rPr>
              <a:t>FOREIGN</a:t>
            </a:r>
            <a:r>
              <a:rPr sz="1998" spc="-20" dirty="0">
                <a:solidFill>
                  <a:srgbClr val="202020"/>
                </a:solidFill>
                <a:latin typeface="Georgia"/>
                <a:cs typeface="Georgia"/>
              </a:rPr>
              <a:t> </a:t>
            </a:r>
            <a:r>
              <a:rPr sz="1998" dirty="0">
                <a:solidFill>
                  <a:srgbClr val="202020"/>
                </a:solidFill>
                <a:latin typeface="Georgia"/>
                <a:cs typeface="Georgia"/>
              </a:rPr>
              <a:t>KEY</a:t>
            </a:r>
            <a:r>
              <a:rPr sz="1998" spc="-15" dirty="0">
                <a:solidFill>
                  <a:srgbClr val="202020"/>
                </a:solidFill>
                <a:latin typeface="Georgia"/>
                <a:cs typeface="Georgia"/>
              </a:rPr>
              <a:t> </a:t>
            </a:r>
            <a:r>
              <a:rPr sz="1998" dirty="0">
                <a:solidFill>
                  <a:srgbClr val="202020"/>
                </a:solidFill>
                <a:latin typeface="Georgia"/>
                <a:cs typeface="Georgia"/>
              </a:rPr>
              <a:t>-</a:t>
            </a:r>
            <a:r>
              <a:rPr sz="1998" spc="-15" dirty="0">
                <a:solidFill>
                  <a:srgbClr val="202020"/>
                </a:solidFill>
                <a:latin typeface="Georgia"/>
                <a:cs typeface="Georgia"/>
              </a:rPr>
              <a:t> </a:t>
            </a:r>
            <a:r>
              <a:rPr sz="1998" dirty="0">
                <a:solidFill>
                  <a:srgbClr val="202020"/>
                </a:solidFill>
                <a:latin typeface="Georgia"/>
                <a:cs typeface="Georgia"/>
              </a:rPr>
              <a:t>The</a:t>
            </a:r>
            <a:r>
              <a:rPr sz="1998" spc="-15" dirty="0">
                <a:solidFill>
                  <a:srgbClr val="202020"/>
                </a:solidFill>
                <a:latin typeface="Georgia"/>
                <a:cs typeface="Georgia"/>
              </a:rPr>
              <a:t> </a:t>
            </a:r>
            <a:r>
              <a:rPr sz="1998" dirty="0">
                <a:solidFill>
                  <a:srgbClr val="202020"/>
                </a:solidFill>
                <a:latin typeface="Georgia"/>
                <a:cs typeface="Georgia"/>
              </a:rPr>
              <a:t>Bridge</a:t>
            </a:r>
            <a:r>
              <a:rPr sz="1998" spc="-15" dirty="0">
                <a:solidFill>
                  <a:srgbClr val="202020"/>
                </a:solidFill>
                <a:latin typeface="Georgia"/>
                <a:cs typeface="Georgia"/>
              </a:rPr>
              <a:t> </a:t>
            </a:r>
            <a:r>
              <a:rPr sz="1998" dirty="0">
                <a:solidFill>
                  <a:srgbClr val="202020"/>
                </a:solidFill>
                <a:latin typeface="Georgia"/>
                <a:cs typeface="Georgia"/>
              </a:rPr>
              <a:t>Between</a:t>
            </a:r>
            <a:r>
              <a:rPr sz="1998" spc="-15" dirty="0">
                <a:solidFill>
                  <a:srgbClr val="202020"/>
                </a:solidFill>
                <a:latin typeface="Georgia"/>
                <a:cs typeface="Georgia"/>
              </a:rPr>
              <a:t> </a:t>
            </a:r>
            <a:r>
              <a:rPr sz="1998" dirty="0">
                <a:solidFill>
                  <a:srgbClr val="202020"/>
                </a:solidFill>
                <a:latin typeface="Georgia"/>
                <a:cs typeface="Georgia"/>
              </a:rPr>
              <a:t>Tables</a:t>
            </a:r>
            <a:r>
              <a:rPr sz="1998" spc="-15" dirty="0">
                <a:solidFill>
                  <a:srgbClr val="202020"/>
                </a:solidFill>
                <a:latin typeface="Georgia"/>
                <a:cs typeface="Georgia"/>
              </a:rPr>
              <a:t> </a:t>
            </a:r>
            <a:r>
              <a:rPr sz="1998" spc="-10" dirty="0">
                <a:solidFill>
                  <a:srgbClr val="202020"/>
                </a:solidFill>
                <a:latin typeface="Georgia"/>
                <a:cs typeface="Georgia"/>
              </a:rPr>
              <a:t>(2/2)</a:t>
            </a:r>
            <a:endParaRPr sz="1998">
              <a:latin typeface="Georgia"/>
              <a:cs typeface="Georgia"/>
            </a:endParaRPr>
          </a:p>
        </p:txBody>
      </p:sp>
      <p:sp>
        <p:nvSpPr>
          <p:cNvPr id="5" name="object 5"/>
          <p:cNvSpPr txBox="1"/>
          <p:nvPr/>
        </p:nvSpPr>
        <p:spPr>
          <a:xfrm>
            <a:off x="584779" y="1219002"/>
            <a:ext cx="5052807" cy="2514124"/>
          </a:xfrm>
          <a:prstGeom prst="rect">
            <a:avLst/>
          </a:prstGeom>
        </p:spPr>
        <p:txBody>
          <a:bodyPr vert="horz" wrap="square" lIns="0" tIns="12684" rIns="0" bIns="0" rtlCol="0">
            <a:spAutoFit/>
          </a:bodyPr>
          <a:lstStyle/>
          <a:p>
            <a:pPr marL="150314" marR="2759570" indent="-138264">
              <a:lnSpc>
                <a:spcPct val="120200"/>
              </a:lnSpc>
              <a:spcBef>
                <a:spcPts val="100"/>
              </a:spcBef>
              <a:tabLst>
                <a:tab pos="976727" algn="l"/>
              </a:tabLst>
            </a:pPr>
            <a:r>
              <a:rPr sz="899" dirty="0">
                <a:solidFill>
                  <a:srgbClr val="333333"/>
                </a:solidFill>
                <a:latin typeface="Courier New"/>
                <a:cs typeface="Courier New"/>
              </a:rPr>
              <a:t>CREATE TABLE day_4.rm_orders </a:t>
            </a:r>
            <a:r>
              <a:rPr sz="899" spc="-50" dirty="0">
                <a:solidFill>
                  <a:srgbClr val="333333"/>
                </a:solidFill>
                <a:latin typeface="Courier New"/>
                <a:cs typeface="Courier New"/>
              </a:rPr>
              <a:t>( </a:t>
            </a:r>
            <a:r>
              <a:rPr sz="899" spc="-10" dirty="0">
                <a:solidFill>
                  <a:srgbClr val="333333"/>
                </a:solidFill>
                <a:latin typeface="Courier New"/>
                <a:cs typeface="Courier New"/>
              </a:rPr>
              <a:t>order_id</a:t>
            </a:r>
            <a:r>
              <a:rPr sz="899" dirty="0">
                <a:solidFill>
                  <a:srgbClr val="333333"/>
                </a:solidFill>
                <a:latin typeface="Courier New"/>
                <a:cs typeface="Courier New"/>
              </a:rPr>
              <a:t>	SERIAL PRIMARY </a:t>
            </a:r>
            <a:r>
              <a:rPr sz="899" spc="-20" dirty="0">
                <a:solidFill>
                  <a:srgbClr val="333333"/>
                </a:solidFill>
                <a:latin typeface="Courier New"/>
                <a:cs typeface="Courier New"/>
              </a:rPr>
              <a:t>KEY, </a:t>
            </a:r>
            <a:r>
              <a:rPr sz="899" dirty="0">
                <a:solidFill>
                  <a:srgbClr val="333333"/>
                </a:solidFill>
                <a:latin typeface="Courier New"/>
                <a:cs typeface="Courier New"/>
              </a:rPr>
              <a:t>customer_id INT NOT </a:t>
            </a:r>
            <a:r>
              <a:rPr sz="899" spc="-20" dirty="0">
                <a:solidFill>
                  <a:srgbClr val="333333"/>
                </a:solidFill>
                <a:latin typeface="Courier New"/>
                <a:cs typeface="Courier New"/>
              </a:rPr>
              <a:t>NULL</a:t>
            </a:r>
            <a:endParaRPr sz="899">
              <a:latin typeface="Courier New"/>
              <a:cs typeface="Courier New"/>
            </a:endParaRPr>
          </a:p>
          <a:p>
            <a:pPr marL="150314" marR="899984" indent="275259">
              <a:lnSpc>
                <a:spcPct val="120200"/>
              </a:lnSpc>
            </a:pPr>
            <a:r>
              <a:rPr sz="899" dirty="0">
                <a:solidFill>
                  <a:srgbClr val="333333"/>
                </a:solidFill>
                <a:latin typeface="Courier New"/>
                <a:cs typeface="Courier New"/>
              </a:rPr>
              <a:t>REFERENCES </a:t>
            </a:r>
            <a:r>
              <a:rPr sz="899" spc="-10" dirty="0">
                <a:solidFill>
                  <a:srgbClr val="333333"/>
                </a:solidFill>
                <a:latin typeface="Courier New"/>
                <a:cs typeface="Courier New"/>
              </a:rPr>
              <a:t>day_4.rm_customers(customer_id),</a:t>
            </a:r>
            <a:r>
              <a:rPr sz="899" spc="499" dirty="0">
                <a:solidFill>
                  <a:srgbClr val="333333"/>
                </a:solidFill>
                <a:latin typeface="Courier New"/>
                <a:cs typeface="Courier New"/>
              </a:rPr>
              <a:t> </a:t>
            </a:r>
            <a:r>
              <a:rPr sz="899" dirty="0">
                <a:solidFill>
                  <a:srgbClr val="333333"/>
                </a:solidFill>
                <a:latin typeface="Courier New"/>
                <a:cs typeface="Courier New"/>
              </a:rPr>
              <a:t>order_total NUMERIC(10,2) NOT NULL CHECK (order_total &gt; </a:t>
            </a:r>
            <a:r>
              <a:rPr sz="899" spc="-25" dirty="0">
                <a:solidFill>
                  <a:srgbClr val="333333"/>
                </a:solidFill>
                <a:latin typeface="Courier New"/>
                <a:cs typeface="Courier New"/>
              </a:rPr>
              <a:t>0)</a:t>
            </a:r>
            <a:endParaRPr sz="899">
              <a:latin typeface="Courier New"/>
              <a:cs typeface="Courier New"/>
            </a:endParaRPr>
          </a:p>
          <a:p>
            <a:pPr marL="12685">
              <a:spcBef>
                <a:spcPts val="215"/>
              </a:spcBef>
            </a:pPr>
            <a:r>
              <a:rPr sz="899" spc="-25" dirty="0">
                <a:solidFill>
                  <a:srgbClr val="333333"/>
                </a:solidFill>
                <a:latin typeface="Courier New"/>
                <a:cs typeface="Courier New"/>
              </a:rPr>
              <a:t>);</a:t>
            </a:r>
            <a:endParaRPr sz="899">
              <a:latin typeface="Courier New"/>
              <a:cs typeface="Courier New"/>
            </a:endParaRPr>
          </a:p>
          <a:p>
            <a:pPr>
              <a:spcBef>
                <a:spcPts val="854"/>
              </a:spcBef>
            </a:pPr>
            <a:endParaRPr sz="899">
              <a:latin typeface="Courier New"/>
              <a:cs typeface="Courier New"/>
            </a:endParaRPr>
          </a:p>
          <a:p>
            <a:pPr marL="12685" marR="1657264">
              <a:lnSpc>
                <a:spcPct val="120200"/>
              </a:lnSpc>
            </a:pPr>
            <a:r>
              <a:rPr sz="899" dirty="0">
                <a:solidFill>
                  <a:srgbClr val="333333"/>
                </a:solidFill>
                <a:latin typeface="Courier New"/>
                <a:cs typeface="Courier New"/>
              </a:rPr>
              <a:t>INSERT INTO day_4.rm_customers (full_name, </a:t>
            </a:r>
            <a:r>
              <a:rPr sz="899" spc="-10" dirty="0">
                <a:solidFill>
                  <a:srgbClr val="333333"/>
                </a:solidFill>
                <a:latin typeface="Courier New"/>
                <a:cs typeface="Courier New"/>
              </a:rPr>
              <a:t>email) </a:t>
            </a:r>
            <a:r>
              <a:rPr sz="899" dirty="0">
                <a:solidFill>
                  <a:srgbClr val="333333"/>
                </a:solidFill>
                <a:latin typeface="Courier New"/>
                <a:cs typeface="Courier New"/>
              </a:rPr>
              <a:t>VALUES ('Meera', </a:t>
            </a:r>
            <a:r>
              <a:rPr sz="899" spc="-10" dirty="0">
                <a:solidFill>
                  <a:srgbClr val="333333"/>
                </a:solidFill>
                <a:latin typeface="Courier New"/>
                <a:cs typeface="Courier New"/>
                <a:hlinkClick r:id="rId2"/>
              </a:rPr>
              <a:t>'meera@gmail.com'</a:t>
            </a:r>
            <a:r>
              <a:rPr sz="899" spc="-10" dirty="0">
                <a:solidFill>
                  <a:srgbClr val="333333"/>
                </a:solidFill>
                <a:latin typeface="Courier New"/>
                <a:cs typeface="Courier New"/>
              </a:rPr>
              <a:t>);</a:t>
            </a:r>
            <a:endParaRPr sz="899">
              <a:latin typeface="Courier New"/>
              <a:cs typeface="Courier New"/>
            </a:endParaRPr>
          </a:p>
          <a:p>
            <a:pPr marL="12685" marR="1312873">
              <a:lnSpc>
                <a:spcPct val="120200"/>
              </a:lnSpc>
              <a:tabLst>
                <a:tab pos="1596377" algn="l"/>
              </a:tabLst>
            </a:pPr>
            <a:r>
              <a:rPr sz="899" dirty="0">
                <a:solidFill>
                  <a:srgbClr val="333333"/>
                </a:solidFill>
                <a:latin typeface="Courier New"/>
                <a:cs typeface="Courier New"/>
              </a:rPr>
              <a:t>INSERT INTO day_4.rm_orders (customer_id, </a:t>
            </a:r>
            <a:r>
              <a:rPr sz="899" spc="-10" dirty="0">
                <a:solidFill>
                  <a:srgbClr val="333333"/>
                </a:solidFill>
                <a:latin typeface="Courier New"/>
                <a:cs typeface="Courier New"/>
              </a:rPr>
              <a:t>order_total) </a:t>
            </a:r>
            <a:r>
              <a:rPr sz="899" dirty="0">
                <a:solidFill>
                  <a:srgbClr val="333333"/>
                </a:solidFill>
                <a:latin typeface="Courier New"/>
                <a:cs typeface="Courier New"/>
              </a:rPr>
              <a:t>VALUES (1, </a:t>
            </a:r>
            <a:r>
              <a:rPr sz="899" spc="-10" dirty="0">
                <a:solidFill>
                  <a:srgbClr val="333333"/>
                </a:solidFill>
                <a:latin typeface="Courier New"/>
                <a:cs typeface="Courier New"/>
              </a:rPr>
              <a:t>2499.00);</a:t>
            </a:r>
            <a:r>
              <a:rPr sz="899" dirty="0">
                <a:solidFill>
                  <a:srgbClr val="333333"/>
                </a:solidFill>
                <a:latin typeface="Courier New"/>
                <a:cs typeface="Courier New"/>
              </a:rPr>
              <a:t>	-- OK, customer 1 </a:t>
            </a:r>
            <a:r>
              <a:rPr sz="899" spc="-10" dirty="0">
                <a:solidFill>
                  <a:srgbClr val="333333"/>
                </a:solidFill>
                <a:latin typeface="Courier New"/>
                <a:cs typeface="Courier New"/>
              </a:rPr>
              <a:t>exists</a:t>
            </a:r>
            <a:endParaRPr sz="899">
              <a:latin typeface="Courier New"/>
              <a:cs typeface="Courier New"/>
            </a:endParaRPr>
          </a:p>
          <a:p>
            <a:pPr>
              <a:lnSpc>
                <a:spcPct val="100000"/>
              </a:lnSpc>
            </a:pPr>
            <a:endParaRPr sz="899">
              <a:latin typeface="Courier New"/>
              <a:cs typeface="Courier New"/>
            </a:endParaRPr>
          </a:p>
          <a:p>
            <a:pPr>
              <a:spcBef>
                <a:spcPts val="55"/>
              </a:spcBef>
            </a:pPr>
            <a:endParaRPr sz="899">
              <a:latin typeface="Courier New"/>
              <a:cs typeface="Courier New"/>
            </a:endParaRPr>
          </a:p>
          <a:p>
            <a:pPr marL="12685"/>
            <a:r>
              <a:rPr sz="899" dirty="0">
                <a:solidFill>
                  <a:srgbClr val="699954"/>
                </a:solidFill>
                <a:latin typeface="Courier New"/>
                <a:cs typeface="Courier New"/>
              </a:rPr>
              <a:t>-- FAILS: customer 999 does not exist (orphan </a:t>
            </a:r>
            <a:r>
              <a:rPr sz="899" spc="-10" dirty="0">
                <a:solidFill>
                  <a:srgbClr val="699954"/>
                </a:solidFill>
                <a:latin typeface="Courier New"/>
                <a:cs typeface="Courier New"/>
              </a:rPr>
              <a:t>blocked)</a:t>
            </a:r>
            <a:endParaRPr sz="899">
              <a:latin typeface="Courier New"/>
              <a:cs typeface="Courier New"/>
            </a:endParaRPr>
          </a:p>
          <a:p>
            <a:pPr marL="12685">
              <a:spcBef>
                <a:spcPts val="215"/>
              </a:spcBef>
            </a:pPr>
            <a:r>
              <a:rPr sz="899" dirty="0">
                <a:solidFill>
                  <a:srgbClr val="333333"/>
                </a:solidFill>
                <a:latin typeface="Courier New"/>
                <a:cs typeface="Courier New"/>
              </a:rPr>
              <a:t>INSERT INTO day_4.rm_orders (customer_id, order_total) VALUES (999, </a:t>
            </a:r>
            <a:r>
              <a:rPr sz="899" spc="-10" dirty="0">
                <a:solidFill>
                  <a:srgbClr val="333333"/>
                </a:solidFill>
                <a:latin typeface="Courier New"/>
                <a:cs typeface="Courier New"/>
              </a:rPr>
              <a:t>500);</a:t>
            </a:r>
            <a:endParaRPr sz="899">
              <a:latin typeface="Courier New"/>
              <a:cs typeface="Courier New"/>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79619" y="273628"/>
            <a:ext cx="2054228" cy="4566363"/>
          </a:xfrm>
          <a:custGeom>
            <a:avLst/>
            <a:gdLst/>
            <a:ahLst/>
            <a:cxnLst/>
            <a:rect l="l" t="t" r="r" b="b"/>
            <a:pathLst>
              <a:path w="2056764" h="4572000">
                <a:moveTo>
                  <a:pt x="72720" y="0"/>
                </a:moveTo>
                <a:lnTo>
                  <a:pt x="0" y="0"/>
                </a:lnTo>
                <a:lnTo>
                  <a:pt x="0" y="4571631"/>
                </a:lnTo>
                <a:lnTo>
                  <a:pt x="36360" y="4571631"/>
                </a:lnTo>
                <a:lnTo>
                  <a:pt x="72720" y="4571631"/>
                </a:lnTo>
                <a:lnTo>
                  <a:pt x="72720" y="0"/>
                </a:lnTo>
                <a:close/>
              </a:path>
              <a:path w="2056764" h="4572000">
                <a:moveTo>
                  <a:pt x="2056676" y="355"/>
                </a:moveTo>
                <a:lnTo>
                  <a:pt x="228244" y="355"/>
                </a:lnTo>
                <a:lnTo>
                  <a:pt x="228244" y="320040"/>
                </a:lnTo>
                <a:lnTo>
                  <a:pt x="1142644" y="320040"/>
                </a:lnTo>
                <a:lnTo>
                  <a:pt x="2056676" y="320040"/>
                </a:lnTo>
                <a:lnTo>
                  <a:pt x="2056676" y="355"/>
                </a:lnTo>
                <a:close/>
              </a:path>
            </a:pathLst>
          </a:custGeom>
          <a:solidFill>
            <a:srgbClr val="00695B"/>
          </a:solidFill>
        </p:spPr>
        <p:txBody>
          <a:bodyPr wrap="square" lIns="0" tIns="0" rIns="0" bIns="0" rtlCol="0"/>
          <a:lstStyle/>
          <a:p>
            <a:endParaRPr sz="1798"/>
          </a:p>
        </p:txBody>
      </p:sp>
      <p:sp>
        <p:nvSpPr>
          <p:cNvPr id="3" name="object 3"/>
          <p:cNvSpPr txBox="1"/>
          <p:nvPr/>
        </p:nvSpPr>
        <p:spPr>
          <a:xfrm>
            <a:off x="1100740" y="345079"/>
            <a:ext cx="641193" cy="166379"/>
          </a:xfrm>
          <a:prstGeom prst="rect">
            <a:avLst/>
          </a:prstGeom>
        </p:spPr>
        <p:txBody>
          <a:bodyPr vert="horz" wrap="square" lIns="0" tIns="12684" rIns="0" bIns="0" rtlCol="0">
            <a:spAutoFit/>
          </a:bodyPr>
          <a:lstStyle/>
          <a:p>
            <a:pPr marL="12685">
              <a:spcBef>
                <a:spcPts val="100"/>
              </a:spcBef>
            </a:pPr>
            <a:r>
              <a:rPr sz="999" b="1" spc="-10" dirty="0">
                <a:solidFill>
                  <a:srgbClr val="FFFFFF"/>
                </a:solidFill>
                <a:latin typeface="Calibri"/>
                <a:cs typeface="Calibri"/>
              </a:rPr>
              <a:t>DEFINITION</a:t>
            </a:r>
            <a:endParaRPr sz="999">
              <a:latin typeface="Calibri"/>
              <a:cs typeface="Calibri"/>
            </a:endParaRPr>
          </a:p>
        </p:txBody>
      </p:sp>
      <p:sp>
        <p:nvSpPr>
          <p:cNvPr id="4" name="object 4" descr="$PPTXTitle"/>
          <p:cNvSpPr txBox="1">
            <a:spLocks noGrp="1"/>
          </p:cNvSpPr>
          <p:nvPr>
            <p:ph type="title"/>
          </p:nvPr>
        </p:nvSpPr>
        <p:spPr>
          <a:xfrm>
            <a:off x="494898" y="748137"/>
            <a:ext cx="6520384" cy="330427"/>
          </a:xfrm>
          <a:prstGeom prst="rect">
            <a:avLst/>
          </a:prstGeom>
        </p:spPr>
        <p:txBody>
          <a:bodyPr vert="horz" wrap="square" lIns="0" tIns="12684" rIns="0" bIns="0" rtlCol="0">
            <a:spAutoFit/>
          </a:bodyPr>
          <a:lstStyle/>
          <a:p>
            <a:pPr marL="12685">
              <a:spcBef>
                <a:spcPts val="100"/>
              </a:spcBef>
            </a:pPr>
            <a:r>
              <a:rPr sz="1998" dirty="0">
                <a:solidFill>
                  <a:srgbClr val="202020"/>
                </a:solidFill>
                <a:latin typeface="Georgia"/>
                <a:cs typeface="Georgia"/>
              </a:rPr>
              <a:t>ON</a:t>
            </a:r>
            <a:r>
              <a:rPr sz="1998" spc="-25" dirty="0">
                <a:solidFill>
                  <a:srgbClr val="202020"/>
                </a:solidFill>
                <a:latin typeface="Georgia"/>
                <a:cs typeface="Georgia"/>
              </a:rPr>
              <a:t> </a:t>
            </a:r>
            <a:r>
              <a:rPr sz="1998" dirty="0">
                <a:solidFill>
                  <a:srgbClr val="202020"/>
                </a:solidFill>
                <a:latin typeface="Georgia"/>
                <a:cs typeface="Georgia"/>
              </a:rPr>
              <a:t>DELETE</a:t>
            </a:r>
            <a:r>
              <a:rPr sz="1998" spc="-15" dirty="0">
                <a:solidFill>
                  <a:srgbClr val="202020"/>
                </a:solidFill>
                <a:latin typeface="Georgia"/>
                <a:cs typeface="Georgia"/>
              </a:rPr>
              <a:t> </a:t>
            </a:r>
            <a:r>
              <a:rPr sz="1998" dirty="0">
                <a:solidFill>
                  <a:srgbClr val="202020"/>
                </a:solidFill>
                <a:latin typeface="Georgia"/>
                <a:cs typeface="Georgia"/>
              </a:rPr>
              <a:t>Actions</a:t>
            </a:r>
            <a:r>
              <a:rPr sz="1998" spc="-25" dirty="0">
                <a:solidFill>
                  <a:srgbClr val="202020"/>
                </a:solidFill>
                <a:latin typeface="Georgia"/>
                <a:cs typeface="Georgia"/>
              </a:rPr>
              <a:t> </a:t>
            </a:r>
            <a:r>
              <a:rPr sz="1998" dirty="0">
                <a:solidFill>
                  <a:srgbClr val="202020"/>
                </a:solidFill>
                <a:latin typeface="Georgia"/>
                <a:cs typeface="Georgia"/>
              </a:rPr>
              <a:t>-</a:t>
            </a:r>
            <a:r>
              <a:rPr sz="1998" spc="-20" dirty="0">
                <a:solidFill>
                  <a:srgbClr val="202020"/>
                </a:solidFill>
                <a:latin typeface="Georgia"/>
                <a:cs typeface="Georgia"/>
              </a:rPr>
              <a:t> </a:t>
            </a:r>
            <a:r>
              <a:rPr sz="1998" dirty="0">
                <a:solidFill>
                  <a:srgbClr val="202020"/>
                </a:solidFill>
                <a:latin typeface="Georgia"/>
                <a:cs typeface="Georgia"/>
              </a:rPr>
              <a:t>What</a:t>
            </a:r>
            <a:r>
              <a:rPr sz="1998" spc="-25" dirty="0">
                <a:solidFill>
                  <a:srgbClr val="202020"/>
                </a:solidFill>
                <a:latin typeface="Georgia"/>
                <a:cs typeface="Georgia"/>
              </a:rPr>
              <a:t> </a:t>
            </a:r>
            <a:r>
              <a:rPr sz="1998" dirty="0">
                <a:solidFill>
                  <a:srgbClr val="202020"/>
                </a:solidFill>
                <a:latin typeface="Georgia"/>
                <a:cs typeface="Georgia"/>
              </a:rPr>
              <a:t>Happens</a:t>
            </a:r>
            <a:r>
              <a:rPr sz="1998" spc="-20" dirty="0">
                <a:solidFill>
                  <a:srgbClr val="202020"/>
                </a:solidFill>
                <a:latin typeface="Georgia"/>
                <a:cs typeface="Georgia"/>
              </a:rPr>
              <a:t> </a:t>
            </a:r>
            <a:r>
              <a:rPr sz="1998" dirty="0">
                <a:solidFill>
                  <a:srgbClr val="202020"/>
                </a:solidFill>
                <a:latin typeface="Georgia"/>
                <a:cs typeface="Georgia"/>
              </a:rPr>
              <a:t>to</a:t>
            </a:r>
            <a:r>
              <a:rPr sz="1998" spc="-20" dirty="0">
                <a:solidFill>
                  <a:srgbClr val="202020"/>
                </a:solidFill>
                <a:latin typeface="Georgia"/>
                <a:cs typeface="Georgia"/>
              </a:rPr>
              <a:t> </a:t>
            </a:r>
            <a:r>
              <a:rPr sz="1998" spc="-10" dirty="0">
                <a:solidFill>
                  <a:srgbClr val="202020"/>
                </a:solidFill>
                <a:latin typeface="Georgia"/>
                <a:cs typeface="Georgia"/>
              </a:rPr>
              <a:t>Children?</a:t>
            </a:r>
            <a:endParaRPr sz="1998">
              <a:latin typeface="Georgia"/>
              <a:cs typeface="Georgia"/>
            </a:endParaRPr>
          </a:p>
        </p:txBody>
      </p:sp>
      <p:sp>
        <p:nvSpPr>
          <p:cNvPr id="5" name="object 5"/>
          <p:cNvSpPr txBox="1"/>
          <p:nvPr/>
        </p:nvSpPr>
        <p:spPr>
          <a:xfrm>
            <a:off x="584779" y="1258707"/>
            <a:ext cx="6802611" cy="212297"/>
          </a:xfrm>
          <a:prstGeom prst="rect">
            <a:avLst/>
          </a:prstGeom>
        </p:spPr>
        <p:txBody>
          <a:bodyPr vert="horz" wrap="square" lIns="0" tIns="12684" rIns="0" bIns="0" rtlCol="0">
            <a:spAutoFit/>
          </a:bodyPr>
          <a:lstStyle/>
          <a:p>
            <a:pPr marL="12685">
              <a:spcBef>
                <a:spcPts val="100"/>
              </a:spcBef>
            </a:pPr>
            <a:r>
              <a:rPr sz="1298" dirty="0">
                <a:solidFill>
                  <a:srgbClr val="202020"/>
                </a:solidFill>
                <a:latin typeface="Calibri"/>
                <a:cs typeface="Calibri"/>
              </a:rPr>
              <a:t>When</a:t>
            </a:r>
            <a:r>
              <a:rPr sz="1298" spc="-35" dirty="0">
                <a:solidFill>
                  <a:srgbClr val="202020"/>
                </a:solidFill>
                <a:latin typeface="Calibri"/>
                <a:cs typeface="Calibri"/>
              </a:rPr>
              <a:t> </a:t>
            </a:r>
            <a:r>
              <a:rPr sz="1298" dirty="0">
                <a:solidFill>
                  <a:srgbClr val="202020"/>
                </a:solidFill>
                <a:latin typeface="Calibri"/>
                <a:cs typeface="Calibri"/>
              </a:rPr>
              <a:t>you</a:t>
            </a:r>
            <a:r>
              <a:rPr sz="1298" spc="-35" dirty="0">
                <a:solidFill>
                  <a:srgbClr val="202020"/>
                </a:solidFill>
                <a:latin typeface="Calibri"/>
                <a:cs typeface="Calibri"/>
              </a:rPr>
              <a:t> </a:t>
            </a:r>
            <a:r>
              <a:rPr sz="1298" spc="-10" dirty="0">
                <a:solidFill>
                  <a:srgbClr val="202020"/>
                </a:solidFill>
                <a:latin typeface="Calibri"/>
                <a:cs typeface="Calibri"/>
              </a:rPr>
              <a:t>delete</a:t>
            </a:r>
            <a:r>
              <a:rPr sz="1298" spc="-35" dirty="0">
                <a:solidFill>
                  <a:srgbClr val="202020"/>
                </a:solidFill>
                <a:latin typeface="Calibri"/>
                <a:cs typeface="Calibri"/>
              </a:rPr>
              <a:t> </a:t>
            </a:r>
            <a:r>
              <a:rPr sz="1298" dirty="0">
                <a:solidFill>
                  <a:srgbClr val="202020"/>
                </a:solidFill>
                <a:latin typeface="Calibri"/>
                <a:cs typeface="Calibri"/>
              </a:rPr>
              <a:t>a</a:t>
            </a:r>
            <a:r>
              <a:rPr sz="1298" spc="-35" dirty="0">
                <a:solidFill>
                  <a:srgbClr val="202020"/>
                </a:solidFill>
                <a:latin typeface="Calibri"/>
                <a:cs typeface="Calibri"/>
              </a:rPr>
              <a:t> </a:t>
            </a:r>
            <a:r>
              <a:rPr sz="1298" spc="-10" dirty="0">
                <a:solidFill>
                  <a:srgbClr val="202020"/>
                </a:solidFill>
                <a:latin typeface="Calibri"/>
                <a:cs typeface="Calibri"/>
              </a:rPr>
              <a:t>parent</a:t>
            </a:r>
            <a:r>
              <a:rPr sz="1298" spc="-35" dirty="0">
                <a:solidFill>
                  <a:srgbClr val="202020"/>
                </a:solidFill>
                <a:latin typeface="Calibri"/>
                <a:cs typeface="Calibri"/>
              </a:rPr>
              <a:t> </a:t>
            </a:r>
            <a:r>
              <a:rPr sz="1298" dirty="0">
                <a:solidFill>
                  <a:srgbClr val="202020"/>
                </a:solidFill>
                <a:latin typeface="Calibri"/>
                <a:cs typeface="Calibri"/>
              </a:rPr>
              <a:t>row</a:t>
            </a:r>
            <a:r>
              <a:rPr sz="1298" spc="-35" dirty="0">
                <a:solidFill>
                  <a:srgbClr val="202020"/>
                </a:solidFill>
                <a:latin typeface="Calibri"/>
                <a:cs typeface="Calibri"/>
              </a:rPr>
              <a:t> </a:t>
            </a:r>
            <a:r>
              <a:rPr sz="1298" dirty="0">
                <a:solidFill>
                  <a:srgbClr val="202020"/>
                </a:solidFill>
                <a:latin typeface="Calibri"/>
                <a:cs typeface="Calibri"/>
              </a:rPr>
              <a:t>that</a:t>
            </a:r>
            <a:r>
              <a:rPr sz="1298" spc="-35" dirty="0">
                <a:solidFill>
                  <a:srgbClr val="202020"/>
                </a:solidFill>
                <a:latin typeface="Calibri"/>
                <a:cs typeface="Calibri"/>
              </a:rPr>
              <a:t> </a:t>
            </a:r>
            <a:r>
              <a:rPr sz="1298" dirty="0">
                <a:solidFill>
                  <a:srgbClr val="202020"/>
                </a:solidFill>
                <a:latin typeface="Calibri"/>
                <a:cs typeface="Calibri"/>
              </a:rPr>
              <a:t>still</a:t>
            </a:r>
            <a:r>
              <a:rPr sz="1298" spc="-35" dirty="0">
                <a:solidFill>
                  <a:srgbClr val="202020"/>
                </a:solidFill>
                <a:latin typeface="Calibri"/>
                <a:cs typeface="Calibri"/>
              </a:rPr>
              <a:t> </a:t>
            </a:r>
            <a:r>
              <a:rPr sz="1298" dirty="0">
                <a:solidFill>
                  <a:srgbClr val="202020"/>
                </a:solidFill>
                <a:latin typeface="Calibri"/>
                <a:cs typeface="Calibri"/>
              </a:rPr>
              <a:t>has</a:t>
            </a:r>
            <a:r>
              <a:rPr sz="1298" spc="-35" dirty="0">
                <a:solidFill>
                  <a:srgbClr val="202020"/>
                </a:solidFill>
                <a:latin typeface="Calibri"/>
                <a:cs typeface="Calibri"/>
              </a:rPr>
              <a:t> </a:t>
            </a:r>
            <a:r>
              <a:rPr sz="1298" spc="-10" dirty="0">
                <a:solidFill>
                  <a:srgbClr val="202020"/>
                </a:solidFill>
                <a:latin typeface="Calibri"/>
                <a:cs typeface="Calibri"/>
              </a:rPr>
              <a:t>children,</a:t>
            </a:r>
            <a:r>
              <a:rPr sz="1298" spc="-35" dirty="0">
                <a:solidFill>
                  <a:srgbClr val="202020"/>
                </a:solidFill>
                <a:latin typeface="Calibri"/>
                <a:cs typeface="Calibri"/>
              </a:rPr>
              <a:t> </a:t>
            </a:r>
            <a:r>
              <a:rPr sz="1298" dirty="0">
                <a:solidFill>
                  <a:srgbClr val="202020"/>
                </a:solidFill>
                <a:latin typeface="Calibri"/>
                <a:cs typeface="Calibri"/>
              </a:rPr>
              <a:t>the</a:t>
            </a:r>
            <a:r>
              <a:rPr sz="1298" spc="-35" dirty="0">
                <a:solidFill>
                  <a:srgbClr val="202020"/>
                </a:solidFill>
                <a:latin typeface="Calibri"/>
                <a:cs typeface="Calibri"/>
              </a:rPr>
              <a:t> </a:t>
            </a:r>
            <a:r>
              <a:rPr sz="1298" dirty="0">
                <a:solidFill>
                  <a:srgbClr val="202020"/>
                </a:solidFill>
                <a:latin typeface="Calibri"/>
                <a:cs typeface="Calibri"/>
              </a:rPr>
              <a:t>FK's</a:t>
            </a:r>
            <a:r>
              <a:rPr sz="1298" spc="-35" dirty="0">
                <a:solidFill>
                  <a:srgbClr val="202020"/>
                </a:solidFill>
                <a:latin typeface="Calibri"/>
                <a:cs typeface="Calibri"/>
              </a:rPr>
              <a:t> </a:t>
            </a:r>
            <a:r>
              <a:rPr sz="1298" dirty="0">
                <a:solidFill>
                  <a:srgbClr val="202020"/>
                </a:solidFill>
                <a:latin typeface="Calibri"/>
                <a:cs typeface="Calibri"/>
              </a:rPr>
              <a:t>ON</a:t>
            </a:r>
            <a:r>
              <a:rPr sz="1298" spc="-35" dirty="0">
                <a:solidFill>
                  <a:srgbClr val="202020"/>
                </a:solidFill>
                <a:latin typeface="Calibri"/>
                <a:cs typeface="Calibri"/>
              </a:rPr>
              <a:t> </a:t>
            </a:r>
            <a:r>
              <a:rPr sz="1298" dirty="0">
                <a:solidFill>
                  <a:srgbClr val="202020"/>
                </a:solidFill>
                <a:latin typeface="Calibri"/>
                <a:cs typeface="Calibri"/>
              </a:rPr>
              <a:t>DELETE</a:t>
            </a:r>
            <a:r>
              <a:rPr sz="1298" spc="-35" dirty="0">
                <a:solidFill>
                  <a:srgbClr val="202020"/>
                </a:solidFill>
                <a:latin typeface="Calibri"/>
                <a:cs typeface="Calibri"/>
              </a:rPr>
              <a:t> </a:t>
            </a:r>
            <a:r>
              <a:rPr sz="1298" dirty="0">
                <a:solidFill>
                  <a:srgbClr val="202020"/>
                </a:solidFill>
                <a:latin typeface="Calibri"/>
                <a:cs typeface="Calibri"/>
              </a:rPr>
              <a:t>clause</a:t>
            </a:r>
            <a:r>
              <a:rPr sz="1298" spc="-35" dirty="0">
                <a:solidFill>
                  <a:srgbClr val="202020"/>
                </a:solidFill>
                <a:latin typeface="Calibri"/>
                <a:cs typeface="Calibri"/>
              </a:rPr>
              <a:t> </a:t>
            </a:r>
            <a:r>
              <a:rPr sz="1298" spc="-10" dirty="0">
                <a:solidFill>
                  <a:srgbClr val="202020"/>
                </a:solidFill>
                <a:latin typeface="Calibri"/>
                <a:cs typeface="Calibri"/>
              </a:rPr>
              <a:t>decides</a:t>
            </a:r>
            <a:r>
              <a:rPr sz="1298" spc="-35" dirty="0">
                <a:solidFill>
                  <a:srgbClr val="202020"/>
                </a:solidFill>
                <a:latin typeface="Calibri"/>
                <a:cs typeface="Calibri"/>
              </a:rPr>
              <a:t> </a:t>
            </a:r>
            <a:r>
              <a:rPr sz="1298" dirty="0">
                <a:solidFill>
                  <a:srgbClr val="202020"/>
                </a:solidFill>
                <a:latin typeface="Calibri"/>
                <a:cs typeface="Calibri"/>
              </a:rPr>
              <a:t>the</a:t>
            </a:r>
            <a:r>
              <a:rPr sz="1298" spc="-35" dirty="0">
                <a:solidFill>
                  <a:srgbClr val="202020"/>
                </a:solidFill>
                <a:latin typeface="Calibri"/>
                <a:cs typeface="Calibri"/>
              </a:rPr>
              <a:t> </a:t>
            </a:r>
            <a:r>
              <a:rPr sz="1298" spc="-10" dirty="0">
                <a:solidFill>
                  <a:srgbClr val="202020"/>
                </a:solidFill>
                <a:latin typeface="Calibri"/>
                <a:cs typeface="Calibri"/>
              </a:rPr>
              <a:t>outcome:</a:t>
            </a:r>
            <a:endParaRPr sz="1298">
              <a:latin typeface="Calibri"/>
              <a:cs typeface="Calibri"/>
            </a:endParaRPr>
          </a:p>
        </p:txBody>
      </p:sp>
      <p:sp>
        <p:nvSpPr>
          <p:cNvPr id="6" name="object 6"/>
          <p:cNvSpPr txBox="1"/>
          <p:nvPr/>
        </p:nvSpPr>
        <p:spPr>
          <a:xfrm>
            <a:off x="584779" y="1504861"/>
            <a:ext cx="79911" cy="682418"/>
          </a:xfrm>
          <a:prstGeom prst="rect">
            <a:avLst/>
          </a:prstGeom>
        </p:spPr>
        <p:txBody>
          <a:bodyPr vert="horz" wrap="square" lIns="0" tIns="48835" rIns="0" bIns="0" rtlCol="0">
            <a:spAutoFit/>
          </a:bodyPr>
          <a:lstStyle/>
          <a:p>
            <a:pPr marL="12685">
              <a:spcBef>
                <a:spcPts val="385"/>
              </a:spcBef>
            </a:pPr>
            <a:r>
              <a:rPr sz="1199" spc="-50" dirty="0">
                <a:solidFill>
                  <a:srgbClr val="202020"/>
                </a:solidFill>
                <a:latin typeface="Arial MT"/>
                <a:cs typeface="Arial MT"/>
              </a:rPr>
              <a:t>•</a:t>
            </a:r>
            <a:endParaRPr sz="1199">
              <a:latin typeface="Arial MT"/>
              <a:cs typeface="Arial MT"/>
            </a:endParaRPr>
          </a:p>
          <a:p>
            <a:pPr marL="12685">
              <a:spcBef>
                <a:spcPts val="285"/>
              </a:spcBef>
            </a:pPr>
            <a:r>
              <a:rPr sz="1199" spc="-50" dirty="0">
                <a:solidFill>
                  <a:srgbClr val="202020"/>
                </a:solidFill>
                <a:latin typeface="Arial MT"/>
                <a:cs typeface="Arial MT"/>
              </a:rPr>
              <a:t>•</a:t>
            </a:r>
            <a:endParaRPr sz="1199">
              <a:latin typeface="Arial MT"/>
              <a:cs typeface="Arial MT"/>
            </a:endParaRPr>
          </a:p>
          <a:p>
            <a:pPr marL="12685">
              <a:spcBef>
                <a:spcPts val="290"/>
              </a:spcBef>
            </a:pPr>
            <a:r>
              <a:rPr sz="1199" spc="-50" dirty="0">
                <a:solidFill>
                  <a:srgbClr val="202020"/>
                </a:solidFill>
                <a:latin typeface="Arial MT"/>
                <a:cs typeface="Arial MT"/>
              </a:rPr>
              <a:t>•</a:t>
            </a:r>
            <a:endParaRPr sz="1199">
              <a:latin typeface="Arial MT"/>
              <a:cs typeface="Arial MT"/>
            </a:endParaRPr>
          </a:p>
        </p:txBody>
      </p:sp>
      <p:sp>
        <p:nvSpPr>
          <p:cNvPr id="7" name="object 7"/>
          <p:cNvSpPr txBox="1"/>
          <p:nvPr/>
        </p:nvSpPr>
        <p:spPr>
          <a:xfrm>
            <a:off x="927433" y="1529304"/>
            <a:ext cx="6286359" cy="682418"/>
          </a:xfrm>
          <a:prstGeom prst="rect">
            <a:avLst/>
          </a:prstGeom>
        </p:spPr>
        <p:txBody>
          <a:bodyPr vert="horz" wrap="square" lIns="0" tIns="12684" rIns="0" bIns="0" rtlCol="0">
            <a:spAutoFit/>
          </a:bodyPr>
          <a:lstStyle/>
          <a:p>
            <a:pPr marL="12685" marR="99575">
              <a:lnSpc>
                <a:spcPct val="119900"/>
              </a:lnSpc>
              <a:spcBef>
                <a:spcPts val="100"/>
              </a:spcBef>
            </a:pPr>
            <a:r>
              <a:rPr sz="1199" dirty="0">
                <a:solidFill>
                  <a:srgbClr val="202020"/>
                </a:solidFill>
                <a:latin typeface="Calibri"/>
                <a:cs typeface="Calibri"/>
              </a:rPr>
              <a:t>RESTRICT</a:t>
            </a:r>
            <a:r>
              <a:rPr sz="1199" spc="-30" dirty="0">
                <a:solidFill>
                  <a:srgbClr val="202020"/>
                </a:solidFill>
                <a:latin typeface="Calibri"/>
                <a:cs typeface="Calibri"/>
              </a:rPr>
              <a:t> </a:t>
            </a:r>
            <a:r>
              <a:rPr sz="1199" spc="-10" dirty="0">
                <a:solidFill>
                  <a:srgbClr val="202020"/>
                </a:solidFill>
                <a:latin typeface="Calibri"/>
                <a:cs typeface="Calibri"/>
              </a:rPr>
              <a:t>(default):</a:t>
            </a:r>
            <a:r>
              <a:rPr sz="1199" spc="-25" dirty="0">
                <a:solidFill>
                  <a:srgbClr val="202020"/>
                </a:solidFill>
                <a:latin typeface="Calibri"/>
                <a:cs typeface="Calibri"/>
              </a:rPr>
              <a:t> </a:t>
            </a:r>
            <a:r>
              <a:rPr sz="1199" dirty="0">
                <a:solidFill>
                  <a:srgbClr val="202020"/>
                </a:solidFill>
                <a:latin typeface="Calibri"/>
                <a:cs typeface="Calibri"/>
              </a:rPr>
              <a:t>block</a:t>
            </a:r>
            <a:r>
              <a:rPr sz="1199" spc="-25" dirty="0">
                <a:solidFill>
                  <a:srgbClr val="202020"/>
                </a:solidFill>
                <a:latin typeface="Calibri"/>
                <a:cs typeface="Calibri"/>
              </a:rPr>
              <a:t> </a:t>
            </a:r>
            <a:r>
              <a:rPr sz="1199" dirty="0">
                <a:solidFill>
                  <a:srgbClr val="202020"/>
                </a:solidFill>
                <a:latin typeface="Calibri"/>
                <a:cs typeface="Calibri"/>
              </a:rPr>
              <a:t>the</a:t>
            </a:r>
            <a:r>
              <a:rPr sz="1199" spc="-30" dirty="0">
                <a:solidFill>
                  <a:srgbClr val="202020"/>
                </a:solidFill>
                <a:latin typeface="Calibri"/>
                <a:cs typeface="Calibri"/>
              </a:rPr>
              <a:t> </a:t>
            </a:r>
            <a:r>
              <a:rPr sz="1199" dirty="0">
                <a:solidFill>
                  <a:srgbClr val="202020"/>
                </a:solidFill>
                <a:latin typeface="Calibri"/>
                <a:cs typeface="Calibri"/>
              </a:rPr>
              <a:t>delete</a:t>
            </a:r>
            <a:r>
              <a:rPr sz="1199" spc="-25" dirty="0">
                <a:solidFill>
                  <a:srgbClr val="202020"/>
                </a:solidFill>
                <a:latin typeface="Calibri"/>
                <a:cs typeface="Calibri"/>
              </a:rPr>
              <a:t> </a:t>
            </a:r>
            <a:r>
              <a:rPr sz="1199" dirty="0">
                <a:solidFill>
                  <a:srgbClr val="202020"/>
                </a:solidFill>
                <a:latin typeface="Calibri"/>
                <a:cs typeface="Calibri"/>
              </a:rPr>
              <a:t>until</a:t>
            </a:r>
            <a:r>
              <a:rPr sz="1199" spc="-25" dirty="0">
                <a:solidFill>
                  <a:srgbClr val="202020"/>
                </a:solidFill>
                <a:latin typeface="Calibri"/>
                <a:cs typeface="Calibri"/>
              </a:rPr>
              <a:t> </a:t>
            </a:r>
            <a:r>
              <a:rPr sz="1199" dirty="0">
                <a:solidFill>
                  <a:srgbClr val="202020"/>
                </a:solidFill>
                <a:latin typeface="Calibri"/>
                <a:cs typeface="Calibri"/>
              </a:rPr>
              <a:t>children</a:t>
            </a:r>
            <a:r>
              <a:rPr sz="1199" spc="-25" dirty="0">
                <a:solidFill>
                  <a:srgbClr val="202020"/>
                </a:solidFill>
                <a:latin typeface="Calibri"/>
                <a:cs typeface="Calibri"/>
              </a:rPr>
              <a:t> </a:t>
            </a:r>
            <a:r>
              <a:rPr sz="1199" dirty="0">
                <a:solidFill>
                  <a:srgbClr val="202020"/>
                </a:solidFill>
                <a:latin typeface="Calibri"/>
                <a:cs typeface="Calibri"/>
              </a:rPr>
              <a:t>are</a:t>
            </a:r>
            <a:r>
              <a:rPr sz="1199" spc="-30" dirty="0">
                <a:solidFill>
                  <a:srgbClr val="202020"/>
                </a:solidFill>
                <a:latin typeface="Calibri"/>
                <a:cs typeface="Calibri"/>
              </a:rPr>
              <a:t> </a:t>
            </a:r>
            <a:r>
              <a:rPr sz="1199" dirty="0">
                <a:solidFill>
                  <a:srgbClr val="202020"/>
                </a:solidFill>
                <a:latin typeface="Calibri"/>
                <a:cs typeface="Calibri"/>
              </a:rPr>
              <a:t>handled.</a:t>
            </a:r>
            <a:r>
              <a:rPr sz="1199" spc="-25" dirty="0">
                <a:solidFill>
                  <a:srgbClr val="202020"/>
                </a:solidFill>
                <a:latin typeface="Calibri"/>
                <a:cs typeface="Calibri"/>
              </a:rPr>
              <a:t> </a:t>
            </a:r>
            <a:r>
              <a:rPr sz="1199" spc="-10" dirty="0">
                <a:solidFill>
                  <a:srgbClr val="202020"/>
                </a:solidFill>
                <a:latin typeface="Calibri"/>
                <a:cs typeface="Calibri"/>
              </a:rPr>
              <a:t>Safest</a:t>
            </a:r>
            <a:r>
              <a:rPr sz="1199" spc="-25" dirty="0">
                <a:solidFill>
                  <a:srgbClr val="202020"/>
                </a:solidFill>
                <a:latin typeface="Calibri"/>
                <a:cs typeface="Calibri"/>
              </a:rPr>
              <a:t> </a:t>
            </a:r>
            <a:r>
              <a:rPr sz="1199" dirty="0">
                <a:solidFill>
                  <a:srgbClr val="202020"/>
                </a:solidFill>
                <a:latin typeface="Calibri"/>
                <a:cs typeface="Calibri"/>
              </a:rPr>
              <a:t>-</a:t>
            </a:r>
            <a:r>
              <a:rPr sz="1199" spc="-25" dirty="0">
                <a:solidFill>
                  <a:srgbClr val="202020"/>
                </a:solidFill>
                <a:latin typeface="Calibri"/>
                <a:cs typeface="Calibri"/>
              </a:rPr>
              <a:t> </a:t>
            </a:r>
            <a:r>
              <a:rPr sz="1199" dirty="0">
                <a:solidFill>
                  <a:srgbClr val="202020"/>
                </a:solidFill>
                <a:latin typeface="Calibri"/>
                <a:cs typeface="Calibri"/>
              </a:rPr>
              <a:t>use</a:t>
            </a:r>
            <a:r>
              <a:rPr sz="1199" spc="-30" dirty="0">
                <a:solidFill>
                  <a:srgbClr val="202020"/>
                </a:solidFill>
                <a:latin typeface="Calibri"/>
                <a:cs typeface="Calibri"/>
              </a:rPr>
              <a:t> </a:t>
            </a:r>
            <a:r>
              <a:rPr sz="1199" dirty="0">
                <a:solidFill>
                  <a:srgbClr val="202020"/>
                </a:solidFill>
                <a:latin typeface="Calibri"/>
                <a:cs typeface="Calibri"/>
              </a:rPr>
              <a:t>for</a:t>
            </a:r>
            <a:r>
              <a:rPr sz="1199" spc="-25" dirty="0">
                <a:solidFill>
                  <a:srgbClr val="202020"/>
                </a:solidFill>
                <a:latin typeface="Calibri"/>
                <a:cs typeface="Calibri"/>
              </a:rPr>
              <a:t> </a:t>
            </a:r>
            <a:r>
              <a:rPr sz="1199" spc="-10" dirty="0">
                <a:solidFill>
                  <a:srgbClr val="202020"/>
                </a:solidFill>
                <a:latin typeface="Calibri"/>
                <a:cs typeface="Calibri"/>
              </a:rPr>
              <a:t>financial/critical</a:t>
            </a:r>
            <a:r>
              <a:rPr sz="1199" spc="-25" dirty="0">
                <a:solidFill>
                  <a:srgbClr val="202020"/>
                </a:solidFill>
                <a:latin typeface="Calibri"/>
                <a:cs typeface="Calibri"/>
              </a:rPr>
              <a:t> </a:t>
            </a:r>
            <a:r>
              <a:rPr sz="1199" spc="-10" dirty="0">
                <a:solidFill>
                  <a:srgbClr val="202020"/>
                </a:solidFill>
                <a:latin typeface="Calibri"/>
                <a:cs typeface="Calibri"/>
              </a:rPr>
              <a:t>data. </a:t>
            </a:r>
            <a:r>
              <a:rPr sz="1199" dirty="0">
                <a:solidFill>
                  <a:srgbClr val="202020"/>
                </a:solidFill>
                <a:latin typeface="Calibri"/>
                <a:cs typeface="Calibri"/>
              </a:rPr>
              <a:t>CASCADE:</a:t>
            </a:r>
            <a:r>
              <a:rPr sz="1199" spc="-40" dirty="0">
                <a:solidFill>
                  <a:srgbClr val="202020"/>
                </a:solidFill>
                <a:latin typeface="Calibri"/>
                <a:cs typeface="Calibri"/>
              </a:rPr>
              <a:t> </a:t>
            </a:r>
            <a:r>
              <a:rPr sz="1199" dirty="0">
                <a:solidFill>
                  <a:srgbClr val="202020"/>
                </a:solidFill>
                <a:latin typeface="Calibri"/>
                <a:cs typeface="Calibri"/>
              </a:rPr>
              <a:t>delete</a:t>
            </a:r>
            <a:r>
              <a:rPr sz="1199" spc="-35" dirty="0">
                <a:solidFill>
                  <a:srgbClr val="202020"/>
                </a:solidFill>
                <a:latin typeface="Calibri"/>
                <a:cs typeface="Calibri"/>
              </a:rPr>
              <a:t> </a:t>
            </a:r>
            <a:r>
              <a:rPr sz="1199" dirty="0">
                <a:solidFill>
                  <a:srgbClr val="202020"/>
                </a:solidFill>
                <a:latin typeface="Calibri"/>
                <a:cs typeface="Calibri"/>
              </a:rPr>
              <a:t>the</a:t>
            </a:r>
            <a:r>
              <a:rPr sz="1199" spc="-35" dirty="0">
                <a:solidFill>
                  <a:srgbClr val="202020"/>
                </a:solidFill>
                <a:latin typeface="Calibri"/>
                <a:cs typeface="Calibri"/>
              </a:rPr>
              <a:t> </a:t>
            </a:r>
            <a:r>
              <a:rPr sz="1199" dirty="0">
                <a:solidFill>
                  <a:srgbClr val="202020"/>
                </a:solidFill>
                <a:latin typeface="Calibri"/>
                <a:cs typeface="Calibri"/>
              </a:rPr>
              <a:t>children</a:t>
            </a:r>
            <a:r>
              <a:rPr sz="1199" spc="-35" dirty="0">
                <a:solidFill>
                  <a:srgbClr val="202020"/>
                </a:solidFill>
                <a:latin typeface="Calibri"/>
                <a:cs typeface="Calibri"/>
              </a:rPr>
              <a:t> </a:t>
            </a:r>
            <a:r>
              <a:rPr sz="1199" dirty="0">
                <a:solidFill>
                  <a:srgbClr val="202020"/>
                </a:solidFill>
                <a:latin typeface="Calibri"/>
                <a:cs typeface="Calibri"/>
              </a:rPr>
              <a:t>too.</a:t>
            </a:r>
            <a:r>
              <a:rPr sz="1199" spc="-35" dirty="0">
                <a:solidFill>
                  <a:srgbClr val="202020"/>
                </a:solidFill>
                <a:latin typeface="Calibri"/>
                <a:cs typeface="Calibri"/>
              </a:rPr>
              <a:t> </a:t>
            </a:r>
            <a:r>
              <a:rPr sz="1199" dirty="0">
                <a:solidFill>
                  <a:srgbClr val="202020"/>
                </a:solidFill>
                <a:latin typeface="Calibri"/>
                <a:cs typeface="Calibri"/>
              </a:rPr>
              <a:t>For</a:t>
            </a:r>
            <a:r>
              <a:rPr sz="1199" spc="-35" dirty="0">
                <a:solidFill>
                  <a:srgbClr val="202020"/>
                </a:solidFill>
                <a:latin typeface="Calibri"/>
                <a:cs typeface="Calibri"/>
              </a:rPr>
              <a:t> </a:t>
            </a:r>
            <a:r>
              <a:rPr sz="1199" dirty="0">
                <a:solidFill>
                  <a:srgbClr val="202020"/>
                </a:solidFill>
                <a:latin typeface="Calibri"/>
                <a:cs typeface="Calibri"/>
              </a:rPr>
              <a:t>disposable</a:t>
            </a:r>
            <a:r>
              <a:rPr sz="1199" spc="-35" dirty="0">
                <a:solidFill>
                  <a:srgbClr val="202020"/>
                </a:solidFill>
                <a:latin typeface="Calibri"/>
                <a:cs typeface="Calibri"/>
              </a:rPr>
              <a:t> </a:t>
            </a:r>
            <a:r>
              <a:rPr sz="1199" dirty="0">
                <a:solidFill>
                  <a:srgbClr val="202020"/>
                </a:solidFill>
                <a:latin typeface="Calibri"/>
                <a:cs typeface="Calibri"/>
              </a:rPr>
              <a:t>dependents</a:t>
            </a:r>
            <a:r>
              <a:rPr sz="1199" spc="-35" dirty="0">
                <a:solidFill>
                  <a:srgbClr val="202020"/>
                </a:solidFill>
                <a:latin typeface="Calibri"/>
                <a:cs typeface="Calibri"/>
              </a:rPr>
              <a:t> </a:t>
            </a:r>
            <a:r>
              <a:rPr sz="1199" spc="-10" dirty="0">
                <a:solidFill>
                  <a:srgbClr val="202020"/>
                </a:solidFill>
                <a:latin typeface="Calibri"/>
                <a:cs typeface="Calibri"/>
              </a:rPr>
              <a:t>(comments</a:t>
            </a:r>
            <a:r>
              <a:rPr sz="1199" spc="-35" dirty="0">
                <a:solidFill>
                  <a:srgbClr val="202020"/>
                </a:solidFill>
                <a:latin typeface="Calibri"/>
                <a:cs typeface="Calibri"/>
              </a:rPr>
              <a:t> </a:t>
            </a:r>
            <a:r>
              <a:rPr sz="1199" dirty="0">
                <a:solidFill>
                  <a:srgbClr val="202020"/>
                </a:solidFill>
                <a:latin typeface="Calibri"/>
                <a:cs typeface="Calibri"/>
              </a:rPr>
              <a:t>on</a:t>
            </a:r>
            <a:r>
              <a:rPr sz="1199" spc="-40" dirty="0">
                <a:solidFill>
                  <a:srgbClr val="202020"/>
                </a:solidFill>
                <a:latin typeface="Calibri"/>
                <a:cs typeface="Calibri"/>
              </a:rPr>
              <a:t> </a:t>
            </a:r>
            <a:r>
              <a:rPr sz="1199" dirty="0">
                <a:solidFill>
                  <a:srgbClr val="202020"/>
                </a:solidFill>
                <a:latin typeface="Calibri"/>
                <a:cs typeface="Calibri"/>
              </a:rPr>
              <a:t>a</a:t>
            </a:r>
            <a:r>
              <a:rPr sz="1199" spc="-35" dirty="0">
                <a:solidFill>
                  <a:srgbClr val="202020"/>
                </a:solidFill>
                <a:latin typeface="Calibri"/>
                <a:cs typeface="Calibri"/>
              </a:rPr>
              <a:t> </a:t>
            </a:r>
            <a:r>
              <a:rPr sz="1199" spc="-10" dirty="0">
                <a:solidFill>
                  <a:srgbClr val="202020"/>
                </a:solidFill>
                <a:latin typeface="Calibri"/>
                <a:cs typeface="Calibri"/>
              </a:rPr>
              <a:t>deleted</a:t>
            </a:r>
            <a:r>
              <a:rPr sz="1199" spc="-35" dirty="0">
                <a:solidFill>
                  <a:srgbClr val="202020"/>
                </a:solidFill>
                <a:latin typeface="Calibri"/>
                <a:cs typeface="Calibri"/>
              </a:rPr>
              <a:t> </a:t>
            </a:r>
            <a:r>
              <a:rPr sz="1199" spc="-10" dirty="0">
                <a:solidFill>
                  <a:srgbClr val="202020"/>
                </a:solidFill>
                <a:latin typeface="Calibri"/>
                <a:cs typeface="Calibri"/>
              </a:rPr>
              <a:t>post).</a:t>
            </a:r>
            <a:endParaRPr sz="1199">
              <a:latin typeface="Calibri"/>
              <a:cs typeface="Calibri"/>
            </a:endParaRPr>
          </a:p>
          <a:p>
            <a:pPr marL="12685">
              <a:spcBef>
                <a:spcPts val="285"/>
              </a:spcBef>
            </a:pPr>
            <a:r>
              <a:rPr sz="1199" dirty="0">
                <a:solidFill>
                  <a:srgbClr val="202020"/>
                </a:solidFill>
                <a:latin typeface="Calibri"/>
                <a:cs typeface="Calibri"/>
              </a:rPr>
              <a:t>SET</a:t>
            </a:r>
            <a:r>
              <a:rPr sz="1199" spc="-30" dirty="0">
                <a:solidFill>
                  <a:srgbClr val="202020"/>
                </a:solidFill>
                <a:latin typeface="Calibri"/>
                <a:cs typeface="Calibri"/>
              </a:rPr>
              <a:t> </a:t>
            </a:r>
            <a:r>
              <a:rPr sz="1199" dirty="0">
                <a:solidFill>
                  <a:srgbClr val="202020"/>
                </a:solidFill>
                <a:latin typeface="Calibri"/>
                <a:cs typeface="Calibri"/>
              </a:rPr>
              <a:t>NULL:</a:t>
            </a:r>
            <a:r>
              <a:rPr sz="1199" spc="-25" dirty="0">
                <a:solidFill>
                  <a:srgbClr val="202020"/>
                </a:solidFill>
                <a:latin typeface="Calibri"/>
                <a:cs typeface="Calibri"/>
              </a:rPr>
              <a:t> </a:t>
            </a:r>
            <a:r>
              <a:rPr sz="1199" spc="-10" dirty="0">
                <a:solidFill>
                  <a:srgbClr val="202020"/>
                </a:solidFill>
                <a:latin typeface="Calibri"/>
                <a:cs typeface="Calibri"/>
              </a:rPr>
              <a:t>keep</a:t>
            </a:r>
            <a:r>
              <a:rPr sz="1199" spc="-30" dirty="0">
                <a:solidFill>
                  <a:srgbClr val="202020"/>
                </a:solidFill>
                <a:latin typeface="Calibri"/>
                <a:cs typeface="Calibri"/>
              </a:rPr>
              <a:t> </a:t>
            </a:r>
            <a:r>
              <a:rPr sz="1199" dirty="0">
                <a:solidFill>
                  <a:srgbClr val="202020"/>
                </a:solidFill>
                <a:latin typeface="Calibri"/>
                <a:cs typeface="Calibri"/>
              </a:rPr>
              <a:t>the</a:t>
            </a:r>
            <a:r>
              <a:rPr sz="1199" spc="-25" dirty="0">
                <a:solidFill>
                  <a:srgbClr val="202020"/>
                </a:solidFill>
                <a:latin typeface="Calibri"/>
                <a:cs typeface="Calibri"/>
              </a:rPr>
              <a:t> </a:t>
            </a:r>
            <a:r>
              <a:rPr sz="1199" dirty="0">
                <a:solidFill>
                  <a:srgbClr val="202020"/>
                </a:solidFill>
                <a:latin typeface="Calibri"/>
                <a:cs typeface="Calibri"/>
              </a:rPr>
              <a:t>children,</a:t>
            </a:r>
            <a:r>
              <a:rPr sz="1199" spc="-30" dirty="0">
                <a:solidFill>
                  <a:srgbClr val="202020"/>
                </a:solidFill>
                <a:latin typeface="Calibri"/>
                <a:cs typeface="Calibri"/>
              </a:rPr>
              <a:t> </a:t>
            </a:r>
            <a:r>
              <a:rPr sz="1199" dirty="0">
                <a:solidFill>
                  <a:srgbClr val="202020"/>
                </a:solidFill>
                <a:latin typeface="Calibri"/>
                <a:cs typeface="Calibri"/>
              </a:rPr>
              <a:t>set</a:t>
            </a:r>
            <a:r>
              <a:rPr sz="1199" spc="-25" dirty="0">
                <a:solidFill>
                  <a:srgbClr val="202020"/>
                </a:solidFill>
                <a:latin typeface="Calibri"/>
                <a:cs typeface="Calibri"/>
              </a:rPr>
              <a:t> </a:t>
            </a:r>
            <a:r>
              <a:rPr sz="1199" dirty="0">
                <a:solidFill>
                  <a:srgbClr val="202020"/>
                </a:solidFill>
                <a:latin typeface="Calibri"/>
                <a:cs typeface="Calibri"/>
              </a:rPr>
              <a:t>their</a:t>
            </a:r>
            <a:r>
              <a:rPr sz="1199" spc="-25" dirty="0">
                <a:solidFill>
                  <a:srgbClr val="202020"/>
                </a:solidFill>
                <a:latin typeface="Calibri"/>
                <a:cs typeface="Calibri"/>
              </a:rPr>
              <a:t> </a:t>
            </a:r>
            <a:r>
              <a:rPr sz="1199" dirty="0">
                <a:solidFill>
                  <a:srgbClr val="202020"/>
                </a:solidFill>
                <a:latin typeface="Calibri"/>
                <a:cs typeface="Calibri"/>
              </a:rPr>
              <a:t>FK</a:t>
            </a:r>
            <a:r>
              <a:rPr sz="1199" spc="-25" dirty="0">
                <a:solidFill>
                  <a:srgbClr val="202020"/>
                </a:solidFill>
                <a:latin typeface="Calibri"/>
                <a:cs typeface="Calibri"/>
              </a:rPr>
              <a:t> </a:t>
            </a:r>
            <a:r>
              <a:rPr sz="1199" dirty="0">
                <a:solidFill>
                  <a:srgbClr val="202020"/>
                </a:solidFill>
                <a:latin typeface="Calibri"/>
                <a:cs typeface="Calibri"/>
              </a:rPr>
              <a:t>to</a:t>
            </a:r>
            <a:r>
              <a:rPr sz="1199" spc="-30" dirty="0">
                <a:solidFill>
                  <a:srgbClr val="202020"/>
                </a:solidFill>
                <a:latin typeface="Calibri"/>
                <a:cs typeface="Calibri"/>
              </a:rPr>
              <a:t> </a:t>
            </a:r>
            <a:r>
              <a:rPr sz="1199" dirty="0">
                <a:solidFill>
                  <a:srgbClr val="202020"/>
                </a:solidFill>
                <a:latin typeface="Calibri"/>
                <a:cs typeface="Calibri"/>
              </a:rPr>
              <a:t>NULL.</a:t>
            </a:r>
            <a:r>
              <a:rPr sz="1199" spc="-25" dirty="0">
                <a:solidFill>
                  <a:srgbClr val="202020"/>
                </a:solidFill>
                <a:latin typeface="Calibri"/>
                <a:cs typeface="Calibri"/>
              </a:rPr>
              <a:t> </a:t>
            </a:r>
            <a:r>
              <a:rPr sz="1199" dirty="0">
                <a:solidFill>
                  <a:srgbClr val="202020"/>
                </a:solidFill>
                <a:latin typeface="Calibri"/>
                <a:cs typeface="Calibri"/>
              </a:rPr>
              <a:t>For</a:t>
            </a:r>
            <a:r>
              <a:rPr sz="1199" spc="-25" dirty="0">
                <a:solidFill>
                  <a:srgbClr val="202020"/>
                </a:solidFill>
                <a:latin typeface="Calibri"/>
                <a:cs typeface="Calibri"/>
              </a:rPr>
              <a:t> </a:t>
            </a:r>
            <a:r>
              <a:rPr sz="1199" spc="-10" dirty="0">
                <a:solidFill>
                  <a:srgbClr val="202020"/>
                </a:solidFill>
                <a:latin typeface="Calibri"/>
                <a:cs typeface="Calibri"/>
              </a:rPr>
              <a:t>reassignable</a:t>
            </a:r>
            <a:r>
              <a:rPr sz="1199" spc="-30" dirty="0">
                <a:solidFill>
                  <a:srgbClr val="202020"/>
                </a:solidFill>
                <a:latin typeface="Calibri"/>
                <a:cs typeface="Calibri"/>
              </a:rPr>
              <a:t> </a:t>
            </a:r>
            <a:r>
              <a:rPr sz="1199" dirty="0">
                <a:solidFill>
                  <a:srgbClr val="202020"/>
                </a:solidFill>
                <a:latin typeface="Calibri"/>
                <a:cs typeface="Calibri"/>
              </a:rPr>
              <a:t>links</a:t>
            </a:r>
            <a:r>
              <a:rPr sz="1199" spc="-25" dirty="0">
                <a:solidFill>
                  <a:srgbClr val="202020"/>
                </a:solidFill>
                <a:latin typeface="Calibri"/>
                <a:cs typeface="Calibri"/>
              </a:rPr>
              <a:t> </a:t>
            </a:r>
            <a:r>
              <a:rPr sz="1199" spc="-10" dirty="0">
                <a:solidFill>
                  <a:srgbClr val="202020"/>
                </a:solidFill>
                <a:latin typeface="Calibri"/>
                <a:cs typeface="Calibri"/>
              </a:rPr>
              <a:t>(employee's</a:t>
            </a:r>
            <a:r>
              <a:rPr sz="1199" spc="-30" dirty="0">
                <a:solidFill>
                  <a:srgbClr val="202020"/>
                </a:solidFill>
                <a:latin typeface="Calibri"/>
                <a:cs typeface="Calibri"/>
              </a:rPr>
              <a:t> </a:t>
            </a:r>
            <a:r>
              <a:rPr sz="1199" dirty="0">
                <a:solidFill>
                  <a:srgbClr val="202020"/>
                </a:solidFill>
                <a:latin typeface="Calibri"/>
                <a:cs typeface="Calibri"/>
              </a:rPr>
              <a:t>manager</a:t>
            </a:r>
            <a:r>
              <a:rPr sz="1199" spc="-25" dirty="0">
                <a:solidFill>
                  <a:srgbClr val="202020"/>
                </a:solidFill>
                <a:latin typeface="Calibri"/>
                <a:cs typeface="Calibri"/>
              </a:rPr>
              <a:t> </a:t>
            </a:r>
            <a:r>
              <a:rPr sz="1199" spc="-10" dirty="0">
                <a:solidFill>
                  <a:srgbClr val="202020"/>
                </a:solidFill>
                <a:latin typeface="Calibri"/>
                <a:cs typeface="Calibri"/>
              </a:rPr>
              <a:t>leaves).</a:t>
            </a:r>
            <a:endParaRPr sz="1199">
              <a:latin typeface="Calibri"/>
              <a:cs typeface="Calibri"/>
            </a:endParaRPr>
          </a:p>
        </p:txBody>
      </p:sp>
      <p:sp>
        <p:nvSpPr>
          <p:cNvPr id="8" name="object 8"/>
          <p:cNvSpPr txBox="1"/>
          <p:nvPr/>
        </p:nvSpPr>
        <p:spPr>
          <a:xfrm>
            <a:off x="584779" y="2258839"/>
            <a:ext cx="4019666" cy="1654038"/>
          </a:xfrm>
          <a:prstGeom prst="rect">
            <a:avLst/>
          </a:prstGeom>
        </p:spPr>
        <p:txBody>
          <a:bodyPr vert="horz" wrap="square" lIns="0" tIns="39956" rIns="0" bIns="0" rtlCol="0">
            <a:spAutoFit/>
          </a:bodyPr>
          <a:lstStyle/>
          <a:p>
            <a:pPr marL="12685">
              <a:spcBef>
                <a:spcPts val="315"/>
              </a:spcBef>
            </a:pPr>
            <a:r>
              <a:rPr sz="899" b="1" spc="-10" dirty="0">
                <a:solidFill>
                  <a:srgbClr val="FFB200"/>
                </a:solidFill>
                <a:latin typeface="Courier New"/>
                <a:cs typeface="Courier New"/>
              </a:rPr>
              <a:t>[Syntax]</a:t>
            </a:r>
            <a:endParaRPr sz="899">
              <a:latin typeface="Courier New"/>
              <a:cs typeface="Courier New"/>
            </a:endParaRPr>
          </a:p>
          <a:p>
            <a:pPr marL="287944" marR="5074" indent="-275894">
              <a:lnSpc>
                <a:spcPct val="120200"/>
              </a:lnSpc>
            </a:pPr>
            <a:r>
              <a:rPr sz="899" dirty="0">
                <a:solidFill>
                  <a:srgbClr val="333333"/>
                </a:solidFill>
                <a:latin typeface="Courier New"/>
                <a:cs typeface="Courier New"/>
              </a:rPr>
              <a:t>FOREIGN KEY (post_id) REFERENCES </a:t>
            </a:r>
            <a:r>
              <a:rPr sz="899" spc="-10" dirty="0">
                <a:solidFill>
                  <a:srgbClr val="333333"/>
                </a:solidFill>
                <a:latin typeface="Courier New"/>
                <a:cs typeface="Courier New"/>
              </a:rPr>
              <a:t>day_4.blog_posts(post_id) </a:t>
            </a:r>
            <a:r>
              <a:rPr sz="899" dirty="0">
                <a:solidFill>
                  <a:srgbClr val="333333"/>
                </a:solidFill>
                <a:latin typeface="Courier New"/>
                <a:cs typeface="Courier New"/>
              </a:rPr>
              <a:t>ON DELETE </a:t>
            </a:r>
            <a:r>
              <a:rPr sz="899" spc="-10" dirty="0">
                <a:solidFill>
                  <a:srgbClr val="333333"/>
                </a:solidFill>
                <a:latin typeface="Courier New"/>
                <a:cs typeface="Courier New"/>
              </a:rPr>
              <a:t>CASCADE;</a:t>
            </a:r>
            <a:endParaRPr sz="899">
              <a:latin typeface="Courier New"/>
              <a:cs typeface="Courier New"/>
            </a:endParaRPr>
          </a:p>
          <a:p>
            <a:pPr>
              <a:lnSpc>
                <a:spcPct val="100000"/>
              </a:lnSpc>
            </a:pPr>
            <a:endParaRPr sz="899">
              <a:latin typeface="Courier New"/>
              <a:cs typeface="Courier New"/>
            </a:endParaRPr>
          </a:p>
          <a:p>
            <a:pPr>
              <a:spcBef>
                <a:spcPts val="55"/>
              </a:spcBef>
            </a:pPr>
            <a:endParaRPr sz="899">
              <a:latin typeface="Courier New"/>
              <a:cs typeface="Courier New"/>
            </a:endParaRPr>
          </a:p>
          <a:p>
            <a:pPr marL="12685"/>
            <a:r>
              <a:rPr sz="899" dirty="0">
                <a:solidFill>
                  <a:srgbClr val="333333"/>
                </a:solidFill>
                <a:latin typeface="Courier New"/>
                <a:cs typeface="Courier New"/>
              </a:rPr>
              <a:t>manager_id INT REFERENCES </a:t>
            </a:r>
            <a:r>
              <a:rPr sz="899" spc="-10" dirty="0">
                <a:solidFill>
                  <a:srgbClr val="333333"/>
                </a:solidFill>
                <a:latin typeface="Courier New"/>
                <a:cs typeface="Courier New"/>
              </a:rPr>
              <a:t>day_4.managers(manager_id)</a:t>
            </a:r>
            <a:endParaRPr sz="899">
              <a:latin typeface="Courier New"/>
              <a:cs typeface="Courier New"/>
            </a:endParaRPr>
          </a:p>
          <a:p>
            <a:pPr marL="287944">
              <a:spcBef>
                <a:spcPts val="219"/>
              </a:spcBef>
              <a:tabLst>
                <a:tab pos="1802504" algn="l"/>
              </a:tabLst>
            </a:pPr>
            <a:r>
              <a:rPr sz="899" dirty="0">
                <a:solidFill>
                  <a:srgbClr val="333333"/>
                </a:solidFill>
                <a:latin typeface="Courier New"/>
                <a:cs typeface="Courier New"/>
              </a:rPr>
              <a:t>ON DELETE SET </a:t>
            </a:r>
            <a:r>
              <a:rPr sz="899" spc="-10" dirty="0">
                <a:solidFill>
                  <a:srgbClr val="333333"/>
                </a:solidFill>
                <a:latin typeface="Courier New"/>
                <a:cs typeface="Courier New"/>
              </a:rPr>
              <a:t>NULL;</a:t>
            </a:r>
            <a:r>
              <a:rPr sz="899" dirty="0">
                <a:solidFill>
                  <a:srgbClr val="333333"/>
                </a:solidFill>
                <a:latin typeface="Courier New"/>
                <a:cs typeface="Courier New"/>
              </a:rPr>
              <a:t>	-- FK column must allow </a:t>
            </a:r>
            <a:r>
              <a:rPr sz="899" spc="-20" dirty="0">
                <a:solidFill>
                  <a:srgbClr val="333333"/>
                </a:solidFill>
                <a:latin typeface="Courier New"/>
                <a:cs typeface="Courier New"/>
              </a:rPr>
              <a:t>NULL</a:t>
            </a:r>
            <a:endParaRPr sz="899">
              <a:latin typeface="Courier New"/>
              <a:cs typeface="Courier New"/>
            </a:endParaRPr>
          </a:p>
          <a:p>
            <a:pPr>
              <a:spcBef>
                <a:spcPts val="849"/>
              </a:spcBef>
            </a:pPr>
            <a:endParaRPr sz="899">
              <a:latin typeface="Courier New"/>
              <a:cs typeface="Courier New"/>
            </a:endParaRPr>
          </a:p>
          <a:p>
            <a:pPr marL="287944" marR="5074" indent="-275894">
              <a:lnSpc>
                <a:spcPct val="120200"/>
              </a:lnSpc>
              <a:tabLst>
                <a:tab pos="1802504" algn="l"/>
              </a:tabLst>
            </a:pPr>
            <a:r>
              <a:rPr sz="899" dirty="0">
                <a:solidFill>
                  <a:srgbClr val="333333"/>
                </a:solidFill>
                <a:latin typeface="Courier New"/>
                <a:cs typeface="Courier New"/>
              </a:rPr>
              <a:t>dept_id INT NOT NULL REFERENCES </a:t>
            </a:r>
            <a:r>
              <a:rPr sz="899" spc="-10" dirty="0">
                <a:solidFill>
                  <a:srgbClr val="333333"/>
                </a:solidFill>
                <a:latin typeface="Courier New"/>
                <a:cs typeface="Courier New"/>
              </a:rPr>
              <a:t>day_4.departments(dept_id) </a:t>
            </a:r>
            <a:r>
              <a:rPr sz="899" dirty="0">
                <a:solidFill>
                  <a:srgbClr val="333333"/>
                </a:solidFill>
                <a:latin typeface="Courier New"/>
                <a:cs typeface="Courier New"/>
              </a:rPr>
              <a:t>ON DELETE </a:t>
            </a:r>
            <a:r>
              <a:rPr sz="899" spc="-10" dirty="0">
                <a:solidFill>
                  <a:srgbClr val="333333"/>
                </a:solidFill>
                <a:latin typeface="Courier New"/>
                <a:cs typeface="Courier New"/>
              </a:rPr>
              <a:t>RESTRICT;</a:t>
            </a:r>
            <a:r>
              <a:rPr sz="899" dirty="0">
                <a:solidFill>
                  <a:srgbClr val="333333"/>
                </a:solidFill>
                <a:latin typeface="Courier New"/>
                <a:cs typeface="Courier New"/>
              </a:rPr>
              <a:t>	--</a:t>
            </a:r>
            <a:r>
              <a:rPr sz="899" spc="-10" dirty="0">
                <a:solidFill>
                  <a:srgbClr val="333333"/>
                </a:solidFill>
                <a:latin typeface="Courier New"/>
                <a:cs typeface="Courier New"/>
              </a:rPr>
              <a:t> </a:t>
            </a:r>
            <a:r>
              <a:rPr sz="899" dirty="0">
                <a:solidFill>
                  <a:srgbClr val="333333"/>
                </a:solidFill>
                <a:latin typeface="Courier New"/>
                <a:cs typeface="Courier New"/>
              </a:rPr>
              <a:t>the safe </a:t>
            </a:r>
            <a:r>
              <a:rPr sz="899" spc="-10" dirty="0">
                <a:solidFill>
                  <a:srgbClr val="333333"/>
                </a:solidFill>
                <a:latin typeface="Courier New"/>
                <a:cs typeface="Courier New"/>
              </a:rPr>
              <a:t>default</a:t>
            </a:r>
            <a:endParaRPr sz="899">
              <a:latin typeface="Courier New"/>
              <a:cs typeface="Courier New"/>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79619" y="273628"/>
            <a:ext cx="2054228" cy="4566363"/>
          </a:xfrm>
          <a:custGeom>
            <a:avLst/>
            <a:gdLst/>
            <a:ahLst/>
            <a:cxnLst/>
            <a:rect l="l" t="t" r="r" b="b"/>
            <a:pathLst>
              <a:path w="2056764" h="4572000">
                <a:moveTo>
                  <a:pt x="72720" y="0"/>
                </a:moveTo>
                <a:lnTo>
                  <a:pt x="0" y="0"/>
                </a:lnTo>
                <a:lnTo>
                  <a:pt x="0" y="4571631"/>
                </a:lnTo>
                <a:lnTo>
                  <a:pt x="36360" y="4571631"/>
                </a:lnTo>
                <a:lnTo>
                  <a:pt x="72720" y="4571631"/>
                </a:lnTo>
                <a:lnTo>
                  <a:pt x="72720" y="0"/>
                </a:lnTo>
                <a:close/>
              </a:path>
              <a:path w="2056764" h="4572000">
                <a:moveTo>
                  <a:pt x="2056676" y="355"/>
                </a:moveTo>
                <a:lnTo>
                  <a:pt x="228244" y="355"/>
                </a:lnTo>
                <a:lnTo>
                  <a:pt x="228244" y="320040"/>
                </a:lnTo>
                <a:lnTo>
                  <a:pt x="1142644" y="320040"/>
                </a:lnTo>
                <a:lnTo>
                  <a:pt x="2056676" y="320040"/>
                </a:lnTo>
                <a:lnTo>
                  <a:pt x="2056676" y="355"/>
                </a:lnTo>
                <a:close/>
              </a:path>
            </a:pathLst>
          </a:custGeom>
          <a:solidFill>
            <a:srgbClr val="00695B"/>
          </a:solidFill>
        </p:spPr>
        <p:txBody>
          <a:bodyPr wrap="square" lIns="0" tIns="0" rIns="0" bIns="0" rtlCol="0"/>
          <a:lstStyle/>
          <a:p>
            <a:endParaRPr sz="1798"/>
          </a:p>
        </p:txBody>
      </p:sp>
      <p:sp>
        <p:nvSpPr>
          <p:cNvPr id="3" name="object 3"/>
          <p:cNvSpPr txBox="1"/>
          <p:nvPr/>
        </p:nvSpPr>
        <p:spPr>
          <a:xfrm>
            <a:off x="1100740" y="345079"/>
            <a:ext cx="641193" cy="166379"/>
          </a:xfrm>
          <a:prstGeom prst="rect">
            <a:avLst/>
          </a:prstGeom>
        </p:spPr>
        <p:txBody>
          <a:bodyPr vert="horz" wrap="square" lIns="0" tIns="12684" rIns="0" bIns="0" rtlCol="0">
            <a:spAutoFit/>
          </a:bodyPr>
          <a:lstStyle/>
          <a:p>
            <a:pPr marL="12685">
              <a:spcBef>
                <a:spcPts val="100"/>
              </a:spcBef>
            </a:pPr>
            <a:r>
              <a:rPr sz="999" b="1" spc="-10" dirty="0">
                <a:solidFill>
                  <a:srgbClr val="FFFFFF"/>
                </a:solidFill>
                <a:latin typeface="Calibri"/>
                <a:cs typeface="Calibri"/>
              </a:rPr>
              <a:t>DEFINITION</a:t>
            </a:r>
            <a:endParaRPr sz="999">
              <a:latin typeface="Calibri"/>
              <a:cs typeface="Calibri"/>
            </a:endParaRPr>
          </a:p>
        </p:txBody>
      </p:sp>
      <p:sp>
        <p:nvSpPr>
          <p:cNvPr id="4" name="object 4" descr="$PPTXTitle"/>
          <p:cNvSpPr txBox="1">
            <a:spLocks noGrp="1"/>
          </p:cNvSpPr>
          <p:nvPr>
            <p:ph type="title"/>
          </p:nvPr>
        </p:nvSpPr>
        <p:spPr>
          <a:xfrm>
            <a:off x="494898" y="595684"/>
            <a:ext cx="8037432" cy="634851"/>
          </a:xfrm>
          <a:prstGeom prst="rect">
            <a:avLst/>
          </a:prstGeom>
        </p:spPr>
        <p:txBody>
          <a:bodyPr vert="horz" wrap="square" lIns="0" tIns="12684" rIns="0" bIns="0" rtlCol="0">
            <a:spAutoFit/>
          </a:bodyPr>
          <a:lstStyle/>
          <a:p>
            <a:pPr marL="12685" marR="5074">
              <a:spcBef>
                <a:spcPts val="100"/>
              </a:spcBef>
            </a:pPr>
            <a:r>
              <a:rPr sz="1998" dirty="0">
                <a:solidFill>
                  <a:srgbClr val="202020"/>
                </a:solidFill>
                <a:latin typeface="Georgia"/>
                <a:cs typeface="Georgia"/>
              </a:rPr>
              <a:t>ALTER</a:t>
            </a:r>
            <a:r>
              <a:rPr sz="1998" spc="-25" dirty="0">
                <a:solidFill>
                  <a:srgbClr val="202020"/>
                </a:solidFill>
                <a:latin typeface="Georgia"/>
                <a:cs typeface="Georgia"/>
              </a:rPr>
              <a:t> </a:t>
            </a:r>
            <a:r>
              <a:rPr sz="1998" dirty="0">
                <a:solidFill>
                  <a:srgbClr val="202020"/>
                </a:solidFill>
                <a:latin typeface="Georgia"/>
                <a:cs typeface="Georgia"/>
              </a:rPr>
              <a:t>TABLE</a:t>
            </a:r>
            <a:r>
              <a:rPr sz="1998" spc="-15" dirty="0">
                <a:solidFill>
                  <a:srgbClr val="202020"/>
                </a:solidFill>
                <a:latin typeface="Georgia"/>
                <a:cs typeface="Georgia"/>
              </a:rPr>
              <a:t> </a:t>
            </a:r>
            <a:r>
              <a:rPr sz="1998" dirty="0">
                <a:solidFill>
                  <a:srgbClr val="202020"/>
                </a:solidFill>
                <a:latin typeface="Georgia"/>
                <a:cs typeface="Georgia"/>
              </a:rPr>
              <a:t>-</a:t>
            </a:r>
            <a:r>
              <a:rPr sz="1998" spc="-20" dirty="0">
                <a:solidFill>
                  <a:srgbClr val="202020"/>
                </a:solidFill>
                <a:latin typeface="Georgia"/>
                <a:cs typeface="Georgia"/>
              </a:rPr>
              <a:t> </a:t>
            </a:r>
            <a:r>
              <a:rPr sz="1998" dirty="0">
                <a:solidFill>
                  <a:srgbClr val="202020"/>
                </a:solidFill>
                <a:latin typeface="Georgia"/>
                <a:cs typeface="Georgia"/>
              </a:rPr>
              <a:t>Add</a:t>
            </a:r>
            <a:r>
              <a:rPr sz="1998" spc="-15" dirty="0">
                <a:solidFill>
                  <a:srgbClr val="202020"/>
                </a:solidFill>
                <a:latin typeface="Georgia"/>
                <a:cs typeface="Georgia"/>
              </a:rPr>
              <a:t> </a:t>
            </a:r>
            <a:r>
              <a:rPr sz="1998" dirty="0">
                <a:solidFill>
                  <a:srgbClr val="202020"/>
                </a:solidFill>
                <a:latin typeface="Georgia"/>
                <a:cs typeface="Georgia"/>
              </a:rPr>
              <a:t>&amp;</a:t>
            </a:r>
            <a:r>
              <a:rPr sz="1998" spc="-20" dirty="0">
                <a:solidFill>
                  <a:srgbClr val="202020"/>
                </a:solidFill>
                <a:latin typeface="Georgia"/>
                <a:cs typeface="Georgia"/>
              </a:rPr>
              <a:t> </a:t>
            </a:r>
            <a:r>
              <a:rPr sz="1998" dirty="0">
                <a:solidFill>
                  <a:srgbClr val="202020"/>
                </a:solidFill>
                <a:latin typeface="Georgia"/>
                <a:cs typeface="Georgia"/>
              </a:rPr>
              <a:t>Drop</a:t>
            </a:r>
            <a:r>
              <a:rPr sz="1998" spc="-25" dirty="0">
                <a:solidFill>
                  <a:srgbClr val="202020"/>
                </a:solidFill>
                <a:latin typeface="Georgia"/>
                <a:cs typeface="Georgia"/>
              </a:rPr>
              <a:t> </a:t>
            </a:r>
            <a:r>
              <a:rPr sz="1998" dirty="0">
                <a:solidFill>
                  <a:srgbClr val="202020"/>
                </a:solidFill>
                <a:latin typeface="Georgia"/>
                <a:cs typeface="Georgia"/>
              </a:rPr>
              <a:t>Constraints</a:t>
            </a:r>
            <a:r>
              <a:rPr sz="1998" spc="-20" dirty="0">
                <a:solidFill>
                  <a:srgbClr val="202020"/>
                </a:solidFill>
                <a:latin typeface="Georgia"/>
                <a:cs typeface="Georgia"/>
              </a:rPr>
              <a:t> </a:t>
            </a:r>
            <a:r>
              <a:rPr sz="1998" dirty="0">
                <a:solidFill>
                  <a:srgbClr val="202020"/>
                </a:solidFill>
                <a:latin typeface="Georgia"/>
                <a:cs typeface="Georgia"/>
              </a:rPr>
              <a:t>on</a:t>
            </a:r>
            <a:r>
              <a:rPr sz="1998" spc="-20" dirty="0">
                <a:solidFill>
                  <a:srgbClr val="202020"/>
                </a:solidFill>
                <a:latin typeface="Georgia"/>
                <a:cs typeface="Georgia"/>
              </a:rPr>
              <a:t> </a:t>
            </a:r>
            <a:r>
              <a:rPr sz="1998" dirty="0">
                <a:solidFill>
                  <a:srgbClr val="202020"/>
                </a:solidFill>
                <a:latin typeface="Georgia"/>
                <a:cs typeface="Georgia"/>
              </a:rPr>
              <a:t>EXISTING</a:t>
            </a:r>
            <a:r>
              <a:rPr sz="1998" spc="-15" dirty="0">
                <a:solidFill>
                  <a:srgbClr val="202020"/>
                </a:solidFill>
                <a:latin typeface="Georgia"/>
                <a:cs typeface="Georgia"/>
              </a:rPr>
              <a:t> </a:t>
            </a:r>
            <a:r>
              <a:rPr sz="1998" spc="-10" dirty="0">
                <a:solidFill>
                  <a:srgbClr val="202020"/>
                </a:solidFill>
                <a:latin typeface="Georgia"/>
                <a:cs typeface="Georgia"/>
              </a:rPr>
              <a:t>Tables (1/2)</a:t>
            </a:r>
            <a:endParaRPr sz="1998">
              <a:latin typeface="Georgia"/>
              <a:cs typeface="Georgia"/>
            </a:endParaRPr>
          </a:p>
        </p:txBody>
      </p:sp>
      <p:sp>
        <p:nvSpPr>
          <p:cNvPr id="5" name="object 5"/>
          <p:cNvSpPr txBox="1"/>
          <p:nvPr/>
        </p:nvSpPr>
        <p:spPr>
          <a:xfrm>
            <a:off x="584779" y="1219085"/>
            <a:ext cx="7578893" cy="1964170"/>
          </a:xfrm>
          <a:prstGeom prst="rect">
            <a:avLst/>
          </a:prstGeom>
        </p:spPr>
        <p:txBody>
          <a:bodyPr vert="horz" wrap="square" lIns="0" tIns="12684" rIns="0" bIns="0" rtlCol="0">
            <a:spAutoFit/>
          </a:bodyPr>
          <a:lstStyle/>
          <a:p>
            <a:pPr marL="12685" marR="5074">
              <a:lnSpc>
                <a:spcPct val="120100"/>
              </a:lnSpc>
              <a:spcBef>
                <a:spcPts val="100"/>
              </a:spcBef>
            </a:pPr>
            <a:r>
              <a:rPr sz="1298" spc="-40" dirty="0">
                <a:solidFill>
                  <a:srgbClr val="202020"/>
                </a:solidFill>
                <a:latin typeface="Calibri"/>
                <a:cs typeface="Calibri"/>
              </a:rPr>
              <a:t>You</a:t>
            </a:r>
            <a:r>
              <a:rPr sz="1298" spc="-35" dirty="0">
                <a:solidFill>
                  <a:srgbClr val="202020"/>
                </a:solidFill>
                <a:latin typeface="Calibri"/>
                <a:cs typeface="Calibri"/>
              </a:rPr>
              <a:t> </a:t>
            </a:r>
            <a:r>
              <a:rPr sz="1298" dirty="0">
                <a:solidFill>
                  <a:srgbClr val="202020"/>
                </a:solidFill>
                <a:latin typeface="Calibri"/>
                <a:cs typeface="Calibri"/>
              </a:rPr>
              <a:t>do</a:t>
            </a:r>
            <a:r>
              <a:rPr sz="1298" spc="-45" dirty="0">
                <a:solidFill>
                  <a:srgbClr val="202020"/>
                </a:solidFill>
                <a:latin typeface="Calibri"/>
                <a:cs typeface="Calibri"/>
              </a:rPr>
              <a:t> </a:t>
            </a:r>
            <a:r>
              <a:rPr sz="1298" dirty="0">
                <a:solidFill>
                  <a:srgbClr val="202020"/>
                </a:solidFill>
                <a:latin typeface="Calibri"/>
                <a:cs typeface="Calibri"/>
              </a:rPr>
              <a:t>NOT</a:t>
            </a:r>
            <a:r>
              <a:rPr sz="1298" spc="-40" dirty="0">
                <a:solidFill>
                  <a:srgbClr val="202020"/>
                </a:solidFill>
                <a:latin typeface="Calibri"/>
                <a:cs typeface="Calibri"/>
              </a:rPr>
              <a:t> </a:t>
            </a:r>
            <a:r>
              <a:rPr sz="1298" dirty="0">
                <a:solidFill>
                  <a:srgbClr val="202020"/>
                </a:solidFill>
                <a:latin typeface="Calibri"/>
                <a:cs typeface="Calibri"/>
              </a:rPr>
              <a:t>have</a:t>
            </a:r>
            <a:r>
              <a:rPr sz="1298" spc="-35" dirty="0">
                <a:solidFill>
                  <a:srgbClr val="202020"/>
                </a:solidFill>
                <a:latin typeface="Calibri"/>
                <a:cs typeface="Calibri"/>
              </a:rPr>
              <a:t> </a:t>
            </a:r>
            <a:r>
              <a:rPr sz="1298" dirty="0">
                <a:solidFill>
                  <a:srgbClr val="202020"/>
                </a:solidFill>
                <a:latin typeface="Calibri"/>
                <a:cs typeface="Calibri"/>
              </a:rPr>
              <a:t>to</a:t>
            </a:r>
            <a:r>
              <a:rPr sz="1298" spc="-40" dirty="0">
                <a:solidFill>
                  <a:srgbClr val="202020"/>
                </a:solidFill>
                <a:latin typeface="Calibri"/>
                <a:cs typeface="Calibri"/>
              </a:rPr>
              <a:t> </a:t>
            </a:r>
            <a:r>
              <a:rPr sz="1298" spc="-10" dirty="0">
                <a:solidFill>
                  <a:srgbClr val="202020"/>
                </a:solidFill>
                <a:latin typeface="Calibri"/>
                <a:cs typeface="Calibri"/>
              </a:rPr>
              <a:t>recreate</a:t>
            </a:r>
            <a:r>
              <a:rPr sz="1298" spc="-40" dirty="0">
                <a:solidFill>
                  <a:srgbClr val="202020"/>
                </a:solidFill>
                <a:latin typeface="Calibri"/>
                <a:cs typeface="Calibri"/>
              </a:rPr>
              <a:t> </a:t>
            </a:r>
            <a:r>
              <a:rPr sz="1298" dirty="0">
                <a:solidFill>
                  <a:srgbClr val="202020"/>
                </a:solidFill>
                <a:latin typeface="Calibri"/>
                <a:cs typeface="Calibri"/>
              </a:rPr>
              <a:t>a</a:t>
            </a:r>
            <a:r>
              <a:rPr sz="1298" spc="-35" dirty="0">
                <a:solidFill>
                  <a:srgbClr val="202020"/>
                </a:solidFill>
                <a:latin typeface="Calibri"/>
                <a:cs typeface="Calibri"/>
              </a:rPr>
              <a:t> </a:t>
            </a:r>
            <a:r>
              <a:rPr sz="1298" dirty="0">
                <a:solidFill>
                  <a:srgbClr val="202020"/>
                </a:solidFill>
                <a:latin typeface="Calibri"/>
                <a:cs typeface="Calibri"/>
              </a:rPr>
              <a:t>table</a:t>
            </a:r>
            <a:r>
              <a:rPr sz="1298" spc="-40" dirty="0">
                <a:solidFill>
                  <a:srgbClr val="202020"/>
                </a:solidFill>
                <a:latin typeface="Calibri"/>
                <a:cs typeface="Calibri"/>
              </a:rPr>
              <a:t> </a:t>
            </a:r>
            <a:r>
              <a:rPr sz="1298" dirty="0">
                <a:solidFill>
                  <a:srgbClr val="202020"/>
                </a:solidFill>
                <a:latin typeface="Calibri"/>
                <a:cs typeface="Calibri"/>
              </a:rPr>
              <a:t>to</a:t>
            </a:r>
            <a:r>
              <a:rPr sz="1298" spc="-40" dirty="0">
                <a:solidFill>
                  <a:srgbClr val="202020"/>
                </a:solidFill>
                <a:latin typeface="Calibri"/>
                <a:cs typeface="Calibri"/>
              </a:rPr>
              <a:t> </a:t>
            </a:r>
            <a:r>
              <a:rPr sz="1298" dirty="0">
                <a:solidFill>
                  <a:srgbClr val="202020"/>
                </a:solidFill>
                <a:latin typeface="Calibri"/>
                <a:cs typeface="Calibri"/>
              </a:rPr>
              <a:t>add</a:t>
            </a:r>
            <a:r>
              <a:rPr sz="1298" spc="-40" dirty="0">
                <a:solidFill>
                  <a:srgbClr val="202020"/>
                </a:solidFill>
                <a:latin typeface="Calibri"/>
                <a:cs typeface="Calibri"/>
              </a:rPr>
              <a:t> </a:t>
            </a:r>
            <a:r>
              <a:rPr sz="1298" dirty="0">
                <a:solidFill>
                  <a:srgbClr val="202020"/>
                </a:solidFill>
                <a:latin typeface="Calibri"/>
                <a:cs typeface="Calibri"/>
              </a:rPr>
              <a:t>or</a:t>
            </a:r>
            <a:r>
              <a:rPr sz="1298" spc="-35" dirty="0">
                <a:solidFill>
                  <a:srgbClr val="202020"/>
                </a:solidFill>
                <a:latin typeface="Calibri"/>
                <a:cs typeface="Calibri"/>
              </a:rPr>
              <a:t> </a:t>
            </a:r>
            <a:r>
              <a:rPr sz="1298" spc="-10" dirty="0">
                <a:solidFill>
                  <a:srgbClr val="202020"/>
                </a:solidFill>
                <a:latin typeface="Calibri"/>
                <a:cs typeface="Calibri"/>
              </a:rPr>
              <a:t>remove</a:t>
            </a:r>
            <a:r>
              <a:rPr sz="1298" spc="-40" dirty="0">
                <a:solidFill>
                  <a:srgbClr val="202020"/>
                </a:solidFill>
                <a:latin typeface="Calibri"/>
                <a:cs typeface="Calibri"/>
              </a:rPr>
              <a:t> </a:t>
            </a:r>
            <a:r>
              <a:rPr sz="1298" dirty="0">
                <a:solidFill>
                  <a:srgbClr val="202020"/>
                </a:solidFill>
                <a:latin typeface="Calibri"/>
                <a:cs typeface="Calibri"/>
              </a:rPr>
              <a:t>a</a:t>
            </a:r>
            <a:r>
              <a:rPr sz="1298" spc="-40" dirty="0">
                <a:solidFill>
                  <a:srgbClr val="202020"/>
                </a:solidFill>
                <a:latin typeface="Calibri"/>
                <a:cs typeface="Calibri"/>
              </a:rPr>
              <a:t> </a:t>
            </a:r>
            <a:r>
              <a:rPr sz="1298" dirty="0">
                <a:solidFill>
                  <a:srgbClr val="202020"/>
                </a:solidFill>
                <a:latin typeface="Calibri"/>
                <a:cs typeface="Calibri"/>
              </a:rPr>
              <a:t>rule.</a:t>
            </a:r>
            <a:r>
              <a:rPr sz="1298" spc="-35" dirty="0">
                <a:solidFill>
                  <a:srgbClr val="202020"/>
                </a:solidFill>
                <a:latin typeface="Calibri"/>
                <a:cs typeface="Calibri"/>
              </a:rPr>
              <a:t> </a:t>
            </a:r>
            <a:r>
              <a:rPr sz="1298" dirty="0">
                <a:solidFill>
                  <a:srgbClr val="202020"/>
                </a:solidFill>
                <a:latin typeface="Calibri"/>
                <a:cs typeface="Calibri"/>
              </a:rPr>
              <a:t>Every</a:t>
            </a:r>
            <a:r>
              <a:rPr sz="1298" spc="-40" dirty="0">
                <a:solidFill>
                  <a:srgbClr val="202020"/>
                </a:solidFill>
                <a:latin typeface="Calibri"/>
                <a:cs typeface="Calibri"/>
              </a:rPr>
              <a:t> </a:t>
            </a:r>
            <a:r>
              <a:rPr sz="1298" spc="-10" dirty="0">
                <a:solidFill>
                  <a:srgbClr val="202020"/>
                </a:solidFill>
                <a:latin typeface="Calibri"/>
                <a:cs typeface="Calibri"/>
              </a:rPr>
              <a:t>constraint</a:t>
            </a:r>
            <a:r>
              <a:rPr sz="1298" spc="-40" dirty="0">
                <a:solidFill>
                  <a:srgbClr val="202020"/>
                </a:solidFill>
                <a:latin typeface="Calibri"/>
                <a:cs typeface="Calibri"/>
              </a:rPr>
              <a:t> </a:t>
            </a:r>
            <a:r>
              <a:rPr sz="1298" dirty="0">
                <a:solidFill>
                  <a:srgbClr val="202020"/>
                </a:solidFill>
                <a:latin typeface="Calibri"/>
                <a:cs typeface="Calibri"/>
              </a:rPr>
              <a:t>can</a:t>
            </a:r>
            <a:r>
              <a:rPr sz="1298" spc="-35" dirty="0">
                <a:solidFill>
                  <a:srgbClr val="202020"/>
                </a:solidFill>
                <a:latin typeface="Calibri"/>
                <a:cs typeface="Calibri"/>
              </a:rPr>
              <a:t> </a:t>
            </a:r>
            <a:r>
              <a:rPr sz="1298" dirty="0">
                <a:solidFill>
                  <a:srgbClr val="202020"/>
                </a:solidFill>
                <a:latin typeface="Calibri"/>
                <a:cs typeface="Calibri"/>
              </a:rPr>
              <a:t>be</a:t>
            </a:r>
            <a:r>
              <a:rPr sz="1298" spc="-40" dirty="0">
                <a:solidFill>
                  <a:srgbClr val="202020"/>
                </a:solidFill>
                <a:latin typeface="Calibri"/>
                <a:cs typeface="Calibri"/>
              </a:rPr>
              <a:t> </a:t>
            </a:r>
            <a:r>
              <a:rPr sz="1298" dirty="0">
                <a:solidFill>
                  <a:srgbClr val="202020"/>
                </a:solidFill>
                <a:latin typeface="Calibri"/>
                <a:cs typeface="Calibri"/>
              </a:rPr>
              <a:t>added</a:t>
            </a:r>
            <a:r>
              <a:rPr sz="1298" spc="-40" dirty="0">
                <a:solidFill>
                  <a:srgbClr val="202020"/>
                </a:solidFill>
                <a:latin typeface="Calibri"/>
                <a:cs typeface="Calibri"/>
              </a:rPr>
              <a:t> </a:t>
            </a:r>
            <a:r>
              <a:rPr sz="1298" dirty="0">
                <a:solidFill>
                  <a:srgbClr val="202020"/>
                </a:solidFill>
                <a:latin typeface="Calibri"/>
                <a:cs typeface="Calibri"/>
              </a:rPr>
              <a:t>or</a:t>
            </a:r>
            <a:r>
              <a:rPr sz="1298" spc="-40" dirty="0">
                <a:solidFill>
                  <a:srgbClr val="202020"/>
                </a:solidFill>
                <a:latin typeface="Calibri"/>
                <a:cs typeface="Calibri"/>
              </a:rPr>
              <a:t> </a:t>
            </a:r>
            <a:r>
              <a:rPr sz="1298" spc="-10" dirty="0">
                <a:solidFill>
                  <a:srgbClr val="202020"/>
                </a:solidFill>
                <a:latin typeface="Calibri"/>
                <a:cs typeface="Calibri"/>
              </a:rPr>
              <a:t>dropped</a:t>
            </a:r>
            <a:r>
              <a:rPr sz="1298" spc="-35" dirty="0">
                <a:solidFill>
                  <a:srgbClr val="202020"/>
                </a:solidFill>
                <a:latin typeface="Calibri"/>
                <a:cs typeface="Calibri"/>
              </a:rPr>
              <a:t> </a:t>
            </a:r>
            <a:r>
              <a:rPr sz="1298" dirty="0">
                <a:solidFill>
                  <a:srgbClr val="202020"/>
                </a:solidFill>
                <a:latin typeface="Calibri"/>
                <a:cs typeface="Calibri"/>
              </a:rPr>
              <a:t>later</a:t>
            </a:r>
            <a:r>
              <a:rPr sz="1298" spc="-40" dirty="0">
                <a:solidFill>
                  <a:srgbClr val="202020"/>
                </a:solidFill>
                <a:latin typeface="Calibri"/>
                <a:cs typeface="Calibri"/>
              </a:rPr>
              <a:t> </a:t>
            </a:r>
            <a:r>
              <a:rPr sz="1298" spc="-20" dirty="0">
                <a:solidFill>
                  <a:srgbClr val="202020"/>
                </a:solidFill>
                <a:latin typeface="Calibri"/>
                <a:cs typeface="Calibri"/>
              </a:rPr>
              <a:t>with ALTER</a:t>
            </a:r>
            <a:r>
              <a:rPr sz="1298" spc="-40" dirty="0">
                <a:solidFill>
                  <a:srgbClr val="202020"/>
                </a:solidFill>
                <a:latin typeface="Calibri"/>
                <a:cs typeface="Calibri"/>
              </a:rPr>
              <a:t> </a:t>
            </a:r>
            <a:r>
              <a:rPr sz="1298" spc="-25" dirty="0">
                <a:solidFill>
                  <a:srgbClr val="202020"/>
                </a:solidFill>
                <a:latin typeface="Calibri"/>
                <a:cs typeface="Calibri"/>
              </a:rPr>
              <a:t>TABLE</a:t>
            </a:r>
            <a:r>
              <a:rPr sz="1298" spc="-35" dirty="0">
                <a:solidFill>
                  <a:srgbClr val="202020"/>
                </a:solidFill>
                <a:latin typeface="Calibri"/>
                <a:cs typeface="Calibri"/>
              </a:rPr>
              <a:t> </a:t>
            </a:r>
            <a:r>
              <a:rPr sz="1298" dirty="0">
                <a:solidFill>
                  <a:srgbClr val="202020"/>
                </a:solidFill>
                <a:latin typeface="Calibri"/>
                <a:cs typeface="Calibri"/>
              </a:rPr>
              <a:t>-</a:t>
            </a:r>
            <a:r>
              <a:rPr sz="1298" spc="-35" dirty="0">
                <a:solidFill>
                  <a:srgbClr val="202020"/>
                </a:solidFill>
                <a:latin typeface="Calibri"/>
                <a:cs typeface="Calibri"/>
              </a:rPr>
              <a:t> </a:t>
            </a:r>
            <a:r>
              <a:rPr sz="1298" dirty="0">
                <a:solidFill>
                  <a:srgbClr val="202020"/>
                </a:solidFill>
                <a:latin typeface="Calibri"/>
                <a:cs typeface="Calibri"/>
              </a:rPr>
              <a:t>this</a:t>
            </a:r>
            <a:r>
              <a:rPr sz="1298" spc="-35" dirty="0">
                <a:solidFill>
                  <a:srgbClr val="202020"/>
                </a:solidFill>
                <a:latin typeface="Calibri"/>
                <a:cs typeface="Calibri"/>
              </a:rPr>
              <a:t> </a:t>
            </a:r>
            <a:r>
              <a:rPr sz="1298" dirty="0">
                <a:solidFill>
                  <a:srgbClr val="202020"/>
                </a:solidFill>
                <a:latin typeface="Calibri"/>
                <a:cs typeface="Calibri"/>
              </a:rPr>
              <a:t>is</a:t>
            </a:r>
            <a:r>
              <a:rPr sz="1298" spc="-40" dirty="0">
                <a:solidFill>
                  <a:srgbClr val="202020"/>
                </a:solidFill>
                <a:latin typeface="Calibri"/>
                <a:cs typeface="Calibri"/>
              </a:rPr>
              <a:t> </a:t>
            </a:r>
            <a:r>
              <a:rPr sz="1298" dirty="0">
                <a:solidFill>
                  <a:srgbClr val="202020"/>
                </a:solidFill>
                <a:latin typeface="Calibri"/>
                <a:cs typeface="Calibri"/>
              </a:rPr>
              <a:t>how</a:t>
            </a:r>
            <a:r>
              <a:rPr sz="1298" spc="-35" dirty="0">
                <a:solidFill>
                  <a:srgbClr val="202020"/>
                </a:solidFill>
                <a:latin typeface="Calibri"/>
                <a:cs typeface="Calibri"/>
              </a:rPr>
              <a:t> </a:t>
            </a:r>
            <a:r>
              <a:rPr sz="1298" dirty="0">
                <a:solidFill>
                  <a:srgbClr val="202020"/>
                </a:solidFill>
                <a:latin typeface="Calibri"/>
                <a:cs typeface="Calibri"/>
              </a:rPr>
              <a:t>real</a:t>
            </a:r>
            <a:r>
              <a:rPr sz="1298" spc="-35" dirty="0">
                <a:solidFill>
                  <a:srgbClr val="202020"/>
                </a:solidFill>
                <a:latin typeface="Calibri"/>
                <a:cs typeface="Calibri"/>
              </a:rPr>
              <a:t> </a:t>
            </a:r>
            <a:r>
              <a:rPr sz="1298" spc="-10" dirty="0">
                <a:solidFill>
                  <a:srgbClr val="202020"/>
                </a:solidFill>
                <a:latin typeface="Calibri"/>
                <a:cs typeface="Calibri"/>
              </a:rPr>
              <a:t>databases</a:t>
            </a:r>
            <a:r>
              <a:rPr sz="1298" spc="-35" dirty="0">
                <a:solidFill>
                  <a:srgbClr val="202020"/>
                </a:solidFill>
                <a:latin typeface="Calibri"/>
                <a:cs typeface="Calibri"/>
              </a:rPr>
              <a:t> </a:t>
            </a:r>
            <a:r>
              <a:rPr sz="1298" spc="-10" dirty="0">
                <a:solidFill>
                  <a:srgbClr val="202020"/>
                </a:solidFill>
                <a:latin typeface="Calibri"/>
                <a:cs typeface="Calibri"/>
              </a:rPr>
              <a:t>evolve</a:t>
            </a:r>
            <a:r>
              <a:rPr sz="1298" spc="-40" dirty="0">
                <a:solidFill>
                  <a:srgbClr val="202020"/>
                </a:solidFill>
                <a:latin typeface="Calibri"/>
                <a:cs typeface="Calibri"/>
              </a:rPr>
              <a:t> </a:t>
            </a:r>
            <a:r>
              <a:rPr sz="1298" dirty="0">
                <a:solidFill>
                  <a:srgbClr val="202020"/>
                </a:solidFill>
                <a:latin typeface="Calibri"/>
                <a:cs typeface="Calibri"/>
              </a:rPr>
              <a:t>their</a:t>
            </a:r>
            <a:r>
              <a:rPr sz="1298" spc="-35" dirty="0">
                <a:solidFill>
                  <a:srgbClr val="202020"/>
                </a:solidFill>
                <a:latin typeface="Calibri"/>
                <a:cs typeface="Calibri"/>
              </a:rPr>
              <a:t> </a:t>
            </a:r>
            <a:r>
              <a:rPr sz="1298" dirty="0">
                <a:solidFill>
                  <a:srgbClr val="202020"/>
                </a:solidFill>
                <a:latin typeface="Calibri"/>
                <a:cs typeface="Calibri"/>
              </a:rPr>
              <a:t>rules.</a:t>
            </a:r>
            <a:r>
              <a:rPr sz="1298" spc="-35" dirty="0">
                <a:solidFill>
                  <a:srgbClr val="202020"/>
                </a:solidFill>
                <a:latin typeface="Calibri"/>
                <a:cs typeface="Calibri"/>
              </a:rPr>
              <a:t> </a:t>
            </a:r>
            <a:r>
              <a:rPr sz="1298" dirty="0">
                <a:solidFill>
                  <a:srgbClr val="202020"/>
                </a:solidFill>
                <a:latin typeface="Calibri"/>
                <a:cs typeface="Calibri"/>
              </a:rPr>
              <a:t>(Same</a:t>
            </a:r>
            <a:r>
              <a:rPr sz="1298" spc="-35" dirty="0">
                <a:solidFill>
                  <a:srgbClr val="202020"/>
                </a:solidFill>
                <a:latin typeface="Calibri"/>
                <a:cs typeface="Calibri"/>
              </a:rPr>
              <a:t> </a:t>
            </a:r>
            <a:r>
              <a:rPr sz="1298" spc="-10" dirty="0">
                <a:solidFill>
                  <a:srgbClr val="202020"/>
                </a:solidFill>
                <a:latin typeface="Calibri"/>
                <a:cs typeface="Calibri"/>
              </a:rPr>
              <a:t>tables</a:t>
            </a:r>
            <a:r>
              <a:rPr sz="1298" spc="-40" dirty="0">
                <a:solidFill>
                  <a:srgbClr val="202020"/>
                </a:solidFill>
                <a:latin typeface="Calibri"/>
                <a:cs typeface="Calibri"/>
              </a:rPr>
              <a:t> </a:t>
            </a:r>
            <a:r>
              <a:rPr sz="1298" dirty="0">
                <a:solidFill>
                  <a:srgbClr val="202020"/>
                </a:solidFill>
                <a:latin typeface="Calibri"/>
                <a:cs typeface="Calibri"/>
              </a:rPr>
              <a:t>you</a:t>
            </a:r>
            <a:r>
              <a:rPr sz="1298" spc="-35" dirty="0">
                <a:solidFill>
                  <a:srgbClr val="202020"/>
                </a:solidFill>
                <a:latin typeface="Calibri"/>
                <a:cs typeface="Calibri"/>
              </a:rPr>
              <a:t> </a:t>
            </a:r>
            <a:r>
              <a:rPr sz="1298" spc="-10" dirty="0">
                <a:solidFill>
                  <a:srgbClr val="202020"/>
                </a:solidFill>
                <a:latin typeface="Calibri"/>
                <a:cs typeface="Calibri"/>
              </a:rPr>
              <a:t>altered</a:t>
            </a:r>
            <a:r>
              <a:rPr sz="1298" spc="-35" dirty="0">
                <a:solidFill>
                  <a:srgbClr val="202020"/>
                </a:solidFill>
                <a:latin typeface="Calibri"/>
                <a:cs typeface="Calibri"/>
              </a:rPr>
              <a:t> </a:t>
            </a:r>
            <a:r>
              <a:rPr sz="1298" dirty="0">
                <a:solidFill>
                  <a:srgbClr val="202020"/>
                </a:solidFill>
                <a:latin typeface="Calibri"/>
                <a:cs typeface="Calibri"/>
              </a:rPr>
              <a:t>TYPE</a:t>
            </a:r>
            <a:r>
              <a:rPr sz="1298" spc="-35" dirty="0">
                <a:solidFill>
                  <a:srgbClr val="202020"/>
                </a:solidFill>
                <a:latin typeface="Calibri"/>
                <a:cs typeface="Calibri"/>
              </a:rPr>
              <a:t> </a:t>
            </a:r>
            <a:r>
              <a:rPr sz="1298" dirty="0">
                <a:solidFill>
                  <a:srgbClr val="202020"/>
                </a:solidFill>
                <a:latin typeface="Calibri"/>
                <a:cs typeface="Calibri"/>
              </a:rPr>
              <a:t>on</a:t>
            </a:r>
            <a:r>
              <a:rPr sz="1298" spc="-40" dirty="0">
                <a:solidFill>
                  <a:srgbClr val="202020"/>
                </a:solidFill>
                <a:latin typeface="Calibri"/>
                <a:cs typeface="Calibri"/>
              </a:rPr>
              <a:t> </a:t>
            </a:r>
            <a:r>
              <a:rPr sz="1298" dirty="0">
                <a:solidFill>
                  <a:srgbClr val="202020"/>
                </a:solidFill>
                <a:latin typeface="Calibri"/>
                <a:cs typeface="Calibri"/>
              </a:rPr>
              <a:t>earlier</a:t>
            </a:r>
            <a:r>
              <a:rPr sz="1298" spc="-35" dirty="0">
                <a:solidFill>
                  <a:srgbClr val="202020"/>
                </a:solidFill>
                <a:latin typeface="Calibri"/>
                <a:cs typeface="Calibri"/>
              </a:rPr>
              <a:t> </a:t>
            </a:r>
            <a:r>
              <a:rPr sz="1298" spc="-10" dirty="0">
                <a:solidFill>
                  <a:srgbClr val="202020"/>
                </a:solidFill>
                <a:latin typeface="Calibri"/>
                <a:cs typeface="Calibri"/>
              </a:rPr>
              <a:t>today.)</a:t>
            </a:r>
            <a:endParaRPr sz="1298">
              <a:latin typeface="Calibri"/>
              <a:cs typeface="Calibri"/>
            </a:endParaRPr>
          </a:p>
          <a:p>
            <a:pPr marL="12685">
              <a:spcBef>
                <a:spcPts val="789"/>
              </a:spcBef>
            </a:pPr>
            <a:r>
              <a:rPr sz="899" b="1" dirty="0">
                <a:solidFill>
                  <a:srgbClr val="FFB200"/>
                </a:solidFill>
                <a:latin typeface="Courier New"/>
                <a:cs typeface="Courier New"/>
              </a:rPr>
              <a:t>[NOT NULL and DEFAULT (per </a:t>
            </a:r>
            <a:r>
              <a:rPr sz="899" b="1" spc="-10" dirty="0">
                <a:solidFill>
                  <a:srgbClr val="FFB200"/>
                </a:solidFill>
                <a:latin typeface="Courier New"/>
                <a:cs typeface="Courier New"/>
              </a:rPr>
              <a:t>column)]</a:t>
            </a:r>
            <a:endParaRPr sz="899">
              <a:latin typeface="Courier New"/>
              <a:cs typeface="Courier New"/>
            </a:endParaRPr>
          </a:p>
          <a:p>
            <a:pPr marL="12685" marR="2462112">
              <a:lnSpc>
                <a:spcPct val="120200"/>
              </a:lnSpc>
            </a:pPr>
            <a:r>
              <a:rPr sz="899" dirty="0">
                <a:solidFill>
                  <a:srgbClr val="699954"/>
                </a:solidFill>
                <a:latin typeface="Courier New"/>
                <a:cs typeface="Courier New"/>
              </a:rPr>
              <a:t>-- NOT NULL  (fails if existing rows already hold NULL - clean them </a:t>
            </a:r>
            <a:r>
              <a:rPr sz="899" spc="-10" dirty="0">
                <a:solidFill>
                  <a:srgbClr val="699954"/>
                </a:solidFill>
                <a:latin typeface="Courier New"/>
                <a:cs typeface="Courier New"/>
              </a:rPr>
              <a:t>first) </a:t>
            </a:r>
            <a:r>
              <a:rPr sz="899" dirty="0">
                <a:solidFill>
                  <a:srgbClr val="333333"/>
                </a:solidFill>
                <a:latin typeface="Courier New"/>
                <a:cs typeface="Courier New"/>
              </a:rPr>
              <a:t>ALTER TABLE t ALTER COLUMN c SET NOT </a:t>
            </a:r>
            <a:r>
              <a:rPr sz="899" spc="-10" dirty="0">
                <a:solidFill>
                  <a:srgbClr val="333333"/>
                </a:solidFill>
                <a:latin typeface="Courier New"/>
                <a:cs typeface="Courier New"/>
              </a:rPr>
              <a:t>NULL;</a:t>
            </a:r>
            <a:endParaRPr sz="899">
              <a:latin typeface="Courier New"/>
              <a:cs typeface="Courier New"/>
            </a:endParaRPr>
          </a:p>
          <a:p>
            <a:pPr marL="12685">
              <a:spcBef>
                <a:spcPts val="215"/>
              </a:spcBef>
            </a:pPr>
            <a:r>
              <a:rPr sz="899" dirty="0">
                <a:solidFill>
                  <a:srgbClr val="333333"/>
                </a:solidFill>
                <a:latin typeface="Courier New"/>
                <a:cs typeface="Courier New"/>
              </a:rPr>
              <a:t>ALTER TABLE t ALTER COLUMN c DROP NOT </a:t>
            </a:r>
            <a:r>
              <a:rPr sz="899" spc="-10" dirty="0">
                <a:solidFill>
                  <a:srgbClr val="333333"/>
                </a:solidFill>
                <a:latin typeface="Courier New"/>
                <a:cs typeface="Courier New"/>
              </a:rPr>
              <a:t>NULL;</a:t>
            </a:r>
            <a:endParaRPr sz="899">
              <a:latin typeface="Courier New"/>
              <a:cs typeface="Courier New"/>
            </a:endParaRPr>
          </a:p>
          <a:p>
            <a:pPr>
              <a:spcBef>
                <a:spcPts val="854"/>
              </a:spcBef>
            </a:pPr>
            <a:endParaRPr sz="899">
              <a:latin typeface="Courier New"/>
              <a:cs typeface="Courier New"/>
            </a:endParaRPr>
          </a:p>
          <a:p>
            <a:pPr marL="12685" marR="2738005">
              <a:lnSpc>
                <a:spcPct val="120200"/>
              </a:lnSpc>
            </a:pPr>
            <a:r>
              <a:rPr sz="899" dirty="0">
                <a:solidFill>
                  <a:srgbClr val="699954"/>
                </a:solidFill>
                <a:latin typeface="Courier New"/>
                <a:cs typeface="Courier New"/>
              </a:rPr>
              <a:t>-- DEFAULT  (affects only FUTURE inserts; existing rows are </a:t>
            </a:r>
            <a:r>
              <a:rPr sz="899" spc="-10" dirty="0">
                <a:solidFill>
                  <a:srgbClr val="699954"/>
                </a:solidFill>
                <a:latin typeface="Courier New"/>
                <a:cs typeface="Courier New"/>
              </a:rPr>
              <a:t>untouched) </a:t>
            </a:r>
            <a:r>
              <a:rPr sz="899" dirty="0">
                <a:solidFill>
                  <a:srgbClr val="333333"/>
                </a:solidFill>
                <a:latin typeface="Courier New"/>
                <a:cs typeface="Courier New"/>
              </a:rPr>
              <a:t>ALTER TABLE t ALTER COLUMN c SET DEFAULT </a:t>
            </a:r>
            <a:r>
              <a:rPr sz="899" spc="-10" dirty="0">
                <a:solidFill>
                  <a:srgbClr val="333333"/>
                </a:solidFill>
                <a:latin typeface="Courier New"/>
                <a:cs typeface="Courier New"/>
              </a:rPr>
              <a:t>'pending';</a:t>
            </a:r>
            <a:endParaRPr sz="899">
              <a:latin typeface="Courier New"/>
              <a:cs typeface="Courier New"/>
            </a:endParaRPr>
          </a:p>
          <a:p>
            <a:pPr marL="12685">
              <a:spcBef>
                <a:spcPts val="220"/>
              </a:spcBef>
            </a:pPr>
            <a:r>
              <a:rPr sz="899" dirty="0">
                <a:solidFill>
                  <a:srgbClr val="333333"/>
                </a:solidFill>
                <a:latin typeface="Courier New"/>
                <a:cs typeface="Courier New"/>
              </a:rPr>
              <a:t>ALTER TABLE t ALTER COLUMN c DROP </a:t>
            </a:r>
            <a:r>
              <a:rPr sz="899" spc="-10" dirty="0">
                <a:solidFill>
                  <a:srgbClr val="333333"/>
                </a:solidFill>
                <a:latin typeface="Courier New"/>
                <a:cs typeface="Courier New"/>
              </a:rPr>
              <a:t>DEFAULT;</a:t>
            </a:r>
            <a:endParaRPr sz="899">
              <a:latin typeface="Courier New"/>
              <a:cs typeface="Courier New"/>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79619" y="273628"/>
            <a:ext cx="2054228" cy="4566363"/>
          </a:xfrm>
          <a:custGeom>
            <a:avLst/>
            <a:gdLst/>
            <a:ahLst/>
            <a:cxnLst/>
            <a:rect l="l" t="t" r="r" b="b"/>
            <a:pathLst>
              <a:path w="2056764" h="4572000">
                <a:moveTo>
                  <a:pt x="72720" y="0"/>
                </a:moveTo>
                <a:lnTo>
                  <a:pt x="0" y="0"/>
                </a:lnTo>
                <a:lnTo>
                  <a:pt x="0" y="4571631"/>
                </a:lnTo>
                <a:lnTo>
                  <a:pt x="36360" y="4571631"/>
                </a:lnTo>
                <a:lnTo>
                  <a:pt x="72720" y="4571631"/>
                </a:lnTo>
                <a:lnTo>
                  <a:pt x="72720" y="0"/>
                </a:lnTo>
                <a:close/>
              </a:path>
              <a:path w="2056764" h="4572000">
                <a:moveTo>
                  <a:pt x="2056676" y="355"/>
                </a:moveTo>
                <a:lnTo>
                  <a:pt x="228244" y="355"/>
                </a:lnTo>
                <a:lnTo>
                  <a:pt x="228244" y="320040"/>
                </a:lnTo>
                <a:lnTo>
                  <a:pt x="1142644" y="320040"/>
                </a:lnTo>
                <a:lnTo>
                  <a:pt x="2056676" y="320040"/>
                </a:lnTo>
                <a:lnTo>
                  <a:pt x="2056676" y="355"/>
                </a:lnTo>
                <a:close/>
              </a:path>
            </a:pathLst>
          </a:custGeom>
          <a:solidFill>
            <a:srgbClr val="00695B"/>
          </a:solidFill>
        </p:spPr>
        <p:txBody>
          <a:bodyPr wrap="square" lIns="0" tIns="0" rIns="0" bIns="0" rtlCol="0"/>
          <a:lstStyle/>
          <a:p>
            <a:endParaRPr sz="1798"/>
          </a:p>
        </p:txBody>
      </p:sp>
      <p:sp>
        <p:nvSpPr>
          <p:cNvPr id="3" name="object 3"/>
          <p:cNvSpPr txBox="1"/>
          <p:nvPr/>
        </p:nvSpPr>
        <p:spPr>
          <a:xfrm>
            <a:off x="1100740" y="345079"/>
            <a:ext cx="641193" cy="166379"/>
          </a:xfrm>
          <a:prstGeom prst="rect">
            <a:avLst/>
          </a:prstGeom>
        </p:spPr>
        <p:txBody>
          <a:bodyPr vert="horz" wrap="square" lIns="0" tIns="12684" rIns="0" bIns="0" rtlCol="0">
            <a:spAutoFit/>
          </a:bodyPr>
          <a:lstStyle/>
          <a:p>
            <a:pPr marL="12685">
              <a:spcBef>
                <a:spcPts val="100"/>
              </a:spcBef>
            </a:pPr>
            <a:r>
              <a:rPr sz="999" b="1" spc="-10" dirty="0">
                <a:solidFill>
                  <a:srgbClr val="FFFFFF"/>
                </a:solidFill>
                <a:latin typeface="Calibri"/>
                <a:cs typeface="Calibri"/>
              </a:rPr>
              <a:t>DEFINITION</a:t>
            </a:r>
            <a:endParaRPr sz="999">
              <a:latin typeface="Calibri"/>
              <a:cs typeface="Calibri"/>
            </a:endParaRPr>
          </a:p>
        </p:txBody>
      </p:sp>
      <p:sp>
        <p:nvSpPr>
          <p:cNvPr id="4" name="object 4" descr="$PPTXTitle"/>
          <p:cNvSpPr txBox="1">
            <a:spLocks noGrp="1"/>
          </p:cNvSpPr>
          <p:nvPr>
            <p:ph type="title"/>
          </p:nvPr>
        </p:nvSpPr>
        <p:spPr>
          <a:xfrm>
            <a:off x="494898" y="595684"/>
            <a:ext cx="8037432" cy="634851"/>
          </a:xfrm>
          <a:prstGeom prst="rect">
            <a:avLst/>
          </a:prstGeom>
        </p:spPr>
        <p:txBody>
          <a:bodyPr vert="horz" wrap="square" lIns="0" tIns="12684" rIns="0" bIns="0" rtlCol="0">
            <a:spAutoFit/>
          </a:bodyPr>
          <a:lstStyle/>
          <a:p>
            <a:pPr marL="12685" marR="5074">
              <a:spcBef>
                <a:spcPts val="100"/>
              </a:spcBef>
            </a:pPr>
            <a:r>
              <a:rPr sz="1998" dirty="0">
                <a:solidFill>
                  <a:srgbClr val="202020"/>
                </a:solidFill>
                <a:latin typeface="Georgia"/>
                <a:cs typeface="Georgia"/>
              </a:rPr>
              <a:t>ALTER</a:t>
            </a:r>
            <a:r>
              <a:rPr sz="1998" spc="-25" dirty="0">
                <a:solidFill>
                  <a:srgbClr val="202020"/>
                </a:solidFill>
                <a:latin typeface="Georgia"/>
                <a:cs typeface="Georgia"/>
              </a:rPr>
              <a:t> </a:t>
            </a:r>
            <a:r>
              <a:rPr sz="1998" dirty="0">
                <a:solidFill>
                  <a:srgbClr val="202020"/>
                </a:solidFill>
                <a:latin typeface="Georgia"/>
                <a:cs typeface="Georgia"/>
              </a:rPr>
              <a:t>TABLE</a:t>
            </a:r>
            <a:r>
              <a:rPr sz="1998" spc="-15" dirty="0">
                <a:solidFill>
                  <a:srgbClr val="202020"/>
                </a:solidFill>
                <a:latin typeface="Georgia"/>
                <a:cs typeface="Georgia"/>
              </a:rPr>
              <a:t> </a:t>
            </a:r>
            <a:r>
              <a:rPr sz="1998" dirty="0">
                <a:solidFill>
                  <a:srgbClr val="202020"/>
                </a:solidFill>
                <a:latin typeface="Georgia"/>
                <a:cs typeface="Georgia"/>
              </a:rPr>
              <a:t>-</a:t>
            </a:r>
            <a:r>
              <a:rPr sz="1998" spc="-20" dirty="0">
                <a:solidFill>
                  <a:srgbClr val="202020"/>
                </a:solidFill>
                <a:latin typeface="Georgia"/>
                <a:cs typeface="Georgia"/>
              </a:rPr>
              <a:t> </a:t>
            </a:r>
            <a:r>
              <a:rPr sz="1998" dirty="0">
                <a:solidFill>
                  <a:srgbClr val="202020"/>
                </a:solidFill>
                <a:latin typeface="Georgia"/>
                <a:cs typeface="Georgia"/>
              </a:rPr>
              <a:t>Add</a:t>
            </a:r>
            <a:r>
              <a:rPr sz="1998" spc="-15" dirty="0">
                <a:solidFill>
                  <a:srgbClr val="202020"/>
                </a:solidFill>
                <a:latin typeface="Georgia"/>
                <a:cs typeface="Georgia"/>
              </a:rPr>
              <a:t> </a:t>
            </a:r>
            <a:r>
              <a:rPr sz="1998" dirty="0">
                <a:solidFill>
                  <a:srgbClr val="202020"/>
                </a:solidFill>
                <a:latin typeface="Georgia"/>
                <a:cs typeface="Georgia"/>
              </a:rPr>
              <a:t>&amp;</a:t>
            </a:r>
            <a:r>
              <a:rPr sz="1998" spc="-20" dirty="0">
                <a:solidFill>
                  <a:srgbClr val="202020"/>
                </a:solidFill>
                <a:latin typeface="Georgia"/>
                <a:cs typeface="Georgia"/>
              </a:rPr>
              <a:t> </a:t>
            </a:r>
            <a:r>
              <a:rPr sz="1998" dirty="0">
                <a:solidFill>
                  <a:srgbClr val="202020"/>
                </a:solidFill>
                <a:latin typeface="Georgia"/>
                <a:cs typeface="Georgia"/>
              </a:rPr>
              <a:t>Drop</a:t>
            </a:r>
            <a:r>
              <a:rPr sz="1998" spc="-25" dirty="0">
                <a:solidFill>
                  <a:srgbClr val="202020"/>
                </a:solidFill>
                <a:latin typeface="Georgia"/>
                <a:cs typeface="Georgia"/>
              </a:rPr>
              <a:t> </a:t>
            </a:r>
            <a:r>
              <a:rPr sz="1998" dirty="0">
                <a:solidFill>
                  <a:srgbClr val="202020"/>
                </a:solidFill>
                <a:latin typeface="Georgia"/>
                <a:cs typeface="Georgia"/>
              </a:rPr>
              <a:t>Constraints</a:t>
            </a:r>
            <a:r>
              <a:rPr sz="1998" spc="-20" dirty="0">
                <a:solidFill>
                  <a:srgbClr val="202020"/>
                </a:solidFill>
                <a:latin typeface="Georgia"/>
                <a:cs typeface="Georgia"/>
              </a:rPr>
              <a:t> </a:t>
            </a:r>
            <a:r>
              <a:rPr sz="1998" dirty="0">
                <a:solidFill>
                  <a:srgbClr val="202020"/>
                </a:solidFill>
                <a:latin typeface="Georgia"/>
                <a:cs typeface="Georgia"/>
              </a:rPr>
              <a:t>on</a:t>
            </a:r>
            <a:r>
              <a:rPr sz="1998" spc="-20" dirty="0">
                <a:solidFill>
                  <a:srgbClr val="202020"/>
                </a:solidFill>
                <a:latin typeface="Georgia"/>
                <a:cs typeface="Georgia"/>
              </a:rPr>
              <a:t> </a:t>
            </a:r>
            <a:r>
              <a:rPr sz="1998" dirty="0">
                <a:solidFill>
                  <a:srgbClr val="202020"/>
                </a:solidFill>
                <a:latin typeface="Georgia"/>
                <a:cs typeface="Georgia"/>
              </a:rPr>
              <a:t>EXISTING</a:t>
            </a:r>
            <a:r>
              <a:rPr sz="1998" spc="-15" dirty="0">
                <a:solidFill>
                  <a:srgbClr val="202020"/>
                </a:solidFill>
                <a:latin typeface="Georgia"/>
                <a:cs typeface="Georgia"/>
              </a:rPr>
              <a:t> </a:t>
            </a:r>
            <a:r>
              <a:rPr sz="1998" spc="-10" dirty="0">
                <a:solidFill>
                  <a:srgbClr val="202020"/>
                </a:solidFill>
                <a:latin typeface="Georgia"/>
                <a:cs typeface="Georgia"/>
              </a:rPr>
              <a:t>Tables (2/2)</a:t>
            </a:r>
            <a:endParaRPr sz="1998">
              <a:latin typeface="Georgia"/>
              <a:cs typeface="Georgia"/>
            </a:endParaRPr>
          </a:p>
        </p:txBody>
      </p:sp>
      <p:sp>
        <p:nvSpPr>
          <p:cNvPr id="5" name="object 5"/>
          <p:cNvSpPr txBox="1"/>
          <p:nvPr/>
        </p:nvSpPr>
        <p:spPr>
          <a:xfrm>
            <a:off x="584779" y="1219002"/>
            <a:ext cx="4570802" cy="3111243"/>
          </a:xfrm>
          <a:prstGeom prst="rect">
            <a:avLst/>
          </a:prstGeom>
        </p:spPr>
        <p:txBody>
          <a:bodyPr vert="horz" wrap="square" lIns="0" tIns="39956" rIns="0" bIns="0" rtlCol="0">
            <a:spAutoFit/>
          </a:bodyPr>
          <a:lstStyle/>
          <a:p>
            <a:pPr marL="12685">
              <a:spcBef>
                <a:spcPts val="315"/>
              </a:spcBef>
            </a:pPr>
            <a:r>
              <a:rPr sz="899" b="1" dirty="0">
                <a:solidFill>
                  <a:srgbClr val="FFB200"/>
                </a:solidFill>
                <a:latin typeface="Courier New"/>
                <a:cs typeface="Courier New"/>
              </a:rPr>
              <a:t>[UNIQUE / CHECK / PRIMARY KEY / FOREIGN KEY (named </a:t>
            </a:r>
            <a:r>
              <a:rPr sz="899" b="1" spc="-10" dirty="0">
                <a:solidFill>
                  <a:srgbClr val="FFB200"/>
                </a:solidFill>
                <a:latin typeface="Courier New"/>
                <a:cs typeface="Courier New"/>
              </a:rPr>
              <a:t>constraints)]</a:t>
            </a:r>
            <a:endParaRPr sz="899">
              <a:latin typeface="Courier New"/>
              <a:cs typeface="Courier New"/>
            </a:endParaRPr>
          </a:p>
          <a:p>
            <a:pPr marL="12685">
              <a:spcBef>
                <a:spcPts val="220"/>
              </a:spcBef>
            </a:pPr>
            <a:r>
              <a:rPr sz="899" dirty="0">
                <a:solidFill>
                  <a:srgbClr val="699954"/>
                </a:solidFill>
                <a:latin typeface="Courier New"/>
                <a:cs typeface="Courier New"/>
              </a:rPr>
              <a:t>-- </a:t>
            </a:r>
            <a:r>
              <a:rPr sz="899" spc="-10" dirty="0">
                <a:solidFill>
                  <a:srgbClr val="699954"/>
                </a:solidFill>
                <a:latin typeface="Courier New"/>
                <a:cs typeface="Courier New"/>
              </a:rPr>
              <a:t>UNIQUE</a:t>
            </a:r>
            <a:endParaRPr sz="899">
              <a:latin typeface="Courier New"/>
              <a:cs typeface="Courier New"/>
            </a:endParaRPr>
          </a:p>
          <a:p>
            <a:pPr marL="12685" marR="762354">
              <a:lnSpc>
                <a:spcPct val="120200"/>
              </a:lnSpc>
            </a:pPr>
            <a:r>
              <a:rPr sz="899" dirty="0">
                <a:solidFill>
                  <a:srgbClr val="333333"/>
                </a:solidFill>
                <a:latin typeface="Courier New"/>
                <a:cs typeface="Courier New"/>
              </a:rPr>
              <a:t>ALTER TABLE t ADD CONSTRAINT uq_t_email UNIQUE </a:t>
            </a:r>
            <a:r>
              <a:rPr sz="899" spc="-10" dirty="0">
                <a:solidFill>
                  <a:srgbClr val="333333"/>
                </a:solidFill>
                <a:latin typeface="Courier New"/>
                <a:cs typeface="Courier New"/>
              </a:rPr>
              <a:t>(email); </a:t>
            </a:r>
            <a:r>
              <a:rPr sz="899" dirty="0">
                <a:solidFill>
                  <a:srgbClr val="333333"/>
                </a:solidFill>
                <a:latin typeface="Courier New"/>
                <a:cs typeface="Courier New"/>
              </a:rPr>
              <a:t>ALTER TABLE t DROP CONSTRAINT </a:t>
            </a:r>
            <a:r>
              <a:rPr sz="899" spc="-10" dirty="0">
                <a:solidFill>
                  <a:srgbClr val="333333"/>
                </a:solidFill>
                <a:latin typeface="Courier New"/>
                <a:cs typeface="Courier New"/>
              </a:rPr>
              <a:t>uq_t_email;</a:t>
            </a:r>
            <a:endParaRPr sz="899">
              <a:latin typeface="Courier New"/>
              <a:cs typeface="Courier New"/>
            </a:endParaRPr>
          </a:p>
          <a:p>
            <a:pPr>
              <a:lnSpc>
                <a:spcPct val="100000"/>
              </a:lnSpc>
            </a:pPr>
            <a:endParaRPr sz="899">
              <a:latin typeface="Courier New"/>
              <a:cs typeface="Courier New"/>
            </a:endParaRPr>
          </a:p>
          <a:p>
            <a:pPr>
              <a:spcBef>
                <a:spcPts val="50"/>
              </a:spcBef>
            </a:pPr>
            <a:endParaRPr sz="899">
              <a:latin typeface="Courier New"/>
              <a:cs typeface="Courier New"/>
            </a:endParaRPr>
          </a:p>
          <a:p>
            <a:pPr marL="12685">
              <a:spcBef>
                <a:spcPts val="5"/>
              </a:spcBef>
            </a:pPr>
            <a:r>
              <a:rPr sz="899" dirty="0">
                <a:solidFill>
                  <a:srgbClr val="699954"/>
                </a:solidFill>
                <a:latin typeface="Courier New"/>
                <a:cs typeface="Courier New"/>
              </a:rPr>
              <a:t>-- CHECK  (single- or multi-</a:t>
            </a:r>
            <a:r>
              <a:rPr sz="899" spc="-10" dirty="0">
                <a:solidFill>
                  <a:srgbClr val="699954"/>
                </a:solidFill>
                <a:latin typeface="Courier New"/>
                <a:cs typeface="Courier New"/>
              </a:rPr>
              <a:t>column)</a:t>
            </a:r>
            <a:endParaRPr sz="899">
              <a:latin typeface="Courier New"/>
              <a:cs typeface="Courier New"/>
            </a:endParaRPr>
          </a:p>
          <a:p>
            <a:pPr marL="12685" marR="417963">
              <a:lnSpc>
                <a:spcPct val="120200"/>
              </a:lnSpc>
            </a:pPr>
            <a:r>
              <a:rPr sz="899" dirty="0">
                <a:solidFill>
                  <a:srgbClr val="333333"/>
                </a:solidFill>
                <a:latin typeface="Courier New"/>
                <a:cs typeface="Courier New"/>
              </a:rPr>
              <a:t>ALTER TABLE t ADD CONSTRAINT chk_t_price CHECK (price &gt;= </a:t>
            </a:r>
            <a:r>
              <a:rPr sz="899" spc="-25" dirty="0">
                <a:solidFill>
                  <a:srgbClr val="333333"/>
                </a:solidFill>
                <a:latin typeface="Courier New"/>
                <a:cs typeface="Courier New"/>
              </a:rPr>
              <a:t>0); </a:t>
            </a:r>
            <a:r>
              <a:rPr sz="899" dirty="0">
                <a:solidFill>
                  <a:srgbClr val="333333"/>
                </a:solidFill>
                <a:latin typeface="Courier New"/>
                <a:cs typeface="Courier New"/>
              </a:rPr>
              <a:t>ALTER TABLE t DROP CONSTRAINT </a:t>
            </a:r>
            <a:r>
              <a:rPr sz="899" spc="-10" dirty="0">
                <a:solidFill>
                  <a:srgbClr val="333333"/>
                </a:solidFill>
                <a:latin typeface="Courier New"/>
                <a:cs typeface="Courier New"/>
              </a:rPr>
              <a:t>chk_t_price;</a:t>
            </a:r>
            <a:endParaRPr sz="899">
              <a:latin typeface="Courier New"/>
              <a:cs typeface="Courier New"/>
            </a:endParaRPr>
          </a:p>
          <a:p>
            <a:pPr>
              <a:lnSpc>
                <a:spcPct val="100000"/>
              </a:lnSpc>
            </a:pPr>
            <a:endParaRPr sz="899">
              <a:latin typeface="Courier New"/>
              <a:cs typeface="Courier New"/>
            </a:endParaRPr>
          </a:p>
          <a:p>
            <a:pPr>
              <a:spcBef>
                <a:spcPts val="50"/>
              </a:spcBef>
            </a:pPr>
            <a:endParaRPr sz="899">
              <a:latin typeface="Courier New"/>
              <a:cs typeface="Courier New"/>
            </a:endParaRPr>
          </a:p>
          <a:p>
            <a:pPr marL="12685"/>
            <a:r>
              <a:rPr sz="899" dirty="0">
                <a:solidFill>
                  <a:srgbClr val="699954"/>
                </a:solidFill>
                <a:latin typeface="Courier New"/>
                <a:cs typeface="Courier New"/>
              </a:rPr>
              <a:t>-- PRIMARY </a:t>
            </a:r>
            <a:r>
              <a:rPr sz="899" spc="-25" dirty="0">
                <a:solidFill>
                  <a:srgbClr val="699954"/>
                </a:solidFill>
                <a:latin typeface="Courier New"/>
                <a:cs typeface="Courier New"/>
              </a:rPr>
              <a:t>KEY</a:t>
            </a:r>
            <a:endParaRPr sz="899">
              <a:latin typeface="Courier New"/>
              <a:cs typeface="Courier New"/>
            </a:endParaRPr>
          </a:p>
          <a:p>
            <a:pPr marL="12685" marR="1037613">
              <a:lnSpc>
                <a:spcPct val="120200"/>
              </a:lnSpc>
            </a:pPr>
            <a:r>
              <a:rPr sz="899" dirty="0">
                <a:solidFill>
                  <a:srgbClr val="333333"/>
                </a:solidFill>
                <a:latin typeface="Courier New"/>
                <a:cs typeface="Courier New"/>
              </a:rPr>
              <a:t>ALTER TABLE t ADD CONSTRAINT pk_t PRIMARY KEY </a:t>
            </a:r>
            <a:r>
              <a:rPr sz="899" spc="-10" dirty="0">
                <a:solidFill>
                  <a:srgbClr val="333333"/>
                </a:solidFill>
                <a:latin typeface="Courier New"/>
                <a:cs typeface="Courier New"/>
              </a:rPr>
              <a:t>(id); </a:t>
            </a:r>
            <a:r>
              <a:rPr sz="899" dirty="0">
                <a:solidFill>
                  <a:srgbClr val="333333"/>
                </a:solidFill>
                <a:latin typeface="Courier New"/>
                <a:cs typeface="Courier New"/>
              </a:rPr>
              <a:t>ALTER TABLE t DROP CONSTRAINT </a:t>
            </a:r>
            <a:r>
              <a:rPr sz="899" spc="-10" dirty="0">
                <a:solidFill>
                  <a:srgbClr val="333333"/>
                </a:solidFill>
                <a:latin typeface="Courier New"/>
                <a:cs typeface="Courier New"/>
              </a:rPr>
              <a:t>pk_t;</a:t>
            </a:r>
            <a:endParaRPr sz="899">
              <a:latin typeface="Courier New"/>
              <a:cs typeface="Courier New"/>
            </a:endParaRPr>
          </a:p>
          <a:p>
            <a:pPr>
              <a:lnSpc>
                <a:spcPct val="100000"/>
              </a:lnSpc>
            </a:pPr>
            <a:endParaRPr sz="899">
              <a:latin typeface="Courier New"/>
              <a:cs typeface="Courier New"/>
            </a:endParaRPr>
          </a:p>
          <a:p>
            <a:pPr>
              <a:spcBef>
                <a:spcPts val="55"/>
              </a:spcBef>
            </a:pPr>
            <a:endParaRPr sz="899">
              <a:latin typeface="Courier New"/>
              <a:cs typeface="Courier New"/>
            </a:endParaRPr>
          </a:p>
          <a:p>
            <a:pPr marL="12685"/>
            <a:r>
              <a:rPr sz="899" dirty="0">
                <a:solidFill>
                  <a:srgbClr val="699954"/>
                </a:solidFill>
                <a:latin typeface="Courier New"/>
                <a:cs typeface="Courier New"/>
              </a:rPr>
              <a:t>-- FOREIGN KEY  (with an ON DELETE </a:t>
            </a:r>
            <a:r>
              <a:rPr sz="899" spc="-10" dirty="0">
                <a:solidFill>
                  <a:srgbClr val="699954"/>
                </a:solidFill>
                <a:latin typeface="Courier New"/>
                <a:cs typeface="Courier New"/>
              </a:rPr>
              <a:t>action)</a:t>
            </a:r>
            <a:endParaRPr sz="899">
              <a:latin typeface="Courier New"/>
              <a:cs typeface="Courier New"/>
            </a:endParaRPr>
          </a:p>
          <a:p>
            <a:pPr marL="12685">
              <a:spcBef>
                <a:spcPts val="215"/>
              </a:spcBef>
            </a:pPr>
            <a:r>
              <a:rPr sz="899" dirty="0">
                <a:solidFill>
                  <a:srgbClr val="333333"/>
                </a:solidFill>
                <a:latin typeface="Courier New"/>
                <a:cs typeface="Courier New"/>
              </a:rPr>
              <a:t>ALTER TABLE child ADD CONSTRAINT </a:t>
            </a:r>
            <a:r>
              <a:rPr sz="899" spc="-10" dirty="0">
                <a:solidFill>
                  <a:srgbClr val="333333"/>
                </a:solidFill>
                <a:latin typeface="Courier New"/>
                <a:cs typeface="Courier New"/>
              </a:rPr>
              <a:t>fk_child_parent</a:t>
            </a:r>
            <a:endParaRPr sz="899">
              <a:latin typeface="Courier New"/>
              <a:cs typeface="Courier New"/>
            </a:endParaRPr>
          </a:p>
          <a:p>
            <a:pPr marL="150314">
              <a:spcBef>
                <a:spcPts val="220"/>
              </a:spcBef>
            </a:pPr>
            <a:r>
              <a:rPr sz="899" dirty="0">
                <a:solidFill>
                  <a:srgbClr val="333333"/>
                </a:solidFill>
                <a:latin typeface="Courier New"/>
                <a:cs typeface="Courier New"/>
              </a:rPr>
              <a:t>FOREIGN KEY (parent_id) REFERENCES parent(id) ON DELETE </a:t>
            </a:r>
            <a:r>
              <a:rPr sz="899" spc="-10" dirty="0">
                <a:solidFill>
                  <a:srgbClr val="333333"/>
                </a:solidFill>
                <a:latin typeface="Courier New"/>
                <a:cs typeface="Courier New"/>
              </a:rPr>
              <a:t>CASCADE;</a:t>
            </a:r>
            <a:endParaRPr sz="899">
              <a:latin typeface="Courier New"/>
              <a:cs typeface="Courier New"/>
            </a:endParaRPr>
          </a:p>
          <a:p>
            <a:pPr marL="12685">
              <a:spcBef>
                <a:spcPts val="220"/>
              </a:spcBef>
            </a:pPr>
            <a:r>
              <a:rPr sz="899" dirty="0">
                <a:solidFill>
                  <a:srgbClr val="333333"/>
                </a:solidFill>
                <a:latin typeface="Courier New"/>
                <a:cs typeface="Courier New"/>
              </a:rPr>
              <a:t>ALTER TABLE child DROP CONSTRAINT </a:t>
            </a:r>
            <a:r>
              <a:rPr sz="899" spc="-10" dirty="0">
                <a:solidFill>
                  <a:srgbClr val="333333"/>
                </a:solidFill>
                <a:latin typeface="Courier New"/>
                <a:cs typeface="Courier New"/>
              </a:rPr>
              <a:t>fk_child_parent;</a:t>
            </a:r>
            <a:endParaRPr sz="899">
              <a:latin typeface="Courier New"/>
              <a:cs typeface="Courier New"/>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638" y="-353"/>
            <a:ext cx="8766782" cy="5137158"/>
          </a:xfrm>
          <a:custGeom>
            <a:avLst/>
            <a:gdLst/>
            <a:ahLst/>
            <a:cxnLst/>
            <a:rect l="l" t="t" r="r" b="b"/>
            <a:pathLst>
              <a:path w="8777605" h="5143500">
                <a:moveTo>
                  <a:pt x="109435" y="0"/>
                </a:moveTo>
                <a:lnTo>
                  <a:pt x="0" y="0"/>
                </a:lnTo>
                <a:lnTo>
                  <a:pt x="0" y="5143309"/>
                </a:lnTo>
                <a:lnTo>
                  <a:pt x="54724" y="5143309"/>
                </a:lnTo>
                <a:lnTo>
                  <a:pt x="109435" y="5143309"/>
                </a:lnTo>
                <a:lnTo>
                  <a:pt x="109435" y="0"/>
                </a:lnTo>
                <a:close/>
              </a:path>
              <a:path w="8777605" h="5143500">
                <a:moveTo>
                  <a:pt x="8777516" y="183235"/>
                </a:moveTo>
                <a:lnTo>
                  <a:pt x="7589164" y="183235"/>
                </a:lnTo>
                <a:lnTo>
                  <a:pt x="7589164" y="594360"/>
                </a:lnTo>
                <a:lnTo>
                  <a:pt x="8183524" y="594360"/>
                </a:lnTo>
                <a:lnTo>
                  <a:pt x="8777516" y="594360"/>
                </a:lnTo>
                <a:lnTo>
                  <a:pt x="8777516" y="183235"/>
                </a:lnTo>
                <a:close/>
              </a:path>
            </a:pathLst>
          </a:custGeom>
          <a:solidFill>
            <a:srgbClr val="4CAE50"/>
          </a:solidFill>
        </p:spPr>
        <p:txBody>
          <a:bodyPr wrap="square" lIns="0" tIns="0" rIns="0" bIns="0" rtlCol="0"/>
          <a:lstStyle/>
          <a:p>
            <a:endParaRPr sz="1798"/>
          </a:p>
        </p:txBody>
      </p:sp>
      <p:sp>
        <p:nvSpPr>
          <p:cNvPr id="3" name="object 3" descr="$PPTXTitle"/>
          <p:cNvSpPr txBox="1">
            <a:spLocks noGrp="1"/>
          </p:cNvSpPr>
          <p:nvPr>
            <p:ph type="title"/>
          </p:nvPr>
        </p:nvSpPr>
        <p:spPr>
          <a:xfrm>
            <a:off x="5637" y="0"/>
            <a:ext cx="0" cy="917990"/>
          </a:xfrm>
          <a:prstGeom prst="rect">
            <a:avLst/>
          </a:prstGeom>
        </p:spPr>
        <p:txBody>
          <a:bodyPr vert="horz" wrap="square" lIns="0" tIns="57992" rIns="0" bIns="0" rtlCol="0">
            <a:spAutoFit/>
          </a:bodyPr>
          <a:lstStyle/>
          <a:p>
            <a:pPr marL="7546798">
              <a:spcBef>
                <a:spcPts val="100"/>
              </a:spcBef>
            </a:pPr>
            <a:r>
              <a:rPr sz="1398" spc="-20" dirty="0">
                <a:solidFill>
                  <a:srgbClr val="FFFFFF"/>
                </a:solidFill>
              </a:rPr>
              <a:t>EASY</a:t>
            </a:r>
            <a:endParaRPr sz="1398"/>
          </a:p>
        </p:txBody>
      </p:sp>
      <p:sp>
        <p:nvSpPr>
          <p:cNvPr id="4" name="object 4"/>
          <p:cNvSpPr txBox="1"/>
          <p:nvPr/>
        </p:nvSpPr>
        <p:spPr>
          <a:xfrm>
            <a:off x="447788" y="716784"/>
            <a:ext cx="8031090" cy="2382753"/>
          </a:xfrm>
          <a:prstGeom prst="rect">
            <a:avLst/>
          </a:prstGeom>
        </p:spPr>
        <p:txBody>
          <a:bodyPr vert="horz" wrap="square" lIns="0" tIns="12684" rIns="0" bIns="0" rtlCol="0">
            <a:spAutoFit/>
          </a:bodyPr>
          <a:lstStyle/>
          <a:p>
            <a:pPr marL="12685" marR="5074">
              <a:lnSpc>
                <a:spcPct val="120100"/>
              </a:lnSpc>
              <a:spcBef>
                <a:spcPts val="100"/>
              </a:spcBef>
            </a:pPr>
            <a:r>
              <a:rPr sz="1298" b="1" spc="-10" dirty="0">
                <a:solidFill>
                  <a:srgbClr val="1D3A5E"/>
                </a:solidFill>
                <a:latin typeface="Calibri"/>
                <a:cs typeface="Calibri"/>
              </a:rPr>
              <a:t>SCENARIO:</a:t>
            </a:r>
            <a:r>
              <a:rPr sz="1298" b="1" spc="-35" dirty="0">
                <a:solidFill>
                  <a:srgbClr val="1D3A5E"/>
                </a:solidFill>
                <a:latin typeface="Calibri"/>
                <a:cs typeface="Calibri"/>
              </a:rPr>
              <a:t> </a:t>
            </a:r>
            <a:r>
              <a:rPr sz="1298" dirty="0">
                <a:solidFill>
                  <a:srgbClr val="202020"/>
                </a:solidFill>
                <a:latin typeface="Calibri"/>
                <a:cs typeface="Calibri"/>
              </a:rPr>
              <a:t>A</a:t>
            </a:r>
            <a:r>
              <a:rPr sz="1298" spc="-30" dirty="0">
                <a:solidFill>
                  <a:srgbClr val="202020"/>
                </a:solidFill>
                <a:latin typeface="Calibri"/>
                <a:cs typeface="Calibri"/>
              </a:rPr>
              <a:t> </a:t>
            </a:r>
            <a:r>
              <a:rPr sz="1298" spc="-25" dirty="0">
                <a:solidFill>
                  <a:srgbClr val="202020"/>
                </a:solidFill>
                <a:latin typeface="Calibri"/>
                <a:cs typeface="Calibri"/>
              </a:rPr>
              <a:t>food-</a:t>
            </a:r>
            <a:r>
              <a:rPr sz="1298" spc="-10" dirty="0">
                <a:solidFill>
                  <a:srgbClr val="202020"/>
                </a:solidFill>
                <a:latin typeface="Calibri"/>
                <a:cs typeface="Calibri"/>
              </a:rPr>
              <a:t>delivery</a:t>
            </a:r>
            <a:r>
              <a:rPr sz="1298" spc="-25" dirty="0">
                <a:solidFill>
                  <a:srgbClr val="202020"/>
                </a:solidFill>
                <a:latin typeface="Calibri"/>
                <a:cs typeface="Calibri"/>
              </a:rPr>
              <a:t> </a:t>
            </a:r>
            <a:r>
              <a:rPr sz="1298" dirty="0">
                <a:solidFill>
                  <a:srgbClr val="202020"/>
                </a:solidFill>
                <a:latin typeface="Calibri"/>
                <a:cs typeface="Calibri"/>
              </a:rPr>
              <a:t>app</a:t>
            </a:r>
            <a:r>
              <a:rPr sz="1298" spc="-30" dirty="0">
                <a:solidFill>
                  <a:srgbClr val="202020"/>
                </a:solidFill>
                <a:latin typeface="Calibri"/>
                <a:cs typeface="Calibri"/>
              </a:rPr>
              <a:t> </a:t>
            </a:r>
            <a:r>
              <a:rPr sz="1298" dirty="0">
                <a:solidFill>
                  <a:srgbClr val="202020"/>
                </a:solidFill>
                <a:latin typeface="Calibri"/>
                <a:cs typeface="Calibri"/>
              </a:rPr>
              <a:t>needs</a:t>
            </a:r>
            <a:r>
              <a:rPr sz="1298" spc="-30" dirty="0">
                <a:solidFill>
                  <a:srgbClr val="202020"/>
                </a:solidFill>
                <a:latin typeface="Calibri"/>
                <a:cs typeface="Calibri"/>
              </a:rPr>
              <a:t> </a:t>
            </a:r>
            <a:r>
              <a:rPr sz="1298" dirty="0">
                <a:solidFill>
                  <a:srgbClr val="202020"/>
                </a:solidFill>
                <a:latin typeface="Calibri"/>
                <a:cs typeface="Calibri"/>
              </a:rPr>
              <a:t>every</a:t>
            </a:r>
            <a:r>
              <a:rPr sz="1298" spc="-25" dirty="0">
                <a:solidFill>
                  <a:srgbClr val="202020"/>
                </a:solidFill>
                <a:latin typeface="Calibri"/>
                <a:cs typeface="Calibri"/>
              </a:rPr>
              <a:t> </a:t>
            </a:r>
            <a:r>
              <a:rPr sz="1298" dirty="0">
                <a:solidFill>
                  <a:srgbClr val="202020"/>
                </a:solidFill>
                <a:latin typeface="Calibri"/>
                <a:cs typeface="Calibri"/>
              </a:rPr>
              <a:t>order</a:t>
            </a:r>
            <a:r>
              <a:rPr sz="1298" spc="-30" dirty="0">
                <a:solidFill>
                  <a:srgbClr val="202020"/>
                </a:solidFill>
                <a:latin typeface="Calibri"/>
                <a:cs typeface="Calibri"/>
              </a:rPr>
              <a:t> </a:t>
            </a:r>
            <a:r>
              <a:rPr sz="1298" dirty="0">
                <a:solidFill>
                  <a:srgbClr val="202020"/>
                </a:solidFill>
                <a:latin typeface="Calibri"/>
                <a:cs typeface="Calibri"/>
              </a:rPr>
              <a:t>to</a:t>
            </a:r>
            <a:r>
              <a:rPr sz="1298" spc="-30" dirty="0">
                <a:solidFill>
                  <a:srgbClr val="202020"/>
                </a:solidFill>
                <a:latin typeface="Calibri"/>
                <a:cs typeface="Calibri"/>
              </a:rPr>
              <a:t> </a:t>
            </a:r>
            <a:r>
              <a:rPr sz="1298" dirty="0">
                <a:solidFill>
                  <a:srgbClr val="202020"/>
                </a:solidFill>
                <a:latin typeface="Calibri"/>
                <a:cs typeface="Calibri"/>
              </a:rPr>
              <a:t>have</a:t>
            </a:r>
            <a:r>
              <a:rPr sz="1298" spc="-25" dirty="0">
                <a:solidFill>
                  <a:srgbClr val="202020"/>
                </a:solidFill>
                <a:latin typeface="Calibri"/>
                <a:cs typeface="Calibri"/>
              </a:rPr>
              <a:t> </a:t>
            </a:r>
            <a:r>
              <a:rPr sz="1298" dirty="0">
                <a:solidFill>
                  <a:srgbClr val="202020"/>
                </a:solidFill>
                <a:latin typeface="Calibri"/>
                <a:cs typeface="Calibri"/>
              </a:rPr>
              <a:t>a</a:t>
            </a:r>
            <a:r>
              <a:rPr sz="1298" spc="-30" dirty="0">
                <a:solidFill>
                  <a:srgbClr val="202020"/>
                </a:solidFill>
                <a:latin typeface="Calibri"/>
                <a:cs typeface="Calibri"/>
              </a:rPr>
              <a:t> </a:t>
            </a:r>
            <a:r>
              <a:rPr sz="1298" spc="-10" dirty="0">
                <a:solidFill>
                  <a:srgbClr val="202020"/>
                </a:solidFill>
                <a:latin typeface="Calibri"/>
                <a:cs typeface="Calibri"/>
              </a:rPr>
              <a:t>customer</a:t>
            </a:r>
            <a:r>
              <a:rPr sz="1298" spc="-30" dirty="0">
                <a:solidFill>
                  <a:srgbClr val="202020"/>
                </a:solidFill>
                <a:latin typeface="Calibri"/>
                <a:cs typeface="Calibri"/>
              </a:rPr>
              <a:t> </a:t>
            </a:r>
            <a:r>
              <a:rPr sz="1298" dirty="0">
                <a:solidFill>
                  <a:srgbClr val="202020"/>
                </a:solidFill>
                <a:latin typeface="Calibri"/>
                <a:cs typeface="Calibri"/>
              </a:rPr>
              <a:t>name,</a:t>
            </a:r>
            <a:r>
              <a:rPr sz="1298" spc="-25" dirty="0">
                <a:solidFill>
                  <a:srgbClr val="202020"/>
                </a:solidFill>
                <a:latin typeface="Calibri"/>
                <a:cs typeface="Calibri"/>
              </a:rPr>
              <a:t> </a:t>
            </a:r>
            <a:r>
              <a:rPr sz="1298" dirty="0">
                <a:solidFill>
                  <a:srgbClr val="202020"/>
                </a:solidFill>
                <a:latin typeface="Calibri"/>
                <a:cs typeface="Calibri"/>
              </a:rPr>
              <a:t>with</a:t>
            </a:r>
            <a:r>
              <a:rPr sz="1298" spc="-30" dirty="0">
                <a:solidFill>
                  <a:srgbClr val="202020"/>
                </a:solidFill>
                <a:latin typeface="Calibri"/>
                <a:cs typeface="Calibri"/>
              </a:rPr>
              <a:t> </a:t>
            </a:r>
            <a:r>
              <a:rPr sz="1298" spc="-10" dirty="0">
                <a:solidFill>
                  <a:srgbClr val="202020"/>
                </a:solidFill>
                <a:latin typeface="Calibri"/>
                <a:cs typeface="Calibri"/>
              </a:rPr>
              <a:t>status</a:t>
            </a:r>
            <a:r>
              <a:rPr sz="1298" spc="-25" dirty="0">
                <a:solidFill>
                  <a:srgbClr val="202020"/>
                </a:solidFill>
                <a:latin typeface="Calibri"/>
                <a:cs typeface="Calibri"/>
              </a:rPr>
              <a:t> </a:t>
            </a:r>
            <a:r>
              <a:rPr sz="1298" dirty="0">
                <a:solidFill>
                  <a:srgbClr val="202020"/>
                </a:solidFill>
                <a:latin typeface="Calibri"/>
                <a:cs typeface="Calibri"/>
              </a:rPr>
              <a:t>and</a:t>
            </a:r>
            <a:r>
              <a:rPr sz="1298" spc="-30" dirty="0">
                <a:solidFill>
                  <a:srgbClr val="202020"/>
                </a:solidFill>
                <a:latin typeface="Calibri"/>
                <a:cs typeface="Calibri"/>
              </a:rPr>
              <a:t> </a:t>
            </a:r>
            <a:r>
              <a:rPr sz="1298" spc="-10" dirty="0">
                <a:solidFill>
                  <a:srgbClr val="202020"/>
                </a:solidFill>
                <a:latin typeface="Calibri"/>
                <a:cs typeface="Calibri"/>
              </a:rPr>
              <a:t>timestamp</a:t>
            </a:r>
            <a:r>
              <a:rPr sz="1298" spc="-30" dirty="0">
                <a:solidFill>
                  <a:srgbClr val="202020"/>
                </a:solidFill>
                <a:latin typeface="Calibri"/>
                <a:cs typeface="Calibri"/>
              </a:rPr>
              <a:t> </a:t>
            </a:r>
            <a:r>
              <a:rPr sz="1298" spc="-25" dirty="0">
                <a:solidFill>
                  <a:srgbClr val="202020"/>
                </a:solidFill>
                <a:latin typeface="Calibri"/>
                <a:cs typeface="Calibri"/>
              </a:rPr>
              <a:t>auto-</a:t>
            </a:r>
            <a:r>
              <a:rPr sz="1298" dirty="0">
                <a:solidFill>
                  <a:srgbClr val="202020"/>
                </a:solidFill>
                <a:latin typeface="Calibri"/>
                <a:cs typeface="Calibri"/>
              </a:rPr>
              <a:t>filled</a:t>
            </a:r>
            <a:r>
              <a:rPr sz="1298" spc="-25" dirty="0">
                <a:solidFill>
                  <a:srgbClr val="202020"/>
                </a:solidFill>
                <a:latin typeface="Calibri"/>
                <a:cs typeface="Calibri"/>
              </a:rPr>
              <a:t> </a:t>
            </a:r>
            <a:r>
              <a:rPr sz="1298" spc="-20" dirty="0">
                <a:solidFill>
                  <a:srgbClr val="202020"/>
                </a:solidFill>
                <a:latin typeface="Calibri"/>
                <a:cs typeface="Calibri"/>
              </a:rPr>
              <a:t>even </a:t>
            </a:r>
            <a:r>
              <a:rPr sz="1298" dirty="0">
                <a:solidFill>
                  <a:srgbClr val="202020"/>
                </a:solidFill>
                <a:latin typeface="Calibri"/>
                <a:cs typeface="Calibri"/>
              </a:rPr>
              <a:t>when</a:t>
            </a:r>
            <a:r>
              <a:rPr sz="1298" spc="-35" dirty="0">
                <a:solidFill>
                  <a:srgbClr val="202020"/>
                </a:solidFill>
                <a:latin typeface="Calibri"/>
                <a:cs typeface="Calibri"/>
              </a:rPr>
              <a:t> </a:t>
            </a:r>
            <a:r>
              <a:rPr sz="1298" dirty="0">
                <a:solidFill>
                  <a:srgbClr val="202020"/>
                </a:solidFill>
                <a:latin typeface="Calibri"/>
                <a:cs typeface="Calibri"/>
              </a:rPr>
              <a:t>the</a:t>
            </a:r>
            <a:r>
              <a:rPr sz="1298" spc="-30" dirty="0">
                <a:solidFill>
                  <a:srgbClr val="202020"/>
                </a:solidFill>
                <a:latin typeface="Calibri"/>
                <a:cs typeface="Calibri"/>
              </a:rPr>
              <a:t> </a:t>
            </a:r>
            <a:r>
              <a:rPr sz="1298" dirty="0">
                <a:solidFill>
                  <a:srgbClr val="202020"/>
                </a:solidFill>
                <a:latin typeface="Calibri"/>
                <a:cs typeface="Calibri"/>
              </a:rPr>
              <a:t>app</a:t>
            </a:r>
            <a:r>
              <a:rPr sz="1298" spc="-30" dirty="0">
                <a:solidFill>
                  <a:srgbClr val="202020"/>
                </a:solidFill>
                <a:latin typeface="Calibri"/>
                <a:cs typeface="Calibri"/>
              </a:rPr>
              <a:t> </a:t>
            </a:r>
            <a:r>
              <a:rPr sz="1298" spc="-10" dirty="0">
                <a:solidFill>
                  <a:srgbClr val="202020"/>
                </a:solidFill>
                <a:latin typeface="Calibri"/>
                <a:cs typeface="Calibri"/>
              </a:rPr>
              <a:t>crashes</a:t>
            </a:r>
            <a:r>
              <a:rPr sz="1298" spc="-30" dirty="0">
                <a:solidFill>
                  <a:srgbClr val="202020"/>
                </a:solidFill>
                <a:latin typeface="Calibri"/>
                <a:cs typeface="Calibri"/>
              </a:rPr>
              <a:t> </a:t>
            </a:r>
            <a:r>
              <a:rPr sz="1298" spc="-10" dirty="0">
                <a:solidFill>
                  <a:srgbClr val="202020"/>
                </a:solidFill>
                <a:latin typeface="Calibri"/>
                <a:cs typeface="Calibri"/>
              </a:rPr>
              <a:t>mid-checkout.</a:t>
            </a:r>
            <a:endParaRPr sz="1298">
              <a:latin typeface="Calibri"/>
              <a:cs typeface="Calibri"/>
            </a:endParaRPr>
          </a:p>
          <a:p>
            <a:pPr marL="12685">
              <a:spcBef>
                <a:spcPts val="884"/>
              </a:spcBef>
            </a:pPr>
            <a:r>
              <a:rPr sz="1298" b="1" spc="-10" dirty="0">
                <a:solidFill>
                  <a:srgbClr val="1D3A5E"/>
                </a:solidFill>
                <a:latin typeface="Calibri"/>
                <a:cs typeface="Calibri"/>
              </a:rPr>
              <a:t>YOUR</a:t>
            </a:r>
            <a:r>
              <a:rPr sz="1298" b="1" spc="-50" dirty="0">
                <a:solidFill>
                  <a:srgbClr val="1D3A5E"/>
                </a:solidFill>
                <a:latin typeface="Calibri"/>
                <a:cs typeface="Calibri"/>
              </a:rPr>
              <a:t> </a:t>
            </a:r>
            <a:r>
              <a:rPr sz="1298" b="1" spc="-10" dirty="0">
                <a:solidFill>
                  <a:srgbClr val="1D3A5E"/>
                </a:solidFill>
                <a:latin typeface="Calibri"/>
                <a:cs typeface="Calibri"/>
              </a:rPr>
              <a:t>TASK:</a:t>
            </a:r>
            <a:endParaRPr sz="1298">
              <a:latin typeface="Calibri"/>
              <a:cs typeface="Calibri"/>
            </a:endParaRPr>
          </a:p>
          <a:p>
            <a:pPr marL="12685" marR="178221" indent="169342">
              <a:lnSpc>
                <a:spcPct val="120100"/>
              </a:lnSpc>
              <a:spcBef>
                <a:spcPts val="569"/>
              </a:spcBef>
              <a:buAutoNum type="alphaLcParenR"/>
              <a:tabLst>
                <a:tab pos="182026" algn="l"/>
              </a:tabLst>
            </a:pPr>
            <a:r>
              <a:rPr sz="1298" b="1" dirty="0">
                <a:solidFill>
                  <a:srgbClr val="1D3A5E"/>
                </a:solidFill>
                <a:latin typeface="Calibri"/>
                <a:cs typeface="Calibri"/>
              </a:rPr>
              <a:t>:</a:t>
            </a:r>
            <a:r>
              <a:rPr sz="1298" b="1" spc="-30" dirty="0">
                <a:solidFill>
                  <a:srgbClr val="1D3A5E"/>
                </a:solidFill>
                <a:latin typeface="Calibri"/>
                <a:cs typeface="Calibri"/>
              </a:rPr>
              <a:t> </a:t>
            </a:r>
            <a:r>
              <a:rPr sz="1298" spc="-10" dirty="0">
                <a:solidFill>
                  <a:srgbClr val="202020"/>
                </a:solidFill>
                <a:latin typeface="Calibri"/>
                <a:cs typeface="Calibri"/>
              </a:rPr>
              <a:t>Create</a:t>
            </a:r>
            <a:r>
              <a:rPr sz="1298" spc="-25" dirty="0">
                <a:solidFill>
                  <a:srgbClr val="202020"/>
                </a:solidFill>
                <a:latin typeface="Calibri"/>
                <a:cs typeface="Calibri"/>
              </a:rPr>
              <a:t> </a:t>
            </a:r>
            <a:r>
              <a:rPr sz="1298" spc="-10" dirty="0">
                <a:solidFill>
                  <a:srgbClr val="202020"/>
                </a:solidFill>
                <a:latin typeface="Calibri"/>
                <a:cs typeface="Calibri"/>
              </a:rPr>
              <a:t>day_4.orders:</a:t>
            </a:r>
            <a:r>
              <a:rPr sz="1298" spc="-25" dirty="0">
                <a:solidFill>
                  <a:srgbClr val="202020"/>
                </a:solidFill>
                <a:latin typeface="Calibri"/>
                <a:cs typeface="Calibri"/>
              </a:rPr>
              <a:t> </a:t>
            </a:r>
            <a:r>
              <a:rPr sz="1298" spc="-10" dirty="0">
                <a:solidFill>
                  <a:srgbClr val="202020"/>
                </a:solidFill>
                <a:latin typeface="Calibri"/>
                <a:cs typeface="Calibri"/>
              </a:rPr>
              <a:t>order_id</a:t>
            </a:r>
            <a:r>
              <a:rPr sz="1298" spc="-30" dirty="0">
                <a:solidFill>
                  <a:srgbClr val="202020"/>
                </a:solidFill>
                <a:latin typeface="Calibri"/>
                <a:cs typeface="Calibri"/>
              </a:rPr>
              <a:t> </a:t>
            </a:r>
            <a:r>
              <a:rPr sz="1298" dirty="0">
                <a:solidFill>
                  <a:srgbClr val="202020"/>
                </a:solidFill>
                <a:latin typeface="Calibri"/>
                <a:cs typeface="Calibri"/>
              </a:rPr>
              <a:t>SERIAL</a:t>
            </a:r>
            <a:r>
              <a:rPr sz="1298" spc="-25" dirty="0">
                <a:solidFill>
                  <a:srgbClr val="202020"/>
                </a:solidFill>
                <a:latin typeface="Calibri"/>
                <a:cs typeface="Calibri"/>
              </a:rPr>
              <a:t> </a:t>
            </a:r>
            <a:r>
              <a:rPr sz="1298" dirty="0">
                <a:solidFill>
                  <a:srgbClr val="202020"/>
                </a:solidFill>
                <a:latin typeface="Calibri"/>
                <a:cs typeface="Calibri"/>
              </a:rPr>
              <a:t>PK,</a:t>
            </a:r>
            <a:r>
              <a:rPr sz="1298" spc="-25" dirty="0">
                <a:solidFill>
                  <a:srgbClr val="202020"/>
                </a:solidFill>
                <a:latin typeface="Calibri"/>
                <a:cs typeface="Calibri"/>
              </a:rPr>
              <a:t> </a:t>
            </a:r>
            <a:r>
              <a:rPr sz="1298" spc="-10" dirty="0">
                <a:solidFill>
                  <a:srgbClr val="202020"/>
                </a:solidFill>
                <a:latin typeface="Calibri"/>
                <a:cs typeface="Calibri"/>
              </a:rPr>
              <a:t>customer_name</a:t>
            </a:r>
            <a:r>
              <a:rPr sz="1298" spc="-30" dirty="0">
                <a:solidFill>
                  <a:srgbClr val="202020"/>
                </a:solidFill>
                <a:latin typeface="Calibri"/>
                <a:cs typeface="Calibri"/>
              </a:rPr>
              <a:t> </a:t>
            </a:r>
            <a:r>
              <a:rPr sz="1298" dirty="0">
                <a:solidFill>
                  <a:srgbClr val="202020"/>
                </a:solidFill>
                <a:latin typeface="Calibri"/>
                <a:cs typeface="Calibri"/>
              </a:rPr>
              <a:t>NOT</a:t>
            </a:r>
            <a:r>
              <a:rPr sz="1298" spc="-25" dirty="0">
                <a:solidFill>
                  <a:srgbClr val="202020"/>
                </a:solidFill>
                <a:latin typeface="Calibri"/>
                <a:cs typeface="Calibri"/>
              </a:rPr>
              <a:t> </a:t>
            </a:r>
            <a:r>
              <a:rPr sz="1298" dirty="0">
                <a:solidFill>
                  <a:srgbClr val="202020"/>
                </a:solidFill>
                <a:latin typeface="Calibri"/>
                <a:cs typeface="Calibri"/>
              </a:rPr>
              <a:t>NULL,</a:t>
            </a:r>
            <a:r>
              <a:rPr sz="1298" spc="-25" dirty="0">
                <a:solidFill>
                  <a:srgbClr val="202020"/>
                </a:solidFill>
                <a:latin typeface="Calibri"/>
                <a:cs typeface="Calibri"/>
              </a:rPr>
              <a:t> </a:t>
            </a:r>
            <a:r>
              <a:rPr sz="1298" spc="-10" dirty="0">
                <a:solidFill>
                  <a:srgbClr val="202020"/>
                </a:solidFill>
                <a:latin typeface="Calibri"/>
                <a:cs typeface="Calibri"/>
              </a:rPr>
              <a:t>order_status</a:t>
            </a:r>
            <a:r>
              <a:rPr sz="1298" spc="-25" dirty="0">
                <a:solidFill>
                  <a:srgbClr val="202020"/>
                </a:solidFill>
                <a:latin typeface="Calibri"/>
                <a:cs typeface="Calibri"/>
              </a:rPr>
              <a:t> </a:t>
            </a:r>
            <a:r>
              <a:rPr sz="1298" spc="-35" dirty="0">
                <a:solidFill>
                  <a:srgbClr val="202020"/>
                </a:solidFill>
                <a:latin typeface="Calibri"/>
                <a:cs typeface="Calibri"/>
              </a:rPr>
              <a:t>DEFAULT</a:t>
            </a:r>
            <a:r>
              <a:rPr sz="1298" spc="-30" dirty="0">
                <a:solidFill>
                  <a:srgbClr val="202020"/>
                </a:solidFill>
                <a:latin typeface="Calibri"/>
                <a:cs typeface="Calibri"/>
              </a:rPr>
              <a:t> </a:t>
            </a:r>
            <a:r>
              <a:rPr sz="1298" spc="-10" dirty="0">
                <a:solidFill>
                  <a:srgbClr val="202020"/>
                </a:solidFill>
                <a:latin typeface="Calibri"/>
                <a:cs typeface="Calibri"/>
              </a:rPr>
              <a:t>'pending',</a:t>
            </a:r>
            <a:r>
              <a:rPr sz="1298" spc="-25" dirty="0">
                <a:solidFill>
                  <a:srgbClr val="202020"/>
                </a:solidFill>
                <a:latin typeface="Calibri"/>
                <a:cs typeface="Calibri"/>
              </a:rPr>
              <a:t> </a:t>
            </a:r>
            <a:r>
              <a:rPr sz="1298" spc="-10" dirty="0">
                <a:solidFill>
                  <a:srgbClr val="202020"/>
                </a:solidFill>
                <a:latin typeface="Calibri"/>
                <a:cs typeface="Calibri"/>
              </a:rPr>
              <a:t>created_at </a:t>
            </a:r>
            <a:r>
              <a:rPr sz="1298" spc="-35" dirty="0">
                <a:solidFill>
                  <a:srgbClr val="202020"/>
                </a:solidFill>
                <a:latin typeface="Calibri"/>
                <a:cs typeface="Calibri"/>
              </a:rPr>
              <a:t>DEFAULT</a:t>
            </a:r>
            <a:r>
              <a:rPr sz="1298" spc="-15" dirty="0">
                <a:solidFill>
                  <a:srgbClr val="202020"/>
                </a:solidFill>
                <a:latin typeface="Calibri"/>
                <a:cs typeface="Calibri"/>
              </a:rPr>
              <a:t> </a:t>
            </a:r>
            <a:r>
              <a:rPr sz="1298" spc="-10" dirty="0">
                <a:solidFill>
                  <a:srgbClr val="202020"/>
                </a:solidFill>
                <a:latin typeface="Calibri"/>
                <a:cs typeface="Calibri"/>
              </a:rPr>
              <a:t>now().</a:t>
            </a:r>
            <a:endParaRPr sz="1298">
              <a:latin typeface="Calibri"/>
              <a:cs typeface="Calibri"/>
            </a:endParaRPr>
          </a:p>
          <a:p>
            <a:pPr marL="189003" indent="-176318">
              <a:spcBef>
                <a:spcPts val="315"/>
              </a:spcBef>
              <a:buAutoNum type="alphaLcParenR"/>
              <a:tabLst>
                <a:tab pos="189003" algn="l"/>
              </a:tabLst>
            </a:pPr>
            <a:r>
              <a:rPr sz="1298" b="1" dirty="0">
                <a:solidFill>
                  <a:srgbClr val="1D3A5E"/>
                </a:solidFill>
                <a:latin typeface="Calibri"/>
                <a:cs typeface="Calibri"/>
              </a:rPr>
              <a:t>:</a:t>
            </a:r>
            <a:r>
              <a:rPr sz="1298" b="1" spc="-35" dirty="0">
                <a:solidFill>
                  <a:srgbClr val="1D3A5E"/>
                </a:solidFill>
                <a:latin typeface="Calibri"/>
                <a:cs typeface="Calibri"/>
              </a:rPr>
              <a:t> </a:t>
            </a:r>
            <a:r>
              <a:rPr sz="1298" dirty="0">
                <a:solidFill>
                  <a:srgbClr val="202020"/>
                </a:solidFill>
                <a:latin typeface="Calibri"/>
                <a:cs typeface="Calibri"/>
              </a:rPr>
              <a:t>INSERT</a:t>
            </a:r>
            <a:r>
              <a:rPr sz="1298" spc="-35" dirty="0">
                <a:solidFill>
                  <a:srgbClr val="202020"/>
                </a:solidFill>
                <a:latin typeface="Calibri"/>
                <a:cs typeface="Calibri"/>
              </a:rPr>
              <a:t> </a:t>
            </a:r>
            <a:r>
              <a:rPr sz="1298" dirty="0">
                <a:solidFill>
                  <a:srgbClr val="202020"/>
                </a:solidFill>
                <a:latin typeface="Calibri"/>
                <a:cs typeface="Calibri"/>
              </a:rPr>
              <a:t>a</a:t>
            </a:r>
            <a:r>
              <a:rPr sz="1298" spc="-30" dirty="0">
                <a:solidFill>
                  <a:srgbClr val="202020"/>
                </a:solidFill>
                <a:latin typeface="Calibri"/>
                <a:cs typeface="Calibri"/>
              </a:rPr>
              <a:t> </a:t>
            </a:r>
            <a:r>
              <a:rPr sz="1298" dirty="0">
                <a:solidFill>
                  <a:srgbClr val="202020"/>
                </a:solidFill>
                <a:latin typeface="Calibri"/>
                <a:cs typeface="Calibri"/>
              </a:rPr>
              <a:t>row</a:t>
            </a:r>
            <a:r>
              <a:rPr sz="1298" spc="-35" dirty="0">
                <a:solidFill>
                  <a:srgbClr val="202020"/>
                </a:solidFill>
                <a:latin typeface="Calibri"/>
                <a:cs typeface="Calibri"/>
              </a:rPr>
              <a:t> </a:t>
            </a:r>
            <a:r>
              <a:rPr sz="1298" dirty="0">
                <a:solidFill>
                  <a:srgbClr val="202020"/>
                </a:solidFill>
                <a:latin typeface="Calibri"/>
                <a:cs typeface="Calibri"/>
              </a:rPr>
              <a:t>with</a:t>
            </a:r>
            <a:r>
              <a:rPr sz="1298" spc="-30" dirty="0">
                <a:solidFill>
                  <a:srgbClr val="202020"/>
                </a:solidFill>
                <a:latin typeface="Calibri"/>
                <a:cs typeface="Calibri"/>
              </a:rPr>
              <a:t> </a:t>
            </a:r>
            <a:r>
              <a:rPr sz="1298" dirty="0">
                <a:solidFill>
                  <a:srgbClr val="202020"/>
                </a:solidFill>
                <a:latin typeface="Calibri"/>
                <a:cs typeface="Calibri"/>
              </a:rPr>
              <a:t>only</a:t>
            </a:r>
            <a:r>
              <a:rPr sz="1298" spc="-35" dirty="0">
                <a:solidFill>
                  <a:srgbClr val="202020"/>
                </a:solidFill>
                <a:latin typeface="Calibri"/>
                <a:cs typeface="Calibri"/>
              </a:rPr>
              <a:t> </a:t>
            </a:r>
            <a:r>
              <a:rPr sz="1298" spc="-10" dirty="0">
                <a:solidFill>
                  <a:srgbClr val="202020"/>
                </a:solidFill>
                <a:latin typeface="Calibri"/>
                <a:cs typeface="Calibri"/>
              </a:rPr>
              <a:t>customer_name;</a:t>
            </a:r>
            <a:r>
              <a:rPr sz="1298" spc="-30" dirty="0">
                <a:solidFill>
                  <a:srgbClr val="202020"/>
                </a:solidFill>
                <a:latin typeface="Calibri"/>
                <a:cs typeface="Calibri"/>
              </a:rPr>
              <a:t> </a:t>
            </a:r>
            <a:r>
              <a:rPr sz="1298" dirty="0">
                <a:solidFill>
                  <a:srgbClr val="202020"/>
                </a:solidFill>
                <a:latin typeface="Calibri"/>
                <a:cs typeface="Calibri"/>
              </a:rPr>
              <a:t>SELECT</a:t>
            </a:r>
            <a:r>
              <a:rPr sz="1298" spc="-35" dirty="0">
                <a:solidFill>
                  <a:srgbClr val="202020"/>
                </a:solidFill>
                <a:latin typeface="Calibri"/>
                <a:cs typeface="Calibri"/>
              </a:rPr>
              <a:t> </a:t>
            </a:r>
            <a:r>
              <a:rPr sz="1298" dirty="0">
                <a:solidFill>
                  <a:srgbClr val="202020"/>
                </a:solidFill>
                <a:latin typeface="Calibri"/>
                <a:cs typeface="Calibri"/>
              </a:rPr>
              <a:t>it</a:t>
            </a:r>
            <a:r>
              <a:rPr sz="1298" spc="-30" dirty="0">
                <a:solidFill>
                  <a:srgbClr val="202020"/>
                </a:solidFill>
                <a:latin typeface="Calibri"/>
                <a:cs typeface="Calibri"/>
              </a:rPr>
              <a:t> </a:t>
            </a:r>
            <a:r>
              <a:rPr sz="1298" dirty="0">
                <a:solidFill>
                  <a:srgbClr val="202020"/>
                </a:solidFill>
                <a:latin typeface="Calibri"/>
                <a:cs typeface="Calibri"/>
              </a:rPr>
              <a:t>and</a:t>
            </a:r>
            <a:r>
              <a:rPr sz="1298" spc="-35" dirty="0">
                <a:solidFill>
                  <a:srgbClr val="202020"/>
                </a:solidFill>
                <a:latin typeface="Calibri"/>
                <a:cs typeface="Calibri"/>
              </a:rPr>
              <a:t> </a:t>
            </a:r>
            <a:r>
              <a:rPr sz="1298" spc="-10" dirty="0">
                <a:solidFill>
                  <a:srgbClr val="202020"/>
                </a:solidFill>
                <a:latin typeface="Calibri"/>
                <a:cs typeface="Calibri"/>
              </a:rPr>
              <a:t>confirm</a:t>
            </a:r>
            <a:r>
              <a:rPr sz="1298" spc="-30" dirty="0">
                <a:solidFill>
                  <a:srgbClr val="202020"/>
                </a:solidFill>
                <a:latin typeface="Calibri"/>
                <a:cs typeface="Calibri"/>
              </a:rPr>
              <a:t> </a:t>
            </a:r>
            <a:r>
              <a:rPr sz="1298" dirty="0">
                <a:solidFill>
                  <a:srgbClr val="202020"/>
                </a:solidFill>
                <a:latin typeface="Calibri"/>
                <a:cs typeface="Calibri"/>
              </a:rPr>
              <a:t>the</a:t>
            </a:r>
            <a:r>
              <a:rPr sz="1298" spc="-35" dirty="0">
                <a:solidFill>
                  <a:srgbClr val="202020"/>
                </a:solidFill>
                <a:latin typeface="Calibri"/>
                <a:cs typeface="Calibri"/>
              </a:rPr>
              <a:t> </a:t>
            </a:r>
            <a:r>
              <a:rPr sz="1298" spc="-10" dirty="0">
                <a:solidFill>
                  <a:srgbClr val="202020"/>
                </a:solidFill>
                <a:latin typeface="Calibri"/>
                <a:cs typeface="Calibri"/>
              </a:rPr>
              <a:t>defaults</a:t>
            </a:r>
            <a:r>
              <a:rPr sz="1298" spc="-30" dirty="0">
                <a:solidFill>
                  <a:srgbClr val="202020"/>
                </a:solidFill>
                <a:latin typeface="Calibri"/>
                <a:cs typeface="Calibri"/>
              </a:rPr>
              <a:t> </a:t>
            </a:r>
            <a:r>
              <a:rPr sz="1298" dirty="0">
                <a:solidFill>
                  <a:srgbClr val="202020"/>
                </a:solidFill>
                <a:latin typeface="Calibri"/>
                <a:cs typeface="Calibri"/>
              </a:rPr>
              <a:t>filled</a:t>
            </a:r>
            <a:r>
              <a:rPr sz="1298" spc="-35" dirty="0">
                <a:solidFill>
                  <a:srgbClr val="202020"/>
                </a:solidFill>
                <a:latin typeface="Calibri"/>
                <a:cs typeface="Calibri"/>
              </a:rPr>
              <a:t> </a:t>
            </a:r>
            <a:r>
              <a:rPr sz="1298" spc="-25" dirty="0">
                <a:solidFill>
                  <a:srgbClr val="202020"/>
                </a:solidFill>
                <a:latin typeface="Calibri"/>
                <a:cs typeface="Calibri"/>
              </a:rPr>
              <a:t>in.</a:t>
            </a:r>
            <a:endParaRPr sz="1298">
              <a:latin typeface="Calibri"/>
              <a:cs typeface="Calibri"/>
            </a:endParaRPr>
          </a:p>
          <a:p>
            <a:pPr marL="169342" indent="-156657">
              <a:spcBef>
                <a:spcPts val="315"/>
              </a:spcBef>
              <a:buAutoNum type="alphaLcParenR"/>
              <a:tabLst>
                <a:tab pos="169342" algn="l"/>
              </a:tabLst>
            </a:pPr>
            <a:r>
              <a:rPr sz="1298" b="1" dirty="0">
                <a:solidFill>
                  <a:srgbClr val="1D3A5E"/>
                </a:solidFill>
                <a:latin typeface="Calibri"/>
                <a:cs typeface="Calibri"/>
              </a:rPr>
              <a:t>:</a:t>
            </a:r>
            <a:r>
              <a:rPr sz="1298" b="1" spc="-35" dirty="0">
                <a:solidFill>
                  <a:srgbClr val="1D3A5E"/>
                </a:solidFill>
                <a:latin typeface="Calibri"/>
                <a:cs typeface="Calibri"/>
              </a:rPr>
              <a:t> </a:t>
            </a:r>
            <a:r>
              <a:rPr sz="1298" spc="-20" dirty="0">
                <a:solidFill>
                  <a:srgbClr val="202020"/>
                </a:solidFill>
                <a:latin typeface="Calibri"/>
                <a:cs typeface="Calibri"/>
              </a:rPr>
              <a:t>Try</a:t>
            </a:r>
            <a:r>
              <a:rPr sz="1298" spc="-35" dirty="0">
                <a:solidFill>
                  <a:srgbClr val="202020"/>
                </a:solidFill>
                <a:latin typeface="Calibri"/>
                <a:cs typeface="Calibri"/>
              </a:rPr>
              <a:t> </a:t>
            </a:r>
            <a:r>
              <a:rPr sz="1298" dirty="0">
                <a:solidFill>
                  <a:srgbClr val="202020"/>
                </a:solidFill>
                <a:latin typeface="Calibri"/>
                <a:cs typeface="Calibri"/>
              </a:rPr>
              <a:t>an</a:t>
            </a:r>
            <a:r>
              <a:rPr sz="1298" spc="-35" dirty="0">
                <a:solidFill>
                  <a:srgbClr val="202020"/>
                </a:solidFill>
                <a:latin typeface="Calibri"/>
                <a:cs typeface="Calibri"/>
              </a:rPr>
              <a:t> </a:t>
            </a:r>
            <a:r>
              <a:rPr sz="1298" dirty="0">
                <a:solidFill>
                  <a:srgbClr val="202020"/>
                </a:solidFill>
                <a:latin typeface="Calibri"/>
                <a:cs typeface="Calibri"/>
              </a:rPr>
              <a:t>INSERT</a:t>
            </a:r>
            <a:r>
              <a:rPr sz="1298" spc="-30" dirty="0">
                <a:solidFill>
                  <a:srgbClr val="202020"/>
                </a:solidFill>
                <a:latin typeface="Calibri"/>
                <a:cs typeface="Calibri"/>
              </a:rPr>
              <a:t> </a:t>
            </a:r>
            <a:r>
              <a:rPr sz="1298" dirty="0">
                <a:solidFill>
                  <a:srgbClr val="202020"/>
                </a:solidFill>
                <a:latin typeface="Calibri"/>
                <a:cs typeface="Calibri"/>
              </a:rPr>
              <a:t>with</a:t>
            </a:r>
            <a:r>
              <a:rPr sz="1298" spc="-35" dirty="0">
                <a:solidFill>
                  <a:srgbClr val="202020"/>
                </a:solidFill>
                <a:latin typeface="Calibri"/>
                <a:cs typeface="Calibri"/>
              </a:rPr>
              <a:t> </a:t>
            </a:r>
            <a:r>
              <a:rPr sz="1298" dirty="0">
                <a:solidFill>
                  <a:srgbClr val="202020"/>
                </a:solidFill>
                <a:latin typeface="Calibri"/>
                <a:cs typeface="Calibri"/>
              </a:rPr>
              <a:t>no</a:t>
            </a:r>
            <a:r>
              <a:rPr sz="1298" spc="-35" dirty="0">
                <a:solidFill>
                  <a:srgbClr val="202020"/>
                </a:solidFill>
                <a:latin typeface="Calibri"/>
                <a:cs typeface="Calibri"/>
              </a:rPr>
              <a:t> </a:t>
            </a:r>
            <a:r>
              <a:rPr sz="1298" spc="-10" dirty="0">
                <a:solidFill>
                  <a:srgbClr val="202020"/>
                </a:solidFill>
                <a:latin typeface="Calibri"/>
                <a:cs typeface="Calibri"/>
              </a:rPr>
              <a:t>customer_name</a:t>
            </a:r>
            <a:r>
              <a:rPr sz="1298" spc="-35" dirty="0">
                <a:solidFill>
                  <a:srgbClr val="202020"/>
                </a:solidFill>
                <a:latin typeface="Calibri"/>
                <a:cs typeface="Calibri"/>
              </a:rPr>
              <a:t> </a:t>
            </a:r>
            <a:r>
              <a:rPr sz="1298" dirty="0">
                <a:solidFill>
                  <a:srgbClr val="202020"/>
                </a:solidFill>
                <a:latin typeface="Calibri"/>
                <a:cs typeface="Calibri"/>
              </a:rPr>
              <a:t>-</a:t>
            </a:r>
            <a:r>
              <a:rPr sz="1298" spc="-30" dirty="0">
                <a:solidFill>
                  <a:srgbClr val="202020"/>
                </a:solidFill>
                <a:latin typeface="Calibri"/>
                <a:cs typeface="Calibri"/>
              </a:rPr>
              <a:t> </a:t>
            </a:r>
            <a:r>
              <a:rPr sz="1298" dirty="0">
                <a:solidFill>
                  <a:srgbClr val="202020"/>
                </a:solidFill>
                <a:latin typeface="Calibri"/>
                <a:cs typeface="Calibri"/>
              </a:rPr>
              <a:t>observe</a:t>
            </a:r>
            <a:r>
              <a:rPr sz="1298" spc="-35" dirty="0">
                <a:solidFill>
                  <a:srgbClr val="202020"/>
                </a:solidFill>
                <a:latin typeface="Calibri"/>
                <a:cs typeface="Calibri"/>
              </a:rPr>
              <a:t> </a:t>
            </a:r>
            <a:r>
              <a:rPr sz="1298" dirty="0">
                <a:solidFill>
                  <a:srgbClr val="202020"/>
                </a:solidFill>
                <a:latin typeface="Calibri"/>
                <a:cs typeface="Calibri"/>
              </a:rPr>
              <a:t>the</a:t>
            </a:r>
            <a:r>
              <a:rPr sz="1298" spc="-35" dirty="0">
                <a:solidFill>
                  <a:srgbClr val="202020"/>
                </a:solidFill>
                <a:latin typeface="Calibri"/>
                <a:cs typeface="Calibri"/>
              </a:rPr>
              <a:t> </a:t>
            </a:r>
            <a:r>
              <a:rPr sz="1298" dirty="0">
                <a:solidFill>
                  <a:srgbClr val="202020"/>
                </a:solidFill>
                <a:latin typeface="Calibri"/>
                <a:cs typeface="Calibri"/>
              </a:rPr>
              <a:t>NOT</a:t>
            </a:r>
            <a:r>
              <a:rPr sz="1298" spc="-35" dirty="0">
                <a:solidFill>
                  <a:srgbClr val="202020"/>
                </a:solidFill>
                <a:latin typeface="Calibri"/>
                <a:cs typeface="Calibri"/>
              </a:rPr>
              <a:t> </a:t>
            </a:r>
            <a:r>
              <a:rPr sz="1298" dirty="0">
                <a:solidFill>
                  <a:srgbClr val="202020"/>
                </a:solidFill>
                <a:latin typeface="Calibri"/>
                <a:cs typeface="Calibri"/>
              </a:rPr>
              <a:t>NULL</a:t>
            </a:r>
            <a:r>
              <a:rPr sz="1298" spc="-30" dirty="0">
                <a:solidFill>
                  <a:srgbClr val="202020"/>
                </a:solidFill>
                <a:latin typeface="Calibri"/>
                <a:cs typeface="Calibri"/>
              </a:rPr>
              <a:t> </a:t>
            </a:r>
            <a:r>
              <a:rPr sz="1298" spc="-10" dirty="0">
                <a:solidFill>
                  <a:srgbClr val="202020"/>
                </a:solidFill>
                <a:latin typeface="Calibri"/>
                <a:cs typeface="Calibri"/>
              </a:rPr>
              <a:t>error.</a:t>
            </a:r>
            <a:endParaRPr sz="1298">
              <a:latin typeface="Calibri"/>
              <a:cs typeface="Calibri"/>
            </a:endParaRPr>
          </a:p>
          <a:p>
            <a:pPr marL="12685" marR="490266">
              <a:lnSpc>
                <a:spcPct val="120100"/>
              </a:lnSpc>
              <a:spcBef>
                <a:spcPts val="574"/>
              </a:spcBef>
            </a:pPr>
            <a:r>
              <a:rPr sz="1298" b="1" dirty="0">
                <a:solidFill>
                  <a:srgbClr val="1D3A5E"/>
                </a:solidFill>
                <a:latin typeface="Calibri"/>
                <a:cs typeface="Calibri"/>
              </a:rPr>
              <a:t>Hint:</a:t>
            </a:r>
            <a:r>
              <a:rPr sz="1298" b="1" spc="-35" dirty="0">
                <a:solidFill>
                  <a:srgbClr val="1D3A5E"/>
                </a:solidFill>
                <a:latin typeface="Calibri"/>
                <a:cs typeface="Calibri"/>
              </a:rPr>
              <a:t> </a:t>
            </a:r>
            <a:r>
              <a:rPr sz="1298" spc="-35" dirty="0">
                <a:solidFill>
                  <a:srgbClr val="202020"/>
                </a:solidFill>
                <a:latin typeface="Calibri"/>
                <a:cs typeface="Calibri"/>
              </a:rPr>
              <a:t>DEFAULT </a:t>
            </a:r>
            <a:r>
              <a:rPr sz="1298" dirty="0">
                <a:solidFill>
                  <a:srgbClr val="202020"/>
                </a:solidFill>
                <a:latin typeface="Calibri"/>
                <a:cs typeface="Calibri"/>
              </a:rPr>
              <a:t>applies</a:t>
            </a:r>
            <a:r>
              <a:rPr sz="1298" spc="-35" dirty="0">
                <a:solidFill>
                  <a:srgbClr val="202020"/>
                </a:solidFill>
                <a:latin typeface="Calibri"/>
                <a:cs typeface="Calibri"/>
              </a:rPr>
              <a:t> </a:t>
            </a:r>
            <a:r>
              <a:rPr sz="1298" dirty="0">
                <a:solidFill>
                  <a:srgbClr val="202020"/>
                </a:solidFill>
                <a:latin typeface="Calibri"/>
                <a:cs typeface="Calibri"/>
              </a:rPr>
              <a:t>only</a:t>
            </a:r>
            <a:r>
              <a:rPr sz="1298" spc="-35" dirty="0">
                <a:solidFill>
                  <a:srgbClr val="202020"/>
                </a:solidFill>
                <a:latin typeface="Calibri"/>
                <a:cs typeface="Calibri"/>
              </a:rPr>
              <a:t> </a:t>
            </a:r>
            <a:r>
              <a:rPr sz="1298" dirty="0">
                <a:solidFill>
                  <a:srgbClr val="202020"/>
                </a:solidFill>
                <a:latin typeface="Calibri"/>
                <a:cs typeface="Calibri"/>
              </a:rPr>
              <a:t>when</a:t>
            </a:r>
            <a:r>
              <a:rPr sz="1298" spc="-30" dirty="0">
                <a:solidFill>
                  <a:srgbClr val="202020"/>
                </a:solidFill>
                <a:latin typeface="Calibri"/>
                <a:cs typeface="Calibri"/>
              </a:rPr>
              <a:t> </a:t>
            </a:r>
            <a:r>
              <a:rPr sz="1298" dirty="0">
                <a:solidFill>
                  <a:srgbClr val="202020"/>
                </a:solidFill>
                <a:latin typeface="Calibri"/>
                <a:cs typeface="Calibri"/>
              </a:rPr>
              <a:t>you</a:t>
            </a:r>
            <a:r>
              <a:rPr sz="1298" spc="-35" dirty="0">
                <a:solidFill>
                  <a:srgbClr val="202020"/>
                </a:solidFill>
                <a:latin typeface="Calibri"/>
                <a:cs typeface="Calibri"/>
              </a:rPr>
              <a:t> </a:t>
            </a:r>
            <a:r>
              <a:rPr sz="1298" dirty="0">
                <a:solidFill>
                  <a:srgbClr val="202020"/>
                </a:solidFill>
                <a:latin typeface="Calibri"/>
                <a:cs typeface="Calibri"/>
              </a:rPr>
              <a:t>OMIT</a:t>
            </a:r>
            <a:r>
              <a:rPr sz="1298" spc="-35" dirty="0">
                <a:solidFill>
                  <a:srgbClr val="202020"/>
                </a:solidFill>
                <a:latin typeface="Calibri"/>
                <a:cs typeface="Calibri"/>
              </a:rPr>
              <a:t> </a:t>
            </a:r>
            <a:r>
              <a:rPr sz="1298" dirty="0">
                <a:solidFill>
                  <a:srgbClr val="202020"/>
                </a:solidFill>
                <a:latin typeface="Calibri"/>
                <a:cs typeface="Calibri"/>
              </a:rPr>
              <a:t>the</a:t>
            </a:r>
            <a:r>
              <a:rPr sz="1298" spc="-35" dirty="0">
                <a:solidFill>
                  <a:srgbClr val="202020"/>
                </a:solidFill>
                <a:latin typeface="Calibri"/>
                <a:cs typeface="Calibri"/>
              </a:rPr>
              <a:t> </a:t>
            </a:r>
            <a:r>
              <a:rPr sz="1298" dirty="0">
                <a:solidFill>
                  <a:srgbClr val="202020"/>
                </a:solidFill>
                <a:latin typeface="Calibri"/>
                <a:cs typeface="Calibri"/>
              </a:rPr>
              <a:t>column.</a:t>
            </a:r>
            <a:r>
              <a:rPr sz="1298" spc="-30" dirty="0">
                <a:solidFill>
                  <a:srgbClr val="202020"/>
                </a:solidFill>
                <a:latin typeface="Calibri"/>
                <a:cs typeface="Calibri"/>
              </a:rPr>
              <a:t> </a:t>
            </a:r>
            <a:r>
              <a:rPr sz="1298" dirty="0">
                <a:solidFill>
                  <a:srgbClr val="202020"/>
                </a:solidFill>
                <a:latin typeface="Calibri"/>
                <a:cs typeface="Calibri"/>
              </a:rPr>
              <a:t>NOT</a:t>
            </a:r>
            <a:r>
              <a:rPr sz="1298" spc="-35" dirty="0">
                <a:solidFill>
                  <a:srgbClr val="202020"/>
                </a:solidFill>
                <a:latin typeface="Calibri"/>
                <a:cs typeface="Calibri"/>
              </a:rPr>
              <a:t> </a:t>
            </a:r>
            <a:r>
              <a:rPr sz="1298" dirty="0">
                <a:solidFill>
                  <a:srgbClr val="202020"/>
                </a:solidFill>
                <a:latin typeface="Calibri"/>
                <a:cs typeface="Calibri"/>
              </a:rPr>
              <a:t>NULL</a:t>
            </a:r>
            <a:r>
              <a:rPr sz="1298" spc="-35" dirty="0">
                <a:solidFill>
                  <a:srgbClr val="202020"/>
                </a:solidFill>
                <a:latin typeface="Calibri"/>
                <a:cs typeface="Calibri"/>
              </a:rPr>
              <a:t> </a:t>
            </a:r>
            <a:r>
              <a:rPr sz="1298" dirty="0">
                <a:solidFill>
                  <a:srgbClr val="202020"/>
                </a:solidFill>
                <a:latin typeface="Calibri"/>
                <a:cs typeface="Calibri"/>
              </a:rPr>
              <a:t>+</a:t>
            </a:r>
            <a:r>
              <a:rPr sz="1298" spc="-35" dirty="0">
                <a:solidFill>
                  <a:srgbClr val="202020"/>
                </a:solidFill>
                <a:latin typeface="Calibri"/>
                <a:cs typeface="Calibri"/>
              </a:rPr>
              <a:t> DEFAULT</a:t>
            </a:r>
            <a:r>
              <a:rPr sz="1298" spc="-30" dirty="0">
                <a:solidFill>
                  <a:srgbClr val="202020"/>
                </a:solidFill>
                <a:latin typeface="Calibri"/>
                <a:cs typeface="Calibri"/>
              </a:rPr>
              <a:t> </a:t>
            </a:r>
            <a:r>
              <a:rPr sz="1298" dirty="0">
                <a:solidFill>
                  <a:srgbClr val="202020"/>
                </a:solidFill>
                <a:latin typeface="Calibri"/>
                <a:cs typeface="Calibri"/>
              </a:rPr>
              <a:t>=</a:t>
            </a:r>
            <a:r>
              <a:rPr sz="1298" spc="-35" dirty="0">
                <a:solidFill>
                  <a:srgbClr val="202020"/>
                </a:solidFill>
                <a:latin typeface="Calibri"/>
                <a:cs typeface="Calibri"/>
              </a:rPr>
              <a:t> </a:t>
            </a:r>
            <a:r>
              <a:rPr sz="1298" spc="-25" dirty="0">
                <a:solidFill>
                  <a:srgbClr val="202020"/>
                </a:solidFill>
                <a:latin typeface="Calibri"/>
                <a:cs typeface="Calibri"/>
              </a:rPr>
              <a:t>always-</a:t>
            </a:r>
            <a:r>
              <a:rPr sz="1298" spc="-10" dirty="0">
                <a:solidFill>
                  <a:srgbClr val="202020"/>
                </a:solidFill>
                <a:latin typeface="Calibri"/>
                <a:cs typeface="Calibri"/>
              </a:rPr>
              <a:t>present</a:t>
            </a:r>
            <a:r>
              <a:rPr sz="1298" spc="-35" dirty="0">
                <a:solidFill>
                  <a:srgbClr val="202020"/>
                </a:solidFill>
                <a:latin typeface="Calibri"/>
                <a:cs typeface="Calibri"/>
              </a:rPr>
              <a:t> </a:t>
            </a:r>
            <a:r>
              <a:rPr sz="1298" spc="-10" dirty="0">
                <a:solidFill>
                  <a:srgbClr val="202020"/>
                </a:solidFill>
                <a:latin typeface="Calibri"/>
                <a:cs typeface="Calibri"/>
              </a:rPr>
              <a:t>value,</a:t>
            </a:r>
            <a:r>
              <a:rPr sz="1298" spc="-35" dirty="0">
                <a:solidFill>
                  <a:srgbClr val="202020"/>
                </a:solidFill>
                <a:latin typeface="Calibri"/>
                <a:cs typeface="Calibri"/>
              </a:rPr>
              <a:t> </a:t>
            </a:r>
            <a:r>
              <a:rPr sz="1298" dirty="0">
                <a:solidFill>
                  <a:srgbClr val="202020"/>
                </a:solidFill>
                <a:latin typeface="Calibri"/>
                <a:cs typeface="Calibri"/>
              </a:rPr>
              <a:t>even</a:t>
            </a:r>
            <a:r>
              <a:rPr sz="1298" spc="-30" dirty="0">
                <a:solidFill>
                  <a:srgbClr val="202020"/>
                </a:solidFill>
                <a:latin typeface="Calibri"/>
                <a:cs typeface="Calibri"/>
              </a:rPr>
              <a:t> </a:t>
            </a:r>
            <a:r>
              <a:rPr sz="1298" dirty="0">
                <a:solidFill>
                  <a:srgbClr val="202020"/>
                </a:solidFill>
                <a:latin typeface="Calibri"/>
                <a:cs typeface="Calibri"/>
              </a:rPr>
              <a:t>if</a:t>
            </a:r>
            <a:r>
              <a:rPr sz="1298" spc="-35" dirty="0">
                <a:solidFill>
                  <a:srgbClr val="202020"/>
                </a:solidFill>
                <a:latin typeface="Calibri"/>
                <a:cs typeface="Calibri"/>
              </a:rPr>
              <a:t> </a:t>
            </a:r>
            <a:r>
              <a:rPr sz="1298" spc="-25" dirty="0">
                <a:solidFill>
                  <a:srgbClr val="202020"/>
                </a:solidFill>
                <a:latin typeface="Calibri"/>
                <a:cs typeface="Calibri"/>
              </a:rPr>
              <a:t>the </a:t>
            </a:r>
            <a:r>
              <a:rPr sz="1298" spc="-10" dirty="0">
                <a:solidFill>
                  <a:srgbClr val="202020"/>
                </a:solidFill>
                <a:latin typeface="Calibri"/>
                <a:cs typeface="Calibri"/>
              </a:rPr>
              <a:t>developer</a:t>
            </a:r>
            <a:r>
              <a:rPr sz="1298" spc="-40" dirty="0">
                <a:solidFill>
                  <a:srgbClr val="202020"/>
                </a:solidFill>
                <a:latin typeface="Calibri"/>
                <a:cs typeface="Calibri"/>
              </a:rPr>
              <a:t> </a:t>
            </a:r>
            <a:r>
              <a:rPr sz="1298" spc="-10" dirty="0">
                <a:solidFill>
                  <a:srgbClr val="202020"/>
                </a:solidFill>
                <a:latin typeface="Calibri"/>
                <a:cs typeface="Calibri"/>
              </a:rPr>
              <a:t>forgets</a:t>
            </a:r>
            <a:r>
              <a:rPr sz="1298" spc="-35" dirty="0">
                <a:solidFill>
                  <a:srgbClr val="202020"/>
                </a:solidFill>
                <a:latin typeface="Calibri"/>
                <a:cs typeface="Calibri"/>
              </a:rPr>
              <a:t> </a:t>
            </a:r>
            <a:r>
              <a:rPr sz="1298" spc="-25" dirty="0">
                <a:solidFill>
                  <a:srgbClr val="202020"/>
                </a:solidFill>
                <a:latin typeface="Calibri"/>
                <a:cs typeface="Calibri"/>
              </a:rPr>
              <a:t>it.</a:t>
            </a:r>
            <a:endParaRPr sz="1298">
              <a:latin typeface="Calibri"/>
              <a:cs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638" y="3"/>
            <a:ext cx="9132725" cy="5137792"/>
          </a:xfrm>
          <a:custGeom>
            <a:avLst/>
            <a:gdLst/>
            <a:ahLst/>
            <a:cxnLst/>
            <a:rect l="l" t="t" r="r" b="b"/>
            <a:pathLst>
              <a:path w="9144000" h="5144135">
                <a:moveTo>
                  <a:pt x="9144000" y="0"/>
                </a:moveTo>
                <a:lnTo>
                  <a:pt x="0" y="0"/>
                </a:lnTo>
                <a:lnTo>
                  <a:pt x="0" y="5143677"/>
                </a:lnTo>
                <a:lnTo>
                  <a:pt x="9144000" y="5143677"/>
                </a:lnTo>
                <a:lnTo>
                  <a:pt x="9144000" y="0"/>
                </a:lnTo>
                <a:close/>
              </a:path>
            </a:pathLst>
          </a:custGeom>
          <a:solidFill>
            <a:srgbClr val="1D1D1D"/>
          </a:solidFill>
        </p:spPr>
        <p:txBody>
          <a:bodyPr wrap="square" lIns="0" tIns="0" rIns="0" bIns="0" rtlCol="0"/>
          <a:lstStyle/>
          <a:p>
            <a:endParaRPr sz="1798"/>
          </a:p>
        </p:txBody>
      </p:sp>
      <p:sp>
        <p:nvSpPr>
          <p:cNvPr id="3" name="object 3"/>
          <p:cNvSpPr/>
          <p:nvPr/>
        </p:nvSpPr>
        <p:spPr>
          <a:xfrm>
            <a:off x="5283" y="4839990"/>
            <a:ext cx="9132725" cy="296814"/>
          </a:xfrm>
          <a:custGeom>
            <a:avLst/>
            <a:gdLst/>
            <a:ahLst/>
            <a:cxnLst/>
            <a:rect l="l" t="t" r="r" b="b"/>
            <a:pathLst>
              <a:path w="9144000" h="297179">
                <a:moveTo>
                  <a:pt x="9143631" y="0"/>
                </a:moveTo>
                <a:lnTo>
                  <a:pt x="0" y="0"/>
                </a:lnTo>
                <a:lnTo>
                  <a:pt x="0" y="296989"/>
                </a:lnTo>
                <a:lnTo>
                  <a:pt x="4572000" y="296989"/>
                </a:lnTo>
                <a:lnTo>
                  <a:pt x="9143631" y="296989"/>
                </a:lnTo>
                <a:lnTo>
                  <a:pt x="9143631" y="0"/>
                </a:lnTo>
                <a:close/>
              </a:path>
            </a:pathLst>
          </a:custGeom>
          <a:solidFill>
            <a:srgbClr val="333333"/>
          </a:solidFill>
        </p:spPr>
        <p:txBody>
          <a:bodyPr wrap="square" lIns="0" tIns="0" rIns="0" bIns="0" rtlCol="0"/>
          <a:lstStyle/>
          <a:p>
            <a:endParaRPr sz="1798"/>
          </a:p>
        </p:txBody>
      </p:sp>
      <p:sp>
        <p:nvSpPr>
          <p:cNvPr id="4" name="object 4"/>
          <p:cNvSpPr/>
          <p:nvPr/>
        </p:nvSpPr>
        <p:spPr>
          <a:xfrm>
            <a:off x="5283" y="-353"/>
            <a:ext cx="9132725" cy="54543"/>
          </a:xfrm>
          <a:custGeom>
            <a:avLst/>
            <a:gdLst/>
            <a:ahLst/>
            <a:cxnLst/>
            <a:rect l="l" t="t" r="r" b="b"/>
            <a:pathLst>
              <a:path w="9144000" h="54610">
                <a:moveTo>
                  <a:pt x="9143631" y="0"/>
                </a:moveTo>
                <a:lnTo>
                  <a:pt x="0" y="0"/>
                </a:lnTo>
                <a:lnTo>
                  <a:pt x="0" y="54355"/>
                </a:lnTo>
                <a:lnTo>
                  <a:pt x="4572000" y="54355"/>
                </a:lnTo>
                <a:lnTo>
                  <a:pt x="9143631" y="54355"/>
                </a:lnTo>
                <a:lnTo>
                  <a:pt x="9143631" y="0"/>
                </a:lnTo>
                <a:close/>
              </a:path>
            </a:pathLst>
          </a:custGeom>
          <a:solidFill>
            <a:srgbClr val="4CAE50"/>
          </a:solidFill>
        </p:spPr>
        <p:txBody>
          <a:bodyPr wrap="square" lIns="0" tIns="0" rIns="0" bIns="0" rtlCol="0"/>
          <a:lstStyle/>
          <a:p>
            <a:endParaRPr sz="1798"/>
          </a:p>
        </p:txBody>
      </p:sp>
      <p:sp>
        <p:nvSpPr>
          <p:cNvPr id="5" name="object 5"/>
          <p:cNvSpPr/>
          <p:nvPr/>
        </p:nvSpPr>
        <p:spPr>
          <a:xfrm>
            <a:off x="7311462" y="136637"/>
            <a:ext cx="1461236" cy="365309"/>
          </a:xfrm>
          <a:custGeom>
            <a:avLst/>
            <a:gdLst/>
            <a:ahLst/>
            <a:cxnLst/>
            <a:rect l="l" t="t" r="r" b="b"/>
            <a:pathLst>
              <a:path w="1463040" h="365759">
                <a:moveTo>
                  <a:pt x="1462671" y="0"/>
                </a:moveTo>
                <a:lnTo>
                  <a:pt x="0" y="0"/>
                </a:lnTo>
                <a:lnTo>
                  <a:pt x="0" y="365391"/>
                </a:lnTo>
                <a:lnTo>
                  <a:pt x="731520" y="365391"/>
                </a:lnTo>
                <a:lnTo>
                  <a:pt x="1462671" y="365391"/>
                </a:lnTo>
                <a:lnTo>
                  <a:pt x="1462671" y="0"/>
                </a:lnTo>
                <a:close/>
              </a:path>
            </a:pathLst>
          </a:custGeom>
          <a:solidFill>
            <a:srgbClr val="4CAE50"/>
          </a:solidFill>
        </p:spPr>
        <p:txBody>
          <a:bodyPr wrap="square" lIns="0" tIns="0" rIns="0" bIns="0" rtlCol="0"/>
          <a:lstStyle/>
          <a:p>
            <a:endParaRPr sz="1798"/>
          </a:p>
        </p:txBody>
      </p:sp>
      <p:sp>
        <p:nvSpPr>
          <p:cNvPr id="6" name="object 6"/>
          <p:cNvSpPr txBox="1"/>
          <p:nvPr/>
        </p:nvSpPr>
        <p:spPr>
          <a:xfrm>
            <a:off x="7685650" y="187953"/>
            <a:ext cx="712226" cy="223183"/>
          </a:xfrm>
          <a:prstGeom prst="rect">
            <a:avLst/>
          </a:prstGeom>
        </p:spPr>
        <p:txBody>
          <a:bodyPr vert="horz" wrap="square" lIns="0" tIns="15855" rIns="0" bIns="0" rtlCol="0">
            <a:spAutoFit/>
          </a:bodyPr>
          <a:lstStyle/>
          <a:p>
            <a:pPr marL="12685">
              <a:spcBef>
                <a:spcPts val="125"/>
              </a:spcBef>
            </a:pPr>
            <a:r>
              <a:rPr sz="1348" spc="-155" dirty="0">
                <a:solidFill>
                  <a:srgbClr val="FFFFFF"/>
                </a:solidFill>
                <a:latin typeface="Segoe UI Symbol"/>
                <a:cs typeface="Segoe UI Symbol"/>
              </a:rPr>
              <a:t>✅</a:t>
            </a:r>
            <a:r>
              <a:rPr sz="1348" spc="-225" dirty="0">
                <a:solidFill>
                  <a:srgbClr val="FFFFFF"/>
                </a:solidFill>
                <a:latin typeface="Segoe UI Symbol"/>
                <a:cs typeface="Segoe UI Symbol"/>
              </a:rPr>
              <a:t> </a:t>
            </a:r>
            <a:r>
              <a:rPr sz="1099" b="1" spc="-10" dirty="0">
                <a:solidFill>
                  <a:srgbClr val="FFFFFF"/>
                </a:solidFill>
                <a:latin typeface="Calibri"/>
                <a:cs typeface="Calibri"/>
              </a:rPr>
              <a:t>ANSWER</a:t>
            </a:r>
            <a:endParaRPr sz="1099">
              <a:latin typeface="Calibri"/>
              <a:cs typeface="Calibri"/>
            </a:endParaRPr>
          </a:p>
        </p:txBody>
      </p:sp>
      <p:sp>
        <p:nvSpPr>
          <p:cNvPr id="7" name="object 7" descr="$PPTXTitle"/>
          <p:cNvSpPr txBox="1">
            <a:spLocks noGrp="1"/>
          </p:cNvSpPr>
          <p:nvPr>
            <p:ph type="title"/>
          </p:nvPr>
        </p:nvSpPr>
        <p:spPr>
          <a:xfrm>
            <a:off x="357907" y="180766"/>
            <a:ext cx="818140" cy="257766"/>
          </a:xfrm>
          <a:prstGeom prst="rect">
            <a:avLst/>
          </a:prstGeom>
        </p:spPr>
        <p:txBody>
          <a:bodyPr vert="horz" wrap="square" lIns="0" tIns="12050" rIns="0" bIns="0" rtlCol="0">
            <a:spAutoFit/>
          </a:bodyPr>
          <a:lstStyle/>
          <a:p>
            <a:pPr marL="12685">
              <a:spcBef>
                <a:spcPts val="95"/>
              </a:spcBef>
            </a:pPr>
            <a:r>
              <a:rPr spc="-10" dirty="0">
                <a:latin typeface="Georgia"/>
                <a:cs typeface="Georgia"/>
              </a:rPr>
              <a:t>Answer</a:t>
            </a:r>
          </a:p>
        </p:txBody>
      </p:sp>
      <p:sp>
        <p:nvSpPr>
          <p:cNvPr id="8" name="object 8"/>
          <p:cNvSpPr txBox="1"/>
          <p:nvPr/>
        </p:nvSpPr>
        <p:spPr>
          <a:xfrm>
            <a:off x="356461" y="625394"/>
            <a:ext cx="5733956" cy="2371337"/>
          </a:xfrm>
          <a:prstGeom prst="rect">
            <a:avLst/>
          </a:prstGeom>
        </p:spPr>
        <p:txBody>
          <a:bodyPr vert="horz" wrap="square" lIns="0" tIns="27906" rIns="0" bIns="0" rtlCol="0">
            <a:spAutoFit/>
          </a:bodyPr>
          <a:lstStyle/>
          <a:p>
            <a:pPr marL="12685">
              <a:spcBef>
                <a:spcPts val="220"/>
              </a:spcBef>
            </a:pPr>
            <a:r>
              <a:rPr sz="999" dirty="0">
                <a:solidFill>
                  <a:srgbClr val="D3D3D3"/>
                </a:solidFill>
                <a:latin typeface="Courier New"/>
                <a:cs typeface="Courier New"/>
              </a:rPr>
              <a:t>CREATE</a:t>
            </a:r>
            <a:r>
              <a:rPr sz="999" spc="-25" dirty="0">
                <a:solidFill>
                  <a:srgbClr val="D3D3D3"/>
                </a:solidFill>
                <a:latin typeface="Courier New"/>
                <a:cs typeface="Courier New"/>
              </a:rPr>
              <a:t> </a:t>
            </a:r>
            <a:r>
              <a:rPr sz="999" dirty="0">
                <a:solidFill>
                  <a:srgbClr val="D3D3D3"/>
                </a:solidFill>
                <a:latin typeface="Courier New"/>
                <a:cs typeface="Courier New"/>
              </a:rPr>
              <a:t>SCHEMA</a:t>
            </a:r>
            <a:r>
              <a:rPr sz="999" spc="-25" dirty="0">
                <a:solidFill>
                  <a:srgbClr val="D3D3D3"/>
                </a:solidFill>
                <a:latin typeface="Courier New"/>
                <a:cs typeface="Courier New"/>
              </a:rPr>
              <a:t> </a:t>
            </a:r>
            <a:r>
              <a:rPr sz="999" dirty="0">
                <a:solidFill>
                  <a:srgbClr val="D3D3D3"/>
                </a:solidFill>
                <a:latin typeface="Courier New"/>
                <a:cs typeface="Courier New"/>
              </a:rPr>
              <a:t>IF</a:t>
            </a:r>
            <a:r>
              <a:rPr sz="999" spc="-20" dirty="0">
                <a:solidFill>
                  <a:srgbClr val="D3D3D3"/>
                </a:solidFill>
                <a:latin typeface="Courier New"/>
                <a:cs typeface="Courier New"/>
              </a:rPr>
              <a:t> </a:t>
            </a:r>
            <a:r>
              <a:rPr sz="999" dirty="0">
                <a:solidFill>
                  <a:srgbClr val="D3D3D3"/>
                </a:solidFill>
                <a:latin typeface="Courier New"/>
                <a:cs typeface="Courier New"/>
              </a:rPr>
              <a:t>NOT</a:t>
            </a:r>
            <a:r>
              <a:rPr sz="999" spc="-25" dirty="0">
                <a:solidFill>
                  <a:srgbClr val="D3D3D3"/>
                </a:solidFill>
                <a:latin typeface="Courier New"/>
                <a:cs typeface="Courier New"/>
              </a:rPr>
              <a:t> </a:t>
            </a:r>
            <a:r>
              <a:rPr sz="999" dirty="0">
                <a:solidFill>
                  <a:srgbClr val="D3D3D3"/>
                </a:solidFill>
                <a:latin typeface="Courier New"/>
                <a:cs typeface="Courier New"/>
              </a:rPr>
              <a:t>EXISTS</a:t>
            </a:r>
            <a:r>
              <a:rPr sz="999" spc="-20" dirty="0">
                <a:solidFill>
                  <a:srgbClr val="D3D3D3"/>
                </a:solidFill>
                <a:latin typeface="Courier New"/>
                <a:cs typeface="Courier New"/>
              </a:rPr>
              <a:t> </a:t>
            </a:r>
            <a:r>
              <a:rPr sz="999" spc="-10" dirty="0">
                <a:solidFill>
                  <a:srgbClr val="D3D3D3"/>
                </a:solidFill>
                <a:latin typeface="Courier New"/>
                <a:cs typeface="Courier New"/>
              </a:rPr>
              <a:t>day_4;</a:t>
            </a:r>
            <a:endParaRPr sz="999">
              <a:latin typeface="Courier New"/>
              <a:cs typeface="Courier New"/>
            </a:endParaRPr>
          </a:p>
          <a:p>
            <a:pPr marL="164268" marR="3049416" indent="-152217">
              <a:lnSpc>
                <a:spcPct val="110100"/>
              </a:lnSpc>
              <a:tabLst>
                <a:tab pos="1229787" algn="l"/>
              </a:tabLst>
            </a:pPr>
            <a:r>
              <a:rPr sz="999" dirty="0">
                <a:solidFill>
                  <a:srgbClr val="D3D3D3"/>
                </a:solidFill>
                <a:latin typeface="Courier New"/>
                <a:cs typeface="Courier New"/>
              </a:rPr>
              <a:t>CREATE</a:t>
            </a:r>
            <a:r>
              <a:rPr sz="999" spc="-40" dirty="0">
                <a:solidFill>
                  <a:srgbClr val="D3D3D3"/>
                </a:solidFill>
                <a:latin typeface="Courier New"/>
                <a:cs typeface="Courier New"/>
              </a:rPr>
              <a:t> </a:t>
            </a:r>
            <a:r>
              <a:rPr sz="999" dirty="0">
                <a:solidFill>
                  <a:srgbClr val="D3D3D3"/>
                </a:solidFill>
                <a:latin typeface="Courier New"/>
                <a:cs typeface="Courier New"/>
              </a:rPr>
              <a:t>TABLE</a:t>
            </a:r>
            <a:r>
              <a:rPr sz="999" spc="-35" dirty="0">
                <a:solidFill>
                  <a:srgbClr val="D3D3D3"/>
                </a:solidFill>
                <a:latin typeface="Courier New"/>
                <a:cs typeface="Courier New"/>
              </a:rPr>
              <a:t> </a:t>
            </a:r>
            <a:r>
              <a:rPr sz="999" dirty="0">
                <a:solidFill>
                  <a:srgbClr val="D3D3D3"/>
                </a:solidFill>
                <a:latin typeface="Courier New"/>
                <a:cs typeface="Courier New"/>
              </a:rPr>
              <a:t>day_4.orders</a:t>
            </a:r>
            <a:r>
              <a:rPr sz="999" spc="-30" dirty="0">
                <a:solidFill>
                  <a:srgbClr val="D3D3D3"/>
                </a:solidFill>
                <a:latin typeface="Courier New"/>
                <a:cs typeface="Courier New"/>
              </a:rPr>
              <a:t> </a:t>
            </a:r>
            <a:r>
              <a:rPr sz="999" spc="-50" dirty="0">
                <a:solidFill>
                  <a:srgbClr val="D3D3D3"/>
                </a:solidFill>
                <a:latin typeface="Courier New"/>
                <a:cs typeface="Courier New"/>
              </a:rPr>
              <a:t>( </a:t>
            </a:r>
            <a:r>
              <a:rPr sz="999" spc="-10" dirty="0">
                <a:solidFill>
                  <a:srgbClr val="D3D3D3"/>
                </a:solidFill>
                <a:latin typeface="Courier New"/>
                <a:cs typeface="Courier New"/>
              </a:rPr>
              <a:t>order_id</a:t>
            </a:r>
            <a:r>
              <a:rPr sz="999" dirty="0">
                <a:solidFill>
                  <a:srgbClr val="D3D3D3"/>
                </a:solidFill>
                <a:latin typeface="Courier New"/>
                <a:cs typeface="Courier New"/>
              </a:rPr>
              <a:t>	SERIAL</a:t>
            </a:r>
            <a:r>
              <a:rPr sz="999" spc="-45" dirty="0">
                <a:solidFill>
                  <a:srgbClr val="D3D3D3"/>
                </a:solidFill>
                <a:latin typeface="Courier New"/>
                <a:cs typeface="Courier New"/>
              </a:rPr>
              <a:t> </a:t>
            </a:r>
            <a:r>
              <a:rPr sz="999" dirty="0">
                <a:solidFill>
                  <a:srgbClr val="D3D3D3"/>
                </a:solidFill>
                <a:latin typeface="Courier New"/>
                <a:cs typeface="Courier New"/>
              </a:rPr>
              <a:t>PRIMARY</a:t>
            </a:r>
            <a:r>
              <a:rPr sz="999" spc="-30" dirty="0">
                <a:solidFill>
                  <a:srgbClr val="D3D3D3"/>
                </a:solidFill>
                <a:latin typeface="Courier New"/>
                <a:cs typeface="Courier New"/>
              </a:rPr>
              <a:t> </a:t>
            </a:r>
            <a:r>
              <a:rPr sz="999" spc="-20" dirty="0">
                <a:solidFill>
                  <a:srgbClr val="D3D3D3"/>
                </a:solidFill>
                <a:latin typeface="Courier New"/>
                <a:cs typeface="Courier New"/>
              </a:rPr>
              <a:t>KEY,</a:t>
            </a:r>
            <a:endParaRPr sz="999">
              <a:latin typeface="Courier New"/>
              <a:cs typeface="Courier New"/>
            </a:endParaRPr>
          </a:p>
          <a:p>
            <a:pPr marL="164268">
              <a:spcBef>
                <a:spcPts val="120"/>
              </a:spcBef>
            </a:pPr>
            <a:r>
              <a:rPr sz="999" dirty="0">
                <a:solidFill>
                  <a:srgbClr val="D3D3D3"/>
                </a:solidFill>
                <a:latin typeface="Courier New"/>
                <a:cs typeface="Courier New"/>
              </a:rPr>
              <a:t>customer_name</a:t>
            </a:r>
            <a:r>
              <a:rPr sz="999" spc="-50" dirty="0">
                <a:solidFill>
                  <a:srgbClr val="D3D3D3"/>
                </a:solidFill>
                <a:latin typeface="Courier New"/>
                <a:cs typeface="Courier New"/>
              </a:rPr>
              <a:t> </a:t>
            </a:r>
            <a:r>
              <a:rPr sz="999" dirty="0">
                <a:solidFill>
                  <a:srgbClr val="D3D3D3"/>
                </a:solidFill>
                <a:latin typeface="Courier New"/>
                <a:cs typeface="Courier New"/>
              </a:rPr>
              <a:t>VARCHAR(100)</a:t>
            </a:r>
            <a:r>
              <a:rPr sz="999" spc="-45" dirty="0">
                <a:solidFill>
                  <a:srgbClr val="D3D3D3"/>
                </a:solidFill>
                <a:latin typeface="Courier New"/>
                <a:cs typeface="Courier New"/>
              </a:rPr>
              <a:t> </a:t>
            </a:r>
            <a:r>
              <a:rPr sz="999" dirty="0">
                <a:solidFill>
                  <a:srgbClr val="D3D3D3"/>
                </a:solidFill>
                <a:latin typeface="Courier New"/>
                <a:cs typeface="Courier New"/>
              </a:rPr>
              <a:t>NOT</a:t>
            </a:r>
            <a:r>
              <a:rPr sz="999" spc="-45" dirty="0">
                <a:solidFill>
                  <a:srgbClr val="D3D3D3"/>
                </a:solidFill>
                <a:latin typeface="Courier New"/>
                <a:cs typeface="Courier New"/>
              </a:rPr>
              <a:t> </a:t>
            </a:r>
            <a:r>
              <a:rPr sz="999" spc="-10" dirty="0">
                <a:solidFill>
                  <a:srgbClr val="D3D3D3"/>
                </a:solidFill>
                <a:latin typeface="Courier New"/>
                <a:cs typeface="Courier New"/>
              </a:rPr>
              <a:t>NULL,</a:t>
            </a:r>
            <a:endParaRPr sz="999">
              <a:latin typeface="Courier New"/>
              <a:cs typeface="Courier New"/>
            </a:endParaRPr>
          </a:p>
          <a:p>
            <a:pPr marL="164268" marR="1451137">
              <a:lnSpc>
                <a:spcPct val="110100"/>
              </a:lnSpc>
              <a:tabLst>
                <a:tab pos="1229787" algn="l"/>
              </a:tabLst>
            </a:pPr>
            <a:r>
              <a:rPr sz="999" dirty="0">
                <a:solidFill>
                  <a:srgbClr val="D3D3D3"/>
                </a:solidFill>
                <a:latin typeface="Courier New"/>
                <a:cs typeface="Courier New"/>
              </a:rPr>
              <a:t>order_status</a:t>
            </a:r>
            <a:r>
              <a:rPr sz="999" spc="-30" dirty="0">
                <a:solidFill>
                  <a:srgbClr val="D3D3D3"/>
                </a:solidFill>
                <a:latin typeface="Courier New"/>
                <a:cs typeface="Courier New"/>
              </a:rPr>
              <a:t>  </a:t>
            </a:r>
            <a:r>
              <a:rPr sz="999" dirty="0">
                <a:solidFill>
                  <a:srgbClr val="D3D3D3"/>
                </a:solidFill>
                <a:latin typeface="Courier New"/>
                <a:cs typeface="Courier New"/>
              </a:rPr>
              <a:t>VARCHAR(20)</a:t>
            </a:r>
            <a:r>
              <a:rPr sz="999" spc="-25" dirty="0">
                <a:solidFill>
                  <a:srgbClr val="D3D3D3"/>
                </a:solidFill>
                <a:latin typeface="Courier New"/>
                <a:cs typeface="Courier New"/>
              </a:rPr>
              <a:t>  </a:t>
            </a:r>
            <a:r>
              <a:rPr sz="999" dirty="0">
                <a:solidFill>
                  <a:srgbClr val="D3D3D3"/>
                </a:solidFill>
                <a:latin typeface="Courier New"/>
                <a:cs typeface="Courier New"/>
              </a:rPr>
              <a:t>NOT</a:t>
            </a:r>
            <a:r>
              <a:rPr sz="999" spc="-20" dirty="0">
                <a:solidFill>
                  <a:srgbClr val="D3D3D3"/>
                </a:solidFill>
                <a:latin typeface="Courier New"/>
                <a:cs typeface="Courier New"/>
              </a:rPr>
              <a:t> </a:t>
            </a:r>
            <a:r>
              <a:rPr sz="999" dirty="0">
                <a:solidFill>
                  <a:srgbClr val="D3D3D3"/>
                </a:solidFill>
                <a:latin typeface="Courier New"/>
                <a:cs typeface="Courier New"/>
              </a:rPr>
              <a:t>NULL</a:t>
            </a:r>
            <a:r>
              <a:rPr sz="999" spc="-30" dirty="0">
                <a:solidFill>
                  <a:srgbClr val="D3D3D3"/>
                </a:solidFill>
                <a:latin typeface="Courier New"/>
                <a:cs typeface="Courier New"/>
              </a:rPr>
              <a:t> </a:t>
            </a:r>
            <a:r>
              <a:rPr sz="999" dirty="0">
                <a:solidFill>
                  <a:srgbClr val="D3D3D3"/>
                </a:solidFill>
                <a:latin typeface="Courier New"/>
                <a:cs typeface="Courier New"/>
              </a:rPr>
              <a:t>DEFAULT</a:t>
            </a:r>
            <a:r>
              <a:rPr sz="999" spc="-25" dirty="0">
                <a:solidFill>
                  <a:srgbClr val="D3D3D3"/>
                </a:solidFill>
                <a:latin typeface="Courier New"/>
                <a:cs typeface="Courier New"/>
              </a:rPr>
              <a:t> </a:t>
            </a:r>
            <a:r>
              <a:rPr sz="999" spc="-10" dirty="0">
                <a:solidFill>
                  <a:srgbClr val="D3D3D3"/>
                </a:solidFill>
                <a:latin typeface="Courier New"/>
                <a:cs typeface="Courier New"/>
              </a:rPr>
              <a:t>'pending', created_at</a:t>
            </a:r>
            <a:r>
              <a:rPr sz="999" dirty="0">
                <a:solidFill>
                  <a:srgbClr val="D3D3D3"/>
                </a:solidFill>
                <a:latin typeface="Courier New"/>
                <a:cs typeface="Courier New"/>
              </a:rPr>
              <a:t>	TIMESTAMPTZ</a:t>
            </a:r>
            <a:r>
              <a:rPr sz="999" spc="-35" dirty="0">
                <a:solidFill>
                  <a:srgbClr val="D3D3D3"/>
                </a:solidFill>
                <a:latin typeface="Courier New"/>
                <a:cs typeface="Courier New"/>
              </a:rPr>
              <a:t>  </a:t>
            </a:r>
            <a:r>
              <a:rPr sz="999" dirty="0">
                <a:solidFill>
                  <a:srgbClr val="D3D3D3"/>
                </a:solidFill>
                <a:latin typeface="Courier New"/>
                <a:cs typeface="Courier New"/>
              </a:rPr>
              <a:t>NOT</a:t>
            </a:r>
            <a:r>
              <a:rPr sz="999" spc="-25" dirty="0">
                <a:solidFill>
                  <a:srgbClr val="D3D3D3"/>
                </a:solidFill>
                <a:latin typeface="Courier New"/>
                <a:cs typeface="Courier New"/>
              </a:rPr>
              <a:t> </a:t>
            </a:r>
            <a:r>
              <a:rPr sz="999" dirty="0">
                <a:solidFill>
                  <a:srgbClr val="D3D3D3"/>
                </a:solidFill>
                <a:latin typeface="Courier New"/>
                <a:cs typeface="Courier New"/>
              </a:rPr>
              <a:t>NULL</a:t>
            </a:r>
            <a:r>
              <a:rPr sz="999" spc="-25" dirty="0">
                <a:solidFill>
                  <a:srgbClr val="D3D3D3"/>
                </a:solidFill>
                <a:latin typeface="Courier New"/>
                <a:cs typeface="Courier New"/>
              </a:rPr>
              <a:t> </a:t>
            </a:r>
            <a:r>
              <a:rPr sz="999" dirty="0">
                <a:solidFill>
                  <a:srgbClr val="D3D3D3"/>
                </a:solidFill>
                <a:latin typeface="Courier New"/>
                <a:cs typeface="Courier New"/>
              </a:rPr>
              <a:t>DEFAULT</a:t>
            </a:r>
            <a:r>
              <a:rPr sz="999" spc="-25" dirty="0">
                <a:solidFill>
                  <a:srgbClr val="D3D3D3"/>
                </a:solidFill>
                <a:latin typeface="Courier New"/>
                <a:cs typeface="Courier New"/>
              </a:rPr>
              <a:t> </a:t>
            </a:r>
            <a:r>
              <a:rPr sz="999" spc="-10" dirty="0">
                <a:solidFill>
                  <a:srgbClr val="D3D3D3"/>
                </a:solidFill>
                <a:latin typeface="Courier New"/>
                <a:cs typeface="Courier New"/>
              </a:rPr>
              <a:t>now()</a:t>
            </a:r>
            <a:endParaRPr sz="999">
              <a:latin typeface="Courier New"/>
              <a:cs typeface="Courier New"/>
            </a:endParaRPr>
          </a:p>
          <a:p>
            <a:pPr marL="12685">
              <a:spcBef>
                <a:spcPts val="120"/>
              </a:spcBef>
            </a:pPr>
            <a:r>
              <a:rPr sz="999" spc="-25" dirty="0">
                <a:solidFill>
                  <a:srgbClr val="D3D3D3"/>
                </a:solidFill>
                <a:latin typeface="Courier New"/>
                <a:cs typeface="Courier New"/>
              </a:rPr>
              <a:t>);</a:t>
            </a:r>
            <a:endParaRPr sz="999">
              <a:latin typeface="Courier New"/>
              <a:cs typeface="Courier New"/>
            </a:endParaRPr>
          </a:p>
          <a:p>
            <a:pPr>
              <a:spcBef>
                <a:spcPts val="190"/>
              </a:spcBef>
            </a:pPr>
            <a:endParaRPr sz="999">
              <a:latin typeface="Courier New"/>
              <a:cs typeface="Courier New"/>
            </a:endParaRPr>
          </a:p>
          <a:p>
            <a:pPr marL="12685" marR="537834">
              <a:lnSpc>
                <a:spcPct val="110100"/>
              </a:lnSpc>
              <a:tabLst>
                <a:tab pos="2295307" algn="l"/>
              </a:tabLst>
            </a:pPr>
            <a:r>
              <a:rPr sz="999" dirty="0">
                <a:solidFill>
                  <a:srgbClr val="D3D3D3"/>
                </a:solidFill>
                <a:latin typeface="Courier New"/>
                <a:cs typeface="Courier New"/>
              </a:rPr>
              <a:t>INSERT</a:t>
            </a:r>
            <a:r>
              <a:rPr sz="999" spc="-45" dirty="0">
                <a:solidFill>
                  <a:srgbClr val="D3D3D3"/>
                </a:solidFill>
                <a:latin typeface="Courier New"/>
                <a:cs typeface="Courier New"/>
              </a:rPr>
              <a:t> </a:t>
            </a:r>
            <a:r>
              <a:rPr sz="999" dirty="0">
                <a:solidFill>
                  <a:srgbClr val="D3D3D3"/>
                </a:solidFill>
                <a:latin typeface="Courier New"/>
                <a:cs typeface="Courier New"/>
              </a:rPr>
              <a:t>INTO</a:t>
            </a:r>
            <a:r>
              <a:rPr sz="999" spc="-40" dirty="0">
                <a:solidFill>
                  <a:srgbClr val="D3D3D3"/>
                </a:solidFill>
                <a:latin typeface="Courier New"/>
                <a:cs typeface="Courier New"/>
              </a:rPr>
              <a:t> </a:t>
            </a:r>
            <a:r>
              <a:rPr sz="999" dirty="0">
                <a:solidFill>
                  <a:srgbClr val="D3D3D3"/>
                </a:solidFill>
                <a:latin typeface="Courier New"/>
                <a:cs typeface="Courier New"/>
              </a:rPr>
              <a:t>day_4.orders</a:t>
            </a:r>
            <a:r>
              <a:rPr sz="999" spc="-40" dirty="0">
                <a:solidFill>
                  <a:srgbClr val="D3D3D3"/>
                </a:solidFill>
                <a:latin typeface="Courier New"/>
                <a:cs typeface="Courier New"/>
              </a:rPr>
              <a:t> </a:t>
            </a:r>
            <a:r>
              <a:rPr sz="999" dirty="0">
                <a:solidFill>
                  <a:srgbClr val="D3D3D3"/>
                </a:solidFill>
                <a:latin typeface="Courier New"/>
                <a:cs typeface="Courier New"/>
              </a:rPr>
              <a:t>(customer_name)</a:t>
            </a:r>
            <a:r>
              <a:rPr sz="999" spc="-45" dirty="0">
                <a:solidFill>
                  <a:srgbClr val="D3D3D3"/>
                </a:solidFill>
                <a:latin typeface="Courier New"/>
                <a:cs typeface="Courier New"/>
              </a:rPr>
              <a:t> </a:t>
            </a:r>
            <a:r>
              <a:rPr sz="999" dirty="0">
                <a:solidFill>
                  <a:srgbClr val="D3D3D3"/>
                </a:solidFill>
                <a:latin typeface="Courier New"/>
                <a:cs typeface="Courier New"/>
              </a:rPr>
              <a:t>VALUES</a:t>
            </a:r>
            <a:r>
              <a:rPr sz="999" spc="-40" dirty="0">
                <a:solidFill>
                  <a:srgbClr val="D3D3D3"/>
                </a:solidFill>
                <a:latin typeface="Courier New"/>
                <a:cs typeface="Courier New"/>
              </a:rPr>
              <a:t> </a:t>
            </a:r>
            <a:r>
              <a:rPr sz="999" dirty="0">
                <a:solidFill>
                  <a:srgbClr val="D3D3D3"/>
                </a:solidFill>
                <a:latin typeface="Courier New"/>
                <a:cs typeface="Courier New"/>
              </a:rPr>
              <a:t>('Priya</a:t>
            </a:r>
            <a:r>
              <a:rPr sz="999" spc="-40" dirty="0">
                <a:solidFill>
                  <a:srgbClr val="D3D3D3"/>
                </a:solidFill>
                <a:latin typeface="Courier New"/>
                <a:cs typeface="Courier New"/>
              </a:rPr>
              <a:t> </a:t>
            </a:r>
            <a:r>
              <a:rPr sz="999" spc="-10" dirty="0">
                <a:solidFill>
                  <a:srgbClr val="D3D3D3"/>
                </a:solidFill>
                <a:latin typeface="Courier New"/>
                <a:cs typeface="Courier New"/>
              </a:rPr>
              <a:t>Mehta'); </a:t>
            </a:r>
            <a:r>
              <a:rPr sz="999" dirty="0">
                <a:solidFill>
                  <a:srgbClr val="D3D3D3"/>
                </a:solidFill>
                <a:latin typeface="Courier New"/>
                <a:cs typeface="Courier New"/>
              </a:rPr>
              <a:t>SELECT</a:t>
            </a:r>
            <a:r>
              <a:rPr sz="999" spc="-20" dirty="0">
                <a:solidFill>
                  <a:srgbClr val="D3D3D3"/>
                </a:solidFill>
                <a:latin typeface="Courier New"/>
                <a:cs typeface="Courier New"/>
              </a:rPr>
              <a:t> </a:t>
            </a:r>
            <a:r>
              <a:rPr sz="999" dirty="0">
                <a:solidFill>
                  <a:srgbClr val="D3D3D3"/>
                </a:solidFill>
                <a:latin typeface="Courier New"/>
                <a:cs typeface="Courier New"/>
              </a:rPr>
              <a:t>*</a:t>
            </a:r>
            <a:r>
              <a:rPr sz="999" spc="-20" dirty="0">
                <a:solidFill>
                  <a:srgbClr val="D3D3D3"/>
                </a:solidFill>
                <a:latin typeface="Courier New"/>
                <a:cs typeface="Courier New"/>
              </a:rPr>
              <a:t> </a:t>
            </a:r>
            <a:r>
              <a:rPr sz="999" dirty="0">
                <a:solidFill>
                  <a:srgbClr val="D3D3D3"/>
                </a:solidFill>
                <a:latin typeface="Courier New"/>
                <a:cs typeface="Courier New"/>
              </a:rPr>
              <a:t>FROM</a:t>
            </a:r>
            <a:r>
              <a:rPr sz="999" spc="-15" dirty="0">
                <a:solidFill>
                  <a:srgbClr val="D3D3D3"/>
                </a:solidFill>
                <a:latin typeface="Courier New"/>
                <a:cs typeface="Courier New"/>
              </a:rPr>
              <a:t> </a:t>
            </a:r>
            <a:r>
              <a:rPr sz="999" spc="-10" dirty="0">
                <a:solidFill>
                  <a:srgbClr val="D3D3D3"/>
                </a:solidFill>
                <a:latin typeface="Courier New"/>
                <a:cs typeface="Courier New"/>
              </a:rPr>
              <a:t>day_4.orders;</a:t>
            </a:r>
            <a:r>
              <a:rPr sz="999" dirty="0">
                <a:solidFill>
                  <a:srgbClr val="D3D3D3"/>
                </a:solidFill>
                <a:latin typeface="Courier New"/>
                <a:cs typeface="Courier New"/>
              </a:rPr>
              <a:t>	</a:t>
            </a:r>
            <a:r>
              <a:rPr sz="999" spc="-10" dirty="0">
                <a:solidFill>
                  <a:srgbClr val="D3D3D3"/>
                </a:solidFill>
                <a:latin typeface="Courier New"/>
                <a:cs typeface="Courier New"/>
              </a:rPr>
              <a:t>-</a:t>
            </a:r>
            <a:r>
              <a:rPr sz="999" dirty="0">
                <a:solidFill>
                  <a:srgbClr val="D3D3D3"/>
                </a:solidFill>
                <a:latin typeface="Courier New"/>
                <a:cs typeface="Courier New"/>
              </a:rPr>
              <a:t>-</a:t>
            </a:r>
            <a:r>
              <a:rPr sz="999" spc="-55" dirty="0">
                <a:solidFill>
                  <a:srgbClr val="D3D3D3"/>
                </a:solidFill>
                <a:latin typeface="Courier New"/>
                <a:cs typeface="Courier New"/>
              </a:rPr>
              <a:t> </a:t>
            </a:r>
            <a:r>
              <a:rPr sz="999" dirty="0">
                <a:solidFill>
                  <a:srgbClr val="D3D3D3"/>
                </a:solidFill>
                <a:latin typeface="Courier New"/>
                <a:cs typeface="Courier New"/>
              </a:rPr>
              <a:t>status='pending',</a:t>
            </a:r>
            <a:r>
              <a:rPr sz="999" spc="-45" dirty="0">
                <a:solidFill>
                  <a:srgbClr val="D3D3D3"/>
                </a:solidFill>
                <a:latin typeface="Courier New"/>
                <a:cs typeface="Courier New"/>
              </a:rPr>
              <a:t> </a:t>
            </a:r>
            <a:r>
              <a:rPr sz="999" dirty="0">
                <a:solidFill>
                  <a:srgbClr val="D3D3D3"/>
                </a:solidFill>
                <a:latin typeface="Courier New"/>
                <a:cs typeface="Courier New"/>
              </a:rPr>
              <a:t>created_at</a:t>
            </a:r>
            <a:r>
              <a:rPr sz="999" spc="-45" dirty="0">
                <a:solidFill>
                  <a:srgbClr val="D3D3D3"/>
                </a:solidFill>
                <a:latin typeface="Courier New"/>
                <a:cs typeface="Courier New"/>
              </a:rPr>
              <a:t> </a:t>
            </a:r>
            <a:r>
              <a:rPr sz="999" spc="-10" dirty="0">
                <a:solidFill>
                  <a:srgbClr val="D3D3D3"/>
                </a:solidFill>
                <a:latin typeface="Courier New"/>
                <a:cs typeface="Courier New"/>
              </a:rPr>
              <a:t>filled</a:t>
            </a:r>
            <a:endParaRPr sz="999">
              <a:latin typeface="Courier New"/>
              <a:cs typeface="Courier New"/>
            </a:endParaRPr>
          </a:p>
          <a:p>
            <a:pPr>
              <a:spcBef>
                <a:spcPts val="305"/>
              </a:spcBef>
            </a:pPr>
            <a:endParaRPr sz="999">
              <a:latin typeface="Courier New"/>
              <a:cs typeface="Courier New"/>
            </a:endParaRPr>
          </a:p>
          <a:p>
            <a:pPr marL="12685">
              <a:spcBef>
                <a:spcPts val="5"/>
              </a:spcBef>
            </a:pPr>
            <a:r>
              <a:rPr sz="999" spc="-10" dirty="0">
                <a:solidFill>
                  <a:srgbClr val="699954"/>
                </a:solidFill>
                <a:latin typeface="Courier New"/>
                <a:cs typeface="Courier New"/>
              </a:rPr>
              <a:t>-</a:t>
            </a:r>
            <a:r>
              <a:rPr sz="999" dirty="0">
                <a:solidFill>
                  <a:srgbClr val="699954"/>
                </a:solidFill>
                <a:latin typeface="Courier New"/>
                <a:cs typeface="Courier New"/>
              </a:rPr>
              <a:t>-</a:t>
            </a:r>
            <a:r>
              <a:rPr sz="999" spc="-35" dirty="0">
                <a:solidFill>
                  <a:srgbClr val="699954"/>
                </a:solidFill>
                <a:latin typeface="Courier New"/>
                <a:cs typeface="Courier New"/>
              </a:rPr>
              <a:t> </a:t>
            </a:r>
            <a:r>
              <a:rPr sz="999" dirty="0">
                <a:solidFill>
                  <a:srgbClr val="699954"/>
                </a:solidFill>
                <a:latin typeface="Courier New"/>
                <a:cs typeface="Courier New"/>
              </a:rPr>
              <a:t>FAILS:</a:t>
            </a:r>
            <a:r>
              <a:rPr sz="999" spc="-30" dirty="0">
                <a:solidFill>
                  <a:srgbClr val="699954"/>
                </a:solidFill>
                <a:latin typeface="Courier New"/>
                <a:cs typeface="Courier New"/>
              </a:rPr>
              <a:t> </a:t>
            </a:r>
            <a:r>
              <a:rPr sz="999" dirty="0">
                <a:solidFill>
                  <a:srgbClr val="699954"/>
                </a:solidFill>
                <a:latin typeface="Courier New"/>
                <a:cs typeface="Courier New"/>
              </a:rPr>
              <a:t>customer_name</a:t>
            </a:r>
            <a:r>
              <a:rPr sz="999" spc="-30" dirty="0">
                <a:solidFill>
                  <a:srgbClr val="699954"/>
                </a:solidFill>
                <a:latin typeface="Courier New"/>
                <a:cs typeface="Courier New"/>
              </a:rPr>
              <a:t> </a:t>
            </a:r>
            <a:r>
              <a:rPr sz="999" spc="-10" dirty="0">
                <a:solidFill>
                  <a:srgbClr val="699954"/>
                </a:solidFill>
                <a:latin typeface="Courier New"/>
                <a:cs typeface="Courier New"/>
              </a:rPr>
              <a:t>missing</a:t>
            </a:r>
            <a:endParaRPr sz="999">
              <a:latin typeface="Courier New"/>
              <a:cs typeface="Courier New"/>
            </a:endParaRPr>
          </a:p>
          <a:p>
            <a:pPr marL="12685">
              <a:spcBef>
                <a:spcPts val="120"/>
              </a:spcBef>
            </a:pPr>
            <a:r>
              <a:rPr sz="999" dirty="0">
                <a:solidFill>
                  <a:srgbClr val="D3D3D3"/>
                </a:solidFill>
                <a:latin typeface="Courier New"/>
                <a:cs typeface="Courier New"/>
              </a:rPr>
              <a:t>INSERT</a:t>
            </a:r>
            <a:r>
              <a:rPr sz="999" spc="-45" dirty="0">
                <a:solidFill>
                  <a:srgbClr val="D3D3D3"/>
                </a:solidFill>
                <a:latin typeface="Courier New"/>
                <a:cs typeface="Courier New"/>
              </a:rPr>
              <a:t> </a:t>
            </a:r>
            <a:r>
              <a:rPr sz="999" dirty="0">
                <a:solidFill>
                  <a:srgbClr val="D3D3D3"/>
                </a:solidFill>
                <a:latin typeface="Courier New"/>
                <a:cs typeface="Courier New"/>
              </a:rPr>
              <a:t>INTO</a:t>
            </a:r>
            <a:r>
              <a:rPr sz="999" spc="-40" dirty="0">
                <a:solidFill>
                  <a:srgbClr val="D3D3D3"/>
                </a:solidFill>
                <a:latin typeface="Courier New"/>
                <a:cs typeface="Courier New"/>
              </a:rPr>
              <a:t> </a:t>
            </a:r>
            <a:r>
              <a:rPr sz="999" dirty="0">
                <a:solidFill>
                  <a:srgbClr val="D3D3D3"/>
                </a:solidFill>
                <a:latin typeface="Courier New"/>
                <a:cs typeface="Courier New"/>
              </a:rPr>
              <a:t>day_4.orders</a:t>
            </a:r>
            <a:r>
              <a:rPr sz="999" spc="-45" dirty="0">
                <a:solidFill>
                  <a:srgbClr val="D3D3D3"/>
                </a:solidFill>
                <a:latin typeface="Courier New"/>
                <a:cs typeface="Courier New"/>
              </a:rPr>
              <a:t> </a:t>
            </a:r>
            <a:r>
              <a:rPr sz="999" dirty="0">
                <a:solidFill>
                  <a:srgbClr val="D3D3D3"/>
                </a:solidFill>
                <a:latin typeface="Courier New"/>
                <a:cs typeface="Courier New"/>
              </a:rPr>
              <a:t>(order_status)</a:t>
            </a:r>
            <a:r>
              <a:rPr sz="999" spc="-40" dirty="0">
                <a:solidFill>
                  <a:srgbClr val="D3D3D3"/>
                </a:solidFill>
                <a:latin typeface="Courier New"/>
                <a:cs typeface="Courier New"/>
              </a:rPr>
              <a:t> </a:t>
            </a:r>
            <a:r>
              <a:rPr sz="999" dirty="0">
                <a:solidFill>
                  <a:srgbClr val="D3D3D3"/>
                </a:solidFill>
                <a:latin typeface="Courier New"/>
                <a:cs typeface="Courier New"/>
              </a:rPr>
              <a:t>VALUES</a:t>
            </a:r>
            <a:r>
              <a:rPr sz="999" spc="-40" dirty="0">
                <a:solidFill>
                  <a:srgbClr val="D3D3D3"/>
                </a:solidFill>
                <a:latin typeface="Courier New"/>
                <a:cs typeface="Courier New"/>
              </a:rPr>
              <a:t> </a:t>
            </a:r>
            <a:r>
              <a:rPr sz="999" spc="-10" dirty="0">
                <a:solidFill>
                  <a:srgbClr val="D3D3D3"/>
                </a:solidFill>
                <a:latin typeface="Courier New"/>
                <a:cs typeface="Courier New"/>
              </a:rPr>
              <a:t>('shipped');</a:t>
            </a:r>
            <a:endParaRPr sz="999">
              <a:latin typeface="Courier New"/>
              <a:cs typeface="Courier New"/>
            </a:endParaRPr>
          </a:p>
          <a:p>
            <a:pPr marL="12685">
              <a:spcBef>
                <a:spcPts val="120"/>
              </a:spcBef>
            </a:pPr>
            <a:r>
              <a:rPr sz="999" spc="-10" dirty="0">
                <a:solidFill>
                  <a:srgbClr val="699954"/>
                </a:solidFill>
                <a:latin typeface="Courier New"/>
                <a:cs typeface="Courier New"/>
              </a:rPr>
              <a:t>-</a:t>
            </a:r>
            <a:r>
              <a:rPr sz="999" dirty="0">
                <a:solidFill>
                  <a:srgbClr val="699954"/>
                </a:solidFill>
                <a:latin typeface="Courier New"/>
                <a:cs typeface="Courier New"/>
              </a:rPr>
              <a:t>-</a:t>
            </a:r>
            <a:r>
              <a:rPr sz="999" spc="-40" dirty="0">
                <a:solidFill>
                  <a:srgbClr val="699954"/>
                </a:solidFill>
                <a:latin typeface="Courier New"/>
                <a:cs typeface="Courier New"/>
              </a:rPr>
              <a:t> </a:t>
            </a:r>
            <a:r>
              <a:rPr sz="999" dirty="0">
                <a:solidFill>
                  <a:srgbClr val="699954"/>
                </a:solidFill>
                <a:latin typeface="Courier New"/>
                <a:cs typeface="Courier New"/>
              </a:rPr>
              <a:t>ERROR:</a:t>
            </a:r>
            <a:r>
              <a:rPr sz="999" spc="-25" dirty="0">
                <a:solidFill>
                  <a:srgbClr val="699954"/>
                </a:solidFill>
                <a:latin typeface="Courier New"/>
                <a:cs typeface="Courier New"/>
              </a:rPr>
              <a:t> </a:t>
            </a:r>
            <a:r>
              <a:rPr sz="999" dirty="0">
                <a:solidFill>
                  <a:srgbClr val="699954"/>
                </a:solidFill>
                <a:latin typeface="Courier New"/>
                <a:cs typeface="Courier New"/>
              </a:rPr>
              <a:t>null</a:t>
            </a:r>
            <a:r>
              <a:rPr sz="999" spc="-25" dirty="0">
                <a:solidFill>
                  <a:srgbClr val="699954"/>
                </a:solidFill>
                <a:latin typeface="Courier New"/>
                <a:cs typeface="Courier New"/>
              </a:rPr>
              <a:t> </a:t>
            </a:r>
            <a:r>
              <a:rPr sz="999" dirty="0">
                <a:solidFill>
                  <a:srgbClr val="699954"/>
                </a:solidFill>
                <a:latin typeface="Courier New"/>
                <a:cs typeface="Courier New"/>
              </a:rPr>
              <a:t>value</a:t>
            </a:r>
            <a:r>
              <a:rPr sz="999" spc="-25" dirty="0">
                <a:solidFill>
                  <a:srgbClr val="699954"/>
                </a:solidFill>
                <a:latin typeface="Courier New"/>
                <a:cs typeface="Courier New"/>
              </a:rPr>
              <a:t> </a:t>
            </a:r>
            <a:r>
              <a:rPr sz="999" dirty="0">
                <a:solidFill>
                  <a:srgbClr val="699954"/>
                </a:solidFill>
                <a:latin typeface="Courier New"/>
                <a:cs typeface="Courier New"/>
              </a:rPr>
              <a:t>in</a:t>
            </a:r>
            <a:r>
              <a:rPr sz="999" spc="-25" dirty="0">
                <a:solidFill>
                  <a:srgbClr val="699954"/>
                </a:solidFill>
                <a:latin typeface="Courier New"/>
                <a:cs typeface="Courier New"/>
              </a:rPr>
              <a:t> </a:t>
            </a:r>
            <a:r>
              <a:rPr sz="999" dirty="0">
                <a:solidFill>
                  <a:srgbClr val="699954"/>
                </a:solidFill>
                <a:latin typeface="Courier New"/>
                <a:cs typeface="Courier New"/>
              </a:rPr>
              <a:t>column</a:t>
            </a:r>
            <a:r>
              <a:rPr sz="999" spc="-25" dirty="0">
                <a:solidFill>
                  <a:srgbClr val="699954"/>
                </a:solidFill>
                <a:latin typeface="Courier New"/>
                <a:cs typeface="Courier New"/>
              </a:rPr>
              <a:t> </a:t>
            </a:r>
            <a:r>
              <a:rPr sz="999" dirty="0">
                <a:solidFill>
                  <a:srgbClr val="699954"/>
                </a:solidFill>
                <a:latin typeface="Courier New"/>
                <a:cs typeface="Courier New"/>
              </a:rPr>
              <a:t>"customer_name"</a:t>
            </a:r>
            <a:r>
              <a:rPr sz="999" spc="-25" dirty="0">
                <a:solidFill>
                  <a:srgbClr val="699954"/>
                </a:solidFill>
                <a:latin typeface="Courier New"/>
                <a:cs typeface="Courier New"/>
              </a:rPr>
              <a:t> </a:t>
            </a:r>
            <a:r>
              <a:rPr sz="999" dirty="0">
                <a:solidFill>
                  <a:srgbClr val="699954"/>
                </a:solidFill>
                <a:latin typeface="Courier New"/>
                <a:cs typeface="Courier New"/>
              </a:rPr>
              <a:t>violates</a:t>
            </a:r>
            <a:r>
              <a:rPr sz="999" spc="-25" dirty="0">
                <a:solidFill>
                  <a:srgbClr val="699954"/>
                </a:solidFill>
                <a:latin typeface="Courier New"/>
                <a:cs typeface="Courier New"/>
              </a:rPr>
              <a:t> </a:t>
            </a:r>
            <a:r>
              <a:rPr sz="999" spc="-10" dirty="0">
                <a:solidFill>
                  <a:srgbClr val="699954"/>
                </a:solidFill>
                <a:latin typeface="Courier New"/>
                <a:cs typeface="Courier New"/>
              </a:rPr>
              <a:t>not-</a:t>
            </a:r>
            <a:r>
              <a:rPr sz="999" dirty="0">
                <a:solidFill>
                  <a:srgbClr val="699954"/>
                </a:solidFill>
                <a:latin typeface="Courier New"/>
                <a:cs typeface="Courier New"/>
              </a:rPr>
              <a:t>null</a:t>
            </a:r>
            <a:r>
              <a:rPr sz="999" spc="-25" dirty="0">
                <a:solidFill>
                  <a:srgbClr val="699954"/>
                </a:solidFill>
                <a:latin typeface="Courier New"/>
                <a:cs typeface="Courier New"/>
              </a:rPr>
              <a:t> </a:t>
            </a:r>
            <a:r>
              <a:rPr sz="999" spc="-10" dirty="0">
                <a:solidFill>
                  <a:srgbClr val="699954"/>
                </a:solidFill>
                <a:latin typeface="Courier New"/>
                <a:cs typeface="Courier New"/>
              </a:rPr>
              <a:t>constraint</a:t>
            </a:r>
            <a:endParaRPr sz="999">
              <a:latin typeface="Courier New"/>
              <a:cs typeface="Courier New"/>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638" y="-353"/>
            <a:ext cx="8766782" cy="5137158"/>
          </a:xfrm>
          <a:custGeom>
            <a:avLst/>
            <a:gdLst/>
            <a:ahLst/>
            <a:cxnLst/>
            <a:rect l="l" t="t" r="r" b="b"/>
            <a:pathLst>
              <a:path w="8777605" h="5143500">
                <a:moveTo>
                  <a:pt x="109435" y="0"/>
                </a:moveTo>
                <a:lnTo>
                  <a:pt x="0" y="0"/>
                </a:lnTo>
                <a:lnTo>
                  <a:pt x="0" y="5143309"/>
                </a:lnTo>
                <a:lnTo>
                  <a:pt x="54724" y="5143309"/>
                </a:lnTo>
                <a:lnTo>
                  <a:pt x="109435" y="5143309"/>
                </a:lnTo>
                <a:lnTo>
                  <a:pt x="109435" y="0"/>
                </a:lnTo>
                <a:close/>
              </a:path>
              <a:path w="8777605" h="5143500">
                <a:moveTo>
                  <a:pt x="8777516" y="183235"/>
                </a:moveTo>
                <a:lnTo>
                  <a:pt x="7589164" y="183235"/>
                </a:lnTo>
                <a:lnTo>
                  <a:pt x="7589164" y="594360"/>
                </a:lnTo>
                <a:lnTo>
                  <a:pt x="8183524" y="594360"/>
                </a:lnTo>
                <a:lnTo>
                  <a:pt x="8777516" y="594360"/>
                </a:lnTo>
                <a:lnTo>
                  <a:pt x="8777516" y="183235"/>
                </a:lnTo>
                <a:close/>
              </a:path>
            </a:pathLst>
          </a:custGeom>
          <a:solidFill>
            <a:srgbClr val="FF9800"/>
          </a:solidFill>
        </p:spPr>
        <p:txBody>
          <a:bodyPr wrap="square" lIns="0" tIns="0" rIns="0" bIns="0" rtlCol="0"/>
          <a:lstStyle/>
          <a:p>
            <a:endParaRPr sz="1798"/>
          </a:p>
        </p:txBody>
      </p:sp>
      <p:sp>
        <p:nvSpPr>
          <p:cNvPr id="3" name="object 3" descr="$PPTXTitle"/>
          <p:cNvSpPr txBox="1">
            <a:spLocks noGrp="1"/>
          </p:cNvSpPr>
          <p:nvPr>
            <p:ph type="title"/>
          </p:nvPr>
        </p:nvSpPr>
        <p:spPr>
          <a:xfrm>
            <a:off x="5637" y="1"/>
            <a:ext cx="0" cy="1347705"/>
          </a:xfrm>
          <a:prstGeom prst="rect">
            <a:avLst/>
          </a:prstGeom>
        </p:spPr>
        <p:txBody>
          <a:bodyPr vert="horz" wrap="square" lIns="0" tIns="57992" rIns="0" bIns="0" rtlCol="0">
            <a:spAutoFit/>
          </a:bodyPr>
          <a:lstStyle/>
          <a:p>
            <a:pPr marL="7392677">
              <a:spcBef>
                <a:spcPts val="100"/>
              </a:spcBef>
            </a:pPr>
            <a:r>
              <a:rPr sz="1398" spc="-10" dirty="0">
                <a:solidFill>
                  <a:srgbClr val="FFFFFF"/>
                </a:solidFill>
              </a:rPr>
              <a:t>MEDIUM</a:t>
            </a:r>
            <a:endParaRPr sz="1398"/>
          </a:p>
        </p:txBody>
      </p:sp>
      <p:sp>
        <p:nvSpPr>
          <p:cNvPr id="4" name="object 4"/>
          <p:cNvSpPr txBox="1"/>
          <p:nvPr/>
        </p:nvSpPr>
        <p:spPr>
          <a:xfrm>
            <a:off x="447788" y="716784"/>
            <a:ext cx="8083729" cy="2382753"/>
          </a:xfrm>
          <a:prstGeom prst="rect">
            <a:avLst/>
          </a:prstGeom>
        </p:spPr>
        <p:txBody>
          <a:bodyPr vert="horz" wrap="square" lIns="0" tIns="12684" rIns="0" bIns="0" rtlCol="0">
            <a:spAutoFit/>
          </a:bodyPr>
          <a:lstStyle/>
          <a:p>
            <a:pPr marL="12685" marR="57081">
              <a:lnSpc>
                <a:spcPct val="120100"/>
              </a:lnSpc>
              <a:spcBef>
                <a:spcPts val="100"/>
              </a:spcBef>
            </a:pPr>
            <a:r>
              <a:rPr sz="1298" b="1" spc="-10" dirty="0">
                <a:solidFill>
                  <a:srgbClr val="1D3A5E"/>
                </a:solidFill>
                <a:latin typeface="Calibri"/>
                <a:cs typeface="Calibri"/>
              </a:rPr>
              <a:t>SCENARIO:</a:t>
            </a:r>
            <a:r>
              <a:rPr sz="1298" b="1" spc="-35" dirty="0">
                <a:solidFill>
                  <a:srgbClr val="1D3A5E"/>
                </a:solidFill>
                <a:latin typeface="Calibri"/>
                <a:cs typeface="Calibri"/>
              </a:rPr>
              <a:t> </a:t>
            </a:r>
            <a:r>
              <a:rPr sz="1298" dirty="0">
                <a:solidFill>
                  <a:srgbClr val="202020"/>
                </a:solidFill>
                <a:latin typeface="Calibri"/>
                <a:cs typeface="Calibri"/>
              </a:rPr>
              <a:t>An</a:t>
            </a:r>
            <a:r>
              <a:rPr sz="1298" spc="-30" dirty="0">
                <a:solidFill>
                  <a:srgbClr val="202020"/>
                </a:solidFill>
                <a:latin typeface="Calibri"/>
                <a:cs typeface="Calibri"/>
              </a:rPr>
              <a:t> </a:t>
            </a:r>
            <a:r>
              <a:rPr sz="1298" spc="-25" dirty="0">
                <a:solidFill>
                  <a:srgbClr val="202020"/>
                </a:solidFill>
                <a:latin typeface="Calibri"/>
                <a:cs typeface="Calibri"/>
              </a:rPr>
              <a:t>order-</a:t>
            </a:r>
            <a:r>
              <a:rPr sz="1298" spc="-10" dirty="0">
                <a:solidFill>
                  <a:srgbClr val="202020"/>
                </a:solidFill>
                <a:latin typeface="Calibri"/>
                <a:cs typeface="Calibri"/>
              </a:rPr>
              <a:t>tracking</a:t>
            </a:r>
            <a:r>
              <a:rPr sz="1298" spc="-30" dirty="0">
                <a:solidFill>
                  <a:srgbClr val="202020"/>
                </a:solidFill>
                <a:latin typeface="Calibri"/>
                <a:cs typeface="Calibri"/>
              </a:rPr>
              <a:t> </a:t>
            </a:r>
            <a:r>
              <a:rPr sz="1298" spc="-10" dirty="0">
                <a:solidFill>
                  <a:srgbClr val="202020"/>
                </a:solidFill>
                <a:latin typeface="Calibri"/>
                <a:cs typeface="Calibri"/>
              </a:rPr>
              <a:t>system</a:t>
            </a:r>
            <a:r>
              <a:rPr sz="1298" spc="-30" dirty="0">
                <a:solidFill>
                  <a:srgbClr val="202020"/>
                </a:solidFill>
                <a:latin typeface="Calibri"/>
                <a:cs typeface="Calibri"/>
              </a:rPr>
              <a:t> </a:t>
            </a:r>
            <a:r>
              <a:rPr sz="1298" dirty="0">
                <a:solidFill>
                  <a:srgbClr val="202020"/>
                </a:solidFill>
                <a:latin typeface="Calibri"/>
                <a:cs typeface="Calibri"/>
              </a:rPr>
              <a:t>must</a:t>
            </a:r>
            <a:r>
              <a:rPr sz="1298" spc="-25" dirty="0">
                <a:solidFill>
                  <a:srgbClr val="202020"/>
                </a:solidFill>
                <a:latin typeface="Calibri"/>
                <a:cs typeface="Calibri"/>
              </a:rPr>
              <a:t> </a:t>
            </a:r>
            <a:r>
              <a:rPr sz="1298" dirty="0">
                <a:solidFill>
                  <a:srgbClr val="202020"/>
                </a:solidFill>
                <a:latin typeface="Calibri"/>
                <a:cs typeface="Calibri"/>
              </a:rPr>
              <a:t>only</a:t>
            </a:r>
            <a:r>
              <a:rPr sz="1298" spc="-30" dirty="0">
                <a:solidFill>
                  <a:srgbClr val="202020"/>
                </a:solidFill>
                <a:latin typeface="Calibri"/>
                <a:cs typeface="Calibri"/>
              </a:rPr>
              <a:t> </a:t>
            </a:r>
            <a:r>
              <a:rPr sz="1298" dirty="0">
                <a:solidFill>
                  <a:srgbClr val="202020"/>
                </a:solidFill>
                <a:latin typeface="Calibri"/>
                <a:cs typeface="Calibri"/>
              </a:rPr>
              <a:t>accept</a:t>
            </a:r>
            <a:r>
              <a:rPr sz="1298" spc="-30" dirty="0">
                <a:solidFill>
                  <a:srgbClr val="202020"/>
                </a:solidFill>
                <a:latin typeface="Calibri"/>
                <a:cs typeface="Calibri"/>
              </a:rPr>
              <a:t> </a:t>
            </a:r>
            <a:r>
              <a:rPr sz="1298" dirty="0">
                <a:solidFill>
                  <a:srgbClr val="202020"/>
                </a:solidFill>
                <a:latin typeface="Calibri"/>
                <a:cs typeface="Calibri"/>
              </a:rPr>
              <a:t>known</a:t>
            </a:r>
            <a:r>
              <a:rPr sz="1298" spc="-30" dirty="0">
                <a:solidFill>
                  <a:srgbClr val="202020"/>
                </a:solidFill>
                <a:latin typeface="Calibri"/>
                <a:cs typeface="Calibri"/>
              </a:rPr>
              <a:t> </a:t>
            </a:r>
            <a:r>
              <a:rPr sz="1298" spc="-10" dirty="0">
                <a:solidFill>
                  <a:srgbClr val="202020"/>
                </a:solidFill>
                <a:latin typeface="Calibri"/>
                <a:cs typeface="Calibri"/>
              </a:rPr>
              <a:t>statuses</a:t>
            </a:r>
            <a:r>
              <a:rPr sz="1298" spc="-30" dirty="0">
                <a:solidFill>
                  <a:srgbClr val="202020"/>
                </a:solidFill>
                <a:latin typeface="Calibri"/>
                <a:cs typeface="Calibri"/>
              </a:rPr>
              <a:t> </a:t>
            </a:r>
            <a:r>
              <a:rPr sz="1298" dirty="0">
                <a:solidFill>
                  <a:srgbClr val="202020"/>
                </a:solidFill>
                <a:latin typeface="Calibri"/>
                <a:cs typeface="Calibri"/>
              </a:rPr>
              <a:t>and</a:t>
            </a:r>
            <a:r>
              <a:rPr sz="1298" spc="-25" dirty="0">
                <a:solidFill>
                  <a:srgbClr val="202020"/>
                </a:solidFill>
                <a:latin typeface="Calibri"/>
                <a:cs typeface="Calibri"/>
              </a:rPr>
              <a:t> </a:t>
            </a:r>
            <a:r>
              <a:rPr sz="1298" spc="-10" dirty="0">
                <a:solidFill>
                  <a:srgbClr val="202020"/>
                </a:solidFill>
                <a:latin typeface="Calibri"/>
                <a:cs typeface="Calibri"/>
              </a:rPr>
              <a:t>ratings</a:t>
            </a:r>
            <a:r>
              <a:rPr sz="1298" spc="-30" dirty="0">
                <a:solidFill>
                  <a:srgbClr val="202020"/>
                </a:solidFill>
                <a:latin typeface="Calibri"/>
                <a:cs typeface="Calibri"/>
              </a:rPr>
              <a:t> </a:t>
            </a:r>
            <a:r>
              <a:rPr sz="1298" dirty="0">
                <a:solidFill>
                  <a:srgbClr val="202020"/>
                </a:solidFill>
                <a:latin typeface="Calibri"/>
                <a:cs typeface="Calibri"/>
              </a:rPr>
              <a:t>of</a:t>
            </a:r>
            <a:r>
              <a:rPr sz="1298" spc="-30" dirty="0">
                <a:solidFill>
                  <a:srgbClr val="202020"/>
                </a:solidFill>
                <a:latin typeface="Calibri"/>
                <a:cs typeface="Calibri"/>
              </a:rPr>
              <a:t> </a:t>
            </a:r>
            <a:r>
              <a:rPr sz="1298" spc="-20" dirty="0">
                <a:solidFill>
                  <a:srgbClr val="202020"/>
                </a:solidFill>
                <a:latin typeface="Calibri"/>
                <a:cs typeface="Calibri"/>
              </a:rPr>
              <a:t>1-</a:t>
            </a:r>
            <a:r>
              <a:rPr sz="1298" dirty="0">
                <a:solidFill>
                  <a:srgbClr val="202020"/>
                </a:solidFill>
                <a:latin typeface="Calibri"/>
                <a:cs typeface="Calibri"/>
              </a:rPr>
              <a:t>5,</a:t>
            </a:r>
            <a:r>
              <a:rPr sz="1298" spc="-30" dirty="0">
                <a:solidFill>
                  <a:srgbClr val="202020"/>
                </a:solidFill>
                <a:latin typeface="Calibri"/>
                <a:cs typeface="Calibri"/>
              </a:rPr>
              <a:t> </a:t>
            </a:r>
            <a:r>
              <a:rPr sz="1298" dirty="0">
                <a:solidFill>
                  <a:srgbClr val="202020"/>
                </a:solidFill>
                <a:latin typeface="Calibri"/>
                <a:cs typeface="Calibri"/>
              </a:rPr>
              <a:t>and</a:t>
            </a:r>
            <a:r>
              <a:rPr sz="1298" spc="-30" dirty="0">
                <a:solidFill>
                  <a:srgbClr val="202020"/>
                </a:solidFill>
                <a:latin typeface="Calibri"/>
                <a:cs typeface="Calibri"/>
              </a:rPr>
              <a:t> </a:t>
            </a:r>
            <a:r>
              <a:rPr sz="1298" dirty="0">
                <a:solidFill>
                  <a:srgbClr val="202020"/>
                </a:solidFill>
                <a:latin typeface="Calibri"/>
                <a:cs typeface="Calibri"/>
              </a:rPr>
              <a:t>never</a:t>
            </a:r>
            <a:r>
              <a:rPr sz="1298" spc="-30" dirty="0">
                <a:solidFill>
                  <a:srgbClr val="202020"/>
                </a:solidFill>
                <a:latin typeface="Calibri"/>
                <a:cs typeface="Calibri"/>
              </a:rPr>
              <a:t> </a:t>
            </a:r>
            <a:r>
              <a:rPr sz="1298" spc="-10" dirty="0">
                <a:solidFill>
                  <a:srgbClr val="202020"/>
                </a:solidFill>
                <a:latin typeface="Calibri"/>
                <a:cs typeface="Calibri"/>
              </a:rPr>
              <a:t>duplicate</a:t>
            </a:r>
            <a:r>
              <a:rPr sz="1298" spc="-25" dirty="0">
                <a:solidFill>
                  <a:srgbClr val="202020"/>
                </a:solidFill>
                <a:latin typeface="Calibri"/>
                <a:cs typeface="Calibri"/>
              </a:rPr>
              <a:t> </a:t>
            </a:r>
            <a:r>
              <a:rPr sz="1298" dirty="0">
                <a:solidFill>
                  <a:srgbClr val="202020"/>
                </a:solidFill>
                <a:latin typeface="Calibri"/>
                <a:cs typeface="Calibri"/>
              </a:rPr>
              <a:t>an</a:t>
            </a:r>
            <a:r>
              <a:rPr sz="1298" spc="-30" dirty="0">
                <a:solidFill>
                  <a:srgbClr val="202020"/>
                </a:solidFill>
                <a:latin typeface="Calibri"/>
                <a:cs typeface="Calibri"/>
              </a:rPr>
              <a:t> </a:t>
            </a:r>
            <a:r>
              <a:rPr sz="1298" spc="-10" dirty="0">
                <a:solidFill>
                  <a:srgbClr val="202020"/>
                </a:solidFill>
                <a:latin typeface="Calibri"/>
                <a:cs typeface="Calibri"/>
              </a:rPr>
              <a:t>order's tracking</a:t>
            </a:r>
            <a:r>
              <a:rPr sz="1298" spc="-15" dirty="0">
                <a:solidFill>
                  <a:srgbClr val="202020"/>
                </a:solidFill>
                <a:latin typeface="Calibri"/>
                <a:cs typeface="Calibri"/>
              </a:rPr>
              <a:t> </a:t>
            </a:r>
            <a:r>
              <a:rPr sz="1298" spc="-10" dirty="0">
                <a:solidFill>
                  <a:srgbClr val="202020"/>
                </a:solidFill>
                <a:latin typeface="Calibri"/>
                <a:cs typeface="Calibri"/>
              </a:rPr>
              <a:t>email.</a:t>
            </a:r>
            <a:endParaRPr sz="1298">
              <a:latin typeface="Calibri"/>
              <a:cs typeface="Calibri"/>
            </a:endParaRPr>
          </a:p>
          <a:p>
            <a:pPr marL="12685">
              <a:spcBef>
                <a:spcPts val="884"/>
              </a:spcBef>
            </a:pPr>
            <a:r>
              <a:rPr sz="1298" b="1" spc="-10" dirty="0">
                <a:solidFill>
                  <a:srgbClr val="1D3A5E"/>
                </a:solidFill>
                <a:latin typeface="Calibri"/>
                <a:cs typeface="Calibri"/>
              </a:rPr>
              <a:t>YOUR</a:t>
            </a:r>
            <a:r>
              <a:rPr sz="1298" b="1" spc="-50" dirty="0">
                <a:solidFill>
                  <a:srgbClr val="1D3A5E"/>
                </a:solidFill>
                <a:latin typeface="Calibri"/>
                <a:cs typeface="Calibri"/>
              </a:rPr>
              <a:t> </a:t>
            </a:r>
            <a:r>
              <a:rPr sz="1298" b="1" spc="-10" dirty="0">
                <a:solidFill>
                  <a:srgbClr val="1D3A5E"/>
                </a:solidFill>
                <a:latin typeface="Calibri"/>
                <a:cs typeface="Calibri"/>
              </a:rPr>
              <a:t>TASK:</a:t>
            </a:r>
            <a:endParaRPr sz="1298">
              <a:latin typeface="Calibri"/>
              <a:cs typeface="Calibri"/>
            </a:endParaRPr>
          </a:p>
          <a:p>
            <a:pPr marL="12685" marR="922816" indent="169342">
              <a:lnSpc>
                <a:spcPct val="120100"/>
              </a:lnSpc>
              <a:spcBef>
                <a:spcPts val="569"/>
              </a:spcBef>
              <a:buAutoNum type="alphaLcParenR"/>
              <a:tabLst>
                <a:tab pos="182026" algn="l"/>
              </a:tabLst>
            </a:pPr>
            <a:r>
              <a:rPr sz="1298" b="1" dirty="0">
                <a:solidFill>
                  <a:srgbClr val="1D3A5E"/>
                </a:solidFill>
                <a:latin typeface="Calibri"/>
                <a:cs typeface="Calibri"/>
              </a:rPr>
              <a:t>:</a:t>
            </a:r>
            <a:r>
              <a:rPr sz="1298" b="1" spc="-40" dirty="0">
                <a:solidFill>
                  <a:srgbClr val="1D3A5E"/>
                </a:solidFill>
                <a:latin typeface="Calibri"/>
                <a:cs typeface="Calibri"/>
              </a:rPr>
              <a:t> </a:t>
            </a:r>
            <a:r>
              <a:rPr sz="1298" spc="-10" dirty="0">
                <a:solidFill>
                  <a:srgbClr val="202020"/>
                </a:solidFill>
                <a:latin typeface="Calibri"/>
                <a:cs typeface="Calibri"/>
              </a:rPr>
              <a:t>Create</a:t>
            </a:r>
            <a:r>
              <a:rPr sz="1298" spc="-35" dirty="0">
                <a:solidFill>
                  <a:srgbClr val="202020"/>
                </a:solidFill>
                <a:latin typeface="Calibri"/>
                <a:cs typeface="Calibri"/>
              </a:rPr>
              <a:t> </a:t>
            </a:r>
            <a:r>
              <a:rPr sz="1298" spc="-10" dirty="0">
                <a:solidFill>
                  <a:srgbClr val="202020"/>
                </a:solidFill>
                <a:latin typeface="Calibri"/>
                <a:cs typeface="Calibri"/>
              </a:rPr>
              <a:t>day_4.order_tracking:</a:t>
            </a:r>
            <a:r>
              <a:rPr sz="1298" spc="-35" dirty="0">
                <a:solidFill>
                  <a:srgbClr val="202020"/>
                </a:solidFill>
                <a:latin typeface="Calibri"/>
                <a:cs typeface="Calibri"/>
              </a:rPr>
              <a:t> </a:t>
            </a:r>
            <a:r>
              <a:rPr sz="1298" spc="-10" dirty="0">
                <a:solidFill>
                  <a:srgbClr val="202020"/>
                </a:solidFill>
                <a:latin typeface="Calibri"/>
                <a:cs typeface="Calibri"/>
              </a:rPr>
              <a:t>tracking_id</a:t>
            </a:r>
            <a:r>
              <a:rPr sz="1298" spc="-35" dirty="0">
                <a:solidFill>
                  <a:srgbClr val="202020"/>
                </a:solidFill>
                <a:latin typeface="Calibri"/>
                <a:cs typeface="Calibri"/>
              </a:rPr>
              <a:t> </a:t>
            </a:r>
            <a:r>
              <a:rPr sz="1298" dirty="0">
                <a:solidFill>
                  <a:srgbClr val="202020"/>
                </a:solidFill>
                <a:latin typeface="Calibri"/>
                <a:cs typeface="Calibri"/>
              </a:rPr>
              <a:t>SERIAL</a:t>
            </a:r>
            <a:r>
              <a:rPr sz="1298" spc="-35" dirty="0">
                <a:solidFill>
                  <a:srgbClr val="202020"/>
                </a:solidFill>
                <a:latin typeface="Calibri"/>
                <a:cs typeface="Calibri"/>
              </a:rPr>
              <a:t> </a:t>
            </a:r>
            <a:r>
              <a:rPr sz="1298" dirty="0">
                <a:solidFill>
                  <a:srgbClr val="202020"/>
                </a:solidFill>
                <a:latin typeface="Calibri"/>
                <a:cs typeface="Calibri"/>
              </a:rPr>
              <a:t>PK,</a:t>
            </a:r>
            <a:r>
              <a:rPr sz="1298" spc="-40" dirty="0">
                <a:solidFill>
                  <a:srgbClr val="202020"/>
                </a:solidFill>
                <a:latin typeface="Calibri"/>
                <a:cs typeface="Calibri"/>
              </a:rPr>
              <a:t> </a:t>
            </a:r>
            <a:r>
              <a:rPr sz="1298" spc="-10" dirty="0">
                <a:solidFill>
                  <a:srgbClr val="202020"/>
                </a:solidFill>
                <a:latin typeface="Calibri"/>
                <a:cs typeface="Calibri"/>
              </a:rPr>
              <a:t>contact_email</a:t>
            </a:r>
            <a:r>
              <a:rPr sz="1298" spc="-35" dirty="0">
                <a:solidFill>
                  <a:srgbClr val="202020"/>
                </a:solidFill>
                <a:latin typeface="Calibri"/>
                <a:cs typeface="Calibri"/>
              </a:rPr>
              <a:t> </a:t>
            </a:r>
            <a:r>
              <a:rPr sz="1298" dirty="0">
                <a:solidFill>
                  <a:srgbClr val="202020"/>
                </a:solidFill>
                <a:latin typeface="Calibri"/>
                <a:cs typeface="Calibri"/>
              </a:rPr>
              <a:t>UNIQUE</a:t>
            </a:r>
            <a:r>
              <a:rPr sz="1298" spc="-35" dirty="0">
                <a:solidFill>
                  <a:srgbClr val="202020"/>
                </a:solidFill>
                <a:latin typeface="Calibri"/>
                <a:cs typeface="Calibri"/>
              </a:rPr>
              <a:t> </a:t>
            </a:r>
            <a:r>
              <a:rPr sz="1298" dirty="0">
                <a:solidFill>
                  <a:srgbClr val="202020"/>
                </a:solidFill>
                <a:latin typeface="Calibri"/>
                <a:cs typeface="Calibri"/>
              </a:rPr>
              <a:t>NOT</a:t>
            </a:r>
            <a:r>
              <a:rPr sz="1298" spc="-35" dirty="0">
                <a:solidFill>
                  <a:srgbClr val="202020"/>
                </a:solidFill>
                <a:latin typeface="Calibri"/>
                <a:cs typeface="Calibri"/>
              </a:rPr>
              <a:t> </a:t>
            </a:r>
            <a:r>
              <a:rPr sz="1298" dirty="0">
                <a:solidFill>
                  <a:srgbClr val="202020"/>
                </a:solidFill>
                <a:latin typeface="Calibri"/>
                <a:cs typeface="Calibri"/>
              </a:rPr>
              <a:t>NULL,</a:t>
            </a:r>
            <a:r>
              <a:rPr sz="1298" spc="-35" dirty="0">
                <a:solidFill>
                  <a:srgbClr val="202020"/>
                </a:solidFill>
                <a:latin typeface="Calibri"/>
                <a:cs typeface="Calibri"/>
              </a:rPr>
              <a:t> </a:t>
            </a:r>
            <a:r>
              <a:rPr sz="1298" spc="-10" dirty="0">
                <a:solidFill>
                  <a:srgbClr val="202020"/>
                </a:solidFill>
                <a:latin typeface="Calibri"/>
                <a:cs typeface="Calibri"/>
              </a:rPr>
              <a:t>status</a:t>
            </a:r>
            <a:r>
              <a:rPr sz="1298" spc="-40" dirty="0">
                <a:solidFill>
                  <a:srgbClr val="202020"/>
                </a:solidFill>
                <a:latin typeface="Calibri"/>
                <a:cs typeface="Calibri"/>
              </a:rPr>
              <a:t> </a:t>
            </a:r>
            <a:r>
              <a:rPr sz="1298" dirty="0">
                <a:solidFill>
                  <a:srgbClr val="202020"/>
                </a:solidFill>
                <a:latin typeface="Calibri"/>
                <a:cs typeface="Calibri"/>
              </a:rPr>
              <a:t>CHECK</a:t>
            </a:r>
            <a:r>
              <a:rPr sz="1298" spc="-35" dirty="0">
                <a:solidFill>
                  <a:srgbClr val="202020"/>
                </a:solidFill>
                <a:latin typeface="Calibri"/>
                <a:cs typeface="Calibri"/>
              </a:rPr>
              <a:t> </a:t>
            </a:r>
            <a:r>
              <a:rPr sz="1298" spc="-25" dirty="0">
                <a:solidFill>
                  <a:srgbClr val="202020"/>
                </a:solidFill>
                <a:latin typeface="Calibri"/>
                <a:cs typeface="Calibri"/>
              </a:rPr>
              <a:t>IN </a:t>
            </a:r>
            <a:r>
              <a:rPr sz="1298" spc="-10" dirty="0">
                <a:solidFill>
                  <a:srgbClr val="202020"/>
                </a:solidFill>
                <a:latin typeface="Calibri"/>
                <a:cs typeface="Calibri"/>
              </a:rPr>
              <a:t>('placed','shipped','delivered','cancelled'),</a:t>
            </a:r>
            <a:r>
              <a:rPr sz="1298" spc="-35" dirty="0">
                <a:solidFill>
                  <a:srgbClr val="202020"/>
                </a:solidFill>
                <a:latin typeface="Calibri"/>
                <a:cs typeface="Calibri"/>
              </a:rPr>
              <a:t> </a:t>
            </a:r>
            <a:r>
              <a:rPr sz="1298" spc="-10" dirty="0">
                <a:solidFill>
                  <a:srgbClr val="202020"/>
                </a:solidFill>
                <a:latin typeface="Calibri"/>
                <a:cs typeface="Calibri"/>
              </a:rPr>
              <a:t>rating</a:t>
            </a:r>
            <a:r>
              <a:rPr sz="1298" spc="-35" dirty="0">
                <a:solidFill>
                  <a:srgbClr val="202020"/>
                </a:solidFill>
                <a:latin typeface="Calibri"/>
                <a:cs typeface="Calibri"/>
              </a:rPr>
              <a:t> </a:t>
            </a:r>
            <a:r>
              <a:rPr sz="1298" dirty="0">
                <a:solidFill>
                  <a:srgbClr val="202020"/>
                </a:solidFill>
                <a:latin typeface="Calibri"/>
                <a:cs typeface="Calibri"/>
              </a:rPr>
              <a:t>CHECK</a:t>
            </a:r>
            <a:r>
              <a:rPr sz="1298" spc="-35" dirty="0">
                <a:solidFill>
                  <a:srgbClr val="202020"/>
                </a:solidFill>
                <a:latin typeface="Calibri"/>
                <a:cs typeface="Calibri"/>
              </a:rPr>
              <a:t> </a:t>
            </a:r>
            <a:r>
              <a:rPr sz="1298" dirty="0">
                <a:solidFill>
                  <a:srgbClr val="202020"/>
                </a:solidFill>
                <a:latin typeface="Calibri"/>
                <a:cs typeface="Calibri"/>
              </a:rPr>
              <a:t>BETWEEN</a:t>
            </a:r>
            <a:r>
              <a:rPr sz="1298" spc="-35" dirty="0">
                <a:solidFill>
                  <a:srgbClr val="202020"/>
                </a:solidFill>
                <a:latin typeface="Calibri"/>
                <a:cs typeface="Calibri"/>
              </a:rPr>
              <a:t> </a:t>
            </a:r>
            <a:r>
              <a:rPr sz="1298" dirty="0">
                <a:solidFill>
                  <a:srgbClr val="202020"/>
                </a:solidFill>
                <a:latin typeface="Calibri"/>
                <a:cs typeface="Calibri"/>
              </a:rPr>
              <a:t>1</a:t>
            </a:r>
            <a:r>
              <a:rPr sz="1298" spc="-35" dirty="0">
                <a:solidFill>
                  <a:srgbClr val="202020"/>
                </a:solidFill>
                <a:latin typeface="Calibri"/>
                <a:cs typeface="Calibri"/>
              </a:rPr>
              <a:t> </a:t>
            </a:r>
            <a:r>
              <a:rPr sz="1298" dirty="0">
                <a:solidFill>
                  <a:srgbClr val="202020"/>
                </a:solidFill>
                <a:latin typeface="Calibri"/>
                <a:cs typeface="Calibri"/>
              </a:rPr>
              <a:t>AND</a:t>
            </a:r>
            <a:r>
              <a:rPr sz="1298" spc="-35" dirty="0">
                <a:solidFill>
                  <a:srgbClr val="202020"/>
                </a:solidFill>
                <a:latin typeface="Calibri"/>
                <a:cs typeface="Calibri"/>
              </a:rPr>
              <a:t> </a:t>
            </a:r>
            <a:r>
              <a:rPr sz="1298" spc="-25" dirty="0">
                <a:solidFill>
                  <a:srgbClr val="202020"/>
                </a:solidFill>
                <a:latin typeface="Calibri"/>
                <a:cs typeface="Calibri"/>
              </a:rPr>
              <a:t>5.</a:t>
            </a:r>
            <a:endParaRPr sz="1298">
              <a:latin typeface="Calibri"/>
              <a:cs typeface="Calibri"/>
            </a:endParaRPr>
          </a:p>
          <a:p>
            <a:pPr marL="189003" indent="-176318">
              <a:spcBef>
                <a:spcPts val="315"/>
              </a:spcBef>
              <a:buAutoNum type="alphaLcParenR"/>
              <a:tabLst>
                <a:tab pos="189003" algn="l"/>
              </a:tabLst>
            </a:pPr>
            <a:r>
              <a:rPr sz="1298" b="1" dirty="0">
                <a:solidFill>
                  <a:srgbClr val="1D3A5E"/>
                </a:solidFill>
                <a:latin typeface="Calibri"/>
                <a:cs typeface="Calibri"/>
              </a:rPr>
              <a:t>:</a:t>
            </a:r>
            <a:r>
              <a:rPr sz="1298" b="1" spc="-45" dirty="0">
                <a:solidFill>
                  <a:srgbClr val="1D3A5E"/>
                </a:solidFill>
                <a:latin typeface="Calibri"/>
                <a:cs typeface="Calibri"/>
              </a:rPr>
              <a:t> </a:t>
            </a:r>
            <a:r>
              <a:rPr sz="1298" dirty="0">
                <a:solidFill>
                  <a:srgbClr val="202020"/>
                </a:solidFill>
                <a:latin typeface="Calibri"/>
                <a:cs typeface="Calibri"/>
              </a:rPr>
              <a:t>INSERT</a:t>
            </a:r>
            <a:r>
              <a:rPr sz="1298" spc="-40" dirty="0">
                <a:solidFill>
                  <a:srgbClr val="202020"/>
                </a:solidFill>
                <a:latin typeface="Calibri"/>
                <a:cs typeface="Calibri"/>
              </a:rPr>
              <a:t> </a:t>
            </a:r>
            <a:r>
              <a:rPr sz="1298" dirty="0">
                <a:solidFill>
                  <a:srgbClr val="202020"/>
                </a:solidFill>
                <a:latin typeface="Calibri"/>
                <a:cs typeface="Calibri"/>
              </a:rPr>
              <a:t>one</a:t>
            </a:r>
            <a:r>
              <a:rPr sz="1298" spc="-45" dirty="0">
                <a:solidFill>
                  <a:srgbClr val="202020"/>
                </a:solidFill>
                <a:latin typeface="Calibri"/>
                <a:cs typeface="Calibri"/>
              </a:rPr>
              <a:t> </a:t>
            </a:r>
            <a:r>
              <a:rPr sz="1298" dirty="0">
                <a:solidFill>
                  <a:srgbClr val="202020"/>
                </a:solidFill>
                <a:latin typeface="Calibri"/>
                <a:cs typeface="Calibri"/>
              </a:rPr>
              <a:t>valid</a:t>
            </a:r>
            <a:r>
              <a:rPr sz="1298" spc="-40" dirty="0">
                <a:solidFill>
                  <a:srgbClr val="202020"/>
                </a:solidFill>
                <a:latin typeface="Calibri"/>
                <a:cs typeface="Calibri"/>
              </a:rPr>
              <a:t> </a:t>
            </a:r>
            <a:r>
              <a:rPr sz="1298" spc="-20" dirty="0">
                <a:solidFill>
                  <a:srgbClr val="202020"/>
                </a:solidFill>
                <a:latin typeface="Calibri"/>
                <a:cs typeface="Calibri"/>
              </a:rPr>
              <a:t>row.</a:t>
            </a:r>
            <a:endParaRPr sz="1298">
              <a:latin typeface="Calibri"/>
              <a:cs typeface="Calibri"/>
            </a:endParaRPr>
          </a:p>
          <a:p>
            <a:pPr marL="169342" indent="-156657">
              <a:spcBef>
                <a:spcPts val="315"/>
              </a:spcBef>
              <a:buAutoNum type="alphaLcParenR"/>
              <a:tabLst>
                <a:tab pos="169342" algn="l"/>
              </a:tabLst>
            </a:pPr>
            <a:r>
              <a:rPr sz="1298" b="1" dirty="0">
                <a:solidFill>
                  <a:srgbClr val="1D3A5E"/>
                </a:solidFill>
                <a:latin typeface="Calibri"/>
                <a:cs typeface="Calibri"/>
              </a:rPr>
              <a:t>:</a:t>
            </a:r>
            <a:r>
              <a:rPr sz="1298" b="1" spc="-35" dirty="0">
                <a:solidFill>
                  <a:srgbClr val="1D3A5E"/>
                </a:solidFill>
                <a:latin typeface="Calibri"/>
                <a:cs typeface="Calibri"/>
              </a:rPr>
              <a:t> </a:t>
            </a:r>
            <a:r>
              <a:rPr sz="1298" dirty="0">
                <a:solidFill>
                  <a:srgbClr val="202020"/>
                </a:solidFill>
                <a:latin typeface="Calibri"/>
                <a:cs typeface="Calibri"/>
              </a:rPr>
              <a:t>Show</a:t>
            </a:r>
            <a:r>
              <a:rPr sz="1298" spc="-35" dirty="0">
                <a:solidFill>
                  <a:srgbClr val="202020"/>
                </a:solidFill>
                <a:latin typeface="Calibri"/>
                <a:cs typeface="Calibri"/>
              </a:rPr>
              <a:t> </a:t>
            </a:r>
            <a:r>
              <a:rPr sz="1298" dirty="0">
                <a:solidFill>
                  <a:srgbClr val="202020"/>
                </a:solidFill>
                <a:latin typeface="Calibri"/>
                <a:cs typeface="Calibri"/>
              </a:rPr>
              <a:t>three</a:t>
            </a:r>
            <a:r>
              <a:rPr sz="1298" spc="-30" dirty="0">
                <a:solidFill>
                  <a:srgbClr val="202020"/>
                </a:solidFill>
                <a:latin typeface="Calibri"/>
                <a:cs typeface="Calibri"/>
              </a:rPr>
              <a:t> </a:t>
            </a:r>
            <a:r>
              <a:rPr sz="1298" spc="-10" dirty="0">
                <a:solidFill>
                  <a:srgbClr val="202020"/>
                </a:solidFill>
                <a:latin typeface="Calibri"/>
                <a:cs typeface="Calibri"/>
              </a:rPr>
              <a:t>failing</a:t>
            </a:r>
            <a:r>
              <a:rPr sz="1298" spc="-35" dirty="0">
                <a:solidFill>
                  <a:srgbClr val="202020"/>
                </a:solidFill>
                <a:latin typeface="Calibri"/>
                <a:cs typeface="Calibri"/>
              </a:rPr>
              <a:t> </a:t>
            </a:r>
            <a:r>
              <a:rPr sz="1298" spc="-20" dirty="0">
                <a:solidFill>
                  <a:srgbClr val="202020"/>
                </a:solidFill>
                <a:latin typeface="Calibri"/>
                <a:cs typeface="Calibri"/>
              </a:rPr>
              <a:t>INSERTs:</a:t>
            </a:r>
            <a:r>
              <a:rPr sz="1298" spc="-35" dirty="0">
                <a:solidFill>
                  <a:srgbClr val="202020"/>
                </a:solidFill>
                <a:latin typeface="Calibri"/>
                <a:cs typeface="Calibri"/>
              </a:rPr>
              <a:t> </a:t>
            </a:r>
            <a:r>
              <a:rPr sz="1298" dirty="0">
                <a:solidFill>
                  <a:srgbClr val="202020"/>
                </a:solidFill>
                <a:latin typeface="Calibri"/>
                <a:cs typeface="Calibri"/>
              </a:rPr>
              <a:t>a</a:t>
            </a:r>
            <a:r>
              <a:rPr sz="1298" spc="-30" dirty="0">
                <a:solidFill>
                  <a:srgbClr val="202020"/>
                </a:solidFill>
                <a:latin typeface="Calibri"/>
                <a:cs typeface="Calibri"/>
              </a:rPr>
              <a:t> </a:t>
            </a:r>
            <a:r>
              <a:rPr sz="1298" spc="-10" dirty="0">
                <a:solidFill>
                  <a:srgbClr val="202020"/>
                </a:solidFill>
                <a:latin typeface="Calibri"/>
                <a:cs typeface="Calibri"/>
              </a:rPr>
              <a:t>duplicate</a:t>
            </a:r>
            <a:r>
              <a:rPr sz="1298" spc="-35" dirty="0">
                <a:solidFill>
                  <a:srgbClr val="202020"/>
                </a:solidFill>
                <a:latin typeface="Calibri"/>
                <a:cs typeface="Calibri"/>
              </a:rPr>
              <a:t> </a:t>
            </a:r>
            <a:r>
              <a:rPr sz="1298" dirty="0">
                <a:solidFill>
                  <a:srgbClr val="202020"/>
                </a:solidFill>
                <a:latin typeface="Calibri"/>
                <a:cs typeface="Calibri"/>
              </a:rPr>
              <a:t>email,</a:t>
            </a:r>
            <a:r>
              <a:rPr sz="1298" spc="-30" dirty="0">
                <a:solidFill>
                  <a:srgbClr val="202020"/>
                </a:solidFill>
                <a:latin typeface="Calibri"/>
                <a:cs typeface="Calibri"/>
              </a:rPr>
              <a:t> </a:t>
            </a:r>
            <a:r>
              <a:rPr sz="1298" spc="-10" dirty="0">
                <a:solidFill>
                  <a:srgbClr val="202020"/>
                </a:solidFill>
                <a:latin typeface="Calibri"/>
                <a:cs typeface="Calibri"/>
              </a:rPr>
              <a:t>status</a:t>
            </a:r>
            <a:r>
              <a:rPr sz="1298" spc="-35" dirty="0">
                <a:solidFill>
                  <a:srgbClr val="202020"/>
                </a:solidFill>
                <a:latin typeface="Calibri"/>
                <a:cs typeface="Calibri"/>
              </a:rPr>
              <a:t> </a:t>
            </a:r>
            <a:r>
              <a:rPr sz="1298" spc="-10" dirty="0">
                <a:solidFill>
                  <a:srgbClr val="202020"/>
                </a:solidFill>
                <a:latin typeface="Calibri"/>
                <a:cs typeface="Calibri"/>
              </a:rPr>
              <a:t>'dispatched',</a:t>
            </a:r>
            <a:r>
              <a:rPr sz="1298" spc="-35" dirty="0">
                <a:solidFill>
                  <a:srgbClr val="202020"/>
                </a:solidFill>
                <a:latin typeface="Calibri"/>
                <a:cs typeface="Calibri"/>
              </a:rPr>
              <a:t> </a:t>
            </a:r>
            <a:r>
              <a:rPr sz="1298" dirty="0">
                <a:solidFill>
                  <a:srgbClr val="202020"/>
                </a:solidFill>
                <a:latin typeface="Calibri"/>
                <a:cs typeface="Calibri"/>
              </a:rPr>
              <a:t>and</a:t>
            </a:r>
            <a:r>
              <a:rPr sz="1298" spc="-30" dirty="0">
                <a:solidFill>
                  <a:srgbClr val="202020"/>
                </a:solidFill>
                <a:latin typeface="Calibri"/>
                <a:cs typeface="Calibri"/>
              </a:rPr>
              <a:t> </a:t>
            </a:r>
            <a:r>
              <a:rPr sz="1298" spc="-10" dirty="0">
                <a:solidFill>
                  <a:srgbClr val="202020"/>
                </a:solidFill>
                <a:latin typeface="Calibri"/>
                <a:cs typeface="Calibri"/>
              </a:rPr>
              <a:t>rating</a:t>
            </a:r>
            <a:r>
              <a:rPr sz="1298" spc="-35" dirty="0">
                <a:solidFill>
                  <a:srgbClr val="202020"/>
                </a:solidFill>
                <a:latin typeface="Calibri"/>
                <a:cs typeface="Calibri"/>
              </a:rPr>
              <a:t> </a:t>
            </a:r>
            <a:r>
              <a:rPr sz="1298" spc="-25" dirty="0">
                <a:solidFill>
                  <a:srgbClr val="202020"/>
                </a:solidFill>
                <a:latin typeface="Calibri"/>
                <a:cs typeface="Calibri"/>
              </a:rPr>
              <a:t>7.</a:t>
            </a:r>
            <a:endParaRPr sz="1298">
              <a:latin typeface="Calibri"/>
              <a:cs typeface="Calibri"/>
            </a:endParaRPr>
          </a:p>
          <a:p>
            <a:pPr marL="12685" marR="5074">
              <a:lnSpc>
                <a:spcPct val="120100"/>
              </a:lnSpc>
              <a:spcBef>
                <a:spcPts val="574"/>
              </a:spcBef>
            </a:pPr>
            <a:r>
              <a:rPr sz="1298" b="1" dirty="0">
                <a:solidFill>
                  <a:srgbClr val="1D3A5E"/>
                </a:solidFill>
                <a:latin typeface="Calibri"/>
                <a:cs typeface="Calibri"/>
              </a:rPr>
              <a:t>Hint:</a:t>
            </a:r>
            <a:r>
              <a:rPr sz="1298" b="1" spc="-35" dirty="0">
                <a:solidFill>
                  <a:srgbClr val="1D3A5E"/>
                </a:solidFill>
                <a:latin typeface="Calibri"/>
                <a:cs typeface="Calibri"/>
              </a:rPr>
              <a:t> </a:t>
            </a:r>
            <a:r>
              <a:rPr sz="1298" dirty="0">
                <a:solidFill>
                  <a:srgbClr val="202020"/>
                </a:solidFill>
                <a:latin typeface="Calibri"/>
                <a:cs typeface="Calibri"/>
              </a:rPr>
              <a:t>Each</a:t>
            </a:r>
            <a:r>
              <a:rPr sz="1298" spc="-35" dirty="0">
                <a:solidFill>
                  <a:srgbClr val="202020"/>
                </a:solidFill>
                <a:latin typeface="Calibri"/>
                <a:cs typeface="Calibri"/>
              </a:rPr>
              <a:t> </a:t>
            </a:r>
            <a:r>
              <a:rPr sz="1298" spc="-10" dirty="0">
                <a:solidFill>
                  <a:srgbClr val="202020"/>
                </a:solidFill>
                <a:latin typeface="Calibri"/>
                <a:cs typeface="Calibri"/>
              </a:rPr>
              <a:t>constraint</a:t>
            </a:r>
            <a:r>
              <a:rPr sz="1298" spc="-30" dirty="0">
                <a:solidFill>
                  <a:srgbClr val="202020"/>
                </a:solidFill>
                <a:latin typeface="Calibri"/>
                <a:cs typeface="Calibri"/>
              </a:rPr>
              <a:t> </a:t>
            </a:r>
            <a:r>
              <a:rPr sz="1298" dirty="0">
                <a:solidFill>
                  <a:srgbClr val="202020"/>
                </a:solidFill>
                <a:latin typeface="Calibri"/>
                <a:cs typeface="Calibri"/>
              </a:rPr>
              <a:t>is</a:t>
            </a:r>
            <a:r>
              <a:rPr sz="1298" spc="-35" dirty="0">
                <a:solidFill>
                  <a:srgbClr val="202020"/>
                </a:solidFill>
                <a:latin typeface="Calibri"/>
                <a:cs typeface="Calibri"/>
              </a:rPr>
              <a:t> </a:t>
            </a:r>
            <a:r>
              <a:rPr sz="1298" spc="-10" dirty="0">
                <a:solidFill>
                  <a:srgbClr val="202020"/>
                </a:solidFill>
                <a:latin typeface="Calibri"/>
                <a:cs typeface="Calibri"/>
              </a:rPr>
              <a:t>checked</a:t>
            </a:r>
            <a:r>
              <a:rPr sz="1298" spc="-30" dirty="0">
                <a:solidFill>
                  <a:srgbClr val="202020"/>
                </a:solidFill>
                <a:latin typeface="Calibri"/>
                <a:cs typeface="Calibri"/>
              </a:rPr>
              <a:t> </a:t>
            </a:r>
            <a:r>
              <a:rPr sz="1298" spc="-20" dirty="0">
                <a:solidFill>
                  <a:srgbClr val="202020"/>
                </a:solidFill>
                <a:latin typeface="Calibri"/>
                <a:cs typeface="Calibri"/>
              </a:rPr>
              <a:t>independently.</a:t>
            </a:r>
            <a:r>
              <a:rPr sz="1298" spc="-35" dirty="0">
                <a:solidFill>
                  <a:srgbClr val="202020"/>
                </a:solidFill>
                <a:latin typeface="Calibri"/>
                <a:cs typeface="Calibri"/>
              </a:rPr>
              <a:t> </a:t>
            </a:r>
            <a:r>
              <a:rPr sz="1298" dirty="0">
                <a:solidFill>
                  <a:srgbClr val="202020"/>
                </a:solidFill>
                <a:latin typeface="Calibri"/>
                <a:cs typeface="Calibri"/>
              </a:rPr>
              <a:t>CHECK</a:t>
            </a:r>
            <a:r>
              <a:rPr sz="1298" spc="-35" dirty="0">
                <a:solidFill>
                  <a:srgbClr val="202020"/>
                </a:solidFill>
                <a:latin typeface="Calibri"/>
                <a:cs typeface="Calibri"/>
              </a:rPr>
              <a:t> </a:t>
            </a:r>
            <a:r>
              <a:rPr sz="1298" spc="-10" dirty="0">
                <a:solidFill>
                  <a:srgbClr val="202020"/>
                </a:solidFill>
                <a:latin typeface="Calibri"/>
                <a:cs typeface="Calibri"/>
              </a:rPr>
              <a:t>(status</a:t>
            </a:r>
            <a:r>
              <a:rPr sz="1298" spc="-30" dirty="0">
                <a:solidFill>
                  <a:srgbClr val="202020"/>
                </a:solidFill>
                <a:latin typeface="Calibri"/>
                <a:cs typeface="Calibri"/>
              </a:rPr>
              <a:t> </a:t>
            </a:r>
            <a:r>
              <a:rPr sz="1298" dirty="0">
                <a:solidFill>
                  <a:srgbClr val="202020"/>
                </a:solidFill>
                <a:latin typeface="Calibri"/>
                <a:cs typeface="Calibri"/>
              </a:rPr>
              <a:t>IN</a:t>
            </a:r>
            <a:r>
              <a:rPr sz="1298" spc="-35" dirty="0">
                <a:solidFill>
                  <a:srgbClr val="202020"/>
                </a:solidFill>
                <a:latin typeface="Calibri"/>
                <a:cs typeface="Calibri"/>
              </a:rPr>
              <a:t> </a:t>
            </a:r>
            <a:r>
              <a:rPr sz="1298" dirty="0">
                <a:solidFill>
                  <a:srgbClr val="202020"/>
                </a:solidFill>
                <a:latin typeface="Calibri"/>
                <a:cs typeface="Calibri"/>
              </a:rPr>
              <a:t>(...))</a:t>
            </a:r>
            <a:r>
              <a:rPr sz="1298" spc="-30" dirty="0">
                <a:solidFill>
                  <a:srgbClr val="202020"/>
                </a:solidFill>
                <a:latin typeface="Calibri"/>
                <a:cs typeface="Calibri"/>
              </a:rPr>
              <a:t> </a:t>
            </a:r>
            <a:r>
              <a:rPr sz="1298" dirty="0">
                <a:solidFill>
                  <a:srgbClr val="202020"/>
                </a:solidFill>
                <a:latin typeface="Calibri"/>
                <a:cs typeface="Calibri"/>
              </a:rPr>
              <a:t>is</a:t>
            </a:r>
            <a:r>
              <a:rPr sz="1298" spc="-35" dirty="0">
                <a:solidFill>
                  <a:srgbClr val="202020"/>
                </a:solidFill>
                <a:latin typeface="Calibri"/>
                <a:cs typeface="Calibri"/>
              </a:rPr>
              <a:t> </a:t>
            </a:r>
            <a:r>
              <a:rPr sz="1298" dirty="0">
                <a:solidFill>
                  <a:srgbClr val="202020"/>
                </a:solidFill>
                <a:latin typeface="Calibri"/>
                <a:cs typeface="Calibri"/>
              </a:rPr>
              <a:t>a</a:t>
            </a:r>
            <a:r>
              <a:rPr sz="1298" spc="-30" dirty="0">
                <a:solidFill>
                  <a:srgbClr val="202020"/>
                </a:solidFill>
                <a:latin typeface="Calibri"/>
                <a:cs typeface="Calibri"/>
              </a:rPr>
              <a:t> </a:t>
            </a:r>
            <a:r>
              <a:rPr sz="1298" spc="-10" dirty="0">
                <a:solidFill>
                  <a:srgbClr val="202020"/>
                </a:solidFill>
                <a:latin typeface="Calibri"/>
                <a:cs typeface="Calibri"/>
              </a:rPr>
              <a:t>dropdown;</a:t>
            </a:r>
            <a:r>
              <a:rPr sz="1298" spc="-35" dirty="0">
                <a:solidFill>
                  <a:srgbClr val="202020"/>
                </a:solidFill>
                <a:latin typeface="Calibri"/>
                <a:cs typeface="Calibri"/>
              </a:rPr>
              <a:t> </a:t>
            </a:r>
            <a:r>
              <a:rPr sz="1298" dirty="0">
                <a:solidFill>
                  <a:srgbClr val="202020"/>
                </a:solidFill>
                <a:latin typeface="Calibri"/>
                <a:cs typeface="Calibri"/>
              </a:rPr>
              <a:t>CHECK</a:t>
            </a:r>
            <a:r>
              <a:rPr sz="1298" spc="-35" dirty="0">
                <a:solidFill>
                  <a:srgbClr val="202020"/>
                </a:solidFill>
                <a:latin typeface="Calibri"/>
                <a:cs typeface="Calibri"/>
              </a:rPr>
              <a:t> </a:t>
            </a:r>
            <a:r>
              <a:rPr sz="1298" spc="-10" dirty="0">
                <a:solidFill>
                  <a:srgbClr val="202020"/>
                </a:solidFill>
                <a:latin typeface="Calibri"/>
                <a:cs typeface="Calibri"/>
              </a:rPr>
              <a:t>(rating</a:t>
            </a:r>
            <a:r>
              <a:rPr sz="1298" spc="-30" dirty="0">
                <a:solidFill>
                  <a:srgbClr val="202020"/>
                </a:solidFill>
                <a:latin typeface="Calibri"/>
                <a:cs typeface="Calibri"/>
              </a:rPr>
              <a:t> </a:t>
            </a:r>
            <a:r>
              <a:rPr sz="1298" dirty="0">
                <a:solidFill>
                  <a:srgbClr val="202020"/>
                </a:solidFill>
                <a:latin typeface="Calibri"/>
                <a:cs typeface="Calibri"/>
              </a:rPr>
              <a:t>BETWEEN</a:t>
            </a:r>
            <a:r>
              <a:rPr sz="1298" spc="-35" dirty="0">
                <a:solidFill>
                  <a:srgbClr val="202020"/>
                </a:solidFill>
                <a:latin typeface="Calibri"/>
                <a:cs typeface="Calibri"/>
              </a:rPr>
              <a:t> </a:t>
            </a:r>
            <a:r>
              <a:rPr sz="1298" dirty="0">
                <a:solidFill>
                  <a:srgbClr val="202020"/>
                </a:solidFill>
                <a:latin typeface="Calibri"/>
                <a:cs typeface="Calibri"/>
              </a:rPr>
              <a:t>1</a:t>
            </a:r>
            <a:r>
              <a:rPr sz="1298" spc="-30" dirty="0">
                <a:solidFill>
                  <a:srgbClr val="202020"/>
                </a:solidFill>
                <a:latin typeface="Calibri"/>
                <a:cs typeface="Calibri"/>
              </a:rPr>
              <a:t> </a:t>
            </a:r>
            <a:r>
              <a:rPr sz="1298" dirty="0">
                <a:solidFill>
                  <a:srgbClr val="202020"/>
                </a:solidFill>
                <a:latin typeface="Calibri"/>
                <a:cs typeface="Calibri"/>
              </a:rPr>
              <a:t>AND</a:t>
            </a:r>
            <a:r>
              <a:rPr sz="1298" spc="-35" dirty="0">
                <a:solidFill>
                  <a:srgbClr val="202020"/>
                </a:solidFill>
                <a:latin typeface="Calibri"/>
                <a:cs typeface="Calibri"/>
              </a:rPr>
              <a:t> </a:t>
            </a:r>
            <a:r>
              <a:rPr sz="1298" dirty="0">
                <a:solidFill>
                  <a:srgbClr val="202020"/>
                </a:solidFill>
                <a:latin typeface="Calibri"/>
                <a:cs typeface="Calibri"/>
              </a:rPr>
              <a:t>5)</a:t>
            </a:r>
            <a:r>
              <a:rPr sz="1298" spc="-30" dirty="0">
                <a:solidFill>
                  <a:srgbClr val="202020"/>
                </a:solidFill>
                <a:latin typeface="Calibri"/>
                <a:cs typeface="Calibri"/>
              </a:rPr>
              <a:t> </a:t>
            </a:r>
            <a:r>
              <a:rPr sz="1298" spc="-25" dirty="0">
                <a:solidFill>
                  <a:srgbClr val="202020"/>
                </a:solidFill>
                <a:latin typeface="Calibri"/>
                <a:cs typeface="Calibri"/>
              </a:rPr>
              <a:t>is </a:t>
            </a:r>
            <a:r>
              <a:rPr sz="1298" dirty="0">
                <a:solidFill>
                  <a:srgbClr val="202020"/>
                </a:solidFill>
                <a:latin typeface="Calibri"/>
                <a:cs typeface="Calibri"/>
              </a:rPr>
              <a:t>a</a:t>
            </a:r>
            <a:r>
              <a:rPr sz="1298" spc="-15" dirty="0">
                <a:solidFill>
                  <a:srgbClr val="202020"/>
                </a:solidFill>
                <a:latin typeface="Calibri"/>
                <a:cs typeface="Calibri"/>
              </a:rPr>
              <a:t> </a:t>
            </a:r>
            <a:r>
              <a:rPr sz="1298" spc="-10" dirty="0">
                <a:solidFill>
                  <a:srgbClr val="202020"/>
                </a:solidFill>
                <a:latin typeface="Calibri"/>
                <a:cs typeface="Calibri"/>
              </a:rPr>
              <a:t>range.</a:t>
            </a:r>
            <a:endParaRPr sz="1298">
              <a:latin typeface="Calibri"/>
              <a:cs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638" y="3"/>
            <a:ext cx="9132725" cy="5137792"/>
          </a:xfrm>
          <a:custGeom>
            <a:avLst/>
            <a:gdLst/>
            <a:ahLst/>
            <a:cxnLst/>
            <a:rect l="l" t="t" r="r" b="b"/>
            <a:pathLst>
              <a:path w="9144000" h="5144135">
                <a:moveTo>
                  <a:pt x="9144000" y="0"/>
                </a:moveTo>
                <a:lnTo>
                  <a:pt x="0" y="0"/>
                </a:lnTo>
                <a:lnTo>
                  <a:pt x="0" y="5143677"/>
                </a:lnTo>
                <a:lnTo>
                  <a:pt x="9144000" y="5143677"/>
                </a:lnTo>
                <a:lnTo>
                  <a:pt x="9144000" y="0"/>
                </a:lnTo>
                <a:close/>
              </a:path>
            </a:pathLst>
          </a:custGeom>
          <a:solidFill>
            <a:srgbClr val="1D1D1D"/>
          </a:solidFill>
        </p:spPr>
        <p:txBody>
          <a:bodyPr wrap="square" lIns="0" tIns="0" rIns="0" bIns="0" rtlCol="0"/>
          <a:lstStyle/>
          <a:p>
            <a:endParaRPr sz="1798"/>
          </a:p>
        </p:txBody>
      </p:sp>
      <p:sp>
        <p:nvSpPr>
          <p:cNvPr id="3" name="object 3"/>
          <p:cNvSpPr/>
          <p:nvPr/>
        </p:nvSpPr>
        <p:spPr>
          <a:xfrm>
            <a:off x="5283" y="4839990"/>
            <a:ext cx="9132725" cy="296814"/>
          </a:xfrm>
          <a:custGeom>
            <a:avLst/>
            <a:gdLst/>
            <a:ahLst/>
            <a:cxnLst/>
            <a:rect l="l" t="t" r="r" b="b"/>
            <a:pathLst>
              <a:path w="9144000" h="297179">
                <a:moveTo>
                  <a:pt x="9143631" y="0"/>
                </a:moveTo>
                <a:lnTo>
                  <a:pt x="0" y="0"/>
                </a:lnTo>
                <a:lnTo>
                  <a:pt x="0" y="296989"/>
                </a:lnTo>
                <a:lnTo>
                  <a:pt x="4572000" y="296989"/>
                </a:lnTo>
                <a:lnTo>
                  <a:pt x="9143631" y="296989"/>
                </a:lnTo>
                <a:lnTo>
                  <a:pt x="9143631" y="0"/>
                </a:lnTo>
                <a:close/>
              </a:path>
            </a:pathLst>
          </a:custGeom>
          <a:solidFill>
            <a:srgbClr val="333333"/>
          </a:solidFill>
        </p:spPr>
        <p:txBody>
          <a:bodyPr wrap="square" lIns="0" tIns="0" rIns="0" bIns="0" rtlCol="0"/>
          <a:lstStyle/>
          <a:p>
            <a:endParaRPr sz="1798"/>
          </a:p>
        </p:txBody>
      </p:sp>
      <p:sp>
        <p:nvSpPr>
          <p:cNvPr id="4" name="object 4"/>
          <p:cNvSpPr/>
          <p:nvPr/>
        </p:nvSpPr>
        <p:spPr>
          <a:xfrm>
            <a:off x="5283" y="-353"/>
            <a:ext cx="9132725" cy="54543"/>
          </a:xfrm>
          <a:custGeom>
            <a:avLst/>
            <a:gdLst/>
            <a:ahLst/>
            <a:cxnLst/>
            <a:rect l="l" t="t" r="r" b="b"/>
            <a:pathLst>
              <a:path w="9144000" h="54610">
                <a:moveTo>
                  <a:pt x="9143631" y="0"/>
                </a:moveTo>
                <a:lnTo>
                  <a:pt x="0" y="0"/>
                </a:lnTo>
                <a:lnTo>
                  <a:pt x="0" y="54355"/>
                </a:lnTo>
                <a:lnTo>
                  <a:pt x="4572000" y="54355"/>
                </a:lnTo>
                <a:lnTo>
                  <a:pt x="9143631" y="54355"/>
                </a:lnTo>
                <a:lnTo>
                  <a:pt x="9143631" y="0"/>
                </a:lnTo>
                <a:close/>
              </a:path>
            </a:pathLst>
          </a:custGeom>
          <a:solidFill>
            <a:srgbClr val="FF9800"/>
          </a:solidFill>
        </p:spPr>
        <p:txBody>
          <a:bodyPr wrap="square" lIns="0" tIns="0" rIns="0" bIns="0" rtlCol="0"/>
          <a:lstStyle/>
          <a:p>
            <a:endParaRPr sz="1798"/>
          </a:p>
        </p:txBody>
      </p:sp>
      <p:sp>
        <p:nvSpPr>
          <p:cNvPr id="5" name="object 5"/>
          <p:cNvSpPr/>
          <p:nvPr/>
        </p:nvSpPr>
        <p:spPr>
          <a:xfrm>
            <a:off x="7311462" y="136637"/>
            <a:ext cx="1461236" cy="365309"/>
          </a:xfrm>
          <a:custGeom>
            <a:avLst/>
            <a:gdLst/>
            <a:ahLst/>
            <a:cxnLst/>
            <a:rect l="l" t="t" r="r" b="b"/>
            <a:pathLst>
              <a:path w="1463040" h="365759">
                <a:moveTo>
                  <a:pt x="1462671" y="0"/>
                </a:moveTo>
                <a:lnTo>
                  <a:pt x="0" y="0"/>
                </a:lnTo>
                <a:lnTo>
                  <a:pt x="0" y="365391"/>
                </a:lnTo>
                <a:lnTo>
                  <a:pt x="731520" y="365391"/>
                </a:lnTo>
                <a:lnTo>
                  <a:pt x="1462671" y="365391"/>
                </a:lnTo>
                <a:lnTo>
                  <a:pt x="1462671" y="0"/>
                </a:lnTo>
                <a:close/>
              </a:path>
            </a:pathLst>
          </a:custGeom>
          <a:solidFill>
            <a:srgbClr val="FF9800"/>
          </a:solidFill>
        </p:spPr>
        <p:txBody>
          <a:bodyPr wrap="square" lIns="0" tIns="0" rIns="0" bIns="0" rtlCol="0"/>
          <a:lstStyle/>
          <a:p>
            <a:endParaRPr sz="1798"/>
          </a:p>
        </p:txBody>
      </p:sp>
      <p:sp>
        <p:nvSpPr>
          <p:cNvPr id="6" name="object 6"/>
          <p:cNvSpPr txBox="1"/>
          <p:nvPr/>
        </p:nvSpPr>
        <p:spPr>
          <a:xfrm>
            <a:off x="7685650" y="187953"/>
            <a:ext cx="712226" cy="223183"/>
          </a:xfrm>
          <a:prstGeom prst="rect">
            <a:avLst/>
          </a:prstGeom>
        </p:spPr>
        <p:txBody>
          <a:bodyPr vert="horz" wrap="square" lIns="0" tIns="15855" rIns="0" bIns="0" rtlCol="0">
            <a:spAutoFit/>
          </a:bodyPr>
          <a:lstStyle/>
          <a:p>
            <a:pPr marL="12685">
              <a:spcBef>
                <a:spcPts val="125"/>
              </a:spcBef>
            </a:pPr>
            <a:r>
              <a:rPr sz="1348" spc="-155" dirty="0">
                <a:solidFill>
                  <a:srgbClr val="FFFFFF"/>
                </a:solidFill>
                <a:latin typeface="Segoe UI Symbol"/>
                <a:cs typeface="Segoe UI Symbol"/>
              </a:rPr>
              <a:t>✅</a:t>
            </a:r>
            <a:r>
              <a:rPr sz="1348" spc="-225" dirty="0">
                <a:solidFill>
                  <a:srgbClr val="FFFFFF"/>
                </a:solidFill>
                <a:latin typeface="Segoe UI Symbol"/>
                <a:cs typeface="Segoe UI Symbol"/>
              </a:rPr>
              <a:t> </a:t>
            </a:r>
            <a:r>
              <a:rPr sz="1099" b="1" spc="-10" dirty="0">
                <a:solidFill>
                  <a:srgbClr val="FFFFFF"/>
                </a:solidFill>
                <a:latin typeface="Calibri"/>
                <a:cs typeface="Calibri"/>
              </a:rPr>
              <a:t>ANSWER</a:t>
            </a:r>
            <a:endParaRPr sz="1099">
              <a:latin typeface="Calibri"/>
              <a:cs typeface="Calibri"/>
            </a:endParaRPr>
          </a:p>
        </p:txBody>
      </p:sp>
      <p:sp>
        <p:nvSpPr>
          <p:cNvPr id="7" name="object 7" descr="$PPTXTitle"/>
          <p:cNvSpPr txBox="1">
            <a:spLocks noGrp="1"/>
          </p:cNvSpPr>
          <p:nvPr>
            <p:ph type="title"/>
          </p:nvPr>
        </p:nvSpPr>
        <p:spPr>
          <a:xfrm>
            <a:off x="357907" y="180766"/>
            <a:ext cx="818140" cy="257766"/>
          </a:xfrm>
          <a:prstGeom prst="rect">
            <a:avLst/>
          </a:prstGeom>
        </p:spPr>
        <p:txBody>
          <a:bodyPr vert="horz" wrap="square" lIns="0" tIns="12050" rIns="0" bIns="0" rtlCol="0">
            <a:spAutoFit/>
          </a:bodyPr>
          <a:lstStyle/>
          <a:p>
            <a:pPr marL="12685">
              <a:spcBef>
                <a:spcPts val="95"/>
              </a:spcBef>
            </a:pPr>
            <a:r>
              <a:rPr spc="-10" dirty="0">
                <a:latin typeface="Georgia"/>
                <a:cs typeface="Georgia"/>
              </a:rPr>
              <a:t>Answer</a:t>
            </a:r>
          </a:p>
        </p:txBody>
      </p:sp>
      <p:sp>
        <p:nvSpPr>
          <p:cNvPr id="8" name="object 8"/>
          <p:cNvSpPr txBox="1"/>
          <p:nvPr/>
        </p:nvSpPr>
        <p:spPr>
          <a:xfrm>
            <a:off x="356460" y="625393"/>
            <a:ext cx="7483761" cy="2874272"/>
          </a:xfrm>
          <a:prstGeom prst="rect">
            <a:avLst/>
          </a:prstGeom>
        </p:spPr>
        <p:txBody>
          <a:bodyPr vert="horz" wrap="square" lIns="0" tIns="12684" rIns="0" bIns="0" rtlCol="0">
            <a:spAutoFit/>
          </a:bodyPr>
          <a:lstStyle/>
          <a:p>
            <a:pPr marL="164268" marR="4038827" indent="-152217">
              <a:lnSpc>
                <a:spcPct val="110100"/>
              </a:lnSpc>
              <a:spcBef>
                <a:spcPts val="100"/>
              </a:spcBef>
              <a:tabLst>
                <a:tab pos="1229787" algn="l"/>
              </a:tabLst>
            </a:pPr>
            <a:r>
              <a:rPr sz="999" dirty="0">
                <a:solidFill>
                  <a:srgbClr val="D3D3D3"/>
                </a:solidFill>
                <a:latin typeface="Courier New"/>
                <a:cs typeface="Courier New"/>
              </a:rPr>
              <a:t>CREATE</a:t>
            </a:r>
            <a:r>
              <a:rPr sz="999" spc="-55" dirty="0">
                <a:solidFill>
                  <a:srgbClr val="D3D3D3"/>
                </a:solidFill>
                <a:latin typeface="Courier New"/>
                <a:cs typeface="Courier New"/>
              </a:rPr>
              <a:t> </a:t>
            </a:r>
            <a:r>
              <a:rPr sz="999" dirty="0">
                <a:solidFill>
                  <a:srgbClr val="D3D3D3"/>
                </a:solidFill>
                <a:latin typeface="Courier New"/>
                <a:cs typeface="Courier New"/>
              </a:rPr>
              <a:t>TABLE</a:t>
            </a:r>
            <a:r>
              <a:rPr sz="999" spc="-45" dirty="0">
                <a:solidFill>
                  <a:srgbClr val="D3D3D3"/>
                </a:solidFill>
                <a:latin typeface="Courier New"/>
                <a:cs typeface="Courier New"/>
              </a:rPr>
              <a:t> </a:t>
            </a:r>
            <a:r>
              <a:rPr sz="999" dirty="0">
                <a:solidFill>
                  <a:srgbClr val="D3D3D3"/>
                </a:solidFill>
                <a:latin typeface="Courier New"/>
                <a:cs typeface="Courier New"/>
              </a:rPr>
              <a:t>day_4.order_tracking</a:t>
            </a:r>
            <a:r>
              <a:rPr sz="999" spc="-50" dirty="0">
                <a:solidFill>
                  <a:srgbClr val="D3D3D3"/>
                </a:solidFill>
                <a:latin typeface="Courier New"/>
                <a:cs typeface="Courier New"/>
              </a:rPr>
              <a:t> ( </a:t>
            </a:r>
            <a:r>
              <a:rPr sz="999" spc="-10" dirty="0">
                <a:solidFill>
                  <a:srgbClr val="D3D3D3"/>
                </a:solidFill>
                <a:latin typeface="Courier New"/>
                <a:cs typeface="Courier New"/>
              </a:rPr>
              <a:t>tracking_id</a:t>
            </a:r>
            <a:r>
              <a:rPr sz="999" dirty="0">
                <a:solidFill>
                  <a:srgbClr val="D3D3D3"/>
                </a:solidFill>
                <a:latin typeface="Courier New"/>
                <a:cs typeface="Courier New"/>
              </a:rPr>
              <a:t>	SERIAL</a:t>
            </a:r>
            <a:r>
              <a:rPr sz="999" spc="-45" dirty="0">
                <a:solidFill>
                  <a:srgbClr val="D3D3D3"/>
                </a:solidFill>
                <a:latin typeface="Courier New"/>
                <a:cs typeface="Courier New"/>
              </a:rPr>
              <a:t> </a:t>
            </a:r>
            <a:r>
              <a:rPr sz="999" dirty="0">
                <a:solidFill>
                  <a:srgbClr val="D3D3D3"/>
                </a:solidFill>
                <a:latin typeface="Courier New"/>
                <a:cs typeface="Courier New"/>
              </a:rPr>
              <a:t>PRIMARY</a:t>
            </a:r>
            <a:r>
              <a:rPr sz="999" spc="-30" dirty="0">
                <a:solidFill>
                  <a:srgbClr val="D3D3D3"/>
                </a:solidFill>
                <a:latin typeface="Courier New"/>
                <a:cs typeface="Courier New"/>
              </a:rPr>
              <a:t> </a:t>
            </a:r>
            <a:r>
              <a:rPr sz="999" spc="-20" dirty="0">
                <a:solidFill>
                  <a:srgbClr val="D3D3D3"/>
                </a:solidFill>
                <a:latin typeface="Courier New"/>
                <a:cs typeface="Courier New"/>
              </a:rPr>
              <a:t>KEY, </a:t>
            </a:r>
            <a:r>
              <a:rPr sz="999" dirty="0">
                <a:solidFill>
                  <a:srgbClr val="D3D3D3"/>
                </a:solidFill>
                <a:latin typeface="Courier New"/>
                <a:cs typeface="Courier New"/>
              </a:rPr>
              <a:t>contact_email</a:t>
            </a:r>
            <a:r>
              <a:rPr sz="999" spc="-55" dirty="0">
                <a:solidFill>
                  <a:srgbClr val="D3D3D3"/>
                </a:solidFill>
                <a:latin typeface="Courier New"/>
                <a:cs typeface="Courier New"/>
              </a:rPr>
              <a:t> </a:t>
            </a:r>
            <a:r>
              <a:rPr sz="999" dirty="0">
                <a:solidFill>
                  <a:srgbClr val="D3D3D3"/>
                </a:solidFill>
                <a:latin typeface="Courier New"/>
                <a:cs typeface="Courier New"/>
              </a:rPr>
              <a:t>VARCHAR(150)</a:t>
            </a:r>
            <a:r>
              <a:rPr sz="999" spc="-40" dirty="0">
                <a:solidFill>
                  <a:srgbClr val="D3D3D3"/>
                </a:solidFill>
                <a:latin typeface="Courier New"/>
                <a:cs typeface="Courier New"/>
              </a:rPr>
              <a:t> </a:t>
            </a:r>
            <a:r>
              <a:rPr sz="999" dirty="0">
                <a:solidFill>
                  <a:srgbClr val="D3D3D3"/>
                </a:solidFill>
                <a:latin typeface="Courier New"/>
                <a:cs typeface="Courier New"/>
              </a:rPr>
              <a:t>UNIQUE</a:t>
            </a:r>
            <a:r>
              <a:rPr sz="999" spc="-45" dirty="0">
                <a:solidFill>
                  <a:srgbClr val="D3D3D3"/>
                </a:solidFill>
                <a:latin typeface="Courier New"/>
                <a:cs typeface="Courier New"/>
              </a:rPr>
              <a:t> </a:t>
            </a:r>
            <a:r>
              <a:rPr sz="999" dirty="0">
                <a:solidFill>
                  <a:srgbClr val="D3D3D3"/>
                </a:solidFill>
                <a:latin typeface="Courier New"/>
                <a:cs typeface="Courier New"/>
              </a:rPr>
              <a:t>NOT</a:t>
            </a:r>
            <a:r>
              <a:rPr sz="999" spc="-40" dirty="0">
                <a:solidFill>
                  <a:srgbClr val="D3D3D3"/>
                </a:solidFill>
                <a:latin typeface="Courier New"/>
                <a:cs typeface="Courier New"/>
              </a:rPr>
              <a:t> </a:t>
            </a:r>
            <a:r>
              <a:rPr sz="999" spc="-10" dirty="0">
                <a:solidFill>
                  <a:srgbClr val="D3D3D3"/>
                </a:solidFill>
                <a:latin typeface="Courier New"/>
                <a:cs typeface="Courier New"/>
              </a:rPr>
              <a:t>NULL, status</a:t>
            </a:r>
            <a:r>
              <a:rPr sz="999" dirty="0">
                <a:solidFill>
                  <a:srgbClr val="D3D3D3"/>
                </a:solidFill>
                <a:latin typeface="Courier New"/>
                <a:cs typeface="Courier New"/>
              </a:rPr>
              <a:t>	VARCHAR(20)</a:t>
            </a:r>
            <a:r>
              <a:rPr sz="999" spc="-45" dirty="0">
                <a:solidFill>
                  <a:srgbClr val="D3D3D3"/>
                </a:solidFill>
                <a:latin typeface="Courier New"/>
                <a:cs typeface="Courier New"/>
              </a:rPr>
              <a:t> </a:t>
            </a:r>
            <a:r>
              <a:rPr sz="999" dirty="0">
                <a:solidFill>
                  <a:srgbClr val="D3D3D3"/>
                </a:solidFill>
                <a:latin typeface="Courier New"/>
                <a:cs typeface="Courier New"/>
              </a:rPr>
              <a:t>NOT</a:t>
            </a:r>
            <a:r>
              <a:rPr sz="999" spc="-35" dirty="0">
                <a:solidFill>
                  <a:srgbClr val="D3D3D3"/>
                </a:solidFill>
                <a:latin typeface="Courier New"/>
                <a:cs typeface="Courier New"/>
              </a:rPr>
              <a:t> </a:t>
            </a:r>
            <a:r>
              <a:rPr sz="999" spc="-20" dirty="0">
                <a:solidFill>
                  <a:srgbClr val="D3D3D3"/>
                </a:solidFill>
                <a:latin typeface="Courier New"/>
                <a:cs typeface="Courier New"/>
              </a:rPr>
              <a:t>NULL</a:t>
            </a:r>
            <a:endParaRPr sz="999">
              <a:latin typeface="Courier New"/>
              <a:cs typeface="Courier New"/>
            </a:endParaRPr>
          </a:p>
          <a:p>
            <a:pPr marL="164268" marR="2212222" indent="303800">
              <a:lnSpc>
                <a:spcPct val="110100"/>
              </a:lnSpc>
              <a:tabLst>
                <a:tab pos="1229787" algn="l"/>
              </a:tabLst>
            </a:pPr>
            <a:r>
              <a:rPr sz="999" dirty="0">
                <a:solidFill>
                  <a:srgbClr val="D3D3D3"/>
                </a:solidFill>
                <a:latin typeface="Courier New"/>
                <a:cs typeface="Courier New"/>
              </a:rPr>
              <a:t>CHECK</a:t>
            </a:r>
            <a:r>
              <a:rPr sz="999" spc="-25" dirty="0">
                <a:solidFill>
                  <a:srgbClr val="D3D3D3"/>
                </a:solidFill>
                <a:latin typeface="Courier New"/>
                <a:cs typeface="Courier New"/>
              </a:rPr>
              <a:t> </a:t>
            </a:r>
            <a:r>
              <a:rPr sz="999" dirty="0">
                <a:solidFill>
                  <a:srgbClr val="D3D3D3"/>
                </a:solidFill>
                <a:latin typeface="Courier New"/>
                <a:cs typeface="Courier New"/>
              </a:rPr>
              <a:t>(status</a:t>
            </a:r>
            <a:r>
              <a:rPr sz="999" spc="-25" dirty="0">
                <a:solidFill>
                  <a:srgbClr val="D3D3D3"/>
                </a:solidFill>
                <a:latin typeface="Courier New"/>
                <a:cs typeface="Courier New"/>
              </a:rPr>
              <a:t> </a:t>
            </a:r>
            <a:r>
              <a:rPr sz="999" dirty="0">
                <a:solidFill>
                  <a:srgbClr val="D3D3D3"/>
                </a:solidFill>
                <a:latin typeface="Courier New"/>
                <a:cs typeface="Courier New"/>
              </a:rPr>
              <a:t>IN</a:t>
            </a:r>
            <a:r>
              <a:rPr sz="999" spc="-20" dirty="0">
                <a:solidFill>
                  <a:srgbClr val="D3D3D3"/>
                </a:solidFill>
                <a:latin typeface="Courier New"/>
                <a:cs typeface="Courier New"/>
              </a:rPr>
              <a:t> </a:t>
            </a:r>
            <a:r>
              <a:rPr sz="999" spc="-10" dirty="0">
                <a:solidFill>
                  <a:srgbClr val="D3D3D3"/>
                </a:solidFill>
                <a:latin typeface="Courier New"/>
                <a:cs typeface="Courier New"/>
              </a:rPr>
              <a:t>('placed','shipped','delivered','cancelled')), rating</a:t>
            </a:r>
            <a:r>
              <a:rPr sz="999" dirty="0">
                <a:solidFill>
                  <a:srgbClr val="D3D3D3"/>
                </a:solidFill>
                <a:latin typeface="Courier New"/>
                <a:cs typeface="Courier New"/>
              </a:rPr>
              <a:t>	INT</a:t>
            </a:r>
            <a:r>
              <a:rPr sz="999" spc="-35" dirty="0">
                <a:solidFill>
                  <a:srgbClr val="D3D3D3"/>
                </a:solidFill>
                <a:latin typeface="Courier New"/>
                <a:cs typeface="Courier New"/>
              </a:rPr>
              <a:t> </a:t>
            </a:r>
            <a:r>
              <a:rPr sz="999" dirty="0">
                <a:solidFill>
                  <a:srgbClr val="D3D3D3"/>
                </a:solidFill>
                <a:latin typeface="Courier New"/>
                <a:cs typeface="Courier New"/>
              </a:rPr>
              <a:t>CHECK</a:t>
            </a:r>
            <a:r>
              <a:rPr sz="999" spc="-15" dirty="0">
                <a:solidFill>
                  <a:srgbClr val="D3D3D3"/>
                </a:solidFill>
                <a:latin typeface="Courier New"/>
                <a:cs typeface="Courier New"/>
              </a:rPr>
              <a:t> </a:t>
            </a:r>
            <a:r>
              <a:rPr sz="999" dirty="0">
                <a:solidFill>
                  <a:srgbClr val="D3D3D3"/>
                </a:solidFill>
                <a:latin typeface="Courier New"/>
                <a:cs typeface="Courier New"/>
              </a:rPr>
              <a:t>(rating</a:t>
            </a:r>
            <a:r>
              <a:rPr sz="999" spc="-25" dirty="0">
                <a:solidFill>
                  <a:srgbClr val="D3D3D3"/>
                </a:solidFill>
                <a:latin typeface="Courier New"/>
                <a:cs typeface="Courier New"/>
              </a:rPr>
              <a:t> </a:t>
            </a:r>
            <a:r>
              <a:rPr sz="999" dirty="0">
                <a:solidFill>
                  <a:srgbClr val="D3D3D3"/>
                </a:solidFill>
                <a:latin typeface="Courier New"/>
                <a:cs typeface="Courier New"/>
              </a:rPr>
              <a:t>BETWEEN</a:t>
            </a:r>
            <a:r>
              <a:rPr sz="999" spc="-20" dirty="0">
                <a:solidFill>
                  <a:srgbClr val="D3D3D3"/>
                </a:solidFill>
                <a:latin typeface="Courier New"/>
                <a:cs typeface="Courier New"/>
              </a:rPr>
              <a:t> </a:t>
            </a:r>
            <a:r>
              <a:rPr sz="999" dirty="0">
                <a:solidFill>
                  <a:srgbClr val="D3D3D3"/>
                </a:solidFill>
                <a:latin typeface="Courier New"/>
                <a:cs typeface="Courier New"/>
              </a:rPr>
              <a:t>1</a:t>
            </a:r>
            <a:r>
              <a:rPr sz="999" spc="-20" dirty="0">
                <a:solidFill>
                  <a:srgbClr val="D3D3D3"/>
                </a:solidFill>
                <a:latin typeface="Courier New"/>
                <a:cs typeface="Courier New"/>
              </a:rPr>
              <a:t> </a:t>
            </a:r>
            <a:r>
              <a:rPr sz="999" dirty="0">
                <a:solidFill>
                  <a:srgbClr val="D3D3D3"/>
                </a:solidFill>
                <a:latin typeface="Courier New"/>
                <a:cs typeface="Courier New"/>
              </a:rPr>
              <a:t>AND</a:t>
            </a:r>
            <a:r>
              <a:rPr sz="999" spc="-20" dirty="0">
                <a:solidFill>
                  <a:srgbClr val="D3D3D3"/>
                </a:solidFill>
                <a:latin typeface="Courier New"/>
                <a:cs typeface="Courier New"/>
              </a:rPr>
              <a:t> </a:t>
            </a:r>
            <a:r>
              <a:rPr sz="999" spc="-25" dirty="0">
                <a:solidFill>
                  <a:srgbClr val="D3D3D3"/>
                </a:solidFill>
                <a:latin typeface="Courier New"/>
                <a:cs typeface="Courier New"/>
              </a:rPr>
              <a:t>5)</a:t>
            </a:r>
            <a:endParaRPr sz="999">
              <a:latin typeface="Courier New"/>
              <a:cs typeface="Courier New"/>
            </a:endParaRPr>
          </a:p>
          <a:p>
            <a:pPr marL="12685">
              <a:spcBef>
                <a:spcPts val="120"/>
              </a:spcBef>
            </a:pPr>
            <a:r>
              <a:rPr sz="999" spc="-25" dirty="0">
                <a:solidFill>
                  <a:srgbClr val="D3D3D3"/>
                </a:solidFill>
                <a:latin typeface="Courier New"/>
                <a:cs typeface="Courier New"/>
              </a:rPr>
              <a:t>);</a:t>
            </a:r>
            <a:endParaRPr sz="999">
              <a:latin typeface="Courier New"/>
              <a:cs typeface="Courier New"/>
            </a:endParaRPr>
          </a:p>
          <a:p>
            <a:pPr>
              <a:spcBef>
                <a:spcPts val="185"/>
              </a:spcBef>
            </a:pPr>
            <a:endParaRPr sz="999">
              <a:latin typeface="Courier New"/>
              <a:cs typeface="Courier New"/>
            </a:endParaRPr>
          </a:p>
          <a:p>
            <a:pPr marL="12685" marR="2592131">
              <a:lnSpc>
                <a:spcPct val="110100"/>
              </a:lnSpc>
              <a:tabLst>
                <a:tab pos="2980284" algn="l"/>
              </a:tabLst>
            </a:pPr>
            <a:r>
              <a:rPr sz="999" dirty="0">
                <a:solidFill>
                  <a:srgbClr val="D3D3D3"/>
                </a:solidFill>
                <a:latin typeface="Courier New"/>
                <a:cs typeface="Courier New"/>
              </a:rPr>
              <a:t>INSERT</a:t>
            </a:r>
            <a:r>
              <a:rPr sz="999" spc="-55" dirty="0">
                <a:solidFill>
                  <a:srgbClr val="D3D3D3"/>
                </a:solidFill>
                <a:latin typeface="Courier New"/>
                <a:cs typeface="Courier New"/>
              </a:rPr>
              <a:t> </a:t>
            </a:r>
            <a:r>
              <a:rPr sz="999" dirty="0">
                <a:solidFill>
                  <a:srgbClr val="D3D3D3"/>
                </a:solidFill>
                <a:latin typeface="Courier New"/>
                <a:cs typeface="Courier New"/>
              </a:rPr>
              <a:t>INTO</a:t>
            </a:r>
            <a:r>
              <a:rPr sz="999" spc="-50" dirty="0">
                <a:solidFill>
                  <a:srgbClr val="D3D3D3"/>
                </a:solidFill>
                <a:latin typeface="Courier New"/>
                <a:cs typeface="Courier New"/>
              </a:rPr>
              <a:t> </a:t>
            </a:r>
            <a:r>
              <a:rPr sz="999" dirty="0">
                <a:solidFill>
                  <a:srgbClr val="D3D3D3"/>
                </a:solidFill>
                <a:latin typeface="Courier New"/>
                <a:cs typeface="Courier New"/>
              </a:rPr>
              <a:t>day_4.order_tracking</a:t>
            </a:r>
            <a:r>
              <a:rPr sz="999" spc="-55" dirty="0">
                <a:solidFill>
                  <a:srgbClr val="D3D3D3"/>
                </a:solidFill>
                <a:latin typeface="Courier New"/>
                <a:cs typeface="Courier New"/>
              </a:rPr>
              <a:t> </a:t>
            </a:r>
            <a:r>
              <a:rPr sz="999" dirty="0">
                <a:solidFill>
                  <a:srgbClr val="D3D3D3"/>
                </a:solidFill>
                <a:latin typeface="Courier New"/>
                <a:cs typeface="Courier New"/>
              </a:rPr>
              <a:t>(contact_email,</a:t>
            </a:r>
            <a:r>
              <a:rPr sz="999" spc="-50" dirty="0">
                <a:solidFill>
                  <a:srgbClr val="D3D3D3"/>
                </a:solidFill>
                <a:latin typeface="Courier New"/>
                <a:cs typeface="Courier New"/>
              </a:rPr>
              <a:t> </a:t>
            </a:r>
            <a:r>
              <a:rPr sz="999" dirty="0">
                <a:solidFill>
                  <a:srgbClr val="D3D3D3"/>
                </a:solidFill>
                <a:latin typeface="Courier New"/>
                <a:cs typeface="Courier New"/>
              </a:rPr>
              <a:t>status,</a:t>
            </a:r>
            <a:r>
              <a:rPr sz="999" spc="-50" dirty="0">
                <a:solidFill>
                  <a:srgbClr val="D3D3D3"/>
                </a:solidFill>
                <a:latin typeface="Courier New"/>
                <a:cs typeface="Courier New"/>
              </a:rPr>
              <a:t> </a:t>
            </a:r>
            <a:r>
              <a:rPr sz="999" spc="-10" dirty="0">
                <a:solidFill>
                  <a:srgbClr val="D3D3D3"/>
                </a:solidFill>
                <a:latin typeface="Courier New"/>
                <a:cs typeface="Courier New"/>
              </a:rPr>
              <a:t>rating) </a:t>
            </a:r>
            <a:r>
              <a:rPr sz="999" dirty="0">
                <a:solidFill>
                  <a:srgbClr val="D3D3D3"/>
                </a:solidFill>
                <a:latin typeface="Courier New"/>
                <a:cs typeface="Courier New"/>
              </a:rPr>
              <a:t>VALUES</a:t>
            </a:r>
            <a:r>
              <a:rPr sz="999" spc="-50" dirty="0">
                <a:solidFill>
                  <a:srgbClr val="D3D3D3"/>
                </a:solidFill>
                <a:latin typeface="Courier New"/>
                <a:cs typeface="Courier New"/>
              </a:rPr>
              <a:t> </a:t>
            </a:r>
            <a:r>
              <a:rPr sz="999" dirty="0">
                <a:solidFill>
                  <a:srgbClr val="D3D3D3"/>
                </a:solidFill>
                <a:latin typeface="Courier New"/>
                <a:cs typeface="Courier New"/>
              </a:rPr>
              <a:t>(</a:t>
            </a:r>
            <a:r>
              <a:rPr sz="999" dirty="0">
                <a:solidFill>
                  <a:srgbClr val="D3D3D3"/>
                </a:solidFill>
                <a:latin typeface="Courier New"/>
                <a:cs typeface="Courier New"/>
                <a:hlinkClick r:id="rId2"/>
              </a:rPr>
              <a:t>'a@shop.com'</a:t>
            </a:r>
            <a:r>
              <a:rPr sz="999" dirty="0">
                <a:solidFill>
                  <a:srgbClr val="D3D3D3"/>
                </a:solidFill>
                <a:latin typeface="Courier New"/>
                <a:cs typeface="Courier New"/>
              </a:rPr>
              <a:t>,</a:t>
            </a:r>
            <a:r>
              <a:rPr sz="999" spc="-50" dirty="0">
                <a:solidFill>
                  <a:srgbClr val="D3D3D3"/>
                </a:solidFill>
                <a:latin typeface="Courier New"/>
                <a:cs typeface="Courier New"/>
              </a:rPr>
              <a:t> </a:t>
            </a:r>
            <a:r>
              <a:rPr sz="999" dirty="0">
                <a:solidFill>
                  <a:srgbClr val="D3D3D3"/>
                </a:solidFill>
                <a:latin typeface="Courier New"/>
                <a:cs typeface="Courier New"/>
              </a:rPr>
              <a:t>'shipped',</a:t>
            </a:r>
            <a:r>
              <a:rPr sz="999" spc="-50" dirty="0">
                <a:solidFill>
                  <a:srgbClr val="D3D3D3"/>
                </a:solidFill>
                <a:latin typeface="Courier New"/>
                <a:cs typeface="Courier New"/>
              </a:rPr>
              <a:t> </a:t>
            </a:r>
            <a:r>
              <a:rPr sz="999" spc="-25" dirty="0">
                <a:solidFill>
                  <a:srgbClr val="D3D3D3"/>
                </a:solidFill>
                <a:latin typeface="Courier New"/>
                <a:cs typeface="Courier New"/>
              </a:rPr>
              <a:t>4);</a:t>
            </a:r>
            <a:r>
              <a:rPr sz="999" dirty="0">
                <a:solidFill>
                  <a:srgbClr val="D3D3D3"/>
                </a:solidFill>
                <a:latin typeface="Courier New"/>
                <a:cs typeface="Courier New"/>
              </a:rPr>
              <a:t>	</a:t>
            </a:r>
            <a:r>
              <a:rPr sz="999" spc="-10" dirty="0">
                <a:solidFill>
                  <a:srgbClr val="D3D3D3"/>
                </a:solidFill>
                <a:latin typeface="Courier New"/>
                <a:cs typeface="Courier New"/>
              </a:rPr>
              <a:t>-</a:t>
            </a:r>
            <a:r>
              <a:rPr sz="999" dirty="0">
                <a:solidFill>
                  <a:srgbClr val="D3D3D3"/>
                </a:solidFill>
                <a:latin typeface="Courier New"/>
                <a:cs typeface="Courier New"/>
              </a:rPr>
              <a:t>-</a:t>
            </a:r>
            <a:r>
              <a:rPr sz="999" spc="-10" dirty="0">
                <a:solidFill>
                  <a:srgbClr val="D3D3D3"/>
                </a:solidFill>
                <a:latin typeface="Courier New"/>
                <a:cs typeface="Courier New"/>
              </a:rPr>
              <a:t> </a:t>
            </a:r>
            <a:r>
              <a:rPr sz="999" spc="-25" dirty="0">
                <a:solidFill>
                  <a:srgbClr val="D3D3D3"/>
                </a:solidFill>
                <a:latin typeface="Courier New"/>
                <a:cs typeface="Courier New"/>
              </a:rPr>
              <a:t>OK</a:t>
            </a:r>
            <a:endParaRPr sz="999">
              <a:latin typeface="Courier New"/>
              <a:cs typeface="Courier New"/>
            </a:endParaRPr>
          </a:p>
          <a:p>
            <a:pPr>
              <a:spcBef>
                <a:spcPts val="310"/>
              </a:spcBef>
            </a:pPr>
            <a:endParaRPr sz="999">
              <a:latin typeface="Courier New"/>
              <a:cs typeface="Courier New"/>
            </a:endParaRPr>
          </a:p>
          <a:p>
            <a:pPr marL="12685"/>
            <a:r>
              <a:rPr sz="999" spc="-10" dirty="0">
                <a:solidFill>
                  <a:srgbClr val="699954"/>
                </a:solidFill>
                <a:latin typeface="Courier New"/>
                <a:cs typeface="Courier New"/>
              </a:rPr>
              <a:t>-</a:t>
            </a:r>
            <a:r>
              <a:rPr sz="999" dirty="0">
                <a:solidFill>
                  <a:srgbClr val="699954"/>
                </a:solidFill>
                <a:latin typeface="Courier New"/>
                <a:cs typeface="Courier New"/>
              </a:rPr>
              <a:t>-</a:t>
            </a:r>
            <a:r>
              <a:rPr sz="999" spc="-30" dirty="0">
                <a:solidFill>
                  <a:srgbClr val="699954"/>
                </a:solidFill>
                <a:latin typeface="Courier New"/>
                <a:cs typeface="Courier New"/>
              </a:rPr>
              <a:t> </a:t>
            </a:r>
            <a:r>
              <a:rPr sz="999" dirty="0">
                <a:solidFill>
                  <a:srgbClr val="699954"/>
                </a:solidFill>
                <a:latin typeface="Courier New"/>
                <a:cs typeface="Courier New"/>
              </a:rPr>
              <a:t>FAILS</a:t>
            </a:r>
            <a:r>
              <a:rPr sz="999" spc="-30" dirty="0">
                <a:solidFill>
                  <a:srgbClr val="699954"/>
                </a:solidFill>
                <a:latin typeface="Courier New"/>
                <a:cs typeface="Courier New"/>
              </a:rPr>
              <a:t> </a:t>
            </a:r>
            <a:r>
              <a:rPr sz="999" dirty="0">
                <a:solidFill>
                  <a:srgbClr val="699954"/>
                </a:solidFill>
                <a:latin typeface="Courier New"/>
                <a:cs typeface="Courier New"/>
              </a:rPr>
              <a:t>(UNIQUE):</a:t>
            </a:r>
            <a:r>
              <a:rPr sz="999" spc="-30" dirty="0">
                <a:solidFill>
                  <a:srgbClr val="699954"/>
                </a:solidFill>
                <a:latin typeface="Courier New"/>
                <a:cs typeface="Courier New"/>
              </a:rPr>
              <a:t> </a:t>
            </a:r>
            <a:r>
              <a:rPr sz="999" dirty="0">
                <a:solidFill>
                  <a:srgbClr val="699954"/>
                </a:solidFill>
                <a:latin typeface="Courier New"/>
                <a:cs typeface="Courier New"/>
              </a:rPr>
              <a:t>duplicate</a:t>
            </a:r>
            <a:r>
              <a:rPr sz="999" spc="-25" dirty="0">
                <a:solidFill>
                  <a:srgbClr val="699954"/>
                </a:solidFill>
                <a:latin typeface="Courier New"/>
                <a:cs typeface="Courier New"/>
              </a:rPr>
              <a:t> </a:t>
            </a:r>
            <a:r>
              <a:rPr sz="999" spc="-10" dirty="0">
                <a:solidFill>
                  <a:srgbClr val="699954"/>
                </a:solidFill>
                <a:latin typeface="Courier New"/>
                <a:cs typeface="Courier New"/>
              </a:rPr>
              <a:t>email</a:t>
            </a:r>
            <a:endParaRPr sz="999">
              <a:latin typeface="Courier New"/>
              <a:cs typeface="Courier New"/>
            </a:endParaRPr>
          </a:p>
          <a:p>
            <a:pPr marL="12685">
              <a:spcBef>
                <a:spcPts val="120"/>
              </a:spcBef>
            </a:pPr>
            <a:r>
              <a:rPr sz="999" dirty="0">
                <a:solidFill>
                  <a:srgbClr val="D3D3D3"/>
                </a:solidFill>
                <a:latin typeface="Courier New"/>
                <a:cs typeface="Courier New"/>
              </a:rPr>
              <a:t>INSERT</a:t>
            </a:r>
            <a:r>
              <a:rPr sz="999" spc="-50" dirty="0">
                <a:solidFill>
                  <a:srgbClr val="D3D3D3"/>
                </a:solidFill>
                <a:latin typeface="Courier New"/>
                <a:cs typeface="Courier New"/>
              </a:rPr>
              <a:t> </a:t>
            </a:r>
            <a:r>
              <a:rPr sz="999" dirty="0">
                <a:solidFill>
                  <a:srgbClr val="D3D3D3"/>
                </a:solidFill>
                <a:latin typeface="Courier New"/>
                <a:cs typeface="Courier New"/>
              </a:rPr>
              <a:t>INTO</a:t>
            </a:r>
            <a:r>
              <a:rPr sz="999" spc="-50" dirty="0">
                <a:solidFill>
                  <a:srgbClr val="D3D3D3"/>
                </a:solidFill>
                <a:latin typeface="Courier New"/>
                <a:cs typeface="Courier New"/>
              </a:rPr>
              <a:t> </a:t>
            </a:r>
            <a:r>
              <a:rPr sz="999" dirty="0">
                <a:solidFill>
                  <a:srgbClr val="D3D3D3"/>
                </a:solidFill>
                <a:latin typeface="Courier New"/>
                <a:cs typeface="Courier New"/>
              </a:rPr>
              <a:t>day_4.order_tracking</a:t>
            </a:r>
            <a:r>
              <a:rPr sz="999" spc="-45" dirty="0">
                <a:solidFill>
                  <a:srgbClr val="D3D3D3"/>
                </a:solidFill>
                <a:latin typeface="Courier New"/>
                <a:cs typeface="Courier New"/>
              </a:rPr>
              <a:t> </a:t>
            </a:r>
            <a:r>
              <a:rPr sz="999" dirty="0">
                <a:solidFill>
                  <a:srgbClr val="D3D3D3"/>
                </a:solidFill>
                <a:latin typeface="Courier New"/>
                <a:cs typeface="Courier New"/>
              </a:rPr>
              <a:t>(contact_email,</a:t>
            </a:r>
            <a:r>
              <a:rPr sz="999" spc="-50" dirty="0">
                <a:solidFill>
                  <a:srgbClr val="D3D3D3"/>
                </a:solidFill>
                <a:latin typeface="Courier New"/>
                <a:cs typeface="Courier New"/>
              </a:rPr>
              <a:t> </a:t>
            </a:r>
            <a:r>
              <a:rPr sz="999" dirty="0">
                <a:solidFill>
                  <a:srgbClr val="D3D3D3"/>
                </a:solidFill>
                <a:latin typeface="Courier New"/>
                <a:cs typeface="Courier New"/>
              </a:rPr>
              <a:t>status)</a:t>
            </a:r>
            <a:r>
              <a:rPr sz="999" spc="-50" dirty="0">
                <a:solidFill>
                  <a:srgbClr val="D3D3D3"/>
                </a:solidFill>
                <a:latin typeface="Courier New"/>
                <a:cs typeface="Courier New"/>
              </a:rPr>
              <a:t> </a:t>
            </a:r>
            <a:r>
              <a:rPr sz="999" dirty="0">
                <a:solidFill>
                  <a:srgbClr val="D3D3D3"/>
                </a:solidFill>
                <a:latin typeface="Courier New"/>
                <a:cs typeface="Courier New"/>
              </a:rPr>
              <a:t>VALUES</a:t>
            </a:r>
            <a:r>
              <a:rPr sz="999" spc="-45" dirty="0">
                <a:solidFill>
                  <a:srgbClr val="D3D3D3"/>
                </a:solidFill>
                <a:latin typeface="Courier New"/>
                <a:cs typeface="Courier New"/>
              </a:rPr>
              <a:t> </a:t>
            </a:r>
            <a:r>
              <a:rPr sz="999" spc="-10" dirty="0">
                <a:solidFill>
                  <a:srgbClr val="D3D3D3"/>
                </a:solidFill>
                <a:latin typeface="Courier New"/>
                <a:cs typeface="Courier New"/>
              </a:rPr>
              <a:t>('a@shop.com','placed');</a:t>
            </a:r>
            <a:endParaRPr sz="999">
              <a:latin typeface="Courier New"/>
              <a:cs typeface="Courier New"/>
            </a:endParaRPr>
          </a:p>
          <a:p>
            <a:pPr marL="12685">
              <a:spcBef>
                <a:spcPts val="125"/>
              </a:spcBef>
            </a:pPr>
            <a:r>
              <a:rPr sz="999" spc="-10" dirty="0">
                <a:solidFill>
                  <a:srgbClr val="699954"/>
                </a:solidFill>
                <a:latin typeface="Courier New"/>
                <a:cs typeface="Courier New"/>
              </a:rPr>
              <a:t>-</a:t>
            </a:r>
            <a:r>
              <a:rPr sz="999" dirty="0">
                <a:solidFill>
                  <a:srgbClr val="699954"/>
                </a:solidFill>
                <a:latin typeface="Courier New"/>
                <a:cs typeface="Courier New"/>
              </a:rPr>
              <a:t>-</a:t>
            </a:r>
            <a:r>
              <a:rPr sz="999" spc="-30" dirty="0">
                <a:solidFill>
                  <a:srgbClr val="699954"/>
                </a:solidFill>
                <a:latin typeface="Courier New"/>
                <a:cs typeface="Courier New"/>
              </a:rPr>
              <a:t> </a:t>
            </a:r>
            <a:r>
              <a:rPr sz="999" dirty="0">
                <a:solidFill>
                  <a:srgbClr val="699954"/>
                </a:solidFill>
                <a:latin typeface="Courier New"/>
                <a:cs typeface="Courier New"/>
              </a:rPr>
              <a:t>FAILS</a:t>
            </a:r>
            <a:r>
              <a:rPr sz="999" spc="-30" dirty="0">
                <a:solidFill>
                  <a:srgbClr val="699954"/>
                </a:solidFill>
                <a:latin typeface="Courier New"/>
                <a:cs typeface="Courier New"/>
              </a:rPr>
              <a:t> </a:t>
            </a:r>
            <a:r>
              <a:rPr sz="999" dirty="0">
                <a:solidFill>
                  <a:srgbClr val="699954"/>
                </a:solidFill>
                <a:latin typeface="Courier New"/>
                <a:cs typeface="Courier New"/>
              </a:rPr>
              <a:t>(CHECK):</a:t>
            </a:r>
            <a:r>
              <a:rPr sz="999" spc="-25" dirty="0">
                <a:solidFill>
                  <a:srgbClr val="699954"/>
                </a:solidFill>
                <a:latin typeface="Courier New"/>
                <a:cs typeface="Courier New"/>
              </a:rPr>
              <a:t> </a:t>
            </a:r>
            <a:r>
              <a:rPr sz="999" dirty="0">
                <a:solidFill>
                  <a:srgbClr val="699954"/>
                </a:solidFill>
                <a:latin typeface="Courier New"/>
                <a:cs typeface="Courier New"/>
              </a:rPr>
              <a:t>'dispatched'</a:t>
            </a:r>
            <a:r>
              <a:rPr sz="999" spc="-30" dirty="0">
                <a:solidFill>
                  <a:srgbClr val="699954"/>
                </a:solidFill>
                <a:latin typeface="Courier New"/>
                <a:cs typeface="Courier New"/>
              </a:rPr>
              <a:t> </a:t>
            </a:r>
            <a:r>
              <a:rPr sz="999" dirty="0">
                <a:solidFill>
                  <a:srgbClr val="699954"/>
                </a:solidFill>
                <a:latin typeface="Courier New"/>
                <a:cs typeface="Courier New"/>
              </a:rPr>
              <a:t>not</a:t>
            </a:r>
            <a:r>
              <a:rPr sz="999" spc="-25" dirty="0">
                <a:solidFill>
                  <a:srgbClr val="699954"/>
                </a:solidFill>
                <a:latin typeface="Courier New"/>
                <a:cs typeface="Courier New"/>
              </a:rPr>
              <a:t> </a:t>
            </a:r>
            <a:r>
              <a:rPr sz="999" spc="-10" dirty="0">
                <a:solidFill>
                  <a:srgbClr val="699954"/>
                </a:solidFill>
                <a:latin typeface="Courier New"/>
                <a:cs typeface="Courier New"/>
              </a:rPr>
              <a:t>allowed</a:t>
            </a:r>
            <a:endParaRPr sz="999">
              <a:latin typeface="Courier New"/>
              <a:cs typeface="Courier New"/>
            </a:endParaRPr>
          </a:p>
          <a:p>
            <a:pPr marL="12685">
              <a:spcBef>
                <a:spcPts val="120"/>
              </a:spcBef>
            </a:pPr>
            <a:r>
              <a:rPr sz="999" dirty="0">
                <a:solidFill>
                  <a:srgbClr val="D3D3D3"/>
                </a:solidFill>
                <a:latin typeface="Courier New"/>
                <a:cs typeface="Courier New"/>
              </a:rPr>
              <a:t>INSERT</a:t>
            </a:r>
            <a:r>
              <a:rPr sz="999" spc="-60" dirty="0">
                <a:solidFill>
                  <a:srgbClr val="D3D3D3"/>
                </a:solidFill>
                <a:latin typeface="Courier New"/>
                <a:cs typeface="Courier New"/>
              </a:rPr>
              <a:t> </a:t>
            </a:r>
            <a:r>
              <a:rPr sz="999" dirty="0">
                <a:solidFill>
                  <a:srgbClr val="D3D3D3"/>
                </a:solidFill>
                <a:latin typeface="Courier New"/>
                <a:cs typeface="Courier New"/>
              </a:rPr>
              <a:t>INTO</a:t>
            </a:r>
            <a:r>
              <a:rPr sz="999" spc="-50" dirty="0">
                <a:solidFill>
                  <a:srgbClr val="D3D3D3"/>
                </a:solidFill>
                <a:latin typeface="Courier New"/>
                <a:cs typeface="Courier New"/>
              </a:rPr>
              <a:t> </a:t>
            </a:r>
            <a:r>
              <a:rPr sz="999" dirty="0">
                <a:solidFill>
                  <a:srgbClr val="D3D3D3"/>
                </a:solidFill>
                <a:latin typeface="Courier New"/>
                <a:cs typeface="Courier New"/>
              </a:rPr>
              <a:t>day_4.order_tracking</a:t>
            </a:r>
            <a:r>
              <a:rPr sz="999" spc="-45" dirty="0">
                <a:solidFill>
                  <a:srgbClr val="D3D3D3"/>
                </a:solidFill>
                <a:latin typeface="Courier New"/>
                <a:cs typeface="Courier New"/>
              </a:rPr>
              <a:t> </a:t>
            </a:r>
            <a:r>
              <a:rPr sz="999" dirty="0">
                <a:solidFill>
                  <a:srgbClr val="D3D3D3"/>
                </a:solidFill>
                <a:latin typeface="Courier New"/>
                <a:cs typeface="Courier New"/>
              </a:rPr>
              <a:t>(contact_email,</a:t>
            </a:r>
            <a:r>
              <a:rPr sz="999" spc="-50" dirty="0">
                <a:solidFill>
                  <a:srgbClr val="D3D3D3"/>
                </a:solidFill>
                <a:latin typeface="Courier New"/>
                <a:cs typeface="Courier New"/>
              </a:rPr>
              <a:t> </a:t>
            </a:r>
            <a:r>
              <a:rPr sz="999" dirty="0">
                <a:solidFill>
                  <a:srgbClr val="D3D3D3"/>
                </a:solidFill>
                <a:latin typeface="Courier New"/>
                <a:cs typeface="Courier New"/>
              </a:rPr>
              <a:t>status)</a:t>
            </a:r>
            <a:r>
              <a:rPr sz="999" spc="-50" dirty="0">
                <a:solidFill>
                  <a:srgbClr val="D3D3D3"/>
                </a:solidFill>
                <a:latin typeface="Courier New"/>
                <a:cs typeface="Courier New"/>
              </a:rPr>
              <a:t> </a:t>
            </a:r>
            <a:r>
              <a:rPr sz="999" dirty="0">
                <a:solidFill>
                  <a:srgbClr val="D3D3D3"/>
                </a:solidFill>
                <a:latin typeface="Courier New"/>
                <a:cs typeface="Courier New"/>
              </a:rPr>
              <a:t>VALUES</a:t>
            </a:r>
            <a:r>
              <a:rPr sz="999" spc="-45" dirty="0">
                <a:solidFill>
                  <a:srgbClr val="D3D3D3"/>
                </a:solidFill>
                <a:latin typeface="Courier New"/>
                <a:cs typeface="Courier New"/>
              </a:rPr>
              <a:t> </a:t>
            </a:r>
            <a:r>
              <a:rPr sz="999" spc="-10" dirty="0">
                <a:solidFill>
                  <a:srgbClr val="D3D3D3"/>
                </a:solidFill>
                <a:latin typeface="Courier New"/>
                <a:cs typeface="Courier New"/>
              </a:rPr>
              <a:t>('b@shop.com','dispatched');</a:t>
            </a:r>
            <a:endParaRPr sz="999">
              <a:latin typeface="Courier New"/>
              <a:cs typeface="Courier New"/>
            </a:endParaRPr>
          </a:p>
          <a:p>
            <a:pPr marL="12685">
              <a:spcBef>
                <a:spcPts val="120"/>
              </a:spcBef>
            </a:pPr>
            <a:r>
              <a:rPr sz="999" spc="-10" dirty="0">
                <a:solidFill>
                  <a:srgbClr val="699954"/>
                </a:solidFill>
                <a:latin typeface="Courier New"/>
                <a:cs typeface="Courier New"/>
              </a:rPr>
              <a:t>-</a:t>
            </a:r>
            <a:r>
              <a:rPr sz="999" dirty="0">
                <a:solidFill>
                  <a:srgbClr val="699954"/>
                </a:solidFill>
                <a:latin typeface="Courier New"/>
                <a:cs typeface="Courier New"/>
              </a:rPr>
              <a:t>-</a:t>
            </a:r>
            <a:r>
              <a:rPr sz="999" spc="-30" dirty="0">
                <a:solidFill>
                  <a:srgbClr val="699954"/>
                </a:solidFill>
                <a:latin typeface="Courier New"/>
                <a:cs typeface="Courier New"/>
              </a:rPr>
              <a:t> </a:t>
            </a:r>
            <a:r>
              <a:rPr sz="999" dirty="0">
                <a:solidFill>
                  <a:srgbClr val="699954"/>
                </a:solidFill>
                <a:latin typeface="Courier New"/>
                <a:cs typeface="Courier New"/>
              </a:rPr>
              <a:t>FAILS</a:t>
            </a:r>
            <a:r>
              <a:rPr sz="999" spc="-20" dirty="0">
                <a:solidFill>
                  <a:srgbClr val="699954"/>
                </a:solidFill>
                <a:latin typeface="Courier New"/>
                <a:cs typeface="Courier New"/>
              </a:rPr>
              <a:t> </a:t>
            </a:r>
            <a:r>
              <a:rPr sz="999" dirty="0">
                <a:solidFill>
                  <a:srgbClr val="699954"/>
                </a:solidFill>
                <a:latin typeface="Courier New"/>
                <a:cs typeface="Courier New"/>
              </a:rPr>
              <a:t>(CHECK):</a:t>
            </a:r>
            <a:r>
              <a:rPr sz="999" spc="-15" dirty="0">
                <a:solidFill>
                  <a:srgbClr val="699954"/>
                </a:solidFill>
                <a:latin typeface="Courier New"/>
                <a:cs typeface="Courier New"/>
              </a:rPr>
              <a:t> </a:t>
            </a:r>
            <a:r>
              <a:rPr sz="999" dirty="0">
                <a:solidFill>
                  <a:srgbClr val="699954"/>
                </a:solidFill>
                <a:latin typeface="Courier New"/>
                <a:cs typeface="Courier New"/>
              </a:rPr>
              <a:t>rating</a:t>
            </a:r>
            <a:r>
              <a:rPr sz="999" spc="-20" dirty="0">
                <a:solidFill>
                  <a:srgbClr val="699954"/>
                </a:solidFill>
                <a:latin typeface="Courier New"/>
                <a:cs typeface="Courier New"/>
              </a:rPr>
              <a:t> </a:t>
            </a:r>
            <a:r>
              <a:rPr sz="999" dirty="0">
                <a:solidFill>
                  <a:srgbClr val="699954"/>
                </a:solidFill>
                <a:latin typeface="Courier New"/>
                <a:cs typeface="Courier New"/>
              </a:rPr>
              <a:t>7</a:t>
            </a:r>
            <a:r>
              <a:rPr sz="999" spc="-15" dirty="0">
                <a:solidFill>
                  <a:srgbClr val="699954"/>
                </a:solidFill>
                <a:latin typeface="Courier New"/>
                <a:cs typeface="Courier New"/>
              </a:rPr>
              <a:t> </a:t>
            </a:r>
            <a:r>
              <a:rPr sz="999" dirty="0">
                <a:solidFill>
                  <a:srgbClr val="699954"/>
                </a:solidFill>
                <a:latin typeface="Courier New"/>
                <a:cs typeface="Courier New"/>
              </a:rPr>
              <a:t>out</a:t>
            </a:r>
            <a:r>
              <a:rPr sz="999" spc="-20" dirty="0">
                <a:solidFill>
                  <a:srgbClr val="699954"/>
                </a:solidFill>
                <a:latin typeface="Courier New"/>
                <a:cs typeface="Courier New"/>
              </a:rPr>
              <a:t> </a:t>
            </a:r>
            <a:r>
              <a:rPr sz="999" dirty="0">
                <a:solidFill>
                  <a:srgbClr val="699954"/>
                </a:solidFill>
                <a:latin typeface="Courier New"/>
                <a:cs typeface="Courier New"/>
              </a:rPr>
              <a:t>of</a:t>
            </a:r>
            <a:r>
              <a:rPr sz="999" spc="-15" dirty="0">
                <a:solidFill>
                  <a:srgbClr val="699954"/>
                </a:solidFill>
                <a:latin typeface="Courier New"/>
                <a:cs typeface="Courier New"/>
              </a:rPr>
              <a:t> </a:t>
            </a:r>
            <a:r>
              <a:rPr sz="999" spc="-10" dirty="0">
                <a:solidFill>
                  <a:srgbClr val="699954"/>
                </a:solidFill>
                <a:latin typeface="Courier New"/>
                <a:cs typeface="Courier New"/>
              </a:rPr>
              <a:t>range</a:t>
            </a:r>
            <a:endParaRPr sz="999">
              <a:latin typeface="Courier New"/>
              <a:cs typeface="Courier New"/>
            </a:endParaRPr>
          </a:p>
          <a:p>
            <a:pPr marL="12685">
              <a:spcBef>
                <a:spcPts val="120"/>
              </a:spcBef>
            </a:pPr>
            <a:r>
              <a:rPr sz="999" dirty="0">
                <a:solidFill>
                  <a:srgbClr val="D3D3D3"/>
                </a:solidFill>
                <a:latin typeface="Courier New"/>
                <a:cs typeface="Courier New"/>
              </a:rPr>
              <a:t>INSERT</a:t>
            </a:r>
            <a:r>
              <a:rPr sz="999" spc="-50" dirty="0">
                <a:solidFill>
                  <a:srgbClr val="D3D3D3"/>
                </a:solidFill>
                <a:latin typeface="Courier New"/>
                <a:cs typeface="Courier New"/>
              </a:rPr>
              <a:t> </a:t>
            </a:r>
            <a:r>
              <a:rPr sz="999" dirty="0">
                <a:solidFill>
                  <a:srgbClr val="D3D3D3"/>
                </a:solidFill>
                <a:latin typeface="Courier New"/>
                <a:cs typeface="Courier New"/>
              </a:rPr>
              <a:t>INTO</a:t>
            </a:r>
            <a:r>
              <a:rPr sz="999" spc="-45" dirty="0">
                <a:solidFill>
                  <a:srgbClr val="D3D3D3"/>
                </a:solidFill>
                <a:latin typeface="Courier New"/>
                <a:cs typeface="Courier New"/>
              </a:rPr>
              <a:t> </a:t>
            </a:r>
            <a:r>
              <a:rPr sz="999" dirty="0">
                <a:solidFill>
                  <a:srgbClr val="D3D3D3"/>
                </a:solidFill>
                <a:latin typeface="Courier New"/>
                <a:cs typeface="Courier New"/>
              </a:rPr>
              <a:t>day_4.order_tracking</a:t>
            </a:r>
            <a:r>
              <a:rPr sz="999" spc="-45" dirty="0">
                <a:solidFill>
                  <a:srgbClr val="D3D3D3"/>
                </a:solidFill>
                <a:latin typeface="Courier New"/>
                <a:cs typeface="Courier New"/>
              </a:rPr>
              <a:t> </a:t>
            </a:r>
            <a:r>
              <a:rPr sz="999" dirty="0">
                <a:solidFill>
                  <a:srgbClr val="D3D3D3"/>
                </a:solidFill>
                <a:latin typeface="Courier New"/>
                <a:cs typeface="Courier New"/>
              </a:rPr>
              <a:t>(contact_email,</a:t>
            </a:r>
            <a:r>
              <a:rPr sz="999" spc="-50" dirty="0">
                <a:solidFill>
                  <a:srgbClr val="D3D3D3"/>
                </a:solidFill>
                <a:latin typeface="Courier New"/>
                <a:cs typeface="Courier New"/>
              </a:rPr>
              <a:t> </a:t>
            </a:r>
            <a:r>
              <a:rPr sz="999" dirty="0">
                <a:solidFill>
                  <a:srgbClr val="D3D3D3"/>
                </a:solidFill>
                <a:latin typeface="Courier New"/>
                <a:cs typeface="Courier New"/>
              </a:rPr>
              <a:t>status,</a:t>
            </a:r>
            <a:r>
              <a:rPr sz="999" spc="-45" dirty="0">
                <a:solidFill>
                  <a:srgbClr val="D3D3D3"/>
                </a:solidFill>
                <a:latin typeface="Courier New"/>
                <a:cs typeface="Courier New"/>
              </a:rPr>
              <a:t> </a:t>
            </a:r>
            <a:r>
              <a:rPr sz="999" dirty="0">
                <a:solidFill>
                  <a:srgbClr val="D3D3D3"/>
                </a:solidFill>
                <a:latin typeface="Courier New"/>
                <a:cs typeface="Courier New"/>
              </a:rPr>
              <a:t>rating)</a:t>
            </a:r>
            <a:r>
              <a:rPr sz="999" spc="-45" dirty="0">
                <a:solidFill>
                  <a:srgbClr val="D3D3D3"/>
                </a:solidFill>
                <a:latin typeface="Courier New"/>
                <a:cs typeface="Courier New"/>
              </a:rPr>
              <a:t> </a:t>
            </a:r>
            <a:r>
              <a:rPr sz="999" dirty="0">
                <a:solidFill>
                  <a:srgbClr val="D3D3D3"/>
                </a:solidFill>
                <a:latin typeface="Courier New"/>
                <a:cs typeface="Courier New"/>
              </a:rPr>
              <a:t>VALUES</a:t>
            </a:r>
            <a:r>
              <a:rPr sz="999" spc="-45" dirty="0">
                <a:solidFill>
                  <a:srgbClr val="D3D3D3"/>
                </a:solidFill>
                <a:latin typeface="Courier New"/>
                <a:cs typeface="Courier New"/>
              </a:rPr>
              <a:t> </a:t>
            </a:r>
            <a:r>
              <a:rPr sz="999" spc="-10" dirty="0">
                <a:solidFill>
                  <a:srgbClr val="D3D3D3"/>
                </a:solidFill>
                <a:latin typeface="Courier New"/>
                <a:cs typeface="Courier New"/>
              </a:rPr>
              <a:t>('c@shop.com','placed',7);</a:t>
            </a:r>
            <a:endParaRPr sz="999">
              <a:latin typeface="Courier New"/>
              <a:cs typeface="Courier New"/>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638" y="-353"/>
            <a:ext cx="8766782" cy="5137158"/>
          </a:xfrm>
          <a:custGeom>
            <a:avLst/>
            <a:gdLst/>
            <a:ahLst/>
            <a:cxnLst/>
            <a:rect l="l" t="t" r="r" b="b"/>
            <a:pathLst>
              <a:path w="8777605" h="5143500">
                <a:moveTo>
                  <a:pt x="109435" y="0"/>
                </a:moveTo>
                <a:lnTo>
                  <a:pt x="0" y="0"/>
                </a:lnTo>
                <a:lnTo>
                  <a:pt x="0" y="5143309"/>
                </a:lnTo>
                <a:lnTo>
                  <a:pt x="54724" y="5143309"/>
                </a:lnTo>
                <a:lnTo>
                  <a:pt x="109435" y="5143309"/>
                </a:lnTo>
                <a:lnTo>
                  <a:pt x="109435" y="0"/>
                </a:lnTo>
                <a:close/>
              </a:path>
              <a:path w="8777605" h="5143500">
                <a:moveTo>
                  <a:pt x="8777516" y="183235"/>
                </a:moveTo>
                <a:lnTo>
                  <a:pt x="7589164" y="183235"/>
                </a:lnTo>
                <a:lnTo>
                  <a:pt x="7589164" y="594360"/>
                </a:lnTo>
                <a:lnTo>
                  <a:pt x="8183524" y="594360"/>
                </a:lnTo>
                <a:lnTo>
                  <a:pt x="8777516" y="594360"/>
                </a:lnTo>
                <a:lnTo>
                  <a:pt x="8777516" y="183235"/>
                </a:lnTo>
                <a:close/>
              </a:path>
            </a:pathLst>
          </a:custGeom>
          <a:solidFill>
            <a:srgbClr val="F44236"/>
          </a:solidFill>
        </p:spPr>
        <p:txBody>
          <a:bodyPr wrap="square" lIns="0" tIns="0" rIns="0" bIns="0" rtlCol="0"/>
          <a:lstStyle/>
          <a:p>
            <a:endParaRPr sz="1798"/>
          </a:p>
        </p:txBody>
      </p:sp>
      <p:sp>
        <p:nvSpPr>
          <p:cNvPr id="3" name="object 3" descr="$PPTXTitle"/>
          <p:cNvSpPr txBox="1">
            <a:spLocks noGrp="1"/>
          </p:cNvSpPr>
          <p:nvPr>
            <p:ph type="title"/>
          </p:nvPr>
        </p:nvSpPr>
        <p:spPr>
          <a:xfrm>
            <a:off x="5637" y="0"/>
            <a:ext cx="0" cy="917990"/>
          </a:xfrm>
          <a:prstGeom prst="rect">
            <a:avLst/>
          </a:prstGeom>
        </p:spPr>
        <p:txBody>
          <a:bodyPr vert="horz" wrap="square" lIns="0" tIns="57992" rIns="0" bIns="0" rtlCol="0">
            <a:spAutoFit/>
          </a:bodyPr>
          <a:lstStyle/>
          <a:p>
            <a:pPr marL="7513182">
              <a:spcBef>
                <a:spcPts val="100"/>
              </a:spcBef>
            </a:pPr>
            <a:r>
              <a:rPr sz="1398" spc="-20" dirty="0">
                <a:solidFill>
                  <a:srgbClr val="FFFFFF"/>
                </a:solidFill>
              </a:rPr>
              <a:t>HARD</a:t>
            </a:r>
            <a:endParaRPr sz="1398"/>
          </a:p>
        </p:txBody>
      </p:sp>
      <p:sp>
        <p:nvSpPr>
          <p:cNvPr id="4" name="object 4"/>
          <p:cNvSpPr txBox="1"/>
          <p:nvPr/>
        </p:nvSpPr>
        <p:spPr>
          <a:xfrm>
            <a:off x="447788" y="716784"/>
            <a:ext cx="7783745" cy="2382753"/>
          </a:xfrm>
          <a:prstGeom prst="rect">
            <a:avLst/>
          </a:prstGeom>
        </p:spPr>
        <p:txBody>
          <a:bodyPr vert="horz" wrap="square" lIns="0" tIns="12684" rIns="0" bIns="0" rtlCol="0">
            <a:spAutoFit/>
          </a:bodyPr>
          <a:lstStyle/>
          <a:p>
            <a:pPr marL="12685" marR="30443">
              <a:lnSpc>
                <a:spcPct val="120100"/>
              </a:lnSpc>
              <a:spcBef>
                <a:spcPts val="100"/>
              </a:spcBef>
            </a:pPr>
            <a:r>
              <a:rPr sz="1298" b="1" spc="-10" dirty="0">
                <a:solidFill>
                  <a:srgbClr val="1D3A5E"/>
                </a:solidFill>
                <a:latin typeface="Calibri"/>
                <a:cs typeface="Calibri"/>
              </a:rPr>
              <a:t>SCENARIO:</a:t>
            </a:r>
            <a:r>
              <a:rPr sz="1298" b="1" spc="-35" dirty="0">
                <a:solidFill>
                  <a:srgbClr val="1D3A5E"/>
                </a:solidFill>
                <a:latin typeface="Calibri"/>
                <a:cs typeface="Calibri"/>
              </a:rPr>
              <a:t> </a:t>
            </a:r>
            <a:r>
              <a:rPr sz="1298" spc="-10" dirty="0">
                <a:solidFill>
                  <a:srgbClr val="202020"/>
                </a:solidFill>
                <a:latin typeface="Calibri"/>
                <a:cs typeface="Calibri"/>
              </a:rPr>
              <a:t>RetailMart</a:t>
            </a:r>
            <a:r>
              <a:rPr sz="1298" spc="-30" dirty="0">
                <a:solidFill>
                  <a:srgbClr val="202020"/>
                </a:solidFill>
                <a:latin typeface="Calibri"/>
                <a:cs typeface="Calibri"/>
              </a:rPr>
              <a:t> </a:t>
            </a:r>
            <a:r>
              <a:rPr sz="1298" dirty="0">
                <a:solidFill>
                  <a:srgbClr val="202020"/>
                </a:solidFill>
                <a:latin typeface="Calibri"/>
                <a:cs typeface="Calibri"/>
              </a:rPr>
              <a:t>needs</a:t>
            </a:r>
            <a:r>
              <a:rPr sz="1298" spc="-30" dirty="0">
                <a:solidFill>
                  <a:srgbClr val="202020"/>
                </a:solidFill>
                <a:latin typeface="Calibri"/>
                <a:cs typeface="Calibri"/>
              </a:rPr>
              <a:t> </a:t>
            </a:r>
            <a:r>
              <a:rPr sz="1298" spc="-10" dirty="0">
                <a:solidFill>
                  <a:srgbClr val="202020"/>
                </a:solidFill>
                <a:latin typeface="Calibri"/>
                <a:cs typeface="Calibri"/>
              </a:rPr>
              <a:t>orders</a:t>
            </a:r>
            <a:r>
              <a:rPr sz="1298" spc="-30" dirty="0">
                <a:solidFill>
                  <a:srgbClr val="202020"/>
                </a:solidFill>
                <a:latin typeface="Calibri"/>
                <a:cs typeface="Calibri"/>
              </a:rPr>
              <a:t> </a:t>
            </a:r>
            <a:r>
              <a:rPr sz="1298" dirty="0">
                <a:solidFill>
                  <a:srgbClr val="202020"/>
                </a:solidFill>
                <a:latin typeface="Calibri"/>
                <a:cs typeface="Calibri"/>
              </a:rPr>
              <a:t>that</a:t>
            </a:r>
            <a:r>
              <a:rPr sz="1298" spc="-30" dirty="0">
                <a:solidFill>
                  <a:srgbClr val="202020"/>
                </a:solidFill>
                <a:latin typeface="Calibri"/>
                <a:cs typeface="Calibri"/>
              </a:rPr>
              <a:t> </a:t>
            </a:r>
            <a:r>
              <a:rPr sz="1298" spc="-10" dirty="0">
                <a:solidFill>
                  <a:srgbClr val="202020"/>
                </a:solidFill>
                <a:latin typeface="Calibri"/>
                <a:cs typeface="Calibri"/>
              </a:rPr>
              <a:t>always</a:t>
            </a:r>
            <a:r>
              <a:rPr sz="1298" spc="-30" dirty="0">
                <a:solidFill>
                  <a:srgbClr val="202020"/>
                </a:solidFill>
                <a:latin typeface="Calibri"/>
                <a:cs typeface="Calibri"/>
              </a:rPr>
              <a:t> </a:t>
            </a:r>
            <a:r>
              <a:rPr sz="1298" dirty="0">
                <a:solidFill>
                  <a:srgbClr val="202020"/>
                </a:solidFill>
                <a:latin typeface="Calibri"/>
                <a:cs typeface="Calibri"/>
              </a:rPr>
              <a:t>belong</a:t>
            </a:r>
            <a:r>
              <a:rPr sz="1298" spc="-30" dirty="0">
                <a:solidFill>
                  <a:srgbClr val="202020"/>
                </a:solidFill>
                <a:latin typeface="Calibri"/>
                <a:cs typeface="Calibri"/>
              </a:rPr>
              <a:t> </a:t>
            </a:r>
            <a:r>
              <a:rPr sz="1298" dirty="0">
                <a:solidFill>
                  <a:srgbClr val="202020"/>
                </a:solidFill>
                <a:latin typeface="Calibri"/>
                <a:cs typeface="Calibri"/>
              </a:rPr>
              <a:t>to</a:t>
            </a:r>
            <a:r>
              <a:rPr sz="1298" spc="-25" dirty="0">
                <a:solidFill>
                  <a:srgbClr val="202020"/>
                </a:solidFill>
                <a:latin typeface="Calibri"/>
                <a:cs typeface="Calibri"/>
              </a:rPr>
              <a:t> </a:t>
            </a:r>
            <a:r>
              <a:rPr sz="1298" dirty="0">
                <a:solidFill>
                  <a:srgbClr val="202020"/>
                </a:solidFill>
                <a:latin typeface="Calibri"/>
                <a:cs typeface="Calibri"/>
              </a:rPr>
              <a:t>a</a:t>
            </a:r>
            <a:r>
              <a:rPr sz="1298" spc="-30" dirty="0">
                <a:solidFill>
                  <a:srgbClr val="202020"/>
                </a:solidFill>
                <a:latin typeface="Calibri"/>
                <a:cs typeface="Calibri"/>
              </a:rPr>
              <a:t> </a:t>
            </a:r>
            <a:r>
              <a:rPr sz="1298" dirty="0">
                <a:solidFill>
                  <a:srgbClr val="202020"/>
                </a:solidFill>
                <a:latin typeface="Calibri"/>
                <a:cs typeface="Calibri"/>
              </a:rPr>
              <a:t>real</a:t>
            </a:r>
            <a:r>
              <a:rPr sz="1298" spc="-30" dirty="0">
                <a:solidFill>
                  <a:srgbClr val="202020"/>
                </a:solidFill>
                <a:latin typeface="Calibri"/>
                <a:cs typeface="Calibri"/>
              </a:rPr>
              <a:t> </a:t>
            </a:r>
            <a:r>
              <a:rPr sz="1298" spc="-10" dirty="0">
                <a:solidFill>
                  <a:srgbClr val="202020"/>
                </a:solidFill>
                <a:latin typeface="Calibri"/>
                <a:cs typeface="Calibri"/>
              </a:rPr>
              <a:t>customer</a:t>
            </a:r>
            <a:r>
              <a:rPr sz="1298" spc="-30" dirty="0">
                <a:solidFill>
                  <a:srgbClr val="202020"/>
                </a:solidFill>
                <a:latin typeface="Calibri"/>
                <a:cs typeface="Calibri"/>
              </a:rPr>
              <a:t> </a:t>
            </a:r>
            <a:r>
              <a:rPr sz="1298" dirty="0">
                <a:solidFill>
                  <a:srgbClr val="202020"/>
                </a:solidFill>
                <a:latin typeface="Calibri"/>
                <a:cs typeface="Calibri"/>
              </a:rPr>
              <a:t>-</a:t>
            </a:r>
            <a:r>
              <a:rPr sz="1298" spc="-30" dirty="0">
                <a:solidFill>
                  <a:srgbClr val="202020"/>
                </a:solidFill>
                <a:latin typeface="Calibri"/>
                <a:cs typeface="Calibri"/>
              </a:rPr>
              <a:t> </a:t>
            </a:r>
            <a:r>
              <a:rPr sz="1298" dirty="0">
                <a:solidFill>
                  <a:srgbClr val="202020"/>
                </a:solidFill>
                <a:latin typeface="Calibri"/>
                <a:cs typeface="Calibri"/>
              </a:rPr>
              <a:t>no</a:t>
            </a:r>
            <a:r>
              <a:rPr sz="1298" spc="-30" dirty="0">
                <a:solidFill>
                  <a:srgbClr val="202020"/>
                </a:solidFill>
                <a:latin typeface="Calibri"/>
                <a:cs typeface="Calibri"/>
              </a:rPr>
              <a:t> </a:t>
            </a:r>
            <a:r>
              <a:rPr sz="1298" dirty="0">
                <a:solidFill>
                  <a:srgbClr val="202020"/>
                </a:solidFill>
                <a:latin typeface="Calibri"/>
                <a:cs typeface="Calibri"/>
              </a:rPr>
              <a:t>ghost</a:t>
            </a:r>
            <a:r>
              <a:rPr sz="1298" spc="-30" dirty="0">
                <a:solidFill>
                  <a:srgbClr val="202020"/>
                </a:solidFill>
                <a:latin typeface="Calibri"/>
                <a:cs typeface="Calibri"/>
              </a:rPr>
              <a:t> </a:t>
            </a:r>
            <a:r>
              <a:rPr sz="1298" spc="-10" dirty="0">
                <a:solidFill>
                  <a:srgbClr val="202020"/>
                </a:solidFill>
                <a:latin typeface="Calibri"/>
                <a:cs typeface="Calibri"/>
              </a:rPr>
              <a:t>orders</a:t>
            </a:r>
            <a:r>
              <a:rPr sz="1298" spc="-30" dirty="0">
                <a:solidFill>
                  <a:srgbClr val="202020"/>
                </a:solidFill>
                <a:latin typeface="Calibri"/>
                <a:cs typeface="Calibri"/>
              </a:rPr>
              <a:t> </a:t>
            </a:r>
            <a:r>
              <a:rPr sz="1298" spc="-10" dirty="0">
                <a:solidFill>
                  <a:srgbClr val="202020"/>
                </a:solidFill>
                <a:latin typeface="Calibri"/>
                <a:cs typeface="Calibri"/>
              </a:rPr>
              <a:t>pointing</a:t>
            </a:r>
            <a:r>
              <a:rPr sz="1298" spc="-30" dirty="0">
                <a:solidFill>
                  <a:srgbClr val="202020"/>
                </a:solidFill>
                <a:latin typeface="Calibri"/>
                <a:cs typeface="Calibri"/>
              </a:rPr>
              <a:t> </a:t>
            </a:r>
            <a:r>
              <a:rPr sz="1298" dirty="0">
                <a:solidFill>
                  <a:srgbClr val="202020"/>
                </a:solidFill>
                <a:latin typeface="Calibri"/>
                <a:cs typeface="Calibri"/>
              </a:rPr>
              <a:t>at</a:t>
            </a:r>
            <a:r>
              <a:rPr sz="1298" spc="-25" dirty="0">
                <a:solidFill>
                  <a:srgbClr val="202020"/>
                </a:solidFill>
                <a:latin typeface="Calibri"/>
                <a:cs typeface="Calibri"/>
              </a:rPr>
              <a:t> </a:t>
            </a:r>
            <a:r>
              <a:rPr sz="1298" spc="-20" dirty="0">
                <a:solidFill>
                  <a:srgbClr val="202020"/>
                </a:solidFill>
                <a:latin typeface="Calibri"/>
                <a:cs typeface="Calibri"/>
              </a:rPr>
              <a:t>non-</a:t>
            </a:r>
            <a:r>
              <a:rPr sz="1298" spc="-10" dirty="0">
                <a:solidFill>
                  <a:srgbClr val="202020"/>
                </a:solidFill>
                <a:latin typeface="Calibri"/>
                <a:cs typeface="Calibri"/>
              </a:rPr>
              <a:t>existent people.</a:t>
            </a:r>
            <a:endParaRPr sz="1298">
              <a:latin typeface="Calibri"/>
              <a:cs typeface="Calibri"/>
            </a:endParaRPr>
          </a:p>
          <a:p>
            <a:pPr marL="12685">
              <a:spcBef>
                <a:spcPts val="884"/>
              </a:spcBef>
            </a:pPr>
            <a:r>
              <a:rPr sz="1298" b="1" spc="-10" dirty="0">
                <a:solidFill>
                  <a:srgbClr val="1D3A5E"/>
                </a:solidFill>
                <a:latin typeface="Calibri"/>
                <a:cs typeface="Calibri"/>
              </a:rPr>
              <a:t>YOUR</a:t>
            </a:r>
            <a:r>
              <a:rPr sz="1298" b="1" spc="-50" dirty="0">
                <a:solidFill>
                  <a:srgbClr val="1D3A5E"/>
                </a:solidFill>
                <a:latin typeface="Calibri"/>
                <a:cs typeface="Calibri"/>
              </a:rPr>
              <a:t> </a:t>
            </a:r>
            <a:r>
              <a:rPr sz="1298" b="1" spc="-10" dirty="0">
                <a:solidFill>
                  <a:srgbClr val="1D3A5E"/>
                </a:solidFill>
                <a:latin typeface="Calibri"/>
                <a:cs typeface="Calibri"/>
              </a:rPr>
              <a:t>TASK:</a:t>
            </a:r>
            <a:endParaRPr sz="1298">
              <a:latin typeface="Calibri"/>
              <a:cs typeface="Calibri"/>
            </a:endParaRPr>
          </a:p>
          <a:p>
            <a:pPr marL="182026" indent="-169342">
              <a:spcBef>
                <a:spcPts val="884"/>
              </a:spcBef>
              <a:buAutoNum type="alphaLcParenR"/>
              <a:tabLst>
                <a:tab pos="182026" algn="l"/>
              </a:tabLst>
            </a:pPr>
            <a:r>
              <a:rPr sz="1298" b="1" dirty="0">
                <a:solidFill>
                  <a:srgbClr val="1D3A5E"/>
                </a:solidFill>
                <a:latin typeface="Calibri"/>
                <a:cs typeface="Calibri"/>
              </a:rPr>
              <a:t>:</a:t>
            </a:r>
            <a:r>
              <a:rPr sz="1298" b="1" spc="-35" dirty="0">
                <a:solidFill>
                  <a:srgbClr val="1D3A5E"/>
                </a:solidFill>
                <a:latin typeface="Calibri"/>
                <a:cs typeface="Calibri"/>
              </a:rPr>
              <a:t> </a:t>
            </a:r>
            <a:r>
              <a:rPr sz="1298" spc="-10" dirty="0">
                <a:solidFill>
                  <a:srgbClr val="202020"/>
                </a:solidFill>
                <a:latin typeface="Calibri"/>
                <a:cs typeface="Calibri"/>
              </a:rPr>
              <a:t>Create</a:t>
            </a:r>
            <a:r>
              <a:rPr sz="1298" spc="-35" dirty="0">
                <a:solidFill>
                  <a:srgbClr val="202020"/>
                </a:solidFill>
                <a:latin typeface="Calibri"/>
                <a:cs typeface="Calibri"/>
              </a:rPr>
              <a:t> </a:t>
            </a:r>
            <a:r>
              <a:rPr sz="1298" spc="-10" dirty="0">
                <a:solidFill>
                  <a:srgbClr val="202020"/>
                </a:solidFill>
                <a:latin typeface="Calibri"/>
                <a:cs typeface="Calibri"/>
              </a:rPr>
              <a:t>day_4.rm_customers</a:t>
            </a:r>
            <a:r>
              <a:rPr sz="1298" spc="-35" dirty="0">
                <a:solidFill>
                  <a:srgbClr val="202020"/>
                </a:solidFill>
                <a:latin typeface="Calibri"/>
                <a:cs typeface="Calibri"/>
              </a:rPr>
              <a:t> </a:t>
            </a:r>
            <a:r>
              <a:rPr sz="1298" spc="-10" dirty="0">
                <a:solidFill>
                  <a:srgbClr val="202020"/>
                </a:solidFill>
                <a:latin typeface="Calibri"/>
                <a:cs typeface="Calibri"/>
              </a:rPr>
              <a:t>(customer_id</a:t>
            </a:r>
            <a:r>
              <a:rPr sz="1298" spc="-30" dirty="0">
                <a:solidFill>
                  <a:srgbClr val="202020"/>
                </a:solidFill>
                <a:latin typeface="Calibri"/>
                <a:cs typeface="Calibri"/>
              </a:rPr>
              <a:t> </a:t>
            </a:r>
            <a:r>
              <a:rPr sz="1298" dirty="0">
                <a:solidFill>
                  <a:srgbClr val="202020"/>
                </a:solidFill>
                <a:latin typeface="Calibri"/>
                <a:cs typeface="Calibri"/>
              </a:rPr>
              <a:t>SERIAL</a:t>
            </a:r>
            <a:r>
              <a:rPr sz="1298" spc="-35" dirty="0">
                <a:solidFill>
                  <a:srgbClr val="202020"/>
                </a:solidFill>
                <a:latin typeface="Calibri"/>
                <a:cs typeface="Calibri"/>
              </a:rPr>
              <a:t> </a:t>
            </a:r>
            <a:r>
              <a:rPr sz="1298" dirty="0">
                <a:solidFill>
                  <a:srgbClr val="202020"/>
                </a:solidFill>
                <a:latin typeface="Calibri"/>
                <a:cs typeface="Calibri"/>
              </a:rPr>
              <a:t>PK,</a:t>
            </a:r>
            <a:r>
              <a:rPr sz="1298" spc="-35" dirty="0">
                <a:solidFill>
                  <a:srgbClr val="202020"/>
                </a:solidFill>
                <a:latin typeface="Calibri"/>
                <a:cs typeface="Calibri"/>
              </a:rPr>
              <a:t> </a:t>
            </a:r>
            <a:r>
              <a:rPr sz="1298" spc="-10" dirty="0">
                <a:solidFill>
                  <a:srgbClr val="202020"/>
                </a:solidFill>
                <a:latin typeface="Calibri"/>
                <a:cs typeface="Calibri"/>
              </a:rPr>
              <a:t>full_name</a:t>
            </a:r>
            <a:r>
              <a:rPr sz="1298" spc="-30" dirty="0">
                <a:solidFill>
                  <a:srgbClr val="202020"/>
                </a:solidFill>
                <a:latin typeface="Calibri"/>
                <a:cs typeface="Calibri"/>
              </a:rPr>
              <a:t> </a:t>
            </a:r>
            <a:r>
              <a:rPr sz="1298" dirty="0">
                <a:solidFill>
                  <a:srgbClr val="202020"/>
                </a:solidFill>
                <a:latin typeface="Calibri"/>
                <a:cs typeface="Calibri"/>
              </a:rPr>
              <a:t>NOT</a:t>
            </a:r>
            <a:r>
              <a:rPr sz="1298" spc="-35" dirty="0">
                <a:solidFill>
                  <a:srgbClr val="202020"/>
                </a:solidFill>
                <a:latin typeface="Calibri"/>
                <a:cs typeface="Calibri"/>
              </a:rPr>
              <a:t> </a:t>
            </a:r>
            <a:r>
              <a:rPr sz="1298" dirty="0">
                <a:solidFill>
                  <a:srgbClr val="202020"/>
                </a:solidFill>
                <a:latin typeface="Calibri"/>
                <a:cs typeface="Calibri"/>
              </a:rPr>
              <a:t>NULL,</a:t>
            </a:r>
            <a:r>
              <a:rPr sz="1298" spc="-35" dirty="0">
                <a:solidFill>
                  <a:srgbClr val="202020"/>
                </a:solidFill>
                <a:latin typeface="Calibri"/>
                <a:cs typeface="Calibri"/>
              </a:rPr>
              <a:t> </a:t>
            </a:r>
            <a:r>
              <a:rPr sz="1298" dirty="0">
                <a:solidFill>
                  <a:srgbClr val="202020"/>
                </a:solidFill>
                <a:latin typeface="Calibri"/>
                <a:cs typeface="Calibri"/>
              </a:rPr>
              <a:t>email</a:t>
            </a:r>
            <a:r>
              <a:rPr sz="1298" spc="-35" dirty="0">
                <a:solidFill>
                  <a:srgbClr val="202020"/>
                </a:solidFill>
                <a:latin typeface="Calibri"/>
                <a:cs typeface="Calibri"/>
              </a:rPr>
              <a:t> </a:t>
            </a:r>
            <a:r>
              <a:rPr sz="1298" dirty="0">
                <a:solidFill>
                  <a:srgbClr val="202020"/>
                </a:solidFill>
                <a:latin typeface="Calibri"/>
                <a:cs typeface="Calibri"/>
              </a:rPr>
              <a:t>UNIQUE</a:t>
            </a:r>
            <a:r>
              <a:rPr sz="1298" spc="-30" dirty="0">
                <a:solidFill>
                  <a:srgbClr val="202020"/>
                </a:solidFill>
                <a:latin typeface="Calibri"/>
                <a:cs typeface="Calibri"/>
              </a:rPr>
              <a:t> </a:t>
            </a:r>
            <a:r>
              <a:rPr sz="1298" dirty="0">
                <a:solidFill>
                  <a:srgbClr val="202020"/>
                </a:solidFill>
                <a:latin typeface="Calibri"/>
                <a:cs typeface="Calibri"/>
              </a:rPr>
              <a:t>NOT</a:t>
            </a:r>
            <a:r>
              <a:rPr sz="1298" spc="-35" dirty="0">
                <a:solidFill>
                  <a:srgbClr val="202020"/>
                </a:solidFill>
                <a:latin typeface="Calibri"/>
                <a:cs typeface="Calibri"/>
              </a:rPr>
              <a:t> </a:t>
            </a:r>
            <a:r>
              <a:rPr sz="1298" spc="-10" dirty="0">
                <a:solidFill>
                  <a:srgbClr val="202020"/>
                </a:solidFill>
                <a:latin typeface="Calibri"/>
                <a:cs typeface="Calibri"/>
              </a:rPr>
              <a:t>NULL).</a:t>
            </a:r>
            <a:endParaRPr sz="1298">
              <a:latin typeface="Calibri"/>
              <a:cs typeface="Calibri"/>
            </a:endParaRPr>
          </a:p>
          <a:p>
            <a:pPr marL="12685" marR="5074" indent="176318">
              <a:lnSpc>
                <a:spcPct val="120100"/>
              </a:lnSpc>
              <a:buAutoNum type="alphaLcParenR"/>
              <a:tabLst>
                <a:tab pos="189003" algn="l"/>
              </a:tabLst>
            </a:pPr>
            <a:r>
              <a:rPr sz="1298" b="1" dirty="0">
                <a:solidFill>
                  <a:srgbClr val="1D3A5E"/>
                </a:solidFill>
                <a:latin typeface="Calibri"/>
                <a:cs typeface="Calibri"/>
              </a:rPr>
              <a:t>:</a:t>
            </a:r>
            <a:r>
              <a:rPr sz="1298" b="1" spc="-30" dirty="0">
                <a:solidFill>
                  <a:srgbClr val="1D3A5E"/>
                </a:solidFill>
                <a:latin typeface="Calibri"/>
                <a:cs typeface="Calibri"/>
              </a:rPr>
              <a:t> </a:t>
            </a:r>
            <a:r>
              <a:rPr sz="1298" spc="-10" dirty="0">
                <a:solidFill>
                  <a:srgbClr val="202020"/>
                </a:solidFill>
                <a:latin typeface="Calibri"/>
                <a:cs typeface="Calibri"/>
              </a:rPr>
              <a:t>Create</a:t>
            </a:r>
            <a:r>
              <a:rPr sz="1298" spc="-30" dirty="0">
                <a:solidFill>
                  <a:srgbClr val="202020"/>
                </a:solidFill>
                <a:latin typeface="Calibri"/>
                <a:cs typeface="Calibri"/>
              </a:rPr>
              <a:t> </a:t>
            </a:r>
            <a:r>
              <a:rPr sz="1298" spc="-10" dirty="0">
                <a:solidFill>
                  <a:srgbClr val="202020"/>
                </a:solidFill>
                <a:latin typeface="Calibri"/>
                <a:cs typeface="Calibri"/>
              </a:rPr>
              <a:t>day_4.rm_orders</a:t>
            </a:r>
            <a:r>
              <a:rPr sz="1298" spc="-30" dirty="0">
                <a:solidFill>
                  <a:srgbClr val="202020"/>
                </a:solidFill>
                <a:latin typeface="Calibri"/>
                <a:cs typeface="Calibri"/>
              </a:rPr>
              <a:t> </a:t>
            </a:r>
            <a:r>
              <a:rPr sz="1298" dirty="0">
                <a:solidFill>
                  <a:srgbClr val="202020"/>
                </a:solidFill>
                <a:latin typeface="Calibri"/>
                <a:cs typeface="Calibri"/>
              </a:rPr>
              <a:t>with</a:t>
            </a:r>
            <a:r>
              <a:rPr sz="1298" spc="-30" dirty="0">
                <a:solidFill>
                  <a:srgbClr val="202020"/>
                </a:solidFill>
                <a:latin typeface="Calibri"/>
                <a:cs typeface="Calibri"/>
              </a:rPr>
              <a:t> </a:t>
            </a:r>
            <a:r>
              <a:rPr sz="1298" spc="-10" dirty="0">
                <a:solidFill>
                  <a:srgbClr val="202020"/>
                </a:solidFill>
                <a:latin typeface="Calibri"/>
                <a:cs typeface="Calibri"/>
              </a:rPr>
              <a:t>customer_id</a:t>
            </a:r>
            <a:r>
              <a:rPr sz="1298" spc="-30" dirty="0">
                <a:solidFill>
                  <a:srgbClr val="202020"/>
                </a:solidFill>
                <a:latin typeface="Calibri"/>
                <a:cs typeface="Calibri"/>
              </a:rPr>
              <a:t> </a:t>
            </a:r>
            <a:r>
              <a:rPr sz="1298" dirty="0">
                <a:solidFill>
                  <a:srgbClr val="202020"/>
                </a:solidFill>
                <a:latin typeface="Calibri"/>
                <a:cs typeface="Calibri"/>
              </a:rPr>
              <a:t>INT</a:t>
            </a:r>
            <a:r>
              <a:rPr sz="1298" spc="-30" dirty="0">
                <a:solidFill>
                  <a:srgbClr val="202020"/>
                </a:solidFill>
                <a:latin typeface="Calibri"/>
                <a:cs typeface="Calibri"/>
              </a:rPr>
              <a:t> </a:t>
            </a:r>
            <a:r>
              <a:rPr sz="1298" dirty="0">
                <a:solidFill>
                  <a:srgbClr val="202020"/>
                </a:solidFill>
                <a:latin typeface="Calibri"/>
                <a:cs typeface="Calibri"/>
              </a:rPr>
              <a:t>NOT</a:t>
            </a:r>
            <a:r>
              <a:rPr sz="1298" spc="-25" dirty="0">
                <a:solidFill>
                  <a:srgbClr val="202020"/>
                </a:solidFill>
                <a:latin typeface="Calibri"/>
                <a:cs typeface="Calibri"/>
              </a:rPr>
              <a:t> </a:t>
            </a:r>
            <a:r>
              <a:rPr sz="1298" dirty="0">
                <a:solidFill>
                  <a:srgbClr val="202020"/>
                </a:solidFill>
                <a:latin typeface="Calibri"/>
                <a:cs typeface="Calibri"/>
              </a:rPr>
              <a:t>NULL</a:t>
            </a:r>
            <a:r>
              <a:rPr sz="1298" spc="-30" dirty="0">
                <a:solidFill>
                  <a:srgbClr val="202020"/>
                </a:solidFill>
                <a:latin typeface="Calibri"/>
                <a:cs typeface="Calibri"/>
              </a:rPr>
              <a:t> </a:t>
            </a:r>
            <a:r>
              <a:rPr sz="1298" spc="-10" dirty="0">
                <a:solidFill>
                  <a:srgbClr val="202020"/>
                </a:solidFill>
                <a:latin typeface="Calibri"/>
                <a:cs typeface="Calibri"/>
              </a:rPr>
              <a:t>REFERENCES</a:t>
            </a:r>
            <a:r>
              <a:rPr sz="1298" spc="-30" dirty="0">
                <a:solidFill>
                  <a:srgbClr val="202020"/>
                </a:solidFill>
                <a:latin typeface="Calibri"/>
                <a:cs typeface="Calibri"/>
              </a:rPr>
              <a:t> </a:t>
            </a:r>
            <a:r>
              <a:rPr sz="1298" spc="-10" dirty="0">
                <a:solidFill>
                  <a:srgbClr val="202020"/>
                </a:solidFill>
                <a:latin typeface="Calibri"/>
                <a:cs typeface="Calibri"/>
              </a:rPr>
              <a:t>rm_customers,</a:t>
            </a:r>
            <a:r>
              <a:rPr sz="1298" spc="-30" dirty="0">
                <a:solidFill>
                  <a:srgbClr val="202020"/>
                </a:solidFill>
                <a:latin typeface="Calibri"/>
                <a:cs typeface="Calibri"/>
              </a:rPr>
              <a:t> </a:t>
            </a:r>
            <a:r>
              <a:rPr sz="1298" dirty="0">
                <a:solidFill>
                  <a:srgbClr val="202020"/>
                </a:solidFill>
                <a:latin typeface="Calibri"/>
                <a:cs typeface="Calibri"/>
              </a:rPr>
              <a:t>and</a:t>
            </a:r>
            <a:r>
              <a:rPr sz="1298" spc="-30" dirty="0">
                <a:solidFill>
                  <a:srgbClr val="202020"/>
                </a:solidFill>
                <a:latin typeface="Calibri"/>
                <a:cs typeface="Calibri"/>
              </a:rPr>
              <a:t> </a:t>
            </a:r>
            <a:r>
              <a:rPr sz="1298" spc="-10" dirty="0">
                <a:solidFill>
                  <a:srgbClr val="202020"/>
                </a:solidFill>
                <a:latin typeface="Calibri"/>
                <a:cs typeface="Calibri"/>
              </a:rPr>
              <a:t>order_total</a:t>
            </a:r>
            <a:r>
              <a:rPr sz="1298" spc="-30" dirty="0">
                <a:solidFill>
                  <a:srgbClr val="202020"/>
                </a:solidFill>
                <a:latin typeface="Calibri"/>
                <a:cs typeface="Calibri"/>
              </a:rPr>
              <a:t> </a:t>
            </a:r>
            <a:r>
              <a:rPr sz="1298" spc="-10" dirty="0">
                <a:solidFill>
                  <a:srgbClr val="202020"/>
                </a:solidFill>
                <a:latin typeface="Calibri"/>
                <a:cs typeface="Calibri"/>
              </a:rPr>
              <a:t>NUMERIC </a:t>
            </a:r>
            <a:r>
              <a:rPr sz="1298" dirty="0">
                <a:solidFill>
                  <a:srgbClr val="202020"/>
                </a:solidFill>
                <a:latin typeface="Calibri"/>
                <a:cs typeface="Calibri"/>
              </a:rPr>
              <a:t>CHECK</a:t>
            </a:r>
            <a:r>
              <a:rPr sz="1298" spc="-35" dirty="0">
                <a:solidFill>
                  <a:srgbClr val="202020"/>
                </a:solidFill>
                <a:latin typeface="Calibri"/>
                <a:cs typeface="Calibri"/>
              </a:rPr>
              <a:t> </a:t>
            </a:r>
            <a:r>
              <a:rPr sz="1298" dirty="0">
                <a:solidFill>
                  <a:srgbClr val="202020"/>
                </a:solidFill>
                <a:latin typeface="Calibri"/>
                <a:cs typeface="Calibri"/>
              </a:rPr>
              <a:t>&gt;</a:t>
            </a:r>
            <a:r>
              <a:rPr sz="1298" spc="-35" dirty="0">
                <a:solidFill>
                  <a:srgbClr val="202020"/>
                </a:solidFill>
                <a:latin typeface="Calibri"/>
                <a:cs typeface="Calibri"/>
              </a:rPr>
              <a:t> </a:t>
            </a:r>
            <a:r>
              <a:rPr sz="1298" spc="-25" dirty="0">
                <a:solidFill>
                  <a:srgbClr val="202020"/>
                </a:solidFill>
                <a:latin typeface="Calibri"/>
                <a:cs typeface="Calibri"/>
              </a:rPr>
              <a:t>0.</a:t>
            </a:r>
            <a:endParaRPr sz="1298">
              <a:latin typeface="Calibri"/>
              <a:cs typeface="Calibri"/>
            </a:endParaRPr>
          </a:p>
          <a:p>
            <a:pPr marL="169342" indent="-156657">
              <a:spcBef>
                <a:spcPts val="315"/>
              </a:spcBef>
              <a:buAutoNum type="alphaLcParenR"/>
              <a:tabLst>
                <a:tab pos="169342" algn="l"/>
              </a:tabLst>
            </a:pPr>
            <a:r>
              <a:rPr sz="1298" b="1" dirty="0">
                <a:solidFill>
                  <a:srgbClr val="1D3A5E"/>
                </a:solidFill>
                <a:latin typeface="Calibri"/>
                <a:cs typeface="Calibri"/>
              </a:rPr>
              <a:t>:</a:t>
            </a:r>
            <a:r>
              <a:rPr sz="1298" b="1" spc="-35" dirty="0">
                <a:solidFill>
                  <a:srgbClr val="1D3A5E"/>
                </a:solidFill>
                <a:latin typeface="Calibri"/>
                <a:cs typeface="Calibri"/>
              </a:rPr>
              <a:t> </a:t>
            </a:r>
            <a:r>
              <a:rPr sz="1298" dirty="0">
                <a:solidFill>
                  <a:srgbClr val="202020"/>
                </a:solidFill>
                <a:latin typeface="Calibri"/>
                <a:cs typeface="Calibri"/>
              </a:rPr>
              <a:t>Insert</a:t>
            </a:r>
            <a:r>
              <a:rPr sz="1298" spc="-35" dirty="0">
                <a:solidFill>
                  <a:srgbClr val="202020"/>
                </a:solidFill>
                <a:latin typeface="Calibri"/>
                <a:cs typeface="Calibri"/>
              </a:rPr>
              <a:t> </a:t>
            </a:r>
            <a:r>
              <a:rPr sz="1298" dirty="0">
                <a:solidFill>
                  <a:srgbClr val="202020"/>
                </a:solidFill>
                <a:latin typeface="Calibri"/>
                <a:cs typeface="Calibri"/>
              </a:rPr>
              <a:t>a</a:t>
            </a:r>
            <a:r>
              <a:rPr sz="1298" spc="-35" dirty="0">
                <a:solidFill>
                  <a:srgbClr val="202020"/>
                </a:solidFill>
                <a:latin typeface="Calibri"/>
                <a:cs typeface="Calibri"/>
              </a:rPr>
              <a:t> </a:t>
            </a:r>
            <a:r>
              <a:rPr sz="1298" spc="-25" dirty="0">
                <a:solidFill>
                  <a:srgbClr val="202020"/>
                </a:solidFill>
                <a:latin typeface="Calibri"/>
                <a:cs typeface="Calibri"/>
              </a:rPr>
              <a:t>customer,</a:t>
            </a:r>
            <a:r>
              <a:rPr sz="1298" spc="-35" dirty="0">
                <a:solidFill>
                  <a:srgbClr val="202020"/>
                </a:solidFill>
                <a:latin typeface="Calibri"/>
                <a:cs typeface="Calibri"/>
              </a:rPr>
              <a:t> </a:t>
            </a:r>
            <a:r>
              <a:rPr sz="1298" dirty="0">
                <a:solidFill>
                  <a:srgbClr val="202020"/>
                </a:solidFill>
                <a:latin typeface="Calibri"/>
                <a:cs typeface="Calibri"/>
              </a:rPr>
              <a:t>then</a:t>
            </a:r>
            <a:r>
              <a:rPr sz="1298" spc="-30" dirty="0">
                <a:solidFill>
                  <a:srgbClr val="202020"/>
                </a:solidFill>
                <a:latin typeface="Calibri"/>
                <a:cs typeface="Calibri"/>
              </a:rPr>
              <a:t> </a:t>
            </a:r>
            <a:r>
              <a:rPr sz="1298" dirty="0">
                <a:solidFill>
                  <a:srgbClr val="202020"/>
                </a:solidFill>
                <a:latin typeface="Calibri"/>
                <a:cs typeface="Calibri"/>
              </a:rPr>
              <a:t>a</a:t>
            </a:r>
            <a:r>
              <a:rPr sz="1298" spc="-35" dirty="0">
                <a:solidFill>
                  <a:srgbClr val="202020"/>
                </a:solidFill>
                <a:latin typeface="Calibri"/>
                <a:cs typeface="Calibri"/>
              </a:rPr>
              <a:t> </a:t>
            </a:r>
            <a:r>
              <a:rPr sz="1298" dirty="0">
                <a:solidFill>
                  <a:srgbClr val="202020"/>
                </a:solidFill>
                <a:latin typeface="Calibri"/>
                <a:cs typeface="Calibri"/>
              </a:rPr>
              <a:t>valid</a:t>
            </a:r>
            <a:r>
              <a:rPr sz="1298" spc="-35" dirty="0">
                <a:solidFill>
                  <a:srgbClr val="202020"/>
                </a:solidFill>
                <a:latin typeface="Calibri"/>
                <a:cs typeface="Calibri"/>
              </a:rPr>
              <a:t> </a:t>
            </a:r>
            <a:r>
              <a:rPr sz="1298" dirty="0">
                <a:solidFill>
                  <a:srgbClr val="202020"/>
                </a:solidFill>
                <a:latin typeface="Calibri"/>
                <a:cs typeface="Calibri"/>
              </a:rPr>
              <a:t>order</a:t>
            </a:r>
            <a:r>
              <a:rPr sz="1298" spc="-35" dirty="0">
                <a:solidFill>
                  <a:srgbClr val="202020"/>
                </a:solidFill>
                <a:latin typeface="Calibri"/>
                <a:cs typeface="Calibri"/>
              </a:rPr>
              <a:t> </a:t>
            </a:r>
            <a:r>
              <a:rPr sz="1298" dirty="0">
                <a:solidFill>
                  <a:srgbClr val="202020"/>
                </a:solidFill>
                <a:latin typeface="Calibri"/>
                <a:cs typeface="Calibri"/>
              </a:rPr>
              <a:t>for</a:t>
            </a:r>
            <a:r>
              <a:rPr sz="1298" spc="-35" dirty="0">
                <a:solidFill>
                  <a:srgbClr val="202020"/>
                </a:solidFill>
                <a:latin typeface="Calibri"/>
                <a:cs typeface="Calibri"/>
              </a:rPr>
              <a:t> </a:t>
            </a:r>
            <a:r>
              <a:rPr sz="1298" spc="-20" dirty="0">
                <a:solidFill>
                  <a:srgbClr val="202020"/>
                </a:solidFill>
                <a:latin typeface="Calibri"/>
                <a:cs typeface="Calibri"/>
              </a:rPr>
              <a:t>them.</a:t>
            </a:r>
            <a:endParaRPr sz="1298">
              <a:latin typeface="Calibri"/>
              <a:cs typeface="Calibri"/>
            </a:endParaRPr>
          </a:p>
          <a:p>
            <a:pPr marL="189003" indent="-176318">
              <a:spcBef>
                <a:spcPts val="315"/>
              </a:spcBef>
              <a:buAutoNum type="alphaLcParenR"/>
              <a:tabLst>
                <a:tab pos="189003" algn="l"/>
              </a:tabLst>
            </a:pPr>
            <a:r>
              <a:rPr sz="1298" b="1" dirty="0">
                <a:solidFill>
                  <a:srgbClr val="1D3A5E"/>
                </a:solidFill>
                <a:latin typeface="Calibri"/>
                <a:cs typeface="Calibri"/>
              </a:rPr>
              <a:t>:</a:t>
            </a:r>
            <a:r>
              <a:rPr sz="1298" b="1" spc="-30" dirty="0">
                <a:solidFill>
                  <a:srgbClr val="1D3A5E"/>
                </a:solidFill>
                <a:latin typeface="Calibri"/>
                <a:cs typeface="Calibri"/>
              </a:rPr>
              <a:t> </a:t>
            </a:r>
            <a:r>
              <a:rPr sz="1298" spc="-20" dirty="0">
                <a:solidFill>
                  <a:srgbClr val="202020"/>
                </a:solidFill>
                <a:latin typeface="Calibri"/>
                <a:cs typeface="Calibri"/>
              </a:rPr>
              <a:t>Try</a:t>
            </a:r>
            <a:r>
              <a:rPr sz="1298" spc="-30" dirty="0">
                <a:solidFill>
                  <a:srgbClr val="202020"/>
                </a:solidFill>
                <a:latin typeface="Calibri"/>
                <a:cs typeface="Calibri"/>
              </a:rPr>
              <a:t> </a:t>
            </a:r>
            <a:r>
              <a:rPr sz="1298" dirty="0">
                <a:solidFill>
                  <a:srgbClr val="202020"/>
                </a:solidFill>
                <a:latin typeface="Calibri"/>
                <a:cs typeface="Calibri"/>
              </a:rPr>
              <a:t>an</a:t>
            </a:r>
            <a:r>
              <a:rPr sz="1298" spc="-25" dirty="0">
                <a:solidFill>
                  <a:srgbClr val="202020"/>
                </a:solidFill>
                <a:latin typeface="Calibri"/>
                <a:cs typeface="Calibri"/>
              </a:rPr>
              <a:t> </a:t>
            </a:r>
            <a:r>
              <a:rPr sz="1298" dirty="0">
                <a:solidFill>
                  <a:srgbClr val="202020"/>
                </a:solidFill>
                <a:latin typeface="Calibri"/>
                <a:cs typeface="Calibri"/>
              </a:rPr>
              <a:t>order</a:t>
            </a:r>
            <a:r>
              <a:rPr sz="1298" spc="-30" dirty="0">
                <a:solidFill>
                  <a:srgbClr val="202020"/>
                </a:solidFill>
                <a:latin typeface="Calibri"/>
                <a:cs typeface="Calibri"/>
              </a:rPr>
              <a:t> </a:t>
            </a:r>
            <a:r>
              <a:rPr sz="1298" dirty="0">
                <a:solidFill>
                  <a:srgbClr val="202020"/>
                </a:solidFill>
                <a:latin typeface="Calibri"/>
                <a:cs typeface="Calibri"/>
              </a:rPr>
              <a:t>for</a:t>
            </a:r>
            <a:r>
              <a:rPr sz="1298" spc="-30" dirty="0">
                <a:solidFill>
                  <a:srgbClr val="202020"/>
                </a:solidFill>
                <a:latin typeface="Calibri"/>
                <a:cs typeface="Calibri"/>
              </a:rPr>
              <a:t> </a:t>
            </a:r>
            <a:r>
              <a:rPr sz="1298" spc="-10" dirty="0">
                <a:solidFill>
                  <a:srgbClr val="202020"/>
                </a:solidFill>
                <a:latin typeface="Calibri"/>
                <a:cs typeface="Calibri"/>
              </a:rPr>
              <a:t>customer_id</a:t>
            </a:r>
            <a:r>
              <a:rPr sz="1298" spc="-25" dirty="0">
                <a:solidFill>
                  <a:srgbClr val="202020"/>
                </a:solidFill>
                <a:latin typeface="Calibri"/>
                <a:cs typeface="Calibri"/>
              </a:rPr>
              <a:t> </a:t>
            </a:r>
            <a:r>
              <a:rPr sz="1298" dirty="0">
                <a:solidFill>
                  <a:srgbClr val="202020"/>
                </a:solidFill>
                <a:latin typeface="Calibri"/>
                <a:cs typeface="Calibri"/>
              </a:rPr>
              <a:t>=</a:t>
            </a:r>
            <a:r>
              <a:rPr sz="1298" spc="-30" dirty="0">
                <a:solidFill>
                  <a:srgbClr val="202020"/>
                </a:solidFill>
                <a:latin typeface="Calibri"/>
                <a:cs typeface="Calibri"/>
              </a:rPr>
              <a:t> </a:t>
            </a:r>
            <a:r>
              <a:rPr sz="1298" dirty="0">
                <a:solidFill>
                  <a:srgbClr val="202020"/>
                </a:solidFill>
                <a:latin typeface="Calibri"/>
                <a:cs typeface="Calibri"/>
              </a:rPr>
              <a:t>999</a:t>
            </a:r>
            <a:r>
              <a:rPr sz="1298" spc="-30" dirty="0">
                <a:solidFill>
                  <a:srgbClr val="202020"/>
                </a:solidFill>
                <a:latin typeface="Calibri"/>
                <a:cs typeface="Calibri"/>
              </a:rPr>
              <a:t> </a:t>
            </a:r>
            <a:r>
              <a:rPr sz="1298" dirty="0">
                <a:solidFill>
                  <a:srgbClr val="202020"/>
                </a:solidFill>
                <a:latin typeface="Calibri"/>
                <a:cs typeface="Calibri"/>
              </a:rPr>
              <a:t>-</a:t>
            </a:r>
            <a:r>
              <a:rPr sz="1298" spc="-25" dirty="0">
                <a:solidFill>
                  <a:srgbClr val="202020"/>
                </a:solidFill>
                <a:latin typeface="Calibri"/>
                <a:cs typeface="Calibri"/>
              </a:rPr>
              <a:t> </a:t>
            </a:r>
            <a:r>
              <a:rPr sz="1298" dirty="0">
                <a:solidFill>
                  <a:srgbClr val="202020"/>
                </a:solidFill>
                <a:latin typeface="Calibri"/>
                <a:cs typeface="Calibri"/>
              </a:rPr>
              <a:t>observe</a:t>
            </a:r>
            <a:r>
              <a:rPr sz="1298" spc="-30" dirty="0">
                <a:solidFill>
                  <a:srgbClr val="202020"/>
                </a:solidFill>
                <a:latin typeface="Calibri"/>
                <a:cs typeface="Calibri"/>
              </a:rPr>
              <a:t> </a:t>
            </a:r>
            <a:r>
              <a:rPr sz="1298" dirty="0">
                <a:solidFill>
                  <a:srgbClr val="202020"/>
                </a:solidFill>
                <a:latin typeface="Calibri"/>
                <a:cs typeface="Calibri"/>
              </a:rPr>
              <a:t>the</a:t>
            </a:r>
            <a:r>
              <a:rPr sz="1298" spc="-25" dirty="0">
                <a:solidFill>
                  <a:srgbClr val="202020"/>
                </a:solidFill>
                <a:latin typeface="Calibri"/>
                <a:cs typeface="Calibri"/>
              </a:rPr>
              <a:t> </a:t>
            </a:r>
            <a:r>
              <a:rPr sz="1298" dirty="0">
                <a:solidFill>
                  <a:srgbClr val="202020"/>
                </a:solidFill>
                <a:latin typeface="Calibri"/>
                <a:cs typeface="Calibri"/>
              </a:rPr>
              <a:t>FK</a:t>
            </a:r>
            <a:r>
              <a:rPr sz="1298" spc="-30" dirty="0">
                <a:solidFill>
                  <a:srgbClr val="202020"/>
                </a:solidFill>
                <a:latin typeface="Calibri"/>
                <a:cs typeface="Calibri"/>
              </a:rPr>
              <a:t> </a:t>
            </a:r>
            <a:r>
              <a:rPr sz="1298" spc="-25" dirty="0">
                <a:solidFill>
                  <a:srgbClr val="202020"/>
                </a:solidFill>
                <a:latin typeface="Calibri"/>
                <a:cs typeface="Calibri"/>
              </a:rPr>
              <a:t>error.</a:t>
            </a:r>
            <a:r>
              <a:rPr sz="1298" spc="-30" dirty="0">
                <a:solidFill>
                  <a:srgbClr val="202020"/>
                </a:solidFill>
                <a:latin typeface="Calibri"/>
                <a:cs typeface="Calibri"/>
              </a:rPr>
              <a:t> </a:t>
            </a:r>
            <a:r>
              <a:rPr sz="1298" dirty="0">
                <a:solidFill>
                  <a:srgbClr val="202020"/>
                </a:solidFill>
                <a:latin typeface="Calibri"/>
                <a:cs typeface="Calibri"/>
              </a:rPr>
              <a:t>Then</a:t>
            </a:r>
            <a:r>
              <a:rPr sz="1298" spc="-25" dirty="0">
                <a:solidFill>
                  <a:srgbClr val="202020"/>
                </a:solidFill>
                <a:latin typeface="Calibri"/>
                <a:cs typeface="Calibri"/>
              </a:rPr>
              <a:t> </a:t>
            </a:r>
            <a:r>
              <a:rPr sz="1298" dirty="0">
                <a:solidFill>
                  <a:srgbClr val="202020"/>
                </a:solidFill>
                <a:latin typeface="Calibri"/>
                <a:cs typeface="Calibri"/>
              </a:rPr>
              <a:t>try</a:t>
            </a:r>
            <a:r>
              <a:rPr sz="1298" spc="-30" dirty="0">
                <a:solidFill>
                  <a:srgbClr val="202020"/>
                </a:solidFill>
                <a:latin typeface="Calibri"/>
                <a:cs typeface="Calibri"/>
              </a:rPr>
              <a:t> </a:t>
            </a:r>
            <a:r>
              <a:rPr sz="1298" dirty="0">
                <a:solidFill>
                  <a:srgbClr val="202020"/>
                </a:solidFill>
                <a:latin typeface="Calibri"/>
                <a:cs typeface="Calibri"/>
              </a:rPr>
              <a:t>a</a:t>
            </a:r>
            <a:r>
              <a:rPr sz="1298" spc="-30" dirty="0">
                <a:solidFill>
                  <a:srgbClr val="202020"/>
                </a:solidFill>
                <a:latin typeface="Calibri"/>
                <a:cs typeface="Calibri"/>
              </a:rPr>
              <a:t> </a:t>
            </a:r>
            <a:r>
              <a:rPr sz="1298" spc="-10" dirty="0">
                <a:solidFill>
                  <a:srgbClr val="202020"/>
                </a:solidFill>
                <a:latin typeface="Calibri"/>
                <a:cs typeface="Calibri"/>
              </a:rPr>
              <a:t>duplicate</a:t>
            </a:r>
            <a:r>
              <a:rPr sz="1298" spc="-25" dirty="0">
                <a:solidFill>
                  <a:srgbClr val="202020"/>
                </a:solidFill>
                <a:latin typeface="Calibri"/>
                <a:cs typeface="Calibri"/>
              </a:rPr>
              <a:t> </a:t>
            </a:r>
            <a:r>
              <a:rPr sz="1298" spc="-10" dirty="0">
                <a:solidFill>
                  <a:srgbClr val="202020"/>
                </a:solidFill>
                <a:latin typeface="Calibri"/>
                <a:cs typeface="Calibri"/>
              </a:rPr>
              <a:t>customer</a:t>
            </a:r>
            <a:r>
              <a:rPr sz="1298" spc="-30" dirty="0">
                <a:solidFill>
                  <a:srgbClr val="202020"/>
                </a:solidFill>
                <a:latin typeface="Calibri"/>
                <a:cs typeface="Calibri"/>
              </a:rPr>
              <a:t> </a:t>
            </a:r>
            <a:r>
              <a:rPr sz="1298" spc="-10" dirty="0">
                <a:solidFill>
                  <a:srgbClr val="202020"/>
                </a:solidFill>
                <a:latin typeface="Calibri"/>
                <a:cs typeface="Calibri"/>
              </a:rPr>
              <a:t>email.</a:t>
            </a:r>
            <a:endParaRPr sz="1298">
              <a:latin typeface="Calibri"/>
              <a:cs typeface="Calibri"/>
            </a:endParaRPr>
          </a:p>
          <a:p>
            <a:pPr marL="12685">
              <a:spcBef>
                <a:spcPts val="884"/>
              </a:spcBef>
            </a:pPr>
            <a:r>
              <a:rPr sz="1298" b="1" dirty="0">
                <a:solidFill>
                  <a:srgbClr val="1D3A5E"/>
                </a:solidFill>
                <a:latin typeface="Calibri"/>
                <a:cs typeface="Calibri"/>
              </a:rPr>
              <a:t>Hint:</a:t>
            </a:r>
            <a:r>
              <a:rPr sz="1298" b="1" spc="-40" dirty="0">
                <a:solidFill>
                  <a:srgbClr val="1D3A5E"/>
                </a:solidFill>
                <a:latin typeface="Calibri"/>
                <a:cs typeface="Calibri"/>
              </a:rPr>
              <a:t> </a:t>
            </a:r>
            <a:r>
              <a:rPr sz="1298" spc="-10" dirty="0">
                <a:solidFill>
                  <a:srgbClr val="202020"/>
                </a:solidFill>
                <a:latin typeface="Calibri"/>
                <a:cs typeface="Calibri"/>
              </a:rPr>
              <a:t>Parent</a:t>
            </a:r>
            <a:r>
              <a:rPr sz="1298" spc="-40" dirty="0">
                <a:solidFill>
                  <a:srgbClr val="202020"/>
                </a:solidFill>
                <a:latin typeface="Calibri"/>
                <a:cs typeface="Calibri"/>
              </a:rPr>
              <a:t> </a:t>
            </a:r>
            <a:r>
              <a:rPr sz="1298" spc="-10" dirty="0">
                <a:solidFill>
                  <a:srgbClr val="202020"/>
                </a:solidFill>
                <a:latin typeface="Calibri"/>
                <a:cs typeface="Calibri"/>
              </a:rPr>
              <a:t>before</a:t>
            </a:r>
            <a:r>
              <a:rPr sz="1298" spc="-40" dirty="0">
                <a:solidFill>
                  <a:srgbClr val="202020"/>
                </a:solidFill>
                <a:latin typeface="Calibri"/>
                <a:cs typeface="Calibri"/>
              </a:rPr>
              <a:t> </a:t>
            </a:r>
            <a:r>
              <a:rPr sz="1298" dirty="0">
                <a:solidFill>
                  <a:srgbClr val="202020"/>
                </a:solidFill>
                <a:latin typeface="Calibri"/>
                <a:cs typeface="Calibri"/>
              </a:rPr>
              <a:t>child:</a:t>
            </a:r>
            <a:r>
              <a:rPr sz="1298" spc="-35" dirty="0">
                <a:solidFill>
                  <a:srgbClr val="202020"/>
                </a:solidFill>
                <a:latin typeface="Calibri"/>
                <a:cs typeface="Calibri"/>
              </a:rPr>
              <a:t> </a:t>
            </a:r>
            <a:r>
              <a:rPr sz="1298" dirty="0">
                <a:solidFill>
                  <a:srgbClr val="202020"/>
                </a:solidFill>
                <a:latin typeface="Calibri"/>
                <a:cs typeface="Calibri"/>
              </a:rPr>
              <a:t>insert</a:t>
            </a:r>
            <a:r>
              <a:rPr sz="1298" spc="-40" dirty="0">
                <a:solidFill>
                  <a:srgbClr val="202020"/>
                </a:solidFill>
                <a:latin typeface="Calibri"/>
                <a:cs typeface="Calibri"/>
              </a:rPr>
              <a:t> </a:t>
            </a:r>
            <a:r>
              <a:rPr sz="1298" dirty="0">
                <a:solidFill>
                  <a:srgbClr val="202020"/>
                </a:solidFill>
                <a:latin typeface="Calibri"/>
                <a:cs typeface="Calibri"/>
              </a:rPr>
              <a:t>the</a:t>
            </a:r>
            <a:r>
              <a:rPr sz="1298" spc="-40" dirty="0">
                <a:solidFill>
                  <a:srgbClr val="202020"/>
                </a:solidFill>
                <a:latin typeface="Calibri"/>
                <a:cs typeface="Calibri"/>
              </a:rPr>
              <a:t> </a:t>
            </a:r>
            <a:r>
              <a:rPr sz="1298" spc="-10" dirty="0">
                <a:solidFill>
                  <a:srgbClr val="202020"/>
                </a:solidFill>
                <a:latin typeface="Calibri"/>
                <a:cs typeface="Calibri"/>
              </a:rPr>
              <a:t>customer</a:t>
            </a:r>
            <a:r>
              <a:rPr sz="1298" spc="-40" dirty="0">
                <a:solidFill>
                  <a:srgbClr val="202020"/>
                </a:solidFill>
                <a:latin typeface="Calibri"/>
                <a:cs typeface="Calibri"/>
              </a:rPr>
              <a:t> </a:t>
            </a:r>
            <a:r>
              <a:rPr sz="1298" spc="-10" dirty="0">
                <a:solidFill>
                  <a:srgbClr val="202020"/>
                </a:solidFill>
                <a:latin typeface="Calibri"/>
                <a:cs typeface="Calibri"/>
              </a:rPr>
              <a:t>first.</a:t>
            </a:r>
            <a:r>
              <a:rPr sz="1298" spc="-35" dirty="0">
                <a:solidFill>
                  <a:srgbClr val="202020"/>
                </a:solidFill>
                <a:latin typeface="Calibri"/>
                <a:cs typeface="Calibri"/>
              </a:rPr>
              <a:t> </a:t>
            </a:r>
            <a:r>
              <a:rPr sz="1298" dirty="0">
                <a:solidFill>
                  <a:srgbClr val="202020"/>
                </a:solidFill>
                <a:latin typeface="Calibri"/>
                <a:cs typeface="Calibri"/>
              </a:rPr>
              <a:t>The</a:t>
            </a:r>
            <a:r>
              <a:rPr sz="1298" spc="-40" dirty="0">
                <a:solidFill>
                  <a:srgbClr val="202020"/>
                </a:solidFill>
                <a:latin typeface="Calibri"/>
                <a:cs typeface="Calibri"/>
              </a:rPr>
              <a:t> </a:t>
            </a:r>
            <a:r>
              <a:rPr sz="1298" dirty="0">
                <a:solidFill>
                  <a:srgbClr val="202020"/>
                </a:solidFill>
                <a:latin typeface="Calibri"/>
                <a:cs typeface="Calibri"/>
              </a:rPr>
              <a:t>FK</a:t>
            </a:r>
            <a:r>
              <a:rPr sz="1298" spc="-40" dirty="0">
                <a:solidFill>
                  <a:srgbClr val="202020"/>
                </a:solidFill>
                <a:latin typeface="Calibri"/>
                <a:cs typeface="Calibri"/>
              </a:rPr>
              <a:t> </a:t>
            </a:r>
            <a:r>
              <a:rPr sz="1298" dirty="0">
                <a:solidFill>
                  <a:srgbClr val="202020"/>
                </a:solidFill>
                <a:latin typeface="Calibri"/>
                <a:cs typeface="Calibri"/>
              </a:rPr>
              <a:t>type</a:t>
            </a:r>
            <a:r>
              <a:rPr sz="1298" spc="-35" dirty="0">
                <a:solidFill>
                  <a:srgbClr val="202020"/>
                </a:solidFill>
                <a:latin typeface="Calibri"/>
                <a:cs typeface="Calibri"/>
              </a:rPr>
              <a:t> </a:t>
            </a:r>
            <a:r>
              <a:rPr sz="1298" dirty="0">
                <a:solidFill>
                  <a:srgbClr val="202020"/>
                </a:solidFill>
                <a:latin typeface="Calibri"/>
                <a:cs typeface="Calibri"/>
              </a:rPr>
              <a:t>(INT)</a:t>
            </a:r>
            <a:r>
              <a:rPr sz="1298" spc="-40" dirty="0">
                <a:solidFill>
                  <a:srgbClr val="202020"/>
                </a:solidFill>
                <a:latin typeface="Calibri"/>
                <a:cs typeface="Calibri"/>
              </a:rPr>
              <a:t> </a:t>
            </a:r>
            <a:r>
              <a:rPr sz="1298" dirty="0">
                <a:solidFill>
                  <a:srgbClr val="202020"/>
                </a:solidFill>
                <a:latin typeface="Calibri"/>
                <a:cs typeface="Calibri"/>
              </a:rPr>
              <a:t>must</a:t>
            </a:r>
            <a:r>
              <a:rPr sz="1298" spc="-40" dirty="0">
                <a:solidFill>
                  <a:srgbClr val="202020"/>
                </a:solidFill>
                <a:latin typeface="Calibri"/>
                <a:cs typeface="Calibri"/>
              </a:rPr>
              <a:t> </a:t>
            </a:r>
            <a:r>
              <a:rPr sz="1298" dirty="0">
                <a:solidFill>
                  <a:srgbClr val="202020"/>
                </a:solidFill>
                <a:latin typeface="Calibri"/>
                <a:cs typeface="Calibri"/>
              </a:rPr>
              <a:t>match</a:t>
            </a:r>
            <a:r>
              <a:rPr sz="1298" spc="-40" dirty="0">
                <a:solidFill>
                  <a:srgbClr val="202020"/>
                </a:solidFill>
                <a:latin typeface="Calibri"/>
                <a:cs typeface="Calibri"/>
              </a:rPr>
              <a:t> </a:t>
            </a:r>
            <a:r>
              <a:rPr sz="1298" dirty="0">
                <a:solidFill>
                  <a:srgbClr val="202020"/>
                </a:solidFill>
                <a:latin typeface="Calibri"/>
                <a:cs typeface="Calibri"/>
              </a:rPr>
              <a:t>the</a:t>
            </a:r>
            <a:r>
              <a:rPr sz="1298" spc="-35" dirty="0">
                <a:solidFill>
                  <a:srgbClr val="202020"/>
                </a:solidFill>
                <a:latin typeface="Calibri"/>
                <a:cs typeface="Calibri"/>
              </a:rPr>
              <a:t> </a:t>
            </a:r>
            <a:r>
              <a:rPr sz="1298" spc="-10" dirty="0">
                <a:solidFill>
                  <a:srgbClr val="202020"/>
                </a:solidFill>
                <a:latin typeface="Calibri"/>
                <a:cs typeface="Calibri"/>
              </a:rPr>
              <a:t>parent</a:t>
            </a:r>
            <a:r>
              <a:rPr sz="1298" spc="-40" dirty="0">
                <a:solidFill>
                  <a:srgbClr val="202020"/>
                </a:solidFill>
                <a:latin typeface="Calibri"/>
                <a:cs typeface="Calibri"/>
              </a:rPr>
              <a:t> </a:t>
            </a:r>
            <a:r>
              <a:rPr sz="1298" dirty="0">
                <a:solidFill>
                  <a:srgbClr val="202020"/>
                </a:solidFill>
                <a:latin typeface="Calibri"/>
                <a:cs typeface="Calibri"/>
              </a:rPr>
              <a:t>PK</a:t>
            </a:r>
            <a:r>
              <a:rPr sz="1298" spc="-40" dirty="0">
                <a:solidFill>
                  <a:srgbClr val="202020"/>
                </a:solidFill>
                <a:latin typeface="Calibri"/>
                <a:cs typeface="Calibri"/>
              </a:rPr>
              <a:t> </a:t>
            </a:r>
            <a:r>
              <a:rPr sz="1298" dirty="0">
                <a:solidFill>
                  <a:srgbClr val="202020"/>
                </a:solidFill>
                <a:latin typeface="Calibri"/>
                <a:cs typeface="Calibri"/>
              </a:rPr>
              <a:t>(SERIAL</a:t>
            </a:r>
            <a:r>
              <a:rPr sz="1298" spc="-35" dirty="0">
                <a:solidFill>
                  <a:srgbClr val="202020"/>
                </a:solidFill>
                <a:latin typeface="Calibri"/>
                <a:cs typeface="Calibri"/>
              </a:rPr>
              <a:t> </a:t>
            </a:r>
            <a:r>
              <a:rPr sz="1298" dirty="0">
                <a:solidFill>
                  <a:srgbClr val="202020"/>
                </a:solidFill>
                <a:latin typeface="Calibri"/>
                <a:cs typeface="Calibri"/>
              </a:rPr>
              <a:t>=</a:t>
            </a:r>
            <a:r>
              <a:rPr sz="1298" spc="-40" dirty="0">
                <a:solidFill>
                  <a:srgbClr val="202020"/>
                </a:solidFill>
                <a:latin typeface="Calibri"/>
                <a:cs typeface="Calibri"/>
              </a:rPr>
              <a:t> </a:t>
            </a:r>
            <a:r>
              <a:rPr sz="1298" spc="-10" dirty="0">
                <a:solidFill>
                  <a:srgbClr val="202020"/>
                </a:solidFill>
                <a:latin typeface="Calibri"/>
                <a:cs typeface="Calibri"/>
              </a:rPr>
              <a:t>INT).</a:t>
            </a:r>
            <a:endParaRPr sz="1298">
              <a:latin typeface="Calibri"/>
              <a:cs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638" y="3"/>
            <a:ext cx="9132725" cy="5137792"/>
          </a:xfrm>
          <a:custGeom>
            <a:avLst/>
            <a:gdLst/>
            <a:ahLst/>
            <a:cxnLst/>
            <a:rect l="l" t="t" r="r" b="b"/>
            <a:pathLst>
              <a:path w="9144000" h="5144135">
                <a:moveTo>
                  <a:pt x="9144000" y="0"/>
                </a:moveTo>
                <a:lnTo>
                  <a:pt x="0" y="0"/>
                </a:lnTo>
                <a:lnTo>
                  <a:pt x="0" y="5143677"/>
                </a:lnTo>
                <a:lnTo>
                  <a:pt x="9144000" y="5143677"/>
                </a:lnTo>
                <a:lnTo>
                  <a:pt x="9144000" y="0"/>
                </a:lnTo>
                <a:close/>
              </a:path>
            </a:pathLst>
          </a:custGeom>
          <a:solidFill>
            <a:srgbClr val="1D1D1D"/>
          </a:solidFill>
        </p:spPr>
        <p:txBody>
          <a:bodyPr wrap="square" lIns="0" tIns="0" rIns="0" bIns="0" rtlCol="0"/>
          <a:lstStyle/>
          <a:p>
            <a:endParaRPr sz="1798"/>
          </a:p>
        </p:txBody>
      </p:sp>
      <p:sp>
        <p:nvSpPr>
          <p:cNvPr id="3" name="object 3"/>
          <p:cNvSpPr/>
          <p:nvPr/>
        </p:nvSpPr>
        <p:spPr>
          <a:xfrm>
            <a:off x="5283" y="4839990"/>
            <a:ext cx="9132725" cy="296814"/>
          </a:xfrm>
          <a:custGeom>
            <a:avLst/>
            <a:gdLst/>
            <a:ahLst/>
            <a:cxnLst/>
            <a:rect l="l" t="t" r="r" b="b"/>
            <a:pathLst>
              <a:path w="9144000" h="297179">
                <a:moveTo>
                  <a:pt x="9143631" y="0"/>
                </a:moveTo>
                <a:lnTo>
                  <a:pt x="0" y="0"/>
                </a:lnTo>
                <a:lnTo>
                  <a:pt x="0" y="296989"/>
                </a:lnTo>
                <a:lnTo>
                  <a:pt x="4572000" y="296989"/>
                </a:lnTo>
                <a:lnTo>
                  <a:pt x="9143631" y="296989"/>
                </a:lnTo>
                <a:lnTo>
                  <a:pt x="9143631" y="0"/>
                </a:lnTo>
                <a:close/>
              </a:path>
            </a:pathLst>
          </a:custGeom>
          <a:solidFill>
            <a:srgbClr val="333333"/>
          </a:solidFill>
        </p:spPr>
        <p:txBody>
          <a:bodyPr wrap="square" lIns="0" tIns="0" rIns="0" bIns="0" rtlCol="0"/>
          <a:lstStyle/>
          <a:p>
            <a:endParaRPr sz="1798"/>
          </a:p>
        </p:txBody>
      </p:sp>
      <p:sp>
        <p:nvSpPr>
          <p:cNvPr id="4" name="object 4"/>
          <p:cNvSpPr/>
          <p:nvPr/>
        </p:nvSpPr>
        <p:spPr>
          <a:xfrm>
            <a:off x="5283" y="-353"/>
            <a:ext cx="9132725" cy="54543"/>
          </a:xfrm>
          <a:custGeom>
            <a:avLst/>
            <a:gdLst/>
            <a:ahLst/>
            <a:cxnLst/>
            <a:rect l="l" t="t" r="r" b="b"/>
            <a:pathLst>
              <a:path w="9144000" h="54610">
                <a:moveTo>
                  <a:pt x="9143631" y="0"/>
                </a:moveTo>
                <a:lnTo>
                  <a:pt x="0" y="0"/>
                </a:lnTo>
                <a:lnTo>
                  <a:pt x="0" y="54355"/>
                </a:lnTo>
                <a:lnTo>
                  <a:pt x="4572000" y="54355"/>
                </a:lnTo>
                <a:lnTo>
                  <a:pt x="9143631" y="54355"/>
                </a:lnTo>
                <a:lnTo>
                  <a:pt x="9143631" y="0"/>
                </a:lnTo>
                <a:close/>
              </a:path>
            </a:pathLst>
          </a:custGeom>
          <a:solidFill>
            <a:srgbClr val="F44236"/>
          </a:solidFill>
        </p:spPr>
        <p:txBody>
          <a:bodyPr wrap="square" lIns="0" tIns="0" rIns="0" bIns="0" rtlCol="0"/>
          <a:lstStyle/>
          <a:p>
            <a:endParaRPr sz="1798"/>
          </a:p>
        </p:txBody>
      </p:sp>
      <p:sp>
        <p:nvSpPr>
          <p:cNvPr id="5" name="object 5"/>
          <p:cNvSpPr/>
          <p:nvPr/>
        </p:nvSpPr>
        <p:spPr>
          <a:xfrm>
            <a:off x="7311462" y="136637"/>
            <a:ext cx="1461236" cy="365309"/>
          </a:xfrm>
          <a:custGeom>
            <a:avLst/>
            <a:gdLst/>
            <a:ahLst/>
            <a:cxnLst/>
            <a:rect l="l" t="t" r="r" b="b"/>
            <a:pathLst>
              <a:path w="1463040" h="365759">
                <a:moveTo>
                  <a:pt x="1462671" y="0"/>
                </a:moveTo>
                <a:lnTo>
                  <a:pt x="0" y="0"/>
                </a:lnTo>
                <a:lnTo>
                  <a:pt x="0" y="365391"/>
                </a:lnTo>
                <a:lnTo>
                  <a:pt x="731520" y="365391"/>
                </a:lnTo>
                <a:lnTo>
                  <a:pt x="1462671" y="365391"/>
                </a:lnTo>
                <a:lnTo>
                  <a:pt x="1462671" y="0"/>
                </a:lnTo>
                <a:close/>
              </a:path>
            </a:pathLst>
          </a:custGeom>
          <a:solidFill>
            <a:srgbClr val="F44236"/>
          </a:solidFill>
        </p:spPr>
        <p:txBody>
          <a:bodyPr wrap="square" lIns="0" tIns="0" rIns="0" bIns="0" rtlCol="0"/>
          <a:lstStyle/>
          <a:p>
            <a:endParaRPr sz="1798"/>
          </a:p>
        </p:txBody>
      </p:sp>
      <p:sp>
        <p:nvSpPr>
          <p:cNvPr id="6" name="object 6"/>
          <p:cNvSpPr txBox="1"/>
          <p:nvPr/>
        </p:nvSpPr>
        <p:spPr>
          <a:xfrm>
            <a:off x="7685650" y="187953"/>
            <a:ext cx="712226" cy="223183"/>
          </a:xfrm>
          <a:prstGeom prst="rect">
            <a:avLst/>
          </a:prstGeom>
        </p:spPr>
        <p:txBody>
          <a:bodyPr vert="horz" wrap="square" lIns="0" tIns="15855" rIns="0" bIns="0" rtlCol="0">
            <a:spAutoFit/>
          </a:bodyPr>
          <a:lstStyle/>
          <a:p>
            <a:pPr marL="12685">
              <a:spcBef>
                <a:spcPts val="125"/>
              </a:spcBef>
            </a:pPr>
            <a:r>
              <a:rPr sz="1348" spc="-155" dirty="0">
                <a:solidFill>
                  <a:srgbClr val="FFFFFF"/>
                </a:solidFill>
                <a:latin typeface="Segoe UI Symbol"/>
                <a:cs typeface="Segoe UI Symbol"/>
              </a:rPr>
              <a:t>✅</a:t>
            </a:r>
            <a:r>
              <a:rPr sz="1348" spc="-225" dirty="0">
                <a:solidFill>
                  <a:srgbClr val="FFFFFF"/>
                </a:solidFill>
                <a:latin typeface="Segoe UI Symbol"/>
                <a:cs typeface="Segoe UI Symbol"/>
              </a:rPr>
              <a:t> </a:t>
            </a:r>
            <a:r>
              <a:rPr sz="1099" b="1" spc="-10" dirty="0">
                <a:solidFill>
                  <a:srgbClr val="FFFFFF"/>
                </a:solidFill>
                <a:latin typeface="Calibri"/>
                <a:cs typeface="Calibri"/>
              </a:rPr>
              <a:t>ANSWER</a:t>
            </a:r>
            <a:endParaRPr sz="1099">
              <a:latin typeface="Calibri"/>
              <a:cs typeface="Calibri"/>
            </a:endParaRPr>
          </a:p>
        </p:txBody>
      </p:sp>
      <p:sp>
        <p:nvSpPr>
          <p:cNvPr id="7" name="object 7" descr="$PPTXTitle"/>
          <p:cNvSpPr txBox="1">
            <a:spLocks noGrp="1"/>
          </p:cNvSpPr>
          <p:nvPr>
            <p:ph type="title"/>
          </p:nvPr>
        </p:nvSpPr>
        <p:spPr>
          <a:xfrm>
            <a:off x="357907" y="180766"/>
            <a:ext cx="818140" cy="257766"/>
          </a:xfrm>
          <a:prstGeom prst="rect">
            <a:avLst/>
          </a:prstGeom>
        </p:spPr>
        <p:txBody>
          <a:bodyPr vert="horz" wrap="square" lIns="0" tIns="12050" rIns="0" bIns="0" rtlCol="0">
            <a:spAutoFit/>
          </a:bodyPr>
          <a:lstStyle/>
          <a:p>
            <a:pPr marL="12685">
              <a:spcBef>
                <a:spcPts val="95"/>
              </a:spcBef>
            </a:pPr>
            <a:r>
              <a:rPr spc="-10" dirty="0">
                <a:latin typeface="Georgia"/>
                <a:cs typeface="Georgia"/>
              </a:rPr>
              <a:t>Answer</a:t>
            </a:r>
          </a:p>
        </p:txBody>
      </p:sp>
      <p:sp>
        <p:nvSpPr>
          <p:cNvPr id="8" name="object 8"/>
          <p:cNvSpPr txBox="1"/>
          <p:nvPr/>
        </p:nvSpPr>
        <p:spPr>
          <a:xfrm>
            <a:off x="356461" y="625393"/>
            <a:ext cx="2537502" cy="346847"/>
          </a:xfrm>
          <a:prstGeom prst="rect">
            <a:avLst/>
          </a:prstGeom>
        </p:spPr>
        <p:txBody>
          <a:bodyPr vert="horz" wrap="square" lIns="0" tIns="12684" rIns="0" bIns="0" rtlCol="0">
            <a:spAutoFit/>
          </a:bodyPr>
          <a:lstStyle/>
          <a:p>
            <a:pPr marL="164268" marR="5074" indent="-152217">
              <a:lnSpc>
                <a:spcPct val="110100"/>
              </a:lnSpc>
              <a:spcBef>
                <a:spcPts val="100"/>
              </a:spcBef>
            </a:pPr>
            <a:r>
              <a:rPr sz="999" dirty="0">
                <a:solidFill>
                  <a:srgbClr val="D3D3D3"/>
                </a:solidFill>
                <a:latin typeface="Courier New"/>
                <a:cs typeface="Courier New"/>
              </a:rPr>
              <a:t>CREATE</a:t>
            </a:r>
            <a:r>
              <a:rPr sz="999" spc="-50" dirty="0">
                <a:solidFill>
                  <a:srgbClr val="D3D3D3"/>
                </a:solidFill>
                <a:latin typeface="Courier New"/>
                <a:cs typeface="Courier New"/>
              </a:rPr>
              <a:t> </a:t>
            </a:r>
            <a:r>
              <a:rPr sz="999" dirty="0">
                <a:solidFill>
                  <a:srgbClr val="D3D3D3"/>
                </a:solidFill>
                <a:latin typeface="Courier New"/>
                <a:cs typeface="Courier New"/>
              </a:rPr>
              <a:t>TABLE</a:t>
            </a:r>
            <a:r>
              <a:rPr sz="999" spc="-45" dirty="0">
                <a:solidFill>
                  <a:srgbClr val="D3D3D3"/>
                </a:solidFill>
                <a:latin typeface="Courier New"/>
                <a:cs typeface="Courier New"/>
              </a:rPr>
              <a:t> </a:t>
            </a:r>
            <a:r>
              <a:rPr sz="999" dirty="0">
                <a:solidFill>
                  <a:srgbClr val="D3D3D3"/>
                </a:solidFill>
                <a:latin typeface="Courier New"/>
                <a:cs typeface="Courier New"/>
              </a:rPr>
              <a:t>day_4.rm_customers</a:t>
            </a:r>
            <a:r>
              <a:rPr sz="999" spc="-45" dirty="0">
                <a:solidFill>
                  <a:srgbClr val="D3D3D3"/>
                </a:solidFill>
                <a:latin typeface="Courier New"/>
                <a:cs typeface="Courier New"/>
              </a:rPr>
              <a:t> </a:t>
            </a:r>
            <a:r>
              <a:rPr sz="999" spc="-50" dirty="0">
                <a:solidFill>
                  <a:srgbClr val="D3D3D3"/>
                </a:solidFill>
                <a:latin typeface="Courier New"/>
                <a:cs typeface="Courier New"/>
              </a:rPr>
              <a:t>( </a:t>
            </a:r>
            <a:r>
              <a:rPr sz="999" dirty="0">
                <a:solidFill>
                  <a:srgbClr val="D3D3D3"/>
                </a:solidFill>
                <a:latin typeface="Courier New"/>
                <a:cs typeface="Courier New"/>
              </a:rPr>
              <a:t>customer_id</a:t>
            </a:r>
            <a:r>
              <a:rPr sz="999" spc="-40" dirty="0">
                <a:solidFill>
                  <a:srgbClr val="D3D3D3"/>
                </a:solidFill>
                <a:latin typeface="Courier New"/>
                <a:cs typeface="Courier New"/>
              </a:rPr>
              <a:t> </a:t>
            </a:r>
            <a:r>
              <a:rPr sz="999" dirty="0">
                <a:solidFill>
                  <a:srgbClr val="D3D3D3"/>
                </a:solidFill>
                <a:latin typeface="Courier New"/>
                <a:cs typeface="Courier New"/>
              </a:rPr>
              <a:t>SERIAL</a:t>
            </a:r>
            <a:r>
              <a:rPr sz="999" spc="-40" dirty="0">
                <a:solidFill>
                  <a:srgbClr val="D3D3D3"/>
                </a:solidFill>
                <a:latin typeface="Courier New"/>
                <a:cs typeface="Courier New"/>
              </a:rPr>
              <a:t> </a:t>
            </a:r>
            <a:r>
              <a:rPr sz="999" dirty="0">
                <a:solidFill>
                  <a:srgbClr val="D3D3D3"/>
                </a:solidFill>
                <a:latin typeface="Courier New"/>
                <a:cs typeface="Courier New"/>
              </a:rPr>
              <a:t>PRIMARY</a:t>
            </a:r>
            <a:r>
              <a:rPr sz="999" spc="-40" dirty="0">
                <a:solidFill>
                  <a:srgbClr val="D3D3D3"/>
                </a:solidFill>
                <a:latin typeface="Courier New"/>
                <a:cs typeface="Courier New"/>
              </a:rPr>
              <a:t> </a:t>
            </a:r>
            <a:r>
              <a:rPr sz="999" spc="-20" dirty="0">
                <a:solidFill>
                  <a:srgbClr val="D3D3D3"/>
                </a:solidFill>
                <a:latin typeface="Courier New"/>
                <a:cs typeface="Courier New"/>
              </a:rPr>
              <a:t>KEY,</a:t>
            </a:r>
            <a:endParaRPr sz="999">
              <a:latin typeface="Courier New"/>
              <a:cs typeface="Courier New"/>
            </a:endParaRPr>
          </a:p>
        </p:txBody>
      </p:sp>
      <p:sp>
        <p:nvSpPr>
          <p:cNvPr id="9" name="object 9"/>
          <p:cNvSpPr txBox="1"/>
          <p:nvPr/>
        </p:nvSpPr>
        <p:spPr>
          <a:xfrm>
            <a:off x="1421697" y="960501"/>
            <a:ext cx="2156972" cy="346847"/>
          </a:xfrm>
          <a:prstGeom prst="rect">
            <a:avLst/>
          </a:prstGeom>
        </p:spPr>
        <p:txBody>
          <a:bodyPr vert="horz" wrap="square" lIns="0" tIns="12684" rIns="0" bIns="0" rtlCol="0">
            <a:spAutoFit/>
          </a:bodyPr>
          <a:lstStyle/>
          <a:p>
            <a:pPr marL="12685" marR="5074">
              <a:lnSpc>
                <a:spcPct val="110100"/>
              </a:lnSpc>
              <a:spcBef>
                <a:spcPts val="100"/>
              </a:spcBef>
            </a:pPr>
            <a:r>
              <a:rPr sz="999" dirty="0">
                <a:solidFill>
                  <a:srgbClr val="D3D3D3"/>
                </a:solidFill>
                <a:latin typeface="Courier New"/>
                <a:cs typeface="Courier New"/>
              </a:rPr>
              <a:t>VARCHAR(100)</a:t>
            </a:r>
            <a:r>
              <a:rPr sz="999" spc="-40" dirty="0">
                <a:solidFill>
                  <a:srgbClr val="D3D3D3"/>
                </a:solidFill>
                <a:latin typeface="Courier New"/>
                <a:cs typeface="Courier New"/>
              </a:rPr>
              <a:t> </a:t>
            </a:r>
            <a:r>
              <a:rPr sz="999" dirty="0">
                <a:solidFill>
                  <a:srgbClr val="D3D3D3"/>
                </a:solidFill>
                <a:latin typeface="Courier New"/>
                <a:cs typeface="Courier New"/>
              </a:rPr>
              <a:t>NOT</a:t>
            </a:r>
            <a:r>
              <a:rPr sz="999" spc="-35" dirty="0">
                <a:solidFill>
                  <a:srgbClr val="D3D3D3"/>
                </a:solidFill>
                <a:latin typeface="Courier New"/>
                <a:cs typeface="Courier New"/>
              </a:rPr>
              <a:t> </a:t>
            </a:r>
            <a:r>
              <a:rPr sz="999" spc="-20" dirty="0">
                <a:solidFill>
                  <a:srgbClr val="D3D3D3"/>
                </a:solidFill>
                <a:latin typeface="Courier New"/>
                <a:cs typeface="Courier New"/>
              </a:rPr>
              <a:t>NULL, </a:t>
            </a:r>
            <a:r>
              <a:rPr sz="999" dirty="0">
                <a:solidFill>
                  <a:srgbClr val="D3D3D3"/>
                </a:solidFill>
                <a:latin typeface="Courier New"/>
                <a:cs typeface="Courier New"/>
              </a:rPr>
              <a:t>VARCHAR(150)</a:t>
            </a:r>
            <a:r>
              <a:rPr sz="999" spc="-35" dirty="0">
                <a:solidFill>
                  <a:srgbClr val="D3D3D3"/>
                </a:solidFill>
                <a:latin typeface="Courier New"/>
                <a:cs typeface="Courier New"/>
              </a:rPr>
              <a:t> </a:t>
            </a:r>
            <a:r>
              <a:rPr sz="999" dirty="0">
                <a:solidFill>
                  <a:srgbClr val="D3D3D3"/>
                </a:solidFill>
                <a:latin typeface="Courier New"/>
                <a:cs typeface="Courier New"/>
              </a:rPr>
              <a:t>UNIQUE</a:t>
            </a:r>
            <a:r>
              <a:rPr sz="999" spc="-35" dirty="0">
                <a:solidFill>
                  <a:srgbClr val="D3D3D3"/>
                </a:solidFill>
                <a:latin typeface="Courier New"/>
                <a:cs typeface="Courier New"/>
              </a:rPr>
              <a:t> </a:t>
            </a:r>
            <a:r>
              <a:rPr sz="999" dirty="0">
                <a:solidFill>
                  <a:srgbClr val="D3D3D3"/>
                </a:solidFill>
                <a:latin typeface="Courier New"/>
                <a:cs typeface="Courier New"/>
              </a:rPr>
              <a:t>NOT</a:t>
            </a:r>
            <a:r>
              <a:rPr sz="999" spc="-35" dirty="0">
                <a:solidFill>
                  <a:srgbClr val="D3D3D3"/>
                </a:solidFill>
                <a:latin typeface="Courier New"/>
                <a:cs typeface="Courier New"/>
              </a:rPr>
              <a:t> </a:t>
            </a:r>
            <a:r>
              <a:rPr sz="999" spc="-20" dirty="0">
                <a:solidFill>
                  <a:srgbClr val="D3D3D3"/>
                </a:solidFill>
                <a:latin typeface="Courier New"/>
                <a:cs typeface="Courier New"/>
              </a:rPr>
              <a:t>NULL</a:t>
            </a:r>
            <a:endParaRPr sz="999">
              <a:latin typeface="Courier New"/>
              <a:cs typeface="Courier New"/>
            </a:endParaRPr>
          </a:p>
        </p:txBody>
      </p:sp>
      <p:sp>
        <p:nvSpPr>
          <p:cNvPr id="10" name="object 10"/>
          <p:cNvSpPr txBox="1"/>
          <p:nvPr/>
        </p:nvSpPr>
        <p:spPr>
          <a:xfrm>
            <a:off x="356461" y="960501"/>
            <a:ext cx="863169" cy="528303"/>
          </a:xfrm>
          <a:prstGeom prst="rect">
            <a:avLst/>
          </a:prstGeom>
        </p:spPr>
        <p:txBody>
          <a:bodyPr vert="horz" wrap="square" lIns="0" tIns="12684" rIns="0" bIns="0" rtlCol="0">
            <a:spAutoFit/>
          </a:bodyPr>
          <a:lstStyle/>
          <a:p>
            <a:pPr marL="164268" marR="5074">
              <a:lnSpc>
                <a:spcPct val="110100"/>
              </a:lnSpc>
              <a:spcBef>
                <a:spcPts val="100"/>
              </a:spcBef>
            </a:pPr>
            <a:r>
              <a:rPr sz="999" spc="-10" dirty="0">
                <a:solidFill>
                  <a:srgbClr val="D3D3D3"/>
                </a:solidFill>
                <a:latin typeface="Courier New"/>
                <a:cs typeface="Courier New"/>
              </a:rPr>
              <a:t>full_name email</a:t>
            </a:r>
            <a:endParaRPr sz="999">
              <a:latin typeface="Courier New"/>
              <a:cs typeface="Courier New"/>
            </a:endParaRPr>
          </a:p>
          <a:p>
            <a:pPr marL="12685">
              <a:spcBef>
                <a:spcPts val="120"/>
              </a:spcBef>
            </a:pPr>
            <a:r>
              <a:rPr sz="999" spc="-25" dirty="0">
                <a:solidFill>
                  <a:srgbClr val="D3D3D3"/>
                </a:solidFill>
                <a:latin typeface="Courier New"/>
                <a:cs typeface="Courier New"/>
              </a:rPr>
              <a:t>);</a:t>
            </a:r>
            <a:endParaRPr sz="999">
              <a:latin typeface="Courier New"/>
              <a:cs typeface="Courier New"/>
            </a:endParaRPr>
          </a:p>
        </p:txBody>
      </p:sp>
      <p:sp>
        <p:nvSpPr>
          <p:cNvPr id="11" name="object 11"/>
          <p:cNvSpPr txBox="1"/>
          <p:nvPr/>
        </p:nvSpPr>
        <p:spPr>
          <a:xfrm>
            <a:off x="356461" y="1463143"/>
            <a:ext cx="6190592" cy="2371337"/>
          </a:xfrm>
          <a:prstGeom prst="rect">
            <a:avLst/>
          </a:prstGeom>
        </p:spPr>
        <p:txBody>
          <a:bodyPr vert="horz" wrap="square" lIns="0" tIns="12684" rIns="0" bIns="0" rtlCol="0">
            <a:spAutoFit/>
          </a:bodyPr>
          <a:lstStyle/>
          <a:p>
            <a:pPr marL="164268" marR="3657651" indent="-152217">
              <a:lnSpc>
                <a:spcPct val="110100"/>
              </a:lnSpc>
              <a:spcBef>
                <a:spcPts val="100"/>
              </a:spcBef>
              <a:tabLst>
                <a:tab pos="1077570" algn="l"/>
              </a:tabLst>
            </a:pPr>
            <a:r>
              <a:rPr sz="999" dirty="0">
                <a:solidFill>
                  <a:srgbClr val="D3D3D3"/>
                </a:solidFill>
                <a:latin typeface="Courier New"/>
                <a:cs typeface="Courier New"/>
              </a:rPr>
              <a:t>CREATE</a:t>
            </a:r>
            <a:r>
              <a:rPr sz="999" spc="-45" dirty="0">
                <a:solidFill>
                  <a:srgbClr val="D3D3D3"/>
                </a:solidFill>
                <a:latin typeface="Courier New"/>
                <a:cs typeface="Courier New"/>
              </a:rPr>
              <a:t> </a:t>
            </a:r>
            <a:r>
              <a:rPr sz="999" dirty="0">
                <a:solidFill>
                  <a:srgbClr val="D3D3D3"/>
                </a:solidFill>
                <a:latin typeface="Courier New"/>
                <a:cs typeface="Courier New"/>
              </a:rPr>
              <a:t>TABLE</a:t>
            </a:r>
            <a:r>
              <a:rPr sz="999" spc="-40" dirty="0">
                <a:solidFill>
                  <a:srgbClr val="D3D3D3"/>
                </a:solidFill>
                <a:latin typeface="Courier New"/>
                <a:cs typeface="Courier New"/>
              </a:rPr>
              <a:t> </a:t>
            </a:r>
            <a:r>
              <a:rPr sz="999" dirty="0">
                <a:solidFill>
                  <a:srgbClr val="D3D3D3"/>
                </a:solidFill>
                <a:latin typeface="Courier New"/>
                <a:cs typeface="Courier New"/>
              </a:rPr>
              <a:t>day_4.rm_orders</a:t>
            </a:r>
            <a:r>
              <a:rPr sz="999" spc="-40" dirty="0">
                <a:solidFill>
                  <a:srgbClr val="D3D3D3"/>
                </a:solidFill>
                <a:latin typeface="Courier New"/>
                <a:cs typeface="Courier New"/>
              </a:rPr>
              <a:t> </a:t>
            </a:r>
            <a:r>
              <a:rPr sz="999" spc="-50" dirty="0">
                <a:solidFill>
                  <a:srgbClr val="D3D3D3"/>
                </a:solidFill>
                <a:latin typeface="Courier New"/>
                <a:cs typeface="Courier New"/>
              </a:rPr>
              <a:t>( </a:t>
            </a:r>
            <a:r>
              <a:rPr sz="999" spc="-10" dirty="0">
                <a:solidFill>
                  <a:srgbClr val="D3D3D3"/>
                </a:solidFill>
                <a:latin typeface="Courier New"/>
                <a:cs typeface="Courier New"/>
              </a:rPr>
              <a:t>order_id</a:t>
            </a:r>
            <a:r>
              <a:rPr sz="999" dirty="0">
                <a:solidFill>
                  <a:srgbClr val="D3D3D3"/>
                </a:solidFill>
                <a:latin typeface="Courier New"/>
                <a:cs typeface="Courier New"/>
              </a:rPr>
              <a:t>	SERIAL</a:t>
            </a:r>
            <a:r>
              <a:rPr sz="999" spc="-35" dirty="0">
                <a:solidFill>
                  <a:srgbClr val="D3D3D3"/>
                </a:solidFill>
                <a:latin typeface="Courier New"/>
                <a:cs typeface="Courier New"/>
              </a:rPr>
              <a:t> </a:t>
            </a:r>
            <a:r>
              <a:rPr sz="999" dirty="0">
                <a:solidFill>
                  <a:srgbClr val="D3D3D3"/>
                </a:solidFill>
                <a:latin typeface="Courier New"/>
                <a:cs typeface="Courier New"/>
              </a:rPr>
              <a:t>PRIMARY</a:t>
            </a:r>
            <a:r>
              <a:rPr sz="999" spc="-30" dirty="0">
                <a:solidFill>
                  <a:srgbClr val="D3D3D3"/>
                </a:solidFill>
                <a:latin typeface="Courier New"/>
                <a:cs typeface="Courier New"/>
              </a:rPr>
              <a:t> </a:t>
            </a:r>
            <a:r>
              <a:rPr sz="999" spc="-20" dirty="0">
                <a:solidFill>
                  <a:srgbClr val="D3D3D3"/>
                </a:solidFill>
                <a:latin typeface="Courier New"/>
                <a:cs typeface="Courier New"/>
              </a:rPr>
              <a:t>KEY,</a:t>
            </a:r>
            <a:endParaRPr sz="999">
              <a:latin typeface="Courier New"/>
              <a:cs typeface="Courier New"/>
            </a:endParaRPr>
          </a:p>
          <a:p>
            <a:pPr marL="164268" marR="842902">
              <a:lnSpc>
                <a:spcPct val="110100"/>
              </a:lnSpc>
            </a:pPr>
            <a:r>
              <a:rPr sz="999" dirty="0">
                <a:solidFill>
                  <a:srgbClr val="D3D3D3"/>
                </a:solidFill>
                <a:latin typeface="Courier New"/>
                <a:cs typeface="Courier New"/>
              </a:rPr>
              <a:t>customer_id</a:t>
            </a:r>
            <a:r>
              <a:rPr sz="999" spc="-35" dirty="0">
                <a:solidFill>
                  <a:srgbClr val="D3D3D3"/>
                </a:solidFill>
                <a:latin typeface="Courier New"/>
                <a:cs typeface="Courier New"/>
              </a:rPr>
              <a:t> </a:t>
            </a:r>
            <a:r>
              <a:rPr sz="999" dirty="0">
                <a:solidFill>
                  <a:srgbClr val="D3D3D3"/>
                </a:solidFill>
                <a:latin typeface="Courier New"/>
                <a:cs typeface="Courier New"/>
              </a:rPr>
              <a:t>INT</a:t>
            </a:r>
            <a:r>
              <a:rPr sz="999" spc="-30" dirty="0">
                <a:solidFill>
                  <a:srgbClr val="D3D3D3"/>
                </a:solidFill>
                <a:latin typeface="Courier New"/>
                <a:cs typeface="Courier New"/>
              </a:rPr>
              <a:t> </a:t>
            </a:r>
            <a:r>
              <a:rPr sz="999" dirty="0">
                <a:solidFill>
                  <a:srgbClr val="D3D3D3"/>
                </a:solidFill>
                <a:latin typeface="Courier New"/>
                <a:cs typeface="Courier New"/>
              </a:rPr>
              <a:t>NOT</a:t>
            </a:r>
            <a:r>
              <a:rPr sz="999" spc="-30" dirty="0">
                <a:solidFill>
                  <a:srgbClr val="D3D3D3"/>
                </a:solidFill>
                <a:latin typeface="Courier New"/>
                <a:cs typeface="Courier New"/>
              </a:rPr>
              <a:t> </a:t>
            </a:r>
            <a:r>
              <a:rPr sz="999" dirty="0">
                <a:solidFill>
                  <a:srgbClr val="D3D3D3"/>
                </a:solidFill>
                <a:latin typeface="Courier New"/>
                <a:cs typeface="Courier New"/>
              </a:rPr>
              <a:t>NULL</a:t>
            </a:r>
            <a:r>
              <a:rPr sz="999" spc="-30" dirty="0">
                <a:solidFill>
                  <a:srgbClr val="D3D3D3"/>
                </a:solidFill>
                <a:latin typeface="Courier New"/>
                <a:cs typeface="Courier New"/>
              </a:rPr>
              <a:t> </a:t>
            </a:r>
            <a:r>
              <a:rPr sz="999" dirty="0">
                <a:solidFill>
                  <a:srgbClr val="D3D3D3"/>
                </a:solidFill>
                <a:latin typeface="Courier New"/>
                <a:cs typeface="Courier New"/>
              </a:rPr>
              <a:t>REFERENCES</a:t>
            </a:r>
            <a:r>
              <a:rPr sz="999" spc="-30" dirty="0">
                <a:solidFill>
                  <a:srgbClr val="D3D3D3"/>
                </a:solidFill>
                <a:latin typeface="Courier New"/>
                <a:cs typeface="Courier New"/>
              </a:rPr>
              <a:t> </a:t>
            </a:r>
            <a:r>
              <a:rPr sz="999" spc="-10" dirty="0">
                <a:solidFill>
                  <a:srgbClr val="D3D3D3"/>
                </a:solidFill>
                <a:latin typeface="Courier New"/>
                <a:cs typeface="Courier New"/>
              </a:rPr>
              <a:t>day_4.rm_customers(customer_id), </a:t>
            </a:r>
            <a:r>
              <a:rPr sz="999" dirty="0">
                <a:solidFill>
                  <a:srgbClr val="D3D3D3"/>
                </a:solidFill>
                <a:latin typeface="Courier New"/>
                <a:cs typeface="Courier New"/>
              </a:rPr>
              <a:t>order_total</a:t>
            </a:r>
            <a:r>
              <a:rPr sz="999" spc="-35" dirty="0">
                <a:solidFill>
                  <a:srgbClr val="D3D3D3"/>
                </a:solidFill>
                <a:latin typeface="Courier New"/>
                <a:cs typeface="Courier New"/>
              </a:rPr>
              <a:t> </a:t>
            </a:r>
            <a:r>
              <a:rPr sz="999" dirty="0">
                <a:solidFill>
                  <a:srgbClr val="D3D3D3"/>
                </a:solidFill>
                <a:latin typeface="Courier New"/>
                <a:cs typeface="Courier New"/>
              </a:rPr>
              <a:t>NUMERIC(10,2)</a:t>
            </a:r>
            <a:r>
              <a:rPr sz="999" spc="-35" dirty="0">
                <a:solidFill>
                  <a:srgbClr val="D3D3D3"/>
                </a:solidFill>
                <a:latin typeface="Courier New"/>
                <a:cs typeface="Courier New"/>
              </a:rPr>
              <a:t> </a:t>
            </a:r>
            <a:r>
              <a:rPr sz="999" dirty="0">
                <a:solidFill>
                  <a:srgbClr val="D3D3D3"/>
                </a:solidFill>
                <a:latin typeface="Courier New"/>
                <a:cs typeface="Courier New"/>
              </a:rPr>
              <a:t>NOT</a:t>
            </a:r>
            <a:r>
              <a:rPr sz="999" spc="-35" dirty="0">
                <a:solidFill>
                  <a:srgbClr val="D3D3D3"/>
                </a:solidFill>
                <a:latin typeface="Courier New"/>
                <a:cs typeface="Courier New"/>
              </a:rPr>
              <a:t> </a:t>
            </a:r>
            <a:r>
              <a:rPr sz="999" dirty="0">
                <a:solidFill>
                  <a:srgbClr val="D3D3D3"/>
                </a:solidFill>
                <a:latin typeface="Courier New"/>
                <a:cs typeface="Courier New"/>
              </a:rPr>
              <a:t>NULL</a:t>
            </a:r>
            <a:r>
              <a:rPr sz="999" spc="-35" dirty="0">
                <a:solidFill>
                  <a:srgbClr val="D3D3D3"/>
                </a:solidFill>
                <a:latin typeface="Courier New"/>
                <a:cs typeface="Courier New"/>
              </a:rPr>
              <a:t> </a:t>
            </a:r>
            <a:r>
              <a:rPr sz="999" dirty="0">
                <a:solidFill>
                  <a:srgbClr val="D3D3D3"/>
                </a:solidFill>
                <a:latin typeface="Courier New"/>
                <a:cs typeface="Courier New"/>
              </a:rPr>
              <a:t>CHECK</a:t>
            </a:r>
            <a:r>
              <a:rPr sz="999" spc="-35" dirty="0">
                <a:solidFill>
                  <a:srgbClr val="D3D3D3"/>
                </a:solidFill>
                <a:latin typeface="Courier New"/>
                <a:cs typeface="Courier New"/>
              </a:rPr>
              <a:t> </a:t>
            </a:r>
            <a:r>
              <a:rPr sz="999" dirty="0">
                <a:solidFill>
                  <a:srgbClr val="D3D3D3"/>
                </a:solidFill>
                <a:latin typeface="Courier New"/>
                <a:cs typeface="Courier New"/>
              </a:rPr>
              <a:t>(order_total</a:t>
            </a:r>
            <a:r>
              <a:rPr sz="999" spc="-30" dirty="0">
                <a:solidFill>
                  <a:srgbClr val="D3D3D3"/>
                </a:solidFill>
                <a:latin typeface="Courier New"/>
                <a:cs typeface="Courier New"/>
              </a:rPr>
              <a:t> </a:t>
            </a:r>
            <a:r>
              <a:rPr sz="999" dirty="0">
                <a:solidFill>
                  <a:srgbClr val="D3D3D3"/>
                </a:solidFill>
                <a:latin typeface="Courier New"/>
                <a:cs typeface="Courier New"/>
              </a:rPr>
              <a:t>&gt;</a:t>
            </a:r>
            <a:r>
              <a:rPr sz="999" spc="-35" dirty="0">
                <a:solidFill>
                  <a:srgbClr val="D3D3D3"/>
                </a:solidFill>
                <a:latin typeface="Courier New"/>
                <a:cs typeface="Courier New"/>
              </a:rPr>
              <a:t> </a:t>
            </a:r>
            <a:r>
              <a:rPr sz="999" spc="-25" dirty="0">
                <a:solidFill>
                  <a:srgbClr val="D3D3D3"/>
                </a:solidFill>
                <a:latin typeface="Courier New"/>
                <a:cs typeface="Courier New"/>
              </a:rPr>
              <a:t>0)</a:t>
            </a:r>
            <a:endParaRPr sz="999">
              <a:latin typeface="Courier New"/>
              <a:cs typeface="Courier New"/>
            </a:endParaRPr>
          </a:p>
          <a:p>
            <a:pPr marL="12685">
              <a:spcBef>
                <a:spcPts val="120"/>
              </a:spcBef>
            </a:pPr>
            <a:r>
              <a:rPr sz="999" spc="-25" dirty="0">
                <a:solidFill>
                  <a:srgbClr val="D3D3D3"/>
                </a:solidFill>
                <a:latin typeface="Courier New"/>
                <a:cs typeface="Courier New"/>
              </a:rPr>
              <a:t>);</a:t>
            </a:r>
            <a:endParaRPr sz="999">
              <a:latin typeface="Courier New"/>
              <a:cs typeface="Courier New"/>
            </a:endParaRPr>
          </a:p>
          <a:p>
            <a:pPr>
              <a:spcBef>
                <a:spcPts val="185"/>
              </a:spcBef>
            </a:pPr>
            <a:endParaRPr sz="999">
              <a:latin typeface="Courier New"/>
              <a:cs typeface="Courier New"/>
            </a:endParaRPr>
          </a:p>
          <a:p>
            <a:pPr marL="12685" marR="2440548">
              <a:lnSpc>
                <a:spcPct val="110100"/>
              </a:lnSpc>
            </a:pPr>
            <a:r>
              <a:rPr sz="999" dirty="0">
                <a:solidFill>
                  <a:srgbClr val="D3D3D3"/>
                </a:solidFill>
                <a:latin typeface="Courier New"/>
                <a:cs typeface="Courier New"/>
              </a:rPr>
              <a:t>INSERT</a:t>
            </a:r>
            <a:r>
              <a:rPr sz="999" spc="-50" dirty="0">
                <a:solidFill>
                  <a:srgbClr val="D3D3D3"/>
                </a:solidFill>
                <a:latin typeface="Courier New"/>
                <a:cs typeface="Courier New"/>
              </a:rPr>
              <a:t> </a:t>
            </a:r>
            <a:r>
              <a:rPr sz="999" dirty="0">
                <a:solidFill>
                  <a:srgbClr val="D3D3D3"/>
                </a:solidFill>
                <a:latin typeface="Courier New"/>
                <a:cs typeface="Courier New"/>
              </a:rPr>
              <a:t>INTO</a:t>
            </a:r>
            <a:r>
              <a:rPr sz="999" spc="-50" dirty="0">
                <a:solidFill>
                  <a:srgbClr val="D3D3D3"/>
                </a:solidFill>
                <a:latin typeface="Courier New"/>
                <a:cs typeface="Courier New"/>
              </a:rPr>
              <a:t> </a:t>
            </a:r>
            <a:r>
              <a:rPr sz="999" dirty="0">
                <a:solidFill>
                  <a:srgbClr val="D3D3D3"/>
                </a:solidFill>
                <a:latin typeface="Courier New"/>
                <a:cs typeface="Courier New"/>
              </a:rPr>
              <a:t>day_4.rm_customers</a:t>
            </a:r>
            <a:r>
              <a:rPr sz="999" spc="-50" dirty="0">
                <a:solidFill>
                  <a:srgbClr val="D3D3D3"/>
                </a:solidFill>
                <a:latin typeface="Courier New"/>
                <a:cs typeface="Courier New"/>
              </a:rPr>
              <a:t> </a:t>
            </a:r>
            <a:r>
              <a:rPr sz="999" dirty="0">
                <a:solidFill>
                  <a:srgbClr val="D3D3D3"/>
                </a:solidFill>
                <a:latin typeface="Courier New"/>
                <a:cs typeface="Courier New"/>
              </a:rPr>
              <a:t>(full_name,</a:t>
            </a:r>
            <a:r>
              <a:rPr sz="999" spc="-45" dirty="0">
                <a:solidFill>
                  <a:srgbClr val="D3D3D3"/>
                </a:solidFill>
                <a:latin typeface="Courier New"/>
                <a:cs typeface="Courier New"/>
              </a:rPr>
              <a:t> </a:t>
            </a:r>
            <a:r>
              <a:rPr sz="999" spc="-10" dirty="0">
                <a:solidFill>
                  <a:srgbClr val="D3D3D3"/>
                </a:solidFill>
                <a:latin typeface="Courier New"/>
                <a:cs typeface="Courier New"/>
              </a:rPr>
              <a:t>email) </a:t>
            </a:r>
            <a:r>
              <a:rPr sz="999" dirty="0">
                <a:solidFill>
                  <a:srgbClr val="D3D3D3"/>
                </a:solidFill>
                <a:latin typeface="Courier New"/>
                <a:cs typeface="Courier New"/>
              </a:rPr>
              <a:t>VALUES</a:t>
            </a:r>
            <a:r>
              <a:rPr sz="999" spc="-35" dirty="0">
                <a:solidFill>
                  <a:srgbClr val="D3D3D3"/>
                </a:solidFill>
                <a:latin typeface="Courier New"/>
                <a:cs typeface="Courier New"/>
              </a:rPr>
              <a:t> </a:t>
            </a:r>
            <a:r>
              <a:rPr sz="999" dirty="0">
                <a:solidFill>
                  <a:srgbClr val="D3D3D3"/>
                </a:solidFill>
                <a:latin typeface="Courier New"/>
                <a:cs typeface="Courier New"/>
              </a:rPr>
              <a:t>('Meera</a:t>
            </a:r>
            <a:r>
              <a:rPr sz="999" spc="-35" dirty="0">
                <a:solidFill>
                  <a:srgbClr val="D3D3D3"/>
                </a:solidFill>
                <a:latin typeface="Courier New"/>
                <a:cs typeface="Courier New"/>
              </a:rPr>
              <a:t> </a:t>
            </a:r>
            <a:r>
              <a:rPr sz="999" dirty="0">
                <a:solidFill>
                  <a:srgbClr val="D3D3D3"/>
                </a:solidFill>
                <a:latin typeface="Courier New"/>
                <a:cs typeface="Courier New"/>
              </a:rPr>
              <a:t>Reddy',</a:t>
            </a:r>
            <a:r>
              <a:rPr sz="999" spc="-30" dirty="0">
                <a:solidFill>
                  <a:srgbClr val="D3D3D3"/>
                </a:solidFill>
                <a:latin typeface="Courier New"/>
                <a:cs typeface="Courier New"/>
              </a:rPr>
              <a:t> </a:t>
            </a:r>
            <a:r>
              <a:rPr sz="999" spc="-10" dirty="0">
                <a:solidFill>
                  <a:srgbClr val="D3D3D3"/>
                </a:solidFill>
                <a:latin typeface="Courier New"/>
                <a:cs typeface="Courier New"/>
                <a:hlinkClick r:id="rId2"/>
              </a:rPr>
              <a:t>'meera@gmail.com'</a:t>
            </a:r>
            <a:r>
              <a:rPr sz="999" spc="-10" dirty="0">
                <a:solidFill>
                  <a:srgbClr val="D3D3D3"/>
                </a:solidFill>
                <a:latin typeface="Courier New"/>
                <a:cs typeface="Courier New"/>
              </a:rPr>
              <a:t>);</a:t>
            </a:r>
            <a:endParaRPr sz="999">
              <a:latin typeface="Courier New"/>
              <a:cs typeface="Courier New"/>
            </a:endParaRPr>
          </a:p>
          <a:p>
            <a:pPr marL="12685">
              <a:spcBef>
                <a:spcPts val="125"/>
              </a:spcBef>
            </a:pPr>
            <a:r>
              <a:rPr sz="999" dirty="0">
                <a:solidFill>
                  <a:srgbClr val="D3D3D3"/>
                </a:solidFill>
                <a:latin typeface="Courier New"/>
                <a:cs typeface="Courier New"/>
              </a:rPr>
              <a:t>INSERT</a:t>
            </a:r>
            <a:r>
              <a:rPr sz="999" spc="-40" dirty="0">
                <a:solidFill>
                  <a:srgbClr val="D3D3D3"/>
                </a:solidFill>
                <a:latin typeface="Courier New"/>
                <a:cs typeface="Courier New"/>
              </a:rPr>
              <a:t> </a:t>
            </a:r>
            <a:r>
              <a:rPr sz="999" dirty="0">
                <a:solidFill>
                  <a:srgbClr val="D3D3D3"/>
                </a:solidFill>
                <a:latin typeface="Courier New"/>
                <a:cs typeface="Courier New"/>
              </a:rPr>
              <a:t>INTO</a:t>
            </a:r>
            <a:r>
              <a:rPr sz="999" spc="-40" dirty="0">
                <a:solidFill>
                  <a:srgbClr val="D3D3D3"/>
                </a:solidFill>
                <a:latin typeface="Courier New"/>
                <a:cs typeface="Courier New"/>
              </a:rPr>
              <a:t> </a:t>
            </a:r>
            <a:r>
              <a:rPr sz="999" dirty="0">
                <a:solidFill>
                  <a:srgbClr val="D3D3D3"/>
                </a:solidFill>
                <a:latin typeface="Courier New"/>
                <a:cs typeface="Courier New"/>
              </a:rPr>
              <a:t>day_4.rm_orders</a:t>
            </a:r>
            <a:r>
              <a:rPr sz="999" spc="-35" dirty="0">
                <a:solidFill>
                  <a:srgbClr val="D3D3D3"/>
                </a:solidFill>
                <a:latin typeface="Courier New"/>
                <a:cs typeface="Courier New"/>
              </a:rPr>
              <a:t> </a:t>
            </a:r>
            <a:r>
              <a:rPr sz="999" dirty="0">
                <a:solidFill>
                  <a:srgbClr val="D3D3D3"/>
                </a:solidFill>
                <a:latin typeface="Courier New"/>
                <a:cs typeface="Courier New"/>
              </a:rPr>
              <a:t>(customer_id,</a:t>
            </a:r>
            <a:r>
              <a:rPr sz="999" spc="-40" dirty="0">
                <a:solidFill>
                  <a:srgbClr val="D3D3D3"/>
                </a:solidFill>
                <a:latin typeface="Courier New"/>
                <a:cs typeface="Courier New"/>
              </a:rPr>
              <a:t> </a:t>
            </a:r>
            <a:r>
              <a:rPr sz="999" dirty="0">
                <a:solidFill>
                  <a:srgbClr val="D3D3D3"/>
                </a:solidFill>
                <a:latin typeface="Courier New"/>
                <a:cs typeface="Courier New"/>
              </a:rPr>
              <a:t>order_total)</a:t>
            </a:r>
            <a:r>
              <a:rPr sz="999" spc="-35" dirty="0">
                <a:solidFill>
                  <a:srgbClr val="D3D3D3"/>
                </a:solidFill>
                <a:latin typeface="Courier New"/>
                <a:cs typeface="Courier New"/>
              </a:rPr>
              <a:t> </a:t>
            </a:r>
            <a:r>
              <a:rPr sz="999" dirty="0">
                <a:solidFill>
                  <a:srgbClr val="D3D3D3"/>
                </a:solidFill>
                <a:latin typeface="Courier New"/>
                <a:cs typeface="Courier New"/>
              </a:rPr>
              <a:t>VALUES</a:t>
            </a:r>
            <a:r>
              <a:rPr sz="999" spc="-40" dirty="0">
                <a:solidFill>
                  <a:srgbClr val="D3D3D3"/>
                </a:solidFill>
                <a:latin typeface="Courier New"/>
                <a:cs typeface="Courier New"/>
              </a:rPr>
              <a:t> </a:t>
            </a:r>
            <a:r>
              <a:rPr sz="999" dirty="0">
                <a:solidFill>
                  <a:srgbClr val="D3D3D3"/>
                </a:solidFill>
                <a:latin typeface="Courier New"/>
                <a:cs typeface="Courier New"/>
              </a:rPr>
              <a:t>(1,</a:t>
            </a:r>
            <a:r>
              <a:rPr sz="999" spc="-35" dirty="0">
                <a:solidFill>
                  <a:srgbClr val="D3D3D3"/>
                </a:solidFill>
                <a:latin typeface="Courier New"/>
                <a:cs typeface="Courier New"/>
              </a:rPr>
              <a:t> </a:t>
            </a:r>
            <a:r>
              <a:rPr sz="999" dirty="0">
                <a:solidFill>
                  <a:srgbClr val="D3D3D3"/>
                </a:solidFill>
                <a:latin typeface="Courier New"/>
                <a:cs typeface="Courier New"/>
              </a:rPr>
              <a:t>2499.00);</a:t>
            </a:r>
            <a:r>
              <a:rPr sz="999" spc="-40" dirty="0">
                <a:solidFill>
                  <a:srgbClr val="D3D3D3"/>
                </a:solidFill>
                <a:latin typeface="Courier New"/>
                <a:cs typeface="Courier New"/>
              </a:rPr>
              <a:t> </a:t>
            </a:r>
            <a:r>
              <a:rPr sz="999" spc="-10" dirty="0">
                <a:solidFill>
                  <a:srgbClr val="D3D3D3"/>
                </a:solidFill>
                <a:latin typeface="Courier New"/>
                <a:cs typeface="Courier New"/>
              </a:rPr>
              <a:t>-</a:t>
            </a:r>
            <a:r>
              <a:rPr sz="999" dirty="0">
                <a:solidFill>
                  <a:srgbClr val="D3D3D3"/>
                </a:solidFill>
                <a:latin typeface="Courier New"/>
                <a:cs typeface="Courier New"/>
              </a:rPr>
              <a:t>-</a:t>
            </a:r>
            <a:r>
              <a:rPr sz="999" spc="-35" dirty="0">
                <a:solidFill>
                  <a:srgbClr val="D3D3D3"/>
                </a:solidFill>
                <a:latin typeface="Courier New"/>
                <a:cs typeface="Courier New"/>
              </a:rPr>
              <a:t> </a:t>
            </a:r>
            <a:r>
              <a:rPr sz="999" spc="-25" dirty="0">
                <a:solidFill>
                  <a:srgbClr val="D3D3D3"/>
                </a:solidFill>
                <a:latin typeface="Courier New"/>
                <a:cs typeface="Courier New"/>
              </a:rPr>
              <a:t>OK</a:t>
            </a:r>
            <a:endParaRPr sz="999">
              <a:latin typeface="Courier New"/>
              <a:cs typeface="Courier New"/>
            </a:endParaRPr>
          </a:p>
          <a:p>
            <a:pPr>
              <a:spcBef>
                <a:spcPts val="305"/>
              </a:spcBef>
            </a:pPr>
            <a:endParaRPr sz="999">
              <a:latin typeface="Courier New"/>
              <a:cs typeface="Courier New"/>
            </a:endParaRPr>
          </a:p>
          <a:p>
            <a:pPr marL="12685"/>
            <a:r>
              <a:rPr sz="999" spc="-10" dirty="0">
                <a:solidFill>
                  <a:srgbClr val="699954"/>
                </a:solidFill>
                <a:latin typeface="Courier New"/>
                <a:cs typeface="Courier New"/>
              </a:rPr>
              <a:t>-</a:t>
            </a:r>
            <a:r>
              <a:rPr sz="999" dirty="0">
                <a:solidFill>
                  <a:srgbClr val="699954"/>
                </a:solidFill>
                <a:latin typeface="Courier New"/>
                <a:cs typeface="Courier New"/>
              </a:rPr>
              <a:t>-</a:t>
            </a:r>
            <a:r>
              <a:rPr sz="999" spc="-30" dirty="0">
                <a:solidFill>
                  <a:srgbClr val="699954"/>
                </a:solidFill>
                <a:latin typeface="Courier New"/>
                <a:cs typeface="Courier New"/>
              </a:rPr>
              <a:t> </a:t>
            </a:r>
            <a:r>
              <a:rPr sz="999" dirty="0">
                <a:solidFill>
                  <a:srgbClr val="699954"/>
                </a:solidFill>
                <a:latin typeface="Courier New"/>
                <a:cs typeface="Courier New"/>
              </a:rPr>
              <a:t>FAILS</a:t>
            </a:r>
            <a:r>
              <a:rPr sz="999" spc="-20" dirty="0">
                <a:solidFill>
                  <a:srgbClr val="699954"/>
                </a:solidFill>
                <a:latin typeface="Courier New"/>
                <a:cs typeface="Courier New"/>
              </a:rPr>
              <a:t> </a:t>
            </a:r>
            <a:r>
              <a:rPr sz="999" dirty="0">
                <a:solidFill>
                  <a:srgbClr val="699954"/>
                </a:solidFill>
                <a:latin typeface="Courier New"/>
                <a:cs typeface="Courier New"/>
              </a:rPr>
              <a:t>(FK):</a:t>
            </a:r>
            <a:r>
              <a:rPr sz="999" spc="-20" dirty="0">
                <a:solidFill>
                  <a:srgbClr val="699954"/>
                </a:solidFill>
                <a:latin typeface="Courier New"/>
                <a:cs typeface="Courier New"/>
              </a:rPr>
              <a:t> </a:t>
            </a:r>
            <a:r>
              <a:rPr sz="999" dirty="0">
                <a:solidFill>
                  <a:srgbClr val="699954"/>
                </a:solidFill>
                <a:latin typeface="Courier New"/>
                <a:cs typeface="Courier New"/>
              </a:rPr>
              <a:t>customer</a:t>
            </a:r>
            <a:r>
              <a:rPr sz="999" spc="-20" dirty="0">
                <a:solidFill>
                  <a:srgbClr val="699954"/>
                </a:solidFill>
                <a:latin typeface="Courier New"/>
                <a:cs typeface="Courier New"/>
              </a:rPr>
              <a:t> </a:t>
            </a:r>
            <a:r>
              <a:rPr sz="999" dirty="0">
                <a:solidFill>
                  <a:srgbClr val="699954"/>
                </a:solidFill>
                <a:latin typeface="Courier New"/>
                <a:cs typeface="Courier New"/>
              </a:rPr>
              <a:t>999</a:t>
            </a:r>
            <a:r>
              <a:rPr sz="999" spc="-20" dirty="0">
                <a:solidFill>
                  <a:srgbClr val="699954"/>
                </a:solidFill>
                <a:latin typeface="Courier New"/>
                <a:cs typeface="Courier New"/>
              </a:rPr>
              <a:t> </a:t>
            </a:r>
            <a:r>
              <a:rPr sz="999" dirty="0">
                <a:solidFill>
                  <a:srgbClr val="699954"/>
                </a:solidFill>
                <a:latin typeface="Courier New"/>
                <a:cs typeface="Courier New"/>
              </a:rPr>
              <a:t>does</a:t>
            </a:r>
            <a:r>
              <a:rPr sz="999" spc="-20" dirty="0">
                <a:solidFill>
                  <a:srgbClr val="699954"/>
                </a:solidFill>
                <a:latin typeface="Courier New"/>
                <a:cs typeface="Courier New"/>
              </a:rPr>
              <a:t> </a:t>
            </a:r>
            <a:r>
              <a:rPr sz="999" dirty="0">
                <a:solidFill>
                  <a:srgbClr val="699954"/>
                </a:solidFill>
                <a:latin typeface="Courier New"/>
                <a:cs typeface="Courier New"/>
              </a:rPr>
              <a:t>not</a:t>
            </a:r>
            <a:r>
              <a:rPr sz="999" spc="-15" dirty="0">
                <a:solidFill>
                  <a:srgbClr val="699954"/>
                </a:solidFill>
                <a:latin typeface="Courier New"/>
                <a:cs typeface="Courier New"/>
              </a:rPr>
              <a:t> </a:t>
            </a:r>
            <a:r>
              <a:rPr sz="999" spc="-10" dirty="0">
                <a:solidFill>
                  <a:srgbClr val="699954"/>
                </a:solidFill>
                <a:latin typeface="Courier New"/>
                <a:cs typeface="Courier New"/>
              </a:rPr>
              <a:t>exist</a:t>
            </a:r>
            <a:endParaRPr sz="999">
              <a:latin typeface="Courier New"/>
              <a:cs typeface="Courier New"/>
            </a:endParaRPr>
          </a:p>
          <a:p>
            <a:pPr marL="12685">
              <a:spcBef>
                <a:spcPts val="125"/>
              </a:spcBef>
            </a:pPr>
            <a:r>
              <a:rPr sz="999" dirty="0">
                <a:solidFill>
                  <a:srgbClr val="D3D3D3"/>
                </a:solidFill>
                <a:latin typeface="Courier New"/>
                <a:cs typeface="Courier New"/>
              </a:rPr>
              <a:t>INSERT</a:t>
            </a:r>
            <a:r>
              <a:rPr sz="999" spc="-45" dirty="0">
                <a:solidFill>
                  <a:srgbClr val="D3D3D3"/>
                </a:solidFill>
                <a:latin typeface="Courier New"/>
                <a:cs typeface="Courier New"/>
              </a:rPr>
              <a:t> </a:t>
            </a:r>
            <a:r>
              <a:rPr sz="999" dirty="0">
                <a:solidFill>
                  <a:srgbClr val="D3D3D3"/>
                </a:solidFill>
                <a:latin typeface="Courier New"/>
                <a:cs typeface="Courier New"/>
              </a:rPr>
              <a:t>INTO</a:t>
            </a:r>
            <a:r>
              <a:rPr sz="999" spc="-45" dirty="0">
                <a:solidFill>
                  <a:srgbClr val="D3D3D3"/>
                </a:solidFill>
                <a:latin typeface="Courier New"/>
                <a:cs typeface="Courier New"/>
              </a:rPr>
              <a:t> </a:t>
            </a:r>
            <a:r>
              <a:rPr sz="999" dirty="0">
                <a:solidFill>
                  <a:srgbClr val="D3D3D3"/>
                </a:solidFill>
                <a:latin typeface="Courier New"/>
                <a:cs typeface="Courier New"/>
              </a:rPr>
              <a:t>day_4.rm_orders</a:t>
            </a:r>
            <a:r>
              <a:rPr sz="999" spc="-45" dirty="0">
                <a:solidFill>
                  <a:srgbClr val="D3D3D3"/>
                </a:solidFill>
                <a:latin typeface="Courier New"/>
                <a:cs typeface="Courier New"/>
              </a:rPr>
              <a:t> </a:t>
            </a:r>
            <a:r>
              <a:rPr sz="999" dirty="0">
                <a:solidFill>
                  <a:srgbClr val="D3D3D3"/>
                </a:solidFill>
                <a:latin typeface="Courier New"/>
                <a:cs typeface="Courier New"/>
              </a:rPr>
              <a:t>(customer_id,</a:t>
            </a:r>
            <a:r>
              <a:rPr sz="999" spc="-40" dirty="0">
                <a:solidFill>
                  <a:srgbClr val="D3D3D3"/>
                </a:solidFill>
                <a:latin typeface="Courier New"/>
                <a:cs typeface="Courier New"/>
              </a:rPr>
              <a:t> </a:t>
            </a:r>
            <a:r>
              <a:rPr sz="999" dirty="0">
                <a:solidFill>
                  <a:srgbClr val="D3D3D3"/>
                </a:solidFill>
                <a:latin typeface="Courier New"/>
                <a:cs typeface="Courier New"/>
              </a:rPr>
              <a:t>order_total)</a:t>
            </a:r>
            <a:r>
              <a:rPr sz="999" spc="-45" dirty="0">
                <a:solidFill>
                  <a:srgbClr val="D3D3D3"/>
                </a:solidFill>
                <a:latin typeface="Courier New"/>
                <a:cs typeface="Courier New"/>
              </a:rPr>
              <a:t> </a:t>
            </a:r>
            <a:r>
              <a:rPr sz="999" dirty="0">
                <a:solidFill>
                  <a:srgbClr val="D3D3D3"/>
                </a:solidFill>
                <a:latin typeface="Courier New"/>
                <a:cs typeface="Courier New"/>
              </a:rPr>
              <a:t>VALUES</a:t>
            </a:r>
            <a:r>
              <a:rPr sz="999" spc="-45" dirty="0">
                <a:solidFill>
                  <a:srgbClr val="D3D3D3"/>
                </a:solidFill>
                <a:latin typeface="Courier New"/>
                <a:cs typeface="Courier New"/>
              </a:rPr>
              <a:t> </a:t>
            </a:r>
            <a:r>
              <a:rPr sz="999" dirty="0">
                <a:solidFill>
                  <a:srgbClr val="D3D3D3"/>
                </a:solidFill>
                <a:latin typeface="Courier New"/>
                <a:cs typeface="Courier New"/>
              </a:rPr>
              <a:t>(999,</a:t>
            </a:r>
            <a:r>
              <a:rPr sz="999" spc="-40" dirty="0">
                <a:solidFill>
                  <a:srgbClr val="D3D3D3"/>
                </a:solidFill>
                <a:latin typeface="Courier New"/>
                <a:cs typeface="Courier New"/>
              </a:rPr>
              <a:t> </a:t>
            </a:r>
            <a:r>
              <a:rPr sz="999" spc="-10" dirty="0">
                <a:solidFill>
                  <a:srgbClr val="D3D3D3"/>
                </a:solidFill>
                <a:latin typeface="Courier New"/>
                <a:cs typeface="Courier New"/>
              </a:rPr>
              <a:t>500.00);</a:t>
            </a:r>
            <a:endParaRPr sz="999">
              <a:latin typeface="Courier New"/>
              <a:cs typeface="Courier New"/>
            </a:endParaRPr>
          </a:p>
          <a:p>
            <a:pPr marL="12685">
              <a:spcBef>
                <a:spcPts val="120"/>
              </a:spcBef>
            </a:pPr>
            <a:r>
              <a:rPr sz="999" spc="-10" dirty="0">
                <a:solidFill>
                  <a:srgbClr val="699954"/>
                </a:solidFill>
                <a:latin typeface="Courier New"/>
                <a:cs typeface="Courier New"/>
              </a:rPr>
              <a:t>-</a:t>
            </a:r>
            <a:r>
              <a:rPr sz="999" dirty="0">
                <a:solidFill>
                  <a:srgbClr val="699954"/>
                </a:solidFill>
                <a:latin typeface="Courier New"/>
                <a:cs typeface="Courier New"/>
              </a:rPr>
              <a:t>-</a:t>
            </a:r>
            <a:r>
              <a:rPr sz="999" spc="-30" dirty="0">
                <a:solidFill>
                  <a:srgbClr val="699954"/>
                </a:solidFill>
                <a:latin typeface="Courier New"/>
                <a:cs typeface="Courier New"/>
              </a:rPr>
              <a:t> </a:t>
            </a:r>
            <a:r>
              <a:rPr sz="999" dirty="0">
                <a:solidFill>
                  <a:srgbClr val="699954"/>
                </a:solidFill>
                <a:latin typeface="Courier New"/>
                <a:cs typeface="Courier New"/>
              </a:rPr>
              <a:t>FAILS</a:t>
            </a:r>
            <a:r>
              <a:rPr sz="999" spc="-30" dirty="0">
                <a:solidFill>
                  <a:srgbClr val="699954"/>
                </a:solidFill>
                <a:latin typeface="Courier New"/>
                <a:cs typeface="Courier New"/>
              </a:rPr>
              <a:t> </a:t>
            </a:r>
            <a:r>
              <a:rPr sz="999" dirty="0">
                <a:solidFill>
                  <a:srgbClr val="699954"/>
                </a:solidFill>
                <a:latin typeface="Courier New"/>
                <a:cs typeface="Courier New"/>
              </a:rPr>
              <a:t>(UNIQUE):</a:t>
            </a:r>
            <a:r>
              <a:rPr sz="999" spc="-30" dirty="0">
                <a:solidFill>
                  <a:srgbClr val="699954"/>
                </a:solidFill>
                <a:latin typeface="Courier New"/>
                <a:cs typeface="Courier New"/>
              </a:rPr>
              <a:t> </a:t>
            </a:r>
            <a:r>
              <a:rPr sz="999" dirty="0">
                <a:solidFill>
                  <a:srgbClr val="699954"/>
                </a:solidFill>
                <a:latin typeface="Courier New"/>
                <a:cs typeface="Courier New"/>
              </a:rPr>
              <a:t>duplicate</a:t>
            </a:r>
            <a:r>
              <a:rPr sz="999" spc="-25" dirty="0">
                <a:solidFill>
                  <a:srgbClr val="699954"/>
                </a:solidFill>
                <a:latin typeface="Courier New"/>
                <a:cs typeface="Courier New"/>
              </a:rPr>
              <a:t> </a:t>
            </a:r>
            <a:r>
              <a:rPr sz="999" spc="-10" dirty="0">
                <a:solidFill>
                  <a:srgbClr val="699954"/>
                </a:solidFill>
                <a:latin typeface="Courier New"/>
                <a:cs typeface="Courier New"/>
              </a:rPr>
              <a:t>email</a:t>
            </a:r>
            <a:endParaRPr sz="999">
              <a:latin typeface="Courier New"/>
              <a:cs typeface="Courier New"/>
            </a:endParaRPr>
          </a:p>
          <a:p>
            <a:pPr marL="12685">
              <a:spcBef>
                <a:spcPts val="120"/>
              </a:spcBef>
            </a:pPr>
            <a:r>
              <a:rPr sz="999" dirty="0">
                <a:solidFill>
                  <a:srgbClr val="D3D3D3"/>
                </a:solidFill>
                <a:latin typeface="Courier New"/>
                <a:cs typeface="Courier New"/>
              </a:rPr>
              <a:t>INSERT</a:t>
            </a:r>
            <a:r>
              <a:rPr sz="999" spc="-55" dirty="0">
                <a:solidFill>
                  <a:srgbClr val="D3D3D3"/>
                </a:solidFill>
                <a:latin typeface="Courier New"/>
                <a:cs typeface="Courier New"/>
              </a:rPr>
              <a:t> </a:t>
            </a:r>
            <a:r>
              <a:rPr sz="999" dirty="0">
                <a:solidFill>
                  <a:srgbClr val="D3D3D3"/>
                </a:solidFill>
                <a:latin typeface="Courier New"/>
                <a:cs typeface="Courier New"/>
              </a:rPr>
              <a:t>INTO</a:t>
            </a:r>
            <a:r>
              <a:rPr sz="999" spc="-40" dirty="0">
                <a:solidFill>
                  <a:srgbClr val="D3D3D3"/>
                </a:solidFill>
                <a:latin typeface="Courier New"/>
                <a:cs typeface="Courier New"/>
              </a:rPr>
              <a:t> </a:t>
            </a:r>
            <a:r>
              <a:rPr sz="999" dirty="0">
                <a:solidFill>
                  <a:srgbClr val="D3D3D3"/>
                </a:solidFill>
                <a:latin typeface="Courier New"/>
                <a:cs typeface="Courier New"/>
              </a:rPr>
              <a:t>day_4.rm_customers</a:t>
            </a:r>
            <a:r>
              <a:rPr sz="999" spc="-45" dirty="0">
                <a:solidFill>
                  <a:srgbClr val="D3D3D3"/>
                </a:solidFill>
                <a:latin typeface="Courier New"/>
                <a:cs typeface="Courier New"/>
              </a:rPr>
              <a:t> </a:t>
            </a:r>
            <a:r>
              <a:rPr sz="999" dirty="0">
                <a:solidFill>
                  <a:srgbClr val="D3D3D3"/>
                </a:solidFill>
                <a:latin typeface="Courier New"/>
                <a:cs typeface="Courier New"/>
              </a:rPr>
              <a:t>(full_name,</a:t>
            </a:r>
            <a:r>
              <a:rPr sz="999" spc="-40" dirty="0">
                <a:solidFill>
                  <a:srgbClr val="D3D3D3"/>
                </a:solidFill>
                <a:latin typeface="Courier New"/>
                <a:cs typeface="Courier New"/>
              </a:rPr>
              <a:t> </a:t>
            </a:r>
            <a:r>
              <a:rPr sz="999" dirty="0">
                <a:solidFill>
                  <a:srgbClr val="D3D3D3"/>
                </a:solidFill>
                <a:latin typeface="Courier New"/>
                <a:cs typeface="Courier New"/>
              </a:rPr>
              <a:t>email)</a:t>
            </a:r>
            <a:r>
              <a:rPr sz="999" spc="-40" dirty="0">
                <a:solidFill>
                  <a:srgbClr val="D3D3D3"/>
                </a:solidFill>
                <a:latin typeface="Courier New"/>
                <a:cs typeface="Courier New"/>
              </a:rPr>
              <a:t> </a:t>
            </a:r>
            <a:r>
              <a:rPr sz="999" dirty="0">
                <a:solidFill>
                  <a:srgbClr val="D3D3D3"/>
                </a:solidFill>
                <a:latin typeface="Courier New"/>
                <a:cs typeface="Courier New"/>
              </a:rPr>
              <a:t>VALUES</a:t>
            </a:r>
            <a:r>
              <a:rPr sz="999" spc="-40" dirty="0">
                <a:solidFill>
                  <a:srgbClr val="D3D3D3"/>
                </a:solidFill>
                <a:latin typeface="Courier New"/>
                <a:cs typeface="Courier New"/>
              </a:rPr>
              <a:t> </a:t>
            </a:r>
            <a:r>
              <a:rPr sz="999" spc="-10" dirty="0">
                <a:solidFill>
                  <a:srgbClr val="D3D3D3"/>
                </a:solidFill>
                <a:latin typeface="Courier New"/>
                <a:cs typeface="Courier New"/>
              </a:rPr>
              <a:t>(</a:t>
            </a:r>
            <a:r>
              <a:rPr sz="999" spc="-10" dirty="0">
                <a:solidFill>
                  <a:srgbClr val="D3D3D3"/>
                </a:solidFill>
                <a:latin typeface="Courier New"/>
                <a:cs typeface="Courier New"/>
                <a:hlinkClick r:id="rId3"/>
              </a:rPr>
              <a:t>'X','meera@gmail.com'</a:t>
            </a:r>
            <a:r>
              <a:rPr sz="999" spc="-10" dirty="0">
                <a:solidFill>
                  <a:srgbClr val="D3D3D3"/>
                </a:solidFill>
                <a:latin typeface="Courier New"/>
                <a:cs typeface="Courier New"/>
              </a:rPr>
              <a:t>);</a:t>
            </a:r>
            <a:endParaRPr sz="999">
              <a:latin typeface="Courier New"/>
              <a:cs typeface="Courier New"/>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638" y="-353"/>
            <a:ext cx="8766782" cy="5137158"/>
          </a:xfrm>
          <a:custGeom>
            <a:avLst/>
            <a:gdLst/>
            <a:ahLst/>
            <a:cxnLst/>
            <a:rect l="l" t="t" r="r" b="b"/>
            <a:pathLst>
              <a:path w="8777605" h="5143500">
                <a:moveTo>
                  <a:pt x="109435" y="0"/>
                </a:moveTo>
                <a:lnTo>
                  <a:pt x="0" y="0"/>
                </a:lnTo>
                <a:lnTo>
                  <a:pt x="0" y="5143309"/>
                </a:lnTo>
                <a:lnTo>
                  <a:pt x="54724" y="5143309"/>
                </a:lnTo>
                <a:lnTo>
                  <a:pt x="109435" y="5143309"/>
                </a:lnTo>
                <a:lnTo>
                  <a:pt x="109435" y="0"/>
                </a:lnTo>
                <a:close/>
              </a:path>
              <a:path w="8777605" h="5143500">
                <a:moveTo>
                  <a:pt x="8777516" y="183235"/>
                </a:moveTo>
                <a:lnTo>
                  <a:pt x="7589164" y="183235"/>
                </a:lnTo>
                <a:lnTo>
                  <a:pt x="7589164" y="594360"/>
                </a:lnTo>
                <a:lnTo>
                  <a:pt x="8183524" y="594360"/>
                </a:lnTo>
                <a:lnTo>
                  <a:pt x="8777516" y="594360"/>
                </a:lnTo>
                <a:lnTo>
                  <a:pt x="8777516" y="183235"/>
                </a:lnTo>
                <a:close/>
              </a:path>
            </a:pathLst>
          </a:custGeom>
          <a:solidFill>
            <a:srgbClr val="9C27AF"/>
          </a:solidFill>
        </p:spPr>
        <p:txBody>
          <a:bodyPr wrap="square" lIns="0" tIns="0" rIns="0" bIns="0" rtlCol="0"/>
          <a:lstStyle/>
          <a:p>
            <a:endParaRPr sz="1798"/>
          </a:p>
        </p:txBody>
      </p:sp>
      <p:sp>
        <p:nvSpPr>
          <p:cNvPr id="3" name="object 3" descr="$PPTXTitle"/>
          <p:cNvSpPr txBox="1">
            <a:spLocks noGrp="1"/>
          </p:cNvSpPr>
          <p:nvPr>
            <p:ph type="title"/>
          </p:nvPr>
        </p:nvSpPr>
        <p:spPr>
          <a:xfrm>
            <a:off x="5637" y="1"/>
            <a:ext cx="0" cy="1132848"/>
          </a:xfrm>
          <a:prstGeom prst="rect">
            <a:avLst/>
          </a:prstGeom>
        </p:spPr>
        <p:txBody>
          <a:bodyPr vert="horz" wrap="square" lIns="0" tIns="57992" rIns="0" bIns="0" rtlCol="0">
            <a:spAutoFit/>
          </a:bodyPr>
          <a:lstStyle/>
          <a:p>
            <a:pPr marL="7490351">
              <a:spcBef>
                <a:spcPts val="100"/>
              </a:spcBef>
            </a:pPr>
            <a:r>
              <a:rPr sz="1398" spc="-10" dirty="0">
                <a:solidFill>
                  <a:srgbClr val="FFFFFF"/>
                </a:solidFill>
              </a:rPr>
              <a:t>CRAZY</a:t>
            </a:r>
            <a:endParaRPr sz="1398"/>
          </a:p>
        </p:txBody>
      </p:sp>
      <p:sp>
        <p:nvSpPr>
          <p:cNvPr id="4" name="object 4"/>
          <p:cNvSpPr txBox="1"/>
          <p:nvPr/>
        </p:nvSpPr>
        <p:spPr>
          <a:xfrm>
            <a:off x="447788" y="716783"/>
            <a:ext cx="8047580" cy="2857782"/>
          </a:xfrm>
          <a:prstGeom prst="rect">
            <a:avLst/>
          </a:prstGeom>
        </p:spPr>
        <p:txBody>
          <a:bodyPr vert="horz" wrap="square" lIns="0" tIns="12684" rIns="0" bIns="0" rtlCol="0">
            <a:spAutoFit/>
          </a:bodyPr>
          <a:lstStyle/>
          <a:p>
            <a:pPr marL="12685" marR="273991">
              <a:lnSpc>
                <a:spcPct val="120100"/>
              </a:lnSpc>
              <a:spcBef>
                <a:spcPts val="100"/>
              </a:spcBef>
            </a:pPr>
            <a:r>
              <a:rPr sz="1298" b="1" spc="-10" dirty="0">
                <a:solidFill>
                  <a:srgbClr val="1D3A5E"/>
                </a:solidFill>
                <a:latin typeface="Calibri"/>
                <a:cs typeface="Calibri"/>
              </a:rPr>
              <a:t>SCENARIO:</a:t>
            </a:r>
            <a:r>
              <a:rPr sz="1298" b="1" spc="-35" dirty="0">
                <a:solidFill>
                  <a:srgbClr val="1D3A5E"/>
                </a:solidFill>
                <a:latin typeface="Calibri"/>
                <a:cs typeface="Calibri"/>
              </a:rPr>
              <a:t> </a:t>
            </a:r>
            <a:r>
              <a:rPr sz="1298" dirty="0">
                <a:solidFill>
                  <a:srgbClr val="202020"/>
                </a:solidFill>
                <a:latin typeface="Calibri"/>
                <a:cs typeface="Calibri"/>
              </a:rPr>
              <a:t>A</a:t>
            </a:r>
            <a:r>
              <a:rPr sz="1298" spc="-35" dirty="0">
                <a:solidFill>
                  <a:srgbClr val="202020"/>
                </a:solidFill>
                <a:latin typeface="Calibri"/>
                <a:cs typeface="Calibri"/>
              </a:rPr>
              <a:t> </a:t>
            </a:r>
            <a:r>
              <a:rPr sz="1298" dirty="0">
                <a:solidFill>
                  <a:srgbClr val="202020"/>
                </a:solidFill>
                <a:latin typeface="Calibri"/>
                <a:cs typeface="Calibri"/>
              </a:rPr>
              <a:t>blogging</a:t>
            </a:r>
            <a:r>
              <a:rPr sz="1298" spc="-30" dirty="0">
                <a:solidFill>
                  <a:srgbClr val="202020"/>
                </a:solidFill>
                <a:latin typeface="Calibri"/>
                <a:cs typeface="Calibri"/>
              </a:rPr>
              <a:t> </a:t>
            </a:r>
            <a:r>
              <a:rPr sz="1298" spc="-10" dirty="0">
                <a:solidFill>
                  <a:srgbClr val="202020"/>
                </a:solidFill>
                <a:latin typeface="Calibri"/>
                <a:cs typeface="Calibri"/>
              </a:rPr>
              <a:t>platform:</a:t>
            </a:r>
            <a:r>
              <a:rPr sz="1298" spc="-30" dirty="0">
                <a:solidFill>
                  <a:srgbClr val="202020"/>
                </a:solidFill>
                <a:latin typeface="Calibri"/>
                <a:cs typeface="Calibri"/>
              </a:rPr>
              <a:t> </a:t>
            </a:r>
            <a:r>
              <a:rPr sz="1298" spc="-10" dirty="0">
                <a:solidFill>
                  <a:srgbClr val="202020"/>
                </a:solidFill>
                <a:latin typeface="Calibri"/>
                <a:cs typeface="Calibri"/>
              </a:rPr>
              <a:t>deleting</a:t>
            </a:r>
            <a:r>
              <a:rPr sz="1298" spc="-30" dirty="0">
                <a:solidFill>
                  <a:srgbClr val="202020"/>
                </a:solidFill>
                <a:latin typeface="Calibri"/>
                <a:cs typeface="Calibri"/>
              </a:rPr>
              <a:t> </a:t>
            </a:r>
            <a:r>
              <a:rPr sz="1298" dirty="0">
                <a:solidFill>
                  <a:srgbClr val="202020"/>
                </a:solidFill>
                <a:latin typeface="Calibri"/>
                <a:cs typeface="Calibri"/>
              </a:rPr>
              <a:t>a</a:t>
            </a:r>
            <a:r>
              <a:rPr sz="1298" spc="-30" dirty="0">
                <a:solidFill>
                  <a:srgbClr val="202020"/>
                </a:solidFill>
                <a:latin typeface="Calibri"/>
                <a:cs typeface="Calibri"/>
              </a:rPr>
              <a:t> </a:t>
            </a:r>
            <a:r>
              <a:rPr sz="1298" dirty="0">
                <a:solidFill>
                  <a:srgbClr val="202020"/>
                </a:solidFill>
                <a:latin typeface="Calibri"/>
                <a:cs typeface="Calibri"/>
              </a:rPr>
              <a:t>post</a:t>
            </a:r>
            <a:r>
              <a:rPr sz="1298" spc="-30" dirty="0">
                <a:solidFill>
                  <a:srgbClr val="202020"/>
                </a:solidFill>
                <a:latin typeface="Calibri"/>
                <a:cs typeface="Calibri"/>
              </a:rPr>
              <a:t> </a:t>
            </a:r>
            <a:r>
              <a:rPr sz="1298" dirty="0">
                <a:solidFill>
                  <a:srgbClr val="202020"/>
                </a:solidFill>
                <a:latin typeface="Calibri"/>
                <a:cs typeface="Calibri"/>
              </a:rPr>
              <a:t>should</a:t>
            </a:r>
            <a:r>
              <a:rPr sz="1298" spc="-30" dirty="0">
                <a:solidFill>
                  <a:srgbClr val="202020"/>
                </a:solidFill>
                <a:latin typeface="Calibri"/>
                <a:cs typeface="Calibri"/>
              </a:rPr>
              <a:t> </a:t>
            </a:r>
            <a:r>
              <a:rPr sz="1298" spc="-20" dirty="0">
                <a:solidFill>
                  <a:srgbClr val="202020"/>
                </a:solidFill>
                <a:latin typeface="Calibri"/>
                <a:cs typeface="Calibri"/>
              </a:rPr>
              <a:t>auto-</a:t>
            </a:r>
            <a:r>
              <a:rPr sz="1298" spc="-10" dirty="0">
                <a:solidFill>
                  <a:srgbClr val="202020"/>
                </a:solidFill>
                <a:latin typeface="Calibri"/>
                <a:cs typeface="Calibri"/>
              </a:rPr>
              <a:t>remove</a:t>
            </a:r>
            <a:r>
              <a:rPr sz="1298" spc="-30" dirty="0">
                <a:solidFill>
                  <a:srgbClr val="202020"/>
                </a:solidFill>
                <a:latin typeface="Calibri"/>
                <a:cs typeface="Calibri"/>
              </a:rPr>
              <a:t> </a:t>
            </a:r>
            <a:r>
              <a:rPr sz="1298" dirty="0">
                <a:solidFill>
                  <a:srgbClr val="202020"/>
                </a:solidFill>
                <a:latin typeface="Calibri"/>
                <a:cs typeface="Calibri"/>
              </a:rPr>
              <a:t>its</a:t>
            </a:r>
            <a:r>
              <a:rPr sz="1298" spc="-30" dirty="0">
                <a:solidFill>
                  <a:srgbClr val="202020"/>
                </a:solidFill>
                <a:latin typeface="Calibri"/>
                <a:cs typeface="Calibri"/>
              </a:rPr>
              <a:t> </a:t>
            </a:r>
            <a:r>
              <a:rPr sz="1298" spc="-10" dirty="0">
                <a:solidFill>
                  <a:srgbClr val="202020"/>
                </a:solidFill>
                <a:latin typeface="Calibri"/>
                <a:cs typeface="Calibri"/>
              </a:rPr>
              <a:t>comments</a:t>
            </a:r>
            <a:r>
              <a:rPr sz="1298" spc="-30" dirty="0">
                <a:solidFill>
                  <a:srgbClr val="202020"/>
                </a:solidFill>
                <a:latin typeface="Calibri"/>
                <a:cs typeface="Calibri"/>
              </a:rPr>
              <a:t> </a:t>
            </a:r>
            <a:r>
              <a:rPr sz="1298" dirty="0">
                <a:solidFill>
                  <a:srgbClr val="202020"/>
                </a:solidFill>
                <a:latin typeface="Calibri"/>
                <a:cs typeface="Calibri"/>
              </a:rPr>
              <a:t>(they</a:t>
            </a:r>
            <a:r>
              <a:rPr sz="1298" spc="-30" dirty="0">
                <a:solidFill>
                  <a:srgbClr val="202020"/>
                </a:solidFill>
                <a:latin typeface="Calibri"/>
                <a:cs typeface="Calibri"/>
              </a:rPr>
              <a:t> </a:t>
            </a:r>
            <a:r>
              <a:rPr sz="1298" dirty="0">
                <a:solidFill>
                  <a:srgbClr val="202020"/>
                </a:solidFill>
                <a:latin typeface="Calibri"/>
                <a:cs typeface="Calibri"/>
              </a:rPr>
              <a:t>are</a:t>
            </a:r>
            <a:r>
              <a:rPr sz="1298" spc="-30" dirty="0">
                <a:solidFill>
                  <a:srgbClr val="202020"/>
                </a:solidFill>
                <a:latin typeface="Calibri"/>
                <a:cs typeface="Calibri"/>
              </a:rPr>
              <a:t> </a:t>
            </a:r>
            <a:r>
              <a:rPr sz="1298" spc="-10" dirty="0">
                <a:solidFill>
                  <a:srgbClr val="202020"/>
                </a:solidFill>
                <a:latin typeface="Calibri"/>
                <a:cs typeface="Calibri"/>
              </a:rPr>
              <a:t>meaningless</a:t>
            </a:r>
            <a:r>
              <a:rPr sz="1298" spc="-30" dirty="0">
                <a:solidFill>
                  <a:srgbClr val="202020"/>
                </a:solidFill>
                <a:latin typeface="Calibri"/>
                <a:cs typeface="Calibri"/>
              </a:rPr>
              <a:t> </a:t>
            </a:r>
            <a:r>
              <a:rPr sz="1298" dirty="0">
                <a:solidFill>
                  <a:srgbClr val="202020"/>
                </a:solidFill>
                <a:latin typeface="Calibri"/>
                <a:cs typeface="Calibri"/>
              </a:rPr>
              <a:t>alone),</a:t>
            </a:r>
            <a:r>
              <a:rPr sz="1298" spc="-30" dirty="0">
                <a:solidFill>
                  <a:srgbClr val="202020"/>
                </a:solidFill>
                <a:latin typeface="Calibri"/>
                <a:cs typeface="Calibri"/>
              </a:rPr>
              <a:t> </a:t>
            </a:r>
            <a:r>
              <a:rPr sz="1298" spc="-25" dirty="0">
                <a:solidFill>
                  <a:srgbClr val="202020"/>
                </a:solidFill>
                <a:latin typeface="Calibri"/>
                <a:cs typeface="Calibri"/>
              </a:rPr>
              <a:t>but </a:t>
            </a:r>
            <a:r>
              <a:rPr sz="1298" spc="-10" dirty="0">
                <a:solidFill>
                  <a:srgbClr val="202020"/>
                </a:solidFill>
                <a:latin typeface="Calibri"/>
                <a:cs typeface="Calibri"/>
              </a:rPr>
              <a:t>deleting</a:t>
            </a:r>
            <a:r>
              <a:rPr sz="1298" spc="-40" dirty="0">
                <a:solidFill>
                  <a:srgbClr val="202020"/>
                </a:solidFill>
                <a:latin typeface="Calibri"/>
                <a:cs typeface="Calibri"/>
              </a:rPr>
              <a:t> </a:t>
            </a:r>
            <a:r>
              <a:rPr sz="1298" dirty="0">
                <a:solidFill>
                  <a:srgbClr val="202020"/>
                </a:solidFill>
                <a:latin typeface="Calibri"/>
                <a:cs typeface="Calibri"/>
              </a:rPr>
              <a:t>a</a:t>
            </a:r>
            <a:r>
              <a:rPr sz="1298" spc="-35" dirty="0">
                <a:solidFill>
                  <a:srgbClr val="202020"/>
                </a:solidFill>
                <a:latin typeface="Calibri"/>
                <a:cs typeface="Calibri"/>
              </a:rPr>
              <a:t> </a:t>
            </a:r>
            <a:r>
              <a:rPr sz="1298" spc="-10" dirty="0">
                <a:solidFill>
                  <a:srgbClr val="202020"/>
                </a:solidFill>
                <a:latin typeface="Calibri"/>
                <a:cs typeface="Calibri"/>
              </a:rPr>
              <a:t>department</a:t>
            </a:r>
            <a:r>
              <a:rPr sz="1298" spc="-35" dirty="0">
                <a:solidFill>
                  <a:srgbClr val="202020"/>
                </a:solidFill>
                <a:latin typeface="Calibri"/>
                <a:cs typeface="Calibri"/>
              </a:rPr>
              <a:t> </a:t>
            </a:r>
            <a:r>
              <a:rPr sz="1298" dirty="0">
                <a:solidFill>
                  <a:srgbClr val="202020"/>
                </a:solidFill>
                <a:latin typeface="Calibri"/>
                <a:cs typeface="Calibri"/>
              </a:rPr>
              <a:t>must</a:t>
            </a:r>
            <a:r>
              <a:rPr sz="1298" spc="-40" dirty="0">
                <a:solidFill>
                  <a:srgbClr val="202020"/>
                </a:solidFill>
                <a:latin typeface="Calibri"/>
                <a:cs typeface="Calibri"/>
              </a:rPr>
              <a:t> </a:t>
            </a:r>
            <a:r>
              <a:rPr sz="1298" dirty="0">
                <a:solidFill>
                  <a:srgbClr val="202020"/>
                </a:solidFill>
                <a:latin typeface="Calibri"/>
                <a:cs typeface="Calibri"/>
              </a:rPr>
              <a:t>be</a:t>
            </a:r>
            <a:r>
              <a:rPr sz="1298" spc="-35" dirty="0">
                <a:solidFill>
                  <a:srgbClr val="202020"/>
                </a:solidFill>
                <a:latin typeface="Calibri"/>
                <a:cs typeface="Calibri"/>
              </a:rPr>
              <a:t> </a:t>
            </a:r>
            <a:r>
              <a:rPr sz="1298" spc="-10" dirty="0">
                <a:solidFill>
                  <a:srgbClr val="202020"/>
                </a:solidFill>
                <a:latin typeface="Calibri"/>
                <a:cs typeface="Calibri"/>
              </a:rPr>
              <a:t>BLOCKED</a:t>
            </a:r>
            <a:r>
              <a:rPr sz="1298" spc="-35" dirty="0">
                <a:solidFill>
                  <a:srgbClr val="202020"/>
                </a:solidFill>
                <a:latin typeface="Calibri"/>
                <a:cs typeface="Calibri"/>
              </a:rPr>
              <a:t> </a:t>
            </a:r>
            <a:r>
              <a:rPr sz="1298" dirty="0">
                <a:solidFill>
                  <a:srgbClr val="202020"/>
                </a:solidFill>
                <a:latin typeface="Calibri"/>
                <a:cs typeface="Calibri"/>
              </a:rPr>
              <a:t>while</a:t>
            </a:r>
            <a:r>
              <a:rPr sz="1298" spc="-35" dirty="0">
                <a:solidFill>
                  <a:srgbClr val="202020"/>
                </a:solidFill>
                <a:latin typeface="Calibri"/>
                <a:cs typeface="Calibri"/>
              </a:rPr>
              <a:t> </a:t>
            </a:r>
            <a:r>
              <a:rPr sz="1298" spc="-10" dirty="0">
                <a:solidFill>
                  <a:srgbClr val="202020"/>
                </a:solidFill>
                <a:latin typeface="Calibri"/>
                <a:cs typeface="Calibri"/>
              </a:rPr>
              <a:t>employees</a:t>
            </a:r>
            <a:r>
              <a:rPr sz="1298" spc="-40" dirty="0">
                <a:solidFill>
                  <a:srgbClr val="202020"/>
                </a:solidFill>
                <a:latin typeface="Calibri"/>
                <a:cs typeface="Calibri"/>
              </a:rPr>
              <a:t> </a:t>
            </a:r>
            <a:r>
              <a:rPr sz="1298" dirty="0">
                <a:solidFill>
                  <a:srgbClr val="202020"/>
                </a:solidFill>
                <a:latin typeface="Calibri"/>
                <a:cs typeface="Calibri"/>
              </a:rPr>
              <a:t>still</a:t>
            </a:r>
            <a:r>
              <a:rPr sz="1298" spc="-35" dirty="0">
                <a:solidFill>
                  <a:srgbClr val="202020"/>
                </a:solidFill>
                <a:latin typeface="Calibri"/>
                <a:cs typeface="Calibri"/>
              </a:rPr>
              <a:t> </a:t>
            </a:r>
            <a:r>
              <a:rPr sz="1298" dirty="0">
                <a:solidFill>
                  <a:srgbClr val="202020"/>
                </a:solidFill>
                <a:latin typeface="Calibri"/>
                <a:cs typeface="Calibri"/>
              </a:rPr>
              <a:t>belong</a:t>
            </a:r>
            <a:r>
              <a:rPr sz="1298" spc="-35" dirty="0">
                <a:solidFill>
                  <a:srgbClr val="202020"/>
                </a:solidFill>
                <a:latin typeface="Calibri"/>
                <a:cs typeface="Calibri"/>
              </a:rPr>
              <a:t> </a:t>
            </a:r>
            <a:r>
              <a:rPr sz="1298" dirty="0">
                <a:solidFill>
                  <a:srgbClr val="202020"/>
                </a:solidFill>
                <a:latin typeface="Calibri"/>
                <a:cs typeface="Calibri"/>
              </a:rPr>
              <a:t>to</a:t>
            </a:r>
            <a:r>
              <a:rPr sz="1298" spc="-40" dirty="0">
                <a:solidFill>
                  <a:srgbClr val="202020"/>
                </a:solidFill>
                <a:latin typeface="Calibri"/>
                <a:cs typeface="Calibri"/>
              </a:rPr>
              <a:t> </a:t>
            </a:r>
            <a:r>
              <a:rPr sz="1298" dirty="0">
                <a:solidFill>
                  <a:srgbClr val="202020"/>
                </a:solidFill>
                <a:latin typeface="Calibri"/>
                <a:cs typeface="Calibri"/>
              </a:rPr>
              <a:t>it.</a:t>
            </a:r>
            <a:r>
              <a:rPr sz="1298" spc="-35" dirty="0">
                <a:solidFill>
                  <a:srgbClr val="202020"/>
                </a:solidFill>
                <a:latin typeface="Calibri"/>
                <a:cs typeface="Calibri"/>
              </a:rPr>
              <a:t> </a:t>
            </a:r>
            <a:r>
              <a:rPr sz="1298" dirty="0">
                <a:solidFill>
                  <a:srgbClr val="202020"/>
                </a:solidFill>
                <a:latin typeface="Calibri"/>
                <a:cs typeface="Calibri"/>
              </a:rPr>
              <a:t>Pick</a:t>
            </a:r>
            <a:r>
              <a:rPr sz="1298" spc="-35" dirty="0">
                <a:solidFill>
                  <a:srgbClr val="202020"/>
                </a:solidFill>
                <a:latin typeface="Calibri"/>
                <a:cs typeface="Calibri"/>
              </a:rPr>
              <a:t> </a:t>
            </a:r>
            <a:r>
              <a:rPr sz="1298" dirty="0">
                <a:solidFill>
                  <a:srgbClr val="202020"/>
                </a:solidFill>
                <a:latin typeface="Calibri"/>
                <a:cs typeface="Calibri"/>
              </a:rPr>
              <a:t>the</a:t>
            </a:r>
            <a:r>
              <a:rPr sz="1298" spc="-35" dirty="0">
                <a:solidFill>
                  <a:srgbClr val="202020"/>
                </a:solidFill>
                <a:latin typeface="Calibri"/>
                <a:cs typeface="Calibri"/>
              </a:rPr>
              <a:t> </a:t>
            </a:r>
            <a:r>
              <a:rPr sz="1298" dirty="0">
                <a:solidFill>
                  <a:srgbClr val="202020"/>
                </a:solidFill>
                <a:latin typeface="Calibri"/>
                <a:cs typeface="Calibri"/>
              </a:rPr>
              <a:t>right</a:t>
            </a:r>
            <a:r>
              <a:rPr sz="1298" spc="-40" dirty="0">
                <a:solidFill>
                  <a:srgbClr val="202020"/>
                </a:solidFill>
                <a:latin typeface="Calibri"/>
                <a:cs typeface="Calibri"/>
              </a:rPr>
              <a:t> </a:t>
            </a:r>
            <a:r>
              <a:rPr sz="1298" dirty="0">
                <a:solidFill>
                  <a:srgbClr val="202020"/>
                </a:solidFill>
                <a:latin typeface="Calibri"/>
                <a:cs typeface="Calibri"/>
              </a:rPr>
              <a:t>ON</a:t>
            </a:r>
            <a:r>
              <a:rPr sz="1298" spc="-35" dirty="0">
                <a:solidFill>
                  <a:srgbClr val="202020"/>
                </a:solidFill>
                <a:latin typeface="Calibri"/>
                <a:cs typeface="Calibri"/>
              </a:rPr>
              <a:t> </a:t>
            </a:r>
            <a:r>
              <a:rPr sz="1298" dirty="0">
                <a:solidFill>
                  <a:srgbClr val="202020"/>
                </a:solidFill>
                <a:latin typeface="Calibri"/>
                <a:cs typeface="Calibri"/>
              </a:rPr>
              <a:t>DELETE</a:t>
            </a:r>
            <a:r>
              <a:rPr sz="1298" spc="-35" dirty="0">
                <a:solidFill>
                  <a:srgbClr val="202020"/>
                </a:solidFill>
                <a:latin typeface="Calibri"/>
                <a:cs typeface="Calibri"/>
              </a:rPr>
              <a:t> </a:t>
            </a:r>
            <a:r>
              <a:rPr sz="1298" dirty="0">
                <a:solidFill>
                  <a:srgbClr val="202020"/>
                </a:solidFill>
                <a:latin typeface="Calibri"/>
                <a:cs typeface="Calibri"/>
              </a:rPr>
              <a:t>policy</a:t>
            </a:r>
            <a:r>
              <a:rPr sz="1298" spc="-35" dirty="0">
                <a:solidFill>
                  <a:srgbClr val="202020"/>
                </a:solidFill>
                <a:latin typeface="Calibri"/>
                <a:cs typeface="Calibri"/>
              </a:rPr>
              <a:t> </a:t>
            </a:r>
            <a:r>
              <a:rPr sz="1298" dirty="0">
                <a:solidFill>
                  <a:srgbClr val="202020"/>
                </a:solidFill>
                <a:latin typeface="Calibri"/>
                <a:cs typeface="Calibri"/>
              </a:rPr>
              <a:t>for</a:t>
            </a:r>
            <a:r>
              <a:rPr sz="1298" spc="-40" dirty="0">
                <a:solidFill>
                  <a:srgbClr val="202020"/>
                </a:solidFill>
                <a:latin typeface="Calibri"/>
                <a:cs typeface="Calibri"/>
              </a:rPr>
              <a:t> </a:t>
            </a:r>
            <a:r>
              <a:rPr sz="1298" spc="-10" dirty="0">
                <a:solidFill>
                  <a:srgbClr val="202020"/>
                </a:solidFill>
                <a:latin typeface="Calibri"/>
                <a:cs typeface="Calibri"/>
              </a:rPr>
              <a:t>each.</a:t>
            </a:r>
            <a:endParaRPr sz="1298">
              <a:latin typeface="Calibri"/>
              <a:cs typeface="Calibri"/>
            </a:endParaRPr>
          </a:p>
          <a:p>
            <a:pPr marL="12685">
              <a:spcBef>
                <a:spcPts val="884"/>
              </a:spcBef>
            </a:pPr>
            <a:r>
              <a:rPr sz="1298" b="1" spc="-10" dirty="0">
                <a:solidFill>
                  <a:srgbClr val="1D3A5E"/>
                </a:solidFill>
                <a:latin typeface="Calibri"/>
                <a:cs typeface="Calibri"/>
              </a:rPr>
              <a:t>YOUR</a:t>
            </a:r>
            <a:r>
              <a:rPr sz="1298" b="1" spc="-50" dirty="0">
                <a:solidFill>
                  <a:srgbClr val="1D3A5E"/>
                </a:solidFill>
                <a:latin typeface="Calibri"/>
                <a:cs typeface="Calibri"/>
              </a:rPr>
              <a:t> </a:t>
            </a:r>
            <a:r>
              <a:rPr sz="1298" b="1" spc="-10" dirty="0">
                <a:solidFill>
                  <a:srgbClr val="1D3A5E"/>
                </a:solidFill>
                <a:latin typeface="Calibri"/>
                <a:cs typeface="Calibri"/>
              </a:rPr>
              <a:t>TASK:</a:t>
            </a:r>
            <a:endParaRPr sz="1298">
              <a:latin typeface="Calibri"/>
              <a:cs typeface="Calibri"/>
            </a:endParaRPr>
          </a:p>
          <a:p>
            <a:pPr marL="12685" marR="72303" indent="169342">
              <a:lnSpc>
                <a:spcPct val="120100"/>
              </a:lnSpc>
              <a:spcBef>
                <a:spcPts val="569"/>
              </a:spcBef>
              <a:buAutoNum type="alphaLcParenR"/>
              <a:tabLst>
                <a:tab pos="182026" algn="l"/>
              </a:tabLst>
            </a:pPr>
            <a:r>
              <a:rPr sz="1298" b="1" dirty="0">
                <a:solidFill>
                  <a:srgbClr val="1D3A5E"/>
                </a:solidFill>
                <a:latin typeface="Calibri"/>
                <a:cs typeface="Calibri"/>
              </a:rPr>
              <a:t>:</a:t>
            </a:r>
            <a:r>
              <a:rPr sz="1298" b="1" spc="-35" dirty="0">
                <a:solidFill>
                  <a:srgbClr val="1D3A5E"/>
                </a:solidFill>
                <a:latin typeface="Calibri"/>
                <a:cs typeface="Calibri"/>
              </a:rPr>
              <a:t> </a:t>
            </a:r>
            <a:r>
              <a:rPr sz="1298" spc="-10" dirty="0">
                <a:solidFill>
                  <a:srgbClr val="202020"/>
                </a:solidFill>
                <a:latin typeface="Calibri"/>
                <a:cs typeface="Calibri"/>
              </a:rPr>
              <a:t>Create</a:t>
            </a:r>
            <a:r>
              <a:rPr sz="1298" spc="-30" dirty="0">
                <a:solidFill>
                  <a:srgbClr val="202020"/>
                </a:solidFill>
                <a:latin typeface="Calibri"/>
                <a:cs typeface="Calibri"/>
              </a:rPr>
              <a:t> </a:t>
            </a:r>
            <a:r>
              <a:rPr sz="1298" spc="-10" dirty="0">
                <a:solidFill>
                  <a:srgbClr val="202020"/>
                </a:solidFill>
                <a:latin typeface="Calibri"/>
                <a:cs typeface="Calibri"/>
              </a:rPr>
              <a:t>day_4.blog_posts</a:t>
            </a:r>
            <a:r>
              <a:rPr sz="1298" spc="-30" dirty="0">
                <a:solidFill>
                  <a:srgbClr val="202020"/>
                </a:solidFill>
                <a:latin typeface="Calibri"/>
                <a:cs typeface="Calibri"/>
              </a:rPr>
              <a:t> </a:t>
            </a:r>
            <a:r>
              <a:rPr sz="1298" dirty="0">
                <a:solidFill>
                  <a:srgbClr val="202020"/>
                </a:solidFill>
                <a:latin typeface="Calibri"/>
                <a:cs typeface="Calibri"/>
              </a:rPr>
              <a:t>+</a:t>
            </a:r>
            <a:r>
              <a:rPr sz="1298" spc="-30" dirty="0">
                <a:solidFill>
                  <a:srgbClr val="202020"/>
                </a:solidFill>
                <a:latin typeface="Calibri"/>
                <a:cs typeface="Calibri"/>
              </a:rPr>
              <a:t> </a:t>
            </a:r>
            <a:r>
              <a:rPr sz="1298" spc="-10" dirty="0">
                <a:solidFill>
                  <a:srgbClr val="202020"/>
                </a:solidFill>
                <a:latin typeface="Calibri"/>
                <a:cs typeface="Calibri"/>
              </a:rPr>
              <a:t>day_4.post_comments</a:t>
            </a:r>
            <a:r>
              <a:rPr sz="1298" spc="-35" dirty="0">
                <a:solidFill>
                  <a:srgbClr val="202020"/>
                </a:solidFill>
                <a:latin typeface="Calibri"/>
                <a:cs typeface="Calibri"/>
              </a:rPr>
              <a:t> </a:t>
            </a:r>
            <a:r>
              <a:rPr sz="1298" dirty="0">
                <a:solidFill>
                  <a:srgbClr val="202020"/>
                </a:solidFill>
                <a:latin typeface="Calibri"/>
                <a:cs typeface="Calibri"/>
              </a:rPr>
              <a:t>with</a:t>
            </a:r>
            <a:r>
              <a:rPr sz="1298" spc="-30" dirty="0">
                <a:solidFill>
                  <a:srgbClr val="202020"/>
                </a:solidFill>
                <a:latin typeface="Calibri"/>
                <a:cs typeface="Calibri"/>
              </a:rPr>
              <a:t> </a:t>
            </a:r>
            <a:r>
              <a:rPr sz="1298" dirty="0">
                <a:solidFill>
                  <a:srgbClr val="202020"/>
                </a:solidFill>
                <a:latin typeface="Calibri"/>
                <a:cs typeface="Calibri"/>
              </a:rPr>
              <a:t>ON</a:t>
            </a:r>
            <a:r>
              <a:rPr sz="1298" spc="-30" dirty="0">
                <a:solidFill>
                  <a:srgbClr val="202020"/>
                </a:solidFill>
                <a:latin typeface="Calibri"/>
                <a:cs typeface="Calibri"/>
              </a:rPr>
              <a:t> </a:t>
            </a:r>
            <a:r>
              <a:rPr sz="1298" dirty="0">
                <a:solidFill>
                  <a:srgbClr val="202020"/>
                </a:solidFill>
                <a:latin typeface="Calibri"/>
                <a:cs typeface="Calibri"/>
              </a:rPr>
              <a:t>DELETE</a:t>
            </a:r>
            <a:r>
              <a:rPr sz="1298" spc="-30" dirty="0">
                <a:solidFill>
                  <a:srgbClr val="202020"/>
                </a:solidFill>
                <a:latin typeface="Calibri"/>
                <a:cs typeface="Calibri"/>
              </a:rPr>
              <a:t> </a:t>
            </a:r>
            <a:r>
              <a:rPr sz="1298" dirty="0">
                <a:solidFill>
                  <a:srgbClr val="202020"/>
                </a:solidFill>
                <a:latin typeface="Calibri"/>
                <a:cs typeface="Calibri"/>
              </a:rPr>
              <a:t>CASCADE.</a:t>
            </a:r>
            <a:r>
              <a:rPr sz="1298" spc="-35" dirty="0">
                <a:solidFill>
                  <a:srgbClr val="202020"/>
                </a:solidFill>
                <a:latin typeface="Calibri"/>
                <a:cs typeface="Calibri"/>
              </a:rPr>
              <a:t> </a:t>
            </a:r>
            <a:r>
              <a:rPr sz="1298" dirty="0">
                <a:solidFill>
                  <a:srgbClr val="202020"/>
                </a:solidFill>
                <a:latin typeface="Calibri"/>
                <a:cs typeface="Calibri"/>
              </a:rPr>
              <a:t>Insert</a:t>
            </a:r>
            <a:r>
              <a:rPr sz="1298" spc="-30" dirty="0">
                <a:solidFill>
                  <a:srgbClr val="202020"/>
                </a:solidFill>
                <a:latin typeface="Calibri"/>
                <a:cs typeface="Calibri"/>
              </a:rPr>
              <a:t> </a:t>
            </a:r>
            <a:r>
              <a:rPr sz="1298" dirty="0">
                <a:solidFill>
                  <a:srgbClr val="202020"/>
                </a:solidFill>
                <a:latin typeface="Calibri"/>
                <a:cs typeface="Calibri"/>
              </a:rPr>
              <a:t>a</a:t>
            </a:r>
            <a:r>
              <a:rPr sz="1298" spc="-30" dirty="0">
                <a:solidFill>
                  <a:srgbClr val="202020"/>
                </a:solidFill>
                <a:latin typeface="Calibri"/>
                <a:cs typeface="Calibri"/>
              </a:rPr>
              <a:t> </a:t>
            </a:r>
            <a:r>
              <a:rPr sz="1298" dirty="0">
                <a:solidFill>
                  <a:srgbClr val="202020"/>
                </a:solidFill>
                <a:latin typeface="Calibri"/>
                <a:cs typeface="Calibri"/>
              </a:rPr>
              <a:t>post</a:t>
            </a:r>
            <a:r>
              <a:rPr sz="1298" spc="-30" dirty="0">
                <a:solidFill>
                  <a:srgbClr val="202020"/>
                </a:solidFill>
                <a:latin typeface="Calibri"/>
                <a:cs typeface="Calibri"/>
              </a:rPr>
              <a:t> </a:t>
            </a:r>
            <a:r>
              <a:rPr sz="1298" dirty="0">
                <a:solidFill>
                  <a:srgbClr val="202020"/>
                </a:solidFill>
                <a:latin typeface="Calibri"/>
                <a:cs typeface="Calibri"/>
              </a:rPr>
              <a:t>with</a:t>
            </a:r>
            <a:r>
              <a:rPr sz="1298" spc="-35" dirty="0">
                <a:solidFill>
                  <a:srgbClr val="202020"/>
                </a:solidFill>
                <a:latin typeface="Calibri"/>
                <a:cs typeface="Calibri"/>
              </a:rPr>
              <a:t> </a:t>
            </a:r>
            <a:r>
              <a:rPr sz="1298" dirty="0">
                <a:solidFill>
                  <a:srgbClr val="202020"/>
                </a:solidFill>
                <a:latin typeface="Calibri"/>
                <a:cs typeface="Calibri"/>
              </a:rPr>
              <a:t>3</a:t>
            </a:r>
            <a:r>
              <a:rPr sz="1298" spc="-30" dirty="0">
                <a:solidFill>
                  <a:srgbClr val="202020"/>
                </a:solidFill>
                <a:latin typeface="Calibri"/>
                <a:cs typeface="Calibri"/>
              </a:rPr>
              <a:t> </a:t>
            </a:r>
            <a:r>
              <a:rPr sz="1298" spc="-10" dirty="0">
                <a:solidFill>
                  <a:srgbClr val="202020"/>
                </a:solidFill>
                <a:latin typeface="Calibri"/>
                <a:cs typeface="Calibri"/>
              </a:rPr>
              <a:t>comments,</a:t>
            </a:r>
            <a:r>
              <a:rPr sz="1298" spc="-30" dirty="0">
                <a:solidFill>
                  <a:srgbClr val="202020"/>
                </a:solidFill>
                <a:latin typeface="Calibri"/>
                <a:cs typeface="Calibri"/>
              </a:rPr>
              <a:t> </a:t>
            </a:r>
            <a:r>
              <a:rPr sz="1298" spc="-10" dirty="0">
                <a:solidFill>
                  <a:srgbClr val="202020"/>
                </a:solidFill>
                <a:latin typeface="Calibri"/>
                <a:cs typeface="Calibri"/>
              </a:rPr>
              <a:t>delete </a:t>
            </a:r>
            <a:r>
              <a:rPr sz="1298" dirty="0">
                <a:solidFill>
                  <a:srgbClr val="202020"/>
                </a:solidFill>
                <a:latin typeface="Calibri"/>
                <a:cs typeface="Calibri"/>
              </a:rPr>
              <a:t>the</a:t>
            </a:r>
            <a:r>
              <a:rPr sz="1298" spc="-40" dirty="0">
                <a:solidFill>
                  <a:srgbClr val="202020"/>
                </a:solidFill>
                <a:latin typeface="Calibri"/>
                <a:cs typeface="Calibri"/>
              </a:rPr>
              <a:t> </a:t>
            </a:r>
            <a:r>
              <a:rPr sz="1298" dirty="0">
                <a:solidFill>
                  <a:srgbClr val="202020"/>
                </a:solidFill>
                <a:latin typeface="Calibri"/>
                <a:cs typeface="Calibri"/>
              </a:rPr>
              <a:t>post,</a:t>
            </a:r>
            <a:r>
              <a:rPr sz="1298" spc="-35" dirty="0">
                <a:solidFill>
                  <a:srgbClr val="202020"/>
                </a:solidFill>
                <a:latin typeface="Calibri"/>
                <a:cs typeface="Calibri"/>
              </a:rPr>
              <a:t> </a:t>
            </a:r>
            <a:r>
              <a:rPr sz="1298" spc="-10" dirty="0">
                <a:solidFill>
                  <a:srgbClr val="202020"/>
                </a:solidFill>
                <a:latin typeface="Calibri"/>
                <a:cs typeface="Calibri"/>
              </a:rPr>
              <a:t>prove</a:t>
            </a:r>
            <a:r>
              <a:rPr sz="1298" spc="-35" dirty="0">
                <a:solidFill>
                  <a:srgbClr val="202020"/>
                </a:solidFill>
                <a:latin typeface="Calibri"/>
                <a:cs typeface="Calibri"/>
              </a:rPr>
              <a:t> </a:t>
            </a:r>
            <a:r>
              <a:rPr sz="1298" spc="-10" dirty="0">
                <a:solidFill>
                  <a:srgbClr val="202020"/>
                </a:solidFill>
                <a:latin typeface="Calibri"/>
                <a:cs typeface="Calibri"/>
              </a:rPr>
              <a:t>comments</a:t>
            </a:r>
            <a:r>
              <a:rPr sz="1298" spc="-35" dirty="0">
                <a:solidFill>
                  <a:srgbClr val="202020"/>
                </a:solidFill>
                <a:latin typeface="Calibri"/>
                <a:cs typeface="Calibri"/>
              </a:rPr>
              <a:t> </a:t>
            </a:r>
            <a:r>
              <a:rPr sz="1298" dirty="0">
                <a:solidFill>
                  <a:srgbClr val="202020"/>
                </a:solidFill>
                <a:latin typeface="Calibri"/>
                <a:cs typeface="Calibri"/>
              </a:rPr>
              <a:t>are</a:t>
            </a:r>
            <a:r>
              <a:rPr sz="1298" spc="-35" dirty="0">
                <a:solidFill>
                  <a:srgbClr val="202020"/>
                </a:solidFill>
                <a:latin typeface="Calibri"/>
                <a:cs typeface="Calibri"/>
              </a:rPr>
              <a:t> </a:t>
            </a:r>
            <a:r>
              <a:rPr sz="1298" dirty="0">
                <a:solidFill>
                  <a:srgbClr val="202020"/>
                </a:solidFill>
                <a:latin typeface="Calibri"/>
                <a:cs typeface="Calibri"/>
              </a:rPr>
              <a:t>gone</a:t>
            </a:r>
            <a:r>
              <a:rPr sz="1298" spc="-35" dirty="0">
                <a:solidFill>
                  <a:srgbClr val="202020"/>
                </a:solidFill>
                <a:latin typeface="Calibri"/>
                <a:cs typeface="Calibri"/>
              </a:rPr>
              <a:t> </a:t>
            </a:r>
            <a:r>
              <a:rPr sz="1298" spc="-10" dirty="0">
                <a:solidFill>
                  <a:srgbClr val="202020"/>
                </a:solidFill>
                <a:latin typeface="Calibri"/>
                <a:cs typeface="Calibri"/>
              </a:rPr>
              <a:t>(count</a:t>
            </a:r>
            <a:r>
              <a:rPr sz="1298" spc="-35" dirty="0">
                <a:solidFill>
                  <a:srgbClr val="202020"/>
                </a:solidFill>
                <a:latin typeface="Calibri"/>
                <a:cs typeface="Calibri"/>
              </a:rPr>
              <a:t> </a:t>
            </a:r>
            <a:r>
              <a:rPr sz="1298" dirty="0">
                <a:solidFill>
                  <a:srgbClr val="202020"/>
                </a:solidFill>
                <a:latin typeface="Calibri"/>
                <a:cs typeface="Calibri"/>
              </a:rPr>
              <a:t>=</a:t>
            </a:r>
            <a:r>
              <a:rPr sz="1298" spc="-35" dirty="0">
                <a:solidFill>
                  <a:srgbClr val="202020"/>
                </a:solidFill>
                <a:latin typeface="Calibri"/>
                <a:cs typeface="Calibri"/>
              </a:rPr>
              <a:t> </a:t>
            </a:r>
            <a:r>
              <a:rPr sz="1298" spc="-25" dirty="0">
                <a:solidFill>
                  <a:srgbClr val="202020"/>
                </a:solidFill>
                <a:latin typeface="Calibri"/>
                <a:cs typeface="Calibri"/>
              </a:rPr>
              <a:t>0).</a:t>
            </a:r>
            <a:endParaRPr sz="1298">
              <a:latin typeface="Calibri"/>
              <a:cs typeface="Calibri"/>
            </a:endParaRPr>
          </a:p>
          <a:p>
            <a:pPr marL="12685" marR="35517" indent="176318">
              <a:lnSpc>
                <a:spcPct val="120100"/>
              </a:lnSpc>
              <a:spcBef>
                <a:spcPts val="5"/>
              </a:spcBef>
              <a:buAutoNum type="alphaLcParenR"/>
              <a:tabLst>
                <a:tab pos="189003" algn="l"/>
              </a:tabLst>
            </a:pPr>
            <a:r>
              <a:rPr sz="1298" b="1" dirty="0">
                <a:solidFill>
                  <a:srgbClr val="1D3A5E"/>
                </a:solidFill>
                <a:latin typeface="Calibri"/>
                <a:cs typeface="Calibri"/>
              </a:rPr>
              <a:t>:</a:t>
            </a:r>
            <a:r>
              <a:rPr sz="1298" b="1" spc="-30" dirty="0">
                <a:solidFill>
                  <a:srgbClr val="1D3A5E"/>
                </a:solidFill>
                <a:latin typeface="Calibri"/>
                <a:cs typeface="Calibri"/>
              </a:rPr>
              <a:t> </a:t>
            </a:r>
            <a:r>
              <a:rPr sz="1298" spc="-10" dirty="0">
                <a:solidFill>
                  <a:srgbClr val="202020"/>
                </a:solidFill>
                <a:latin typeface="Calibri"/>
                <a:cs typeface="Calibri"/>
              </a:rPr>
              <a:t>Create</a:t>
            </a:r>
            <a:r>
              <a:rPr sz="1298" spc="-25" dirty="0">
                <a:solidFill>
                  <a:srgbClr val="202020"/>
                </a:solidFill>
                <a:latin typeface="Calibri"/>
                <a:cs typeface="Calibri"/>
              </a:rPr>
              <a:t> </a:t>
            </a:r>
            <a:r>
              <a:rPr sz="1298" spc="-10" dirty="0">
                <a:solidFill>
                  <a:srgbClr val="202020"/>
                </a:solidFill>
                <a:latin typeface="Calibri"/>
                <a:cs typeface="Calibri"/>
              </a:rPr>
              <a:t>day_4.departments</a:t>
            </a:r>
            <a:r>
              <a:rPr sz="1298" spc="-25" dirty="0">
                <a:solidFill>
                  <a:srgbClr val="202020"/>
                </a:solidFill>
                <a:latin typeface="Calibri"/>
                <a:cs typeface="Calibri"/>
              </a:rPr>
              <a:t> </a:t>
            </a:r>
            <a:r>
              <a:rPr sz="1298" dirty="0">
                <a:solidFill>
                  <a:srgbClr val="202020"/>
                </a:solidFill>
                <a:latin typeface="Calibri"/>
                <a:cs typeface="Calibri"/>
              </a:rPr>
              <a:t>+</a:t>
            </a:r>
            <a:r>
              <a:rPr sz="1298" spc="-25" dirty="0">
                <a:solidFill>
                  <a:srgbClr val="202020"/>
                </a:solidFill>
                <a:latin typeface="Calibri"/>
                <a:cs typeface="Calibri"/>
              </a:rPr>
              <a:t> </a:t>
            </a:r>
            <a:r>
              <a:rPr sz="1298" spc="-10" dirty="0">
                <a:solidFill>
                  <a:srgbClr val="202020"/>
                </a:solidFill>
                <a:latin typeface="Calibri"/>
                <a:cs typeface="Calibri"/>
              </a:rPr>
              <a:t>day_4.dept_employees</a:t>
            </a:r>
            <a:r>
              <a:rPr sz="1298" spc="-25" dirty="0">
                <a:solidFill>
                  <a:srgbClr val="202020"/>
                </a:solidFill>
                <a:latin typeface="Calibri"/>
                <a:cs typeface="Calibri"/>
              </a:rPr>
              <a:t> </a:t>
            </a:r>
            <a:r>
              <a:rPr sz="1298" dirty="0">
                <a:solidFill>
                  <a:srgbClr val="202020"/>
                </a:solidFill>
                <a:latin typeface="Calibri"/>
                <a:cs typeface="Calibri"/>
              </a:rPr>
              <a:t>with</a:t>
            </a:r>
            <a:r>
              <a:rPr sz="1298" spc="-25" dirty="0">
                <a:solidFill>
                  <a:srgbClr val="202020"/>
                </a:solidFill>
                <a:latin typeface="Calibri"/>
                <a:cs typeface="Calibri"/>
              </a:rPr>
              <a:t> </a:t>
            </a:r>
            <a:r>
              <a:rPr sz="1298" dirty="0">
                <a:solidFill>
                  <a:srgbClr val="202020"/>
                </a:solidFill>
                <a:latin typeface="Calibri"/>
                <a:cs typeface="Calibri"/>
              </a:rPr>
              <a:t>ON</a:t>
            </a:r>
            <a:r>
              <a:rPr sz="1298" spc="-25" dirty="0">
                <a:solidFill>
                  <a:srgbClr val="202020"/>
                </a:solidFill>
                <a:latin typeface="Calibri"/>
                <a:cs typeface="Calibri"/>
              </a:rPr>
              <a:t> </a:t>
            </a:r>
            <a:r>
              <a:rPr sz="1298" dirty="0">
                <a:solidFill>
                  <a:srgbClr val="202020"/>
                </a:solidFill>
                <a:latin typeface="Calibri"/>
                <a:cs typeface="Calibri"/>
              </a:rPr>
              <a:t>DELETE</a:t>
            </a:r>
            <a:r>
              <a:rPr sz="1298" spc="-25" dirty="0">
                <a:solidFill>
                  <a:srgbClr val="202020"/>
                </a:solidFill>
                <a:latin typeface="Calibri"/>
                <a:cs typeface="Calibri"/>
              </a:rPr>
              <a:t> </a:t>
            </a:r>
            <a:r>
              <a:rPr sz="1298" spc="-20" dirty="0">
                <a:solidFill>
                  <a:srgbClr val="202020"/>
                </a:solidFill>
                <a:latin typeface="Calibri"/>
                <a:cs typeface="Calibri"/>
              </a:rPr>
              <a:t>RESTRICT.</a:t>
            </a:r>
            <a:r>
              <a:rPr sz="1298" spc="-25" dirty="0">
                <a:solidFill>
                  <a:srgbClr val="202020"/>
                </a:solidFill>
                <a:latin typeface="Calibri"/>
                <a:cs typeface="Calibri"/>
              </a:rPr>
              <a:t> </a:t>
            </a:r>
            <a:r>
              <a:rPr sz="1298" dirty="0">
                <a:solidFill>
                  <a:srgbClr val="202020"/>
                </a:solidFill>
                <a:latin typeface="Calibri"/>
                <a:cs typeface="Calibri"/>
              </a:rPr>
              <a:t>Insert</a:t>
            </a:r>
            <a:r>
              <a:rPr sz="1298" spc="-25" dirty="0">
                <a:solidFill>
                  <a:srgbClr val="202020"/>
                </a:solidFill>
                <a:latin typeface="Calibri"/>
                <a:cs typeface="Calibri"/>
              </a:rPr>
              <a:t> </a:t>
            </a:r>
            <a:r>
              <a:rPr sz="1298" dirty="0">
                <a:solidFill>
                  <a:srgbClr val="202020"/>
                </a:solidFill>
                <a:latin typeface="Calibri"/>
                <a:cs typeface="Calibri"/>
              </a:rPr>
              <a:t>a</a:t>
            </a:r>
            <a:r>
              <a:rPr sz="1298" spc="-25" dirty="0">
                <a:solidFill>
                  <a:srgbClr val="202020"/>
                </a:solidFill>
                <a:latin typeface="Calibri"/>
                <a:cs typeface="Calibri"/>
              </a:rPr>
              <a:t> </a:t>
            </a:r>
            <a:r>
              <a:rPr sz="1298" spc="-10" dirty="0">
                <a:solidFill>
                  <a:srgbClr val="202020"/>
                </a:solidFill>
                <a:latin typeface="Calibri"/>
                <a:cs typeface="Calibri"/>
              </a:rPr>
              <a:t>department</a:t>
            </a:r>
            <a:r>
              <a:rPr sz="1298" spc="-30" dirty="0">
                <a:solidFill>
                  <a:srgbClr val="202020"/>
                </a:solidFill>
                <a:latin typeface="Calibri"/>
                <a:cs typeface="Calibri"/>
              </a:rPr>
              <a:t> </a:t>
            </a:r>
            <a:r>
              <a:rPr sz="1298" dirty="0">
                <a:solidFill>
                  <a:srgbClr val="202020"/>
                </a:solidFill>
                <a:latin typeface="Calibri"/>
                <a:cs typeface="Calibri"/>
              </a:rPr>
              <a:t>+</a:t>
            </a:r>
            <a:r>
              <a:rPr sz="1298" spc="-25" dirty="0">
                <a:solidFill>
                  <a:srgbClr val="202020"/>
                </a:solidFill>
                <a:latin typeface="Calibri"/>
                <a:cs typeface="Calibri"/>
              </a:rPr>
              <a:t> </a:t>
            </a:r>
            <a:r>
              <a:rPr sz="1298" dirty="0">
                <a:solidFill>
                  <a:srgbClr val="202020"/>
                </a:solidFill>
                <a:latin typeface="Calibri"/>
                <a:cs typeface="Calibri"/>
              </a:rPr>
              <a:t>an</a:t>
            </a:r>
            <a:r>
              <a:rPr sz="1298" spc="-25" dirty="0">
                <a:solidFill>
                  <a:srgbClr val="202020"/>
                </a:solidFill>
                <a:latin typeface="Calibri"/>
                <a:cs typeface="Calibri"/>
              </a:rPr>
              <a:t> </a:t>
            </a:r>
            <a:r>
              <a:rPr sz="1298" spc="-10" dirty="0">
                <a:solidFill>
                  <a:srgbClr val="202020"/>
                </a:solidFill>
                <a:latin typeface="Calibri"/>
                <a:cs typeface="Calibri"/>
              </a:rPr>
              <a:t>employee, </a:t>
            </a:r>
            <a:r>
              <a:rPr sz="1298" dirty="0">
                <a:solidFill>
                  <a:srgbClr val="202020"/>
                </a:solidFill>
                <a:latin typeface="Calibri"/>
                <a:cs typeface="Calibri"/>
              </a:rPr>
              <a:t>then</a:t>
            </a:r>
            <a:r>
              <a:rPr sz="1298" spc="-30" dirty="0">
                <a:solidFill>
                  <a:srgbClr val="202020"/>
                </a:solidFill>
                <a:latin typeface="Calibri"/>
                <a:cs typeface="Calibri"/>
              </a:rPr>
              <a:t> </a:t>
            </a:r>
            <a:r>
              <a:rPr sz="1298" dirty="0">
                <a:solidFill>
                  <a:srgbClr val="202020"/>
                </a:solidFill>
                <a:latin typeface="Calibri"/>
                <a:cs typeface="Calibri"/>
              </a:rPr>
              <a:t>try</a:t>
            </a:r>
            <a:r>
              <a:rPr sz="1298" spc="-30" dirty="0">
                <a:solidFill>
                  <a:srgbClr val="202020"/>
                </a:solidFill>
                <a:latin typeface="Calibri"/>
                <a:cs typeface="Calibri"/>
              </a:rPr>
              <a:t> </a:t>
            </a:r>
            <a:r>
              <a:rPr sz="1298" dirty="0">
                <a:solidFill>
                  <a:srgbClr val="202020"/>
                </a:solidFill>
                <a:latin typeface="Calibri"/>
                <a:cs typeface="Calibri"/>
              </a:rPr>
              <a:t>to</a:t>
            </a:r>
            <a:r>
              <a:rPr sz="1298" spc="-25" dirty="0">
                <a:solidFill>
                  <a:srgbClr val="202020"/>
                </a:solidFill>
                <a:latin typeface="Calibri"/>
                <a:cs typeface="Calibri"/>
              </a:rPr>
              <a:t> </a:t>
            </a:r>
            <a:r>
              <a:rPr sz="1298" spc="-10" dirty="0">
                <a:solidFill>
                  <a:srgbClr val="202020"/>
                </a:solidFill>
                <a:latin typeface="Calibri"/>
                <a:cs typeface="Calibri"/>
              </a:rPr>
              <a:t>delete</a:t>
            </a:r>
            <a:r>
              <a:rPr sz="1298" spc="-30" dirty="0">
                <a:solidFill>
                  <a:srgbClr val="202020"/>
                </a:solidFill>
                <a:latin typeface="Calibri"/>
                <a:cs typeface="Calibri"/>
              </a:rPr>
              <a:t> </a:t>
            </a:r>
            <a:r>
              <a:rPr sz="1298" dirty="0">
                <a:solidFill>
                  <a:srgbClr val="202020"/>
                </a:solidFill>
                <a:latin typeface="Calibri"/>
                <a:cs typeface="Calibri"/>
              </a:rPr>
              <a:t>the</a:t>
            </a:r>
            <a:r>
              <a:rPr sz="1298" spc="-25" dirty="0">
                <a:solidFill>
                  <a:srgbClr val="202020"/>
                </a:solidFill>
                <a:latin typeface="Calibri"/>
                <a:cs typeface="Calibri"/>
              </a:rPr>
              <a:t> </a:t>
            </a:r>
            <a:r>
              <a:rPr sz="1298" spc="-10" dirty="0">
                <a:solidFill>
                  <a:srgbClr val="202020"/>
                </a:solidFill>
                <a:latin typeface="Calibri"/>
                <a:cs typeface="Calibri"/>
              </a:rPr>
              <a:t>department</a:t>
            </a:r>
            <a:r>
              <a:rPr sz="1298" spc="-30" dirty="0">
                <a:solidFill>
                  <a:srgbClr val="202020"/>
                </a:solidFill>
                <a:latin typeface="Calibri"/>
                <a:cs typeface="Calibri"/>
              </a:rPr>
              <a:t> </a:t>
            </a:r>
            <a:r>
              <a:rPr sz="1298" dirty="0">
                <a:solidFill>
                  <a:srgbClr val="202020"/>
                </a:solidFill>
                <a:latin typeface="Calibri"/>
                <a:cs typeface="Calibri"/>
              </a:rPr>
              <a:t>-</a:t>
            </a:r>
            <a:r>
              <a:rPr sz="1298" spc="-25" dirty="0">
                <a:solidFill>
                  <a:srgbClr val="202020"/>
                </a:solidFill>
                <a:latin typeface="Calibri"/>
                <a:cs typeface="Calibri"/>
              </a:rPr>
              <a:t> </a:t>
            </a:r>
            <a:r>
              <a:rPr sz="1298" dirty="0">
                <a:solidFill>
                  <a:srgbClr val="202020"/>
                </a:solidFill>
                <a:latin typeface="Calibri"/>
                <a:cs typeface="Calibri"/>
              </a:rPr>
              <a:t>observe</a:t>
            </a:r>
            <a:r>
              <a:rPr sz="1298" spc="-30" dirty="0">
                <a:solidFill>
                  <a:srgbClr val="202020"/>
                </a:solidFill>
                <a:latin typeface="Calibri"/>
                <a:cs typeface="Calibri"/>
              </a:rPr>
              <a:t> </a:t>
            </a:r>
            <a:r>
              <a:rPr sz="1298" dirty="0">
                <a:solidFill>
                  <a:srgbClr val="202020"/>
                </a:solidFill>
                <a:latin typeface="Calibri"/>
                <a:cs typeface="Calibri"/>
              </a:rPr>
              <a:t>it</a:t>
            </a:r>
            <a:r>
              <a:rPr sz="1298" spc="-25" dirty="0">
                <a:solidFill>
                  <a:srgbClr val="202020"/>
                </a:solidFill>
                <a:latin typeface="Calibri"/>
                <a:cs typeface="Calibri"/>
              </a:rPr>
              <a:t> </a:t>
            </a:r>
            <a:r>
              <a:rPr sz="1298" dirty="0">
                <a:solidFill>
                  <a:srgbClr val="202020"/>
                </a:solidFill>
                <a:latin typeface="Calibri"/>
                <a:cs typeface="Calibri"/>
              </a:rPr>
              <a:t>is</a:t>
            </a:r>
            <a:r>
              <a:rPr sz="1298" spc="-30" dirty="0">
                <a:solidFill>
                  <a:srgbClr val="202020"/>
                </a:solidFill>
                <a:latin typeface="Calibri"/>
                <a:cs typeface="Calibri"/>
              </a:rPr>
              <a:t> </a:t>
            </a:r>
            <a:r>
              <a:rPr sz="1298" spc="-10" dirty="0">
                <a:solidFill>
                  <a:srgbClr val="202020"/>
                </a:solidFill>
                <a:latin typeface="Calibri"/>
                <a:cs typeface="Calibri"/>
              </a:rPr>
              <a:t>blocked.</a:t>
            </a:r>
            <a:endParaRPr sz="1298">
              <a:latin typeface="Calibri"/>
              <a:cs typeface="Calibri"/>
            </a:endParaRPr>
          </a:p>
          <a:p>
            <a:pPr marL="12685" marR="5074" indent="156657">
              <a:lnSpc>
                <a:spcPct val="120100"/>
              </a:lnSpc>
              <a:buAutoNum type="alphaLcParenR"/>
              <a:tabLst>
                <a:tab pos="169342" algn="l"/>
              </a:tabLst>
            </a:pPr>
            <a:r>
              <a:rPr sz="1298" b="1" dirty="0">
                <a:solidFill>
                  <a:srgbClr val="1D3A5E"/>
                </a:solidFill>
                <a:latin typeface="Calibri"/>
                <a:cs typeface="Calibri"/>
              </a:rPr>
              <a:t>:</a:t>
            </a:r>
            <a:r>
              <a:rPr sz="1298" b="1" spc="-40" dirty="0">
                <a:solidFill>
                  <a:srgbClr val="1D3A5E"/>
                </a:solidFill>
                <a:latin typeface="Calibri"/>
                <a:cs typeface="Calibri"/>
              </a:rPr>
              <a:t> </a:t>
            </a:r>
            <a:r>
              <a:rPr sz="1298" dirty="0">
                <a:solidFill>
                  <a:srgbClr val="202020"/>
                </a:solidFill>
                <a:latin typeface="Calibri"/>
                <a:cs typeface="Calibri"/>
              </a:rPr>
              <a:t>Explain</a:t>
            </a:r>
            <a:r>
              <a:rPr sz="1298" spc="-35" dirty="0">
                <a:solidFill>
                  <a:srgbClr val="202020"/>
                </a:solidFill>
                <a:latin typeface="Calibri"/>
                <a:cs typeface="Calibri"/>
              </a:rPr>
              <a:t> </a:t>
            </a:r>
            <a:r>
              <a:rPr sz="1298" dirty="0">
                <a:solidFill>
                  <a:srgbClr val="202020"/>
                </a:solidFill>
                <a:latin typeface="Calibri"/>
                <a:cs typeface="Calibri"/>
              </a:rPr>
              <a:t>in</a:t>
            </a:r>
            <a:r>
              <a:rPr sz="1298" spc="-35" dirty="0">
                <a:solidFill>
                  <a:srgbClr val="202020"/>
                </a:solidFill>
                <a:latin typeface="Calibri"/>
                <a:cs typeface="Calibri"/>
              </a:rPr>
              <a:t> </a:t>
            </a:r>
            <a:r>
              <a:rPr sz="1298" dirty="0">
                <a:solidFill>
                  <a:srgbClr val="202020"/>
                </a:solidFill>
                <a:latin typeface="Calibri"/>
                <a:cs typeface="Calibri"/>
              </a:rPr>
              <a:t>one</a:t>
            </a:r>
            <a:r>
              <a:rPr sz="1298" spc="-35" dirty="0">
                <a:solidFill>
                  <a:srgbClr val="202020"/>
                </a:solidFill>
                <a:latin typeface="Calibri"/>
                <a:cs typeface="Calibri"/>
              </a:rPr>
              <a:t> </a:t>
            </a:r>
            <a:r>
              <a:rPr sz="1298" dirty="0">
                <a:solidFill>
                  <a:srgbClr val="202020"/>
                </a:solidFill>
                <a:latin typeface="Calibri"/>
                <a:cs typeface="Calibri"/>
              </a:rPr>
              <a:t>line</a:t>
            </a:r>
            <a:r>
              <a:rPr sz="1298" spc="-35" dirty="0">
                <a:solidFill>
                  <a:srgbClr val="202020"/>
                </a:solidFill>
                <a:latin typeface="Calibri"/>
                <a:cs typeface="Calibri"/>
              </a:rPr>
              <a:t> </a:t>
            </a:r>
            <a:r>
              <a:rPr sz="1298" dirty="0">
                <a:solidFill>
                  <a:srgbClr val="202020"/>
                </a:solidFill>
                <a:latin typeface="Calibri"/>
                <a:cs typeface="Calibri"/>
              </a:rPr>
              <a:t>why</a:t>
            </a:r>
            <a:r>
              <a:rPr sz="1298" spc="-35" dirty="0">
                <a:solidFill>
                  <a:srgbClr val="202020"/>
                </a:solidFill>
                <a:latin typeface="Calibri"/>
                <a:cs typeface="Calibri"/>
              </a:rPr>
              <a:t> </a:t>
            </a:r>
            <a:r>
              <a:rPr sz="1298" dirty="0">
                <a:solidFill>
                  <a:srgbClr val="202020"/>
                </a:solidFill>
                <a:latin typeface="Calibri"/>
                <a:cs typeface="Calibri"/>
              </a:rPr>
              <a:t>CASCADE</a:t>
            </a:r>
            <a:r>
              <a:rPr sz="1298" spc="-35" dirty="0">
                <a:solidFill>
                  <a:srgbClr val="202020"/>
                </a:solidFill>
                <a:latin typeface="Calibri"/>
                <a:cs typeface="Calibri"/>
              </a:rPr>
              <a:t> </a:t>
            </a:r>
            <a:r>
              <a:rPr sz="1298" dirty="0">
                <a:solidFill>
                  <a:srgbClr val="202020"/>
                </a:solidFill>
                <a:latin typeface="Calibri"/>
                <a:cs typeface="Calibri"/>
              </a:rPr>
              <a:t>fits</a:t>
            </a:r>
            <a:r>
              <a:rPr sz="1298" spc="-35" dirty="0">
                <a:solidFill>
                  <a:srgbClr val="202020"/>
                </a:solidFill>
                <a:latin typeface="Calibri"/>
                <a:cs typeface="Calibri"/>
              </a:rPr>
              <a:t> </a:t>
            </a:r>
            <a:r>
              <a:rPr sz="1298" spc="-10" dirty="0">
                <a:solidFill>
                  <a:srgbClr val="202020"/>
                </a:solidFill>
                <a:latin typeface="Calibri"/>
                <a:cs typeface="Calibri"/>
              </a:rPr>
              <a:t>comments</a:t>
            </a:r>
            <a:r>
              <a:rPr sz="1298" spc="-40" dirty="0">
                <a:solidFill>
                  <a:srgbClr val="202020"/>
                </a:solidFill>
                <a:latin typeface="Calibri"/>
                <a:cs typeface="Calibri"/>
              </a:rPr>
              <a:t> </a:t>
            </a:r>
            <a:r>
              <a:rPr sz="1298" dirty="0">
                <a:solidFill>
                  <a:srgbClr val="202020"/>
                </a:solidFill>
                <a:latin typeface="Calibri"/>
                <a:cs typeface="Calibri"/>
              </a:rPr>
              <a:t>but</a:t>
            </a:r>
            <a:r>
              <a:rPr sz="1298" spc="-35" dirty="0">
                <a:solidFill>
                  <a:srgbClr val="202020"/>
                </a:solidFill>
                <a:latin typeface="Calibri"/>
                <a:cs typeface="Calibri"/>
              </a:rPr>
              <a:t> </a:t>
            </a:r>
            <a:r>
              <a:rPr sz="1298" dirty="0">
                <a:solidFill>
                  <a:srgbClr val="202020"/>
                </a:solidFill>
                <a:latin typeface="Calibri"/>
                <a:cs typeface="Calibri"/>
              </a:rPr>
              <a:t>RESTRICT</a:t>
            </a:r>
            <a:r>
              <a:rPr sz="1298" spc="-35" dirty="0">
                <a:solidFill>
                  <a:srgbClr val="202020"/>
                </a:solidFill>
                <a:latin typeface="Calibri"/>
                <a:cs typeface="Calibri"/>
              </a:rPr>
              <a:t> </a:t>
            </a:r>
            <a:r>
              <a:rPr sz="1298" dirty="0">
                <a:solidFill>
                  <a:srgbClr val="202020"/>
                </a:solidFill>
                <a:latin typeface="Calibri"/>
                <a:cs typeface="Calibri"/>
              </a:rPr>
              <a:t>fits</a:t>
            </a:r>
            <a:r>
              <a:rPr sz="1298" spc="-35" dirty="0">
                <a:solidFill>
                  <a:srgbClr val="202020"/>
                </a:solidFill>
                <a:latin typeface="Calibri"/>
                <a:cs typeface="Calibri"/>
              </a:rPr>
              <a:t> </a:t>
            </a:r>
            <a:r>
              <a:rPr sz="1298" spc="-10" dirty="0">
                <a:solidFill>
                  <a:srgbClr val="202020"/>
                </a:solidFill>
                <a:latin typeface="Calibri"/>
                <a:cs typeface="Calibri"/>
              </a:rPr>
              <a:t>departments</a:t>
            </a:r>
            <a:r>
              <a:rPr sz="1298" spc="-35" dirty="0">
                <a:solidFill>
                  <a:srgbClr val="202020"/>
                </a:solidFill>
                <a:latin typeface="Calibri"/>
                <a:cs typeface="Calibri"/>
              </a:rPr>
              <a:t> </a:t>
            </a:r>
            <a:r>
              <a:rPr sz="1298" dirty="0">
                <a:solidFill>
                  <a:srgbClr val="202020"/>
                </a:solidFill>
                <a:latin typeface="Calibri"/>
                <a:cs typeface="Calibri"/>
              </a:rPr>
              <a:t>(and</a:t>
            </a:r>
            <a:r>
              <a:rPr sz="1298" spc="-35" dirty="0">
                <a:solidFill>
                  <a:srgbClr val="202020"/>
                </a:solidFill>
                <a:latin typeface="Calibri"/>
                <a:cs typeface="Calibri"/>
              </a:rPr>
              <a:t> </a:t>
            </a:r>
            <a:r>
              <a:rPr sz="1298" dirty="0">
                <a:solidFill>
                  <a:srgbClr val="202020"/>
                </a:solidFill>
                <a:latin typeface="Calibri"/>
                <a:cs typeface="Calibri"/>
              </a:rPr>
              <a:t>why</a:t>
            </a:r>
            <a:r>
              <a:rPr sz="1298" spc="-35" dirty="0">
                <a:solidFill>
                  <a:srgbClr val="202020"/>
                </a:solidFill>
                <a:latin typeface="Calibri"/>
                <a:cs typeface="Calibri"/>
              </a:rPr>
              <a:t> </a:t>
            </a:r>
            <a:r>
              <a:rPr sz="1298" spc="-10" dirty="0">
                <a:solidFill>
                  <a:srgbClr val="202020"/>
                </a:solidFill>
                <a:latin typeface="Calibri"/>
                <a:cs typeface="Calibri"/>
              </a:rPr>
              <a:t>financial</a:t>
            </a:r>
            <a:r>
              <a:rPr sz="1298" spc="-35" dirty="0">
                <a:solidFill>
                  <a:srgbClr val="202020"/>
                </a:solidFill>
                <a:latin typeface="Calibri"/>
                <a:cs typeface="Calibri"/>
              </a:rPr>
              <a:t> </a:t>
            </a:r>
            <a:r>
              <a:rPr sz="1298" spc="-10" dirty="0">
                <a:solidFill>
                  <a:srgbClr val="202020"/>
                </a:solidFill>
                <a:latin typeface="Calibri"/>
                <a:cs typeface="Calibri"/>
              </a:rPr>
              <a:t>records</a:t>
            </a:r>
            <a:r>
              <a:rPr sz="1298" spc="-35" dirty="0">
                <a:solidFill>
                  <a:srgbClr val="202020"/>
                </a:solidFill>
                <a:latin typeface="Calibri"/>
                <a:cs typeface="Calibri"/>
              </a:rPr>
              <a:t> </a:t>
            </a:r>
            <a:r>
              <a:rPr sz="1298" dirty="0">
                <a:solidFill>
                  <a:srgbClr val="202020"/>
                </a:solidFill>
                <a:latin typeface="Calibri"/>
                <a:cs typeface="Calibri"/>
              </a:rPr>
              <a:t>should</a:t>
            </a:r>
            <a:r>
              <a:rPr sz="1298" spc="-40" dirty="0">
                <a:solidFill>
                  <a:srgbClr val="202020"/>
                </a:solidFill>
                <a:latin typeface="Calibri"/>
                <a:cs typeface="Calibri"/>
              </a:rPr>
              <a:t> </a:t>
            </a:r>
            <a:r>
              <a:rPr sz="1298" spc="-25" dirty="0">
                <a:solidFill>
                  <a:srgbClr val="202020"/>
                </a:solidFill>
                <a:latin typeface="Calibri"/>
                <a:cs typeface="Calibri"/>
              </a:rPr>
              <a:t>use </a:t>
            </a:r>
            <a:r>
              <a:rPr sz="1298" spc="-10" dirty="0">
                <a:solidFill>
                  <a:srgbClr val="202020"/>
                </a:solidFill>
                <a:latin typeface="Calibri"/>
                <a:cs typeface="Calibri"/>
              </a:rPr>
              <a:t>RESTRICT).</a:t>
            </a:r>
            <a:endParaRPr sz="1298">
              <a:latin typeface="Calibri"/>
              <a:cs typeface="Calibri"/>
            </a:endParaRPr>
          </a:p>
          <a:p>
            <a:pPr marL="12685" marR="267648">
              <a:lnSpc>
                <a:spcPct val="120100"/>
              </a:lnSpc>
              <a:spcBef>
                <a:spcPts val="569"/>
              </a:spcBef>
            </a:pPr>
            <a:r>
              <a:rPr sz="1298" b="1" dirty="0">
                <a:solidFill>
                  <a:srgbClr val="1D3A5E"/>
                </a:solidFill>
                <a:latin typeface="Calibri"/>
                <a:cs typeface="Calibri"/>
              </a:rPr>
              <a:t>Hint:</a:t>
            </a:r>
            <a:r>
              <a:rPr sz="1298" b="1" spc="-35" dirty="0">
                <a:solidFill>
                  <a:srgbClr val="1D3A5E"/>
                </a:solidFill>
                <a:latin typeface="Calibri"/>
                <a:cs typeface="Calibri"/>
              </a:rPr>
              <a:t> </a:t>
            </a:r>
            <a:r>
              <a:rPr sz="1298" dirty="0">
                <a:solidFill>
                  <a:srgbClr val="202020"/>
                </a:solidFill>
                <a:latin typeface="Calibri"/>
                <a:cs typeface="Calibri"/>
              </a:rPr>
              <a:t>Ask:</a:t>
            </a:r>
            <a:r>
              <a:rPr sz="1298" spc="-35" dirty="0">
                <a:solidFill>
                  <a:srgbClr val="202020"/>
                </a:solidFill>
                <a:latin typeface="Calibri"/>
                <a:cs typeface="Calibri"/>
              </a:rPr>
              <a:t> </a:t>
            </a:r>
            <a:r>
              <a:rPr sz="1298" dirty="0">
                <a:solidFill>
                  <a:srgbClr val="202020"/>
                </a:solidFill>
                <a:latin typeface="Calibri"/>
                <a:cs typeface="Calibri"/>
              </a:rPr>
              <a:t>if</a:t>
            </a:r>
            <a:r>
              <a:rPr sz="1298" spc="-35" dirty="0">
                <a:solidFill>
                  <a:srgbClr val="202020"/>
                </a:solidFill>
                <a:latin typeface="Calibri"/>
                <a:cs typeface="Calibri"/>
              </a:rPr>
              <a:t> </a:t>
            </a:r>
            <a:r>
              <a:rPr sz="1298" dirty="0">
                <a:solidFill>
                  <a:srgbClr val="202020"/>
                </a:solidFill>
                <a:latin typeface="Calibri"/>
                <a:cs typeface="Calibri"/>
              </a:rPr>
              <a:t>the</a:t>
            </a:r>
            <a:r>
              <a:rPr sz="1298" spc="-35" dirty="0">
                <a:solidFill>
                  <a:srgbClr val="202020"/>
                </a:solidFill>
                <a:latin typeface="Calibri"/>
                <a:cs typeface="Calibri"/>
              </a:rPr>
              <a:t> </a:t>
            </a:r>
            <a:r>
              <a:rPr sz="1298" spc="-10" dirty="0">
                <a:solidFill>
                  <a:srgbClr val="202020"/>
                </a:solidFill>
                <a:latin typeface="Calibri"/>
                <a:cs typeface="Calibri"/>
              </a:rPr>
              <a:t>parent</a:t>
            </a:r>
            <a:r>
              <a:rPr sz="1298" spc="-35" dirty="0">
                <a:solidFill>
                  <a:srgbClr val="202020"/>
                </a:solidFill>
                <a:latin typeface="Calibri"/>
                <a:cs typeface="Calibri"/>
              </a:rPr>
              <a:t> </a:t>
            </a:r>
            <a:r>
              <a:rPr sz="1298" spc="-10" dirty="0">
                <a:solidFill>
                  <a:srgbClr val="202020"/>
                </a:solidFill>
                <a:latin typeface="Calibri"/>
                <a:cs typeface="Calibri"/>
              </a:rPr>
              <a:t>disappears,</a:t>
            </a:r>
            <a:r>
              <a:rPr sz="1298" spc="-30" dirty="0">
                <a:solidFill>
                  <a:srgbClr val="202020"/>
                </a:solidFill>
                <a:latin typeface="Calibri"/>
                <a:cs typeface="Calibri"/>
              </a:rPr>
              <a:t> </a:t>
            </a:r>
            <a:r>
              <a:rPr sz="1298" dirty="0">
                <a:solidFill>
                  <a:srgbClr val="202020"/>
                </a:solidFill>
                <a:latin typeface="Calibri"/>
                <a:cs typeface="Calibri"/>
              </a:rPr>
              <a:t>does</a:t>
            </a:r>
            <a:r>
              <a:rPr sz="1298" spc="-35" dirty="0">
                <a:solidFill>
                  <a:srgbClr val="202020"/>
                </a:solidFill>
                <a:latin typeface="Calibri"/>
                <a:cs typeface="Calibri"/>
              </a:rPr>
              <a:t> </a:t>
            </a:r>
            <a:r>
              <a:rPr sz="1298" dirty="0">
                <a:solidFill>
                  <a:srgbClr val="202020"/>
                </a:solidFill>
                <a:latin typeface="Calibri"/>
                <a:cs typeface="Calibri"/>
              </a:rPr>
              <a:t>the</a:t>
            </a:r>
            <a:r>
              <a:rPr sz="1298" spc="-35" dirty="0">
                <a:solidFill>
                  <a:srgbClr val="202020"/>
                </a:solidFill>
                <a:latin typeface="Calibri"/>
                <a:cs typeface="Calibri"/>
              </a:rPr>
              <a:t> </a:t>
            </a:r>
            <a:r>
              <a:rPr sz="1298" dirty="0">
                <a:solidFill>
                  <a:srgbClr val="202020"/>
                </a:solidFill>
                <a:latin typeface="Calibri"/>
                <a:cs typeface="Calibri"/>
              </a:rPr>
              <a:t>child</a:t>
            </a:r>
            <a:r>
              <a:rPr sz="1298" spc="-35" dirty="0">
                <a:solidFill>
                  <a:srgbClr val="202020"/>
                </a:solidFill>
                <a:latin typeface="Calibri"/>
                <a:cs typeface="Calibri"/>
              </a:rPr>
              <a:t> </a:t>
            </a:r>
            <a:r>
              <a:rPr sz="1298" dirty="0">
                <a:solidFill>
                  <a:srgbClr val="202020"/>
                </a:solidFill>
                <a:latin typeface="Calibri"/>
                <a:cs typeface="Calibri"/>
              </a:rPr>
              <a:t>still</a:t>
            </a:r>
            <a:r>
              <a:rPr sz="1298" spc="-35" dirty="0">
                <a:solidFill>
                  <a:srgbClr val="202020"/>
                </a:solidFill>
                <a:latin typeface="Calibri"/>
                <a:cs typeface="Calibri"/>
              </a:rPr>
              <a:t> </a:t>
            </a:r>
            <a:r>
              <a:rPr sz="1298" dirty="0">
                <a:solidFill>
                  <a:srgbClr val="202020"/>
                </a:solidFill>
                <a:latin typeface="Calibri"/>
                <a:cs typeface="Calibri"/>
              </a:rPr>
              <a:t>make</a:t>
            </a:r>
            <a:r>
              <a:rPr sz="1298" spc="-35" dirty="0">
                <a:solidFill>
                  <a:srgbClr val="202020"/>
                </a:solidFill>
                <a:latin typeface="Calibri"/>
                <a:cs typeface="Calibri"/>
              </a:rPr>
              <a:t> </a:t>
            </a:r>
            <a:r>
              <a:rPr sz="1298" dirty="0">
                <a:solidFill>
                  <a:srgbClr val="202020"/>
                </a:solidFill>
                <a:latin typeface="Calibri"/>
                <a:cs typeface="Calibri"/>
              </a:rPr>
              <a:t>sense</a:t>
            </a:r>
            <a:r>
              <a:rPr sz="1298" spc="-35" dirty="0">
                <a:solidFill>
                  <a:srgbClr val="202020"/>
                </a:solidFill>
                <a:latin typeface="Calibri"/>
                <a:cs typeface="Calibri"/>
              </a:rPr>
              <a:t> </a:t>
            </a:r>
            <a:r>
              <a:rPr sz="1298" dirty="0">
                <a:solidFill>
                  <a:srgbClr val="202020"/>
                </a:solidFill>
                <a:latin typeface="Calibri"/>
                <a:cs typeface="Calibri"/>
              </a:rPr>
              <a:t>alone?</a:t>
            </a:r>
            <a:r>
              <a:rPr sz="1298" spc="-30" dirty="0">
                <a:solidFill>
                  <a:srgbClr val="202020"/>
                </a:solidFill>
                <a:latin typeface="Calibri"/>
                <a:cs typeface="Calibri"/>
              </a:rPr>
              <a:t> </a:t>
            </a:r>
            <a:r>
              <a:rPr sz="1298" dirty="0">
                <a:solidFill>
                  <a:srgbClr val="202020"/>
                </a:solidFill>
                <a:latin typeface="Calibri"/>
                <a:cs typeface="Calibri"/>
              </a:rPr>
              <a:t>No</a:t>
            </a:r>
            <a:r>
              <a:rPr sz="1298" spc="-35" dirty="0">
                <a:solidFill>
                  <a:srgbClr val="202020"/>
                </a:solidFill>
                <a:latin typeface="Calibri"/>
                <a:cs typeface="Calibri"/>
              </a:rPr>
              <a:t> </a:t>
            </a:r>
            <a:r>
              <a:rPr sz="1298" spc="-10" dirty="0">
                <a:solidFill>
                  <a:srgbClr val="202020"/>
                </a:solidFill>
                <a:latin typeface="Calibri"/>
                <a:cs typeface="Calibri"/>
              </a:rPr>
              <a:t>-</a:t>
            </a:r>
            <a:r>
              <a:rPr sz="1298" dirty="0">
                <a:solidFill>
                  <a:srgbClr val="202020"/>
                </a:solidFill>
                <a:latin typeface="Calibri"/>
                <a:cs typeface="Calibri"/>
              </a:rPr>
              <a:t>&gt;</a:t>
            </a:r>
            <a:r>
              <a:rPr sz="1298" spc="-35" dirty="0">
                <a:solidFill>
                  <a:srgbClr val="202020"/>
                </a:solidFill>
                <a:latin typeface="Calibri"/>
                <a:cs typeface="Calibri"/>
              </a:rPr>
              <a:t> </a:t>
            </a:r>
            <a:r>
              <a:rPr sz="1298" dirty="0">
                <a:solidFill>
                  <a:srgbClr val="202020"/>
                </a:solidFill>
                <a:latin typeface="Calibri"/>
                <a:cs typeface="Calibri"/>
              </a:rPr>
              <a:t>CASCADE.</a:t>
            </a:r>
            <a:r>
              <a:rPr sz="1298" spc="-35" dirty="0">
                <a:solidFill>
                  <a:srgbClr val="202020"/>
                </a:solidFill>
                <a:latin typeface="Calibri"/>
                <a:cs typeface="Calibri"/>
              </a:rPr>
              <a:t> Yes </a:t>
            </a:r>
            <a:r>
              <a:rPr sz="1298" dirty="0">
                <a:solidFill>
                  <a:srgbClr val="202020"/>
                </a:solidFill>
                <a:latin typeface="Calibri"/>
                <a:cs typeface="Calibri"/>
              </a:rPr>
              <a:t>/</a:t>
            </a:r>
            <a:r>
              <a:rPr sz="1298" spc="-35" dirty="0">
                <a:solidFill>
                  <a:srgbClr val="202020"/>
                </a:solidFill>
                <a:latin typeface="Calibri"/>
                <a:cs typeface="Calibri"/>
              </a:rPr>
              <a:t> </a:t>
            </a:r>
            <a:r>
              <a:rPr sz="1298" dirty="0">
                <a:solidFill>
                  <a:srgbClr val="202020"/>
                </a:solidFill>
                <a:latin typeface="Calibri"/>
                <a:cs typeface="Calibri"/>
              </a:rPr>
              <a:t>must</a:t>
            </a:r>
            <a:r>
              <a:rPr sz="1298" spc="-30" dirty="0">
                <a:solidFill>
                  <a:srgbClr val="202020"/>
                </a:solidFill>
                <a:latin typeface="Calibri"/>
                <a:cs typeface="Calibri"/>
              </a:rPr>
              <a:t> </a:t>
            </a:r>
            <a:r>
              <a:rPr sz="1298" dirty="0">
                <a:solidFill>
                  <a:srgbClr val="202020"/>
                </a:solidFill>
                <a:latin typeface="Calibri"/>
                <a:cs typeface="Calibri"/>
              </a:rPr>
              <a:t>be</a:t>
            </a:r>
            <a:r>
              <a:rPr sz="1298" spc="-35" dirty="0">
                <a:solidFill>
                  <a:srgbClr val="202020"/>
                </a:solidFill>
                <a:latin typeface="Calibri"/>
                <a:cs typeface="Calibri"/>
              </a:rPr>
              <a:t> </a:t>
            </a:r>
            <a:r>
              <a:rPr sz="1298" spc="-10" dirty="0">
                <a:solidFill>
                  <a:srgbClr val="202020"/>
                </a:solidFill>
                <a:latin typeface="Calibri"/>
                <a:cs typeface="Calibri"/>
              </a:rPr>
              <a:t>preserved</a:t>
            </a:r>
            <a:r>
              <a:rPr sz="1298" spc="-35" dirty="0">
                <a:solidFill>
                  <a:srgbClr val="202020"/>
                </a:solidFill>
                <a:latin typeface="Calibri"/>
                <a:cs typeface="Calibri"/>
              </a:rPr>
              <a:t> </a:t>
            </a:r>
            <a:r>
              <a:rPr sz="1298" spc="-10" dirty="0">
                <a:solidFill>
                  <a:srgbClr val="202020"/>
                </a:solidFill>
                <a:latin typeface="Calibri"/>
                <a:cs typeface="Calibri"/>
              </a:rPr>
              <a:t>-</a:t>
            </a:r>
            <a:r>
              <a:rPr sz="1298" spc="-50" dirty="0">
                <a:solidFill>
                  <a:srgbClr val="202020"/>
                </a:solidFill>
                <a:latin typeface="Calibri"/>
                <a:cs typeface="Calibri"/>
              </a:rPr>
              <a:t>&gt; </a:t>
            </a:r>
            <a:r>
              <a:rPr sz="1298" spc="-10" dirty="0">
                <a:solidFill>
                  <a:srgbClr val="202020"/>
                </a:solidFill>
                <a:latin typeface="Calibri"/>
                <a:cs typeface="Calibri"/>
              </a:rPr>
              <a:t>RESTRICT.</a:t>
            </a:r>
            <a:endParaRPr sz="1298">
              <a:latin typeface="Calibri"/>
              <a:cs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638" y="3"/>
            <a:ext cx="9132725" cy="5137792"/>
          </a:xfrm>
          <a:custGeom>
            <a:avLst/>
            <a:gdLst/>
            <a:ahLst/>
            <a:cxnLst/>
            <a:rect l="l" t="t" r="r" b="b"/>
            <a:pathLst>
              <a:path w="9144000" h="5144135">
                <a:moveTo>
                  <a:pt x="9144000" y="0"/>
                </a:moveTo>
                <a:lnTo>
                  <a:pt x="0" y="0"/>
                </a:lnTo>
                <a:lnTo>
                  <a:pt x="0" y="5143677"/>
                </a:lnTo>
                <a:lnTo>
                  <a:pt x="9144000" y="5143677"/>
                </a:lnTo>
                <a:lnTo>
                  <a:pt x="9144000" y="0"/>
                </a:lnTo>
                <a:close/>
              </a:path>
            </a:pathLst>
          </a:custGeom>
          <a:solidFill>
            <a:srgbClr val="1D1D1D"/>
          </a:solidFill>
        </p:spPr>
        <p:txBody>
          <a:bodyPr wrap="square" lIns="0" tIns="0" rIns="0" bIns="0" rtlCol="0"/>
          <a:lstStyle/>
          <a:p>
            <a:endParaRPr sz="1798"/>
          </a:p>
        </p:txBody>
      </p:sp>
      <p:sp>
        <p:nvSpPr>
          <p:cNvPr id="3" name="object 3"/>
          <p:cNvSpPr/>
          <p:nvPr/>
        </p:nvSpPr>
        <p:spPr>
          <a:xfrm>
            <a:off x="5283" y="4839990"/>
            <a:ext cx="9132725" cy="296814"/>
          </a:xfrm>
          <a:custGeom>
            <a:avLst/>
            <a:gdLst/>
            <a:ahLst/>
            <a:cxnLst/>
            <a:rect l="l" t="t" r="r" b="b"/>
            <a:pathLst>
              <a:path w="9144000" h="297179">
                <a:moveTo>
                  <a:pt x="9143631" y="0"/>
                </a:moveTo>
                <a:lnTo>
                  <a:pt x="0" y="0"/>
                </a:lnTo>
                <a:lnTo>
                  <a:pt x="0" y="296989"/>
                </a:lnTo>
                <a:lnTo>
                  <a:pt x="4572000" y="296989"/>
                </a:lnTo>
                <a:lnTo>
                  <a:pt x="9143631" y="296989"/>
                </a:lnTo>
                <a:lnTo>
                  <a:pt x="9143631" y="0"/>
                </a:lnTo>
                <a:close/>
              </a:path>
            </a:pathLst>
          </a:custGeom>
          <a:solidFill>
            <a:srgbClr val="333333"/>
          </a:solidFill>
        </p:spPr>
        <p:txBody>
          <a:bodyPr wrap="square" lIns="0" tIns="0" rIns="0" bIns="0" rtlCol="0"/>
          <a:lstStyle/>
          <a:p>
            <a:endParaRPr sz="1798"/>
          </a:p>
        </p:txBody>
      </p:sp>
      <p:sp>
        <p:nvSpPr>
          <p:cNvPr id="4" name="object 4"/>
          <p:cNvSpPr/>
          <p:nvPr/>
        </p:nvSpPr>
        <p:spPr>
          <a:xfrm>
            <a:off x="5283" y="-353"/>
            <a:ext cx="9132725" cy="54543"/>
          </a:xfrm>
          <a:custGeom>
            <a:avLst/>
            <a:gdLst/>
            <a:ahLst/>
            <a:cxnLst/>
            <a:rect l="l" t="t" r="r" b="b"/>
            <a:pathLst>
              <a:path w="9144000" h="54610">
                <a:moveTo>
                  <a:pt x="9143631" y="0"/>
                </a:moveTo>
                <a:lnTo>
                  <a:pt x="0" y="0"/>
                </a:lnTo>
                <a:lnTo>
                  <a:pt x="0" y="54355"/>
                </a:lnTo>
                <a:lnTo>
                  <a:pt x="4572000" y="54355"/>
                </a:lnTo>
                <a:lnTo>
                  <a:pt x="9143631" y="54355"/>
                </a:lnTo>
                <a:lnTo>
                  <a:pt x="9143631" y="0"/>
                </a:lnTo>
                <a:close/>
              </a:path>
            </a:pathLst>
          </a:custGeom>
          <a:solidFill>
            <a:srgbClr val="9C27AF"/>
          </a:solidFill>
        </p:spPr>
        <p:txBody>
          <a:bodyPr wrap="square" lIns="0" tIns="0" rIns="0" bIns="0" rtlCol="0"/>
          <a:lstStyle/>
          <a:p>
            <a:endParaRPr sz="1798"/>
          </a:p>
        </p:txBody>
      </p:sp>
      <p:sp>
        <p:nvSpPr>
          <p:cNvPr id="5" name="object 5"/>
          <p:cNvSpPr/>
          <p:nvPr/>
        </p:nvSpPr>
        <p:spPr>
          <a:xfrm>
            <a:off x="7311462" y="136637"/>
            <a:ext cx="1461236" cy="365309"/>
          </a:xfrm>
          <a:custGeom>
            <a:avLst/>
            <a:gdLst/>
            <a:ahLst/>
            <a:cxnLst/>
            <a:rect l="l" t="t" r="r" b="b"/>
            <a:pathLst>
              <a:path w="1463040" h="365759">
                <a:moveTo>
                  <a:pt x="1462671" y="0"/>
                </a:moveTo>
                <a:lnTo>
                  <a:pt x="0" y="0"/>
                </a:lnTo>
                <a:lnTo>
                  <a:pt x="0" y="365391"/>
                </a:lnTo>
                <a:lnTo>
                  <a:pt x="731520" y="365391"/>
                </a:lnTo>
                <a:lnTo>
                  <a:pt x="1462671" y="365391"/>
                </a:lnTo>
                <a:lnTo>
                  <a:pt x="1462671" y="0"/>
                </a:lnTo>
                <a:close/>
              </a:path>
            </a:pathLst>
          </a:custGeom>
          <a:solidFill>
            <a:srgbClr val="9C27AF"/>
          </a:solidFill>
        </p:spPr>
        <p:txBody>
          <a:bodyPr wrap="square" lIns="0" tIns="0" rIns="0" bIns="0" rtlCol="0"/>
          <a:lstStyle/>
          <a:p>
            <a:endParaRPr sz="1798"/>
          </a:p>
        </p:txBody>
      </p:sp>
      <p:sp>
        <p:nvSpPr>
          <p:cNvPr id="6" name="object 6"/>
          <p:cNvSpPr txBox="1"/>
          <p:nvPr/>
        </p:nvSpPr>
        <p:spPr>
          <a:xfrm>
            <a:off x="7685650" y="187953"/>
            <a:ext cx="712226" cy="223183"/>
          </a:xfrm>
          <a:prstGeom prst="rect">
            <a:avLst/>
          </a:prstGeom>
        </p:spPr>
        <p:txBody>
          <a:bodyPr vert="horz" wrap="square" lIns="0" tIns="15855" rIns="0" bIns="0" rtlCol="0">
            <a:spAutoFit/>
          </a:bodyPr>
          <a:lstStyle/>
          <a:p>
            <a:pPr marL="12685">
              <a:spcBef>
                <a:spcPts val="125"/>
              </a:spcBef>
            </a:pPr>
            <a:r>
              <a:rPr sz="1348" spc="-155" dirty="0">
                <a:solidFill>
                  <a:srgbClr val="FFFFFF"/>
                </a:solidFill>
                <a:latin typeface="Segoe UI Symbol"/>
                <a:cs typeface="Segoe UI Symbol"/>
              </a:rPr>
              <a:t>✅</a:t>
            </a:r>
            <a:r>
              <a:rPr sz="1348" spc="-225" dirty="0">
                <a:solidFill>
                  <a:srgbClr val="FFFFFF"/>
                </a:solidFill>
                <a:latin typeface="Segoe UI Symbol"/>
                <a:cs typeface="Segoe UI Symbol"/>
              </a:rPr>
              <a:t> </a:t>
            </a:r>
            <a:r>
              <a:rPr sz="1099" b="1" spc="-10" dirty="0">
                <a:solidFill>
                  <a:srgbClr val="FFFFFF"/>
                </a:solidFill>
                <a:latin typeface="Calibri"/>
                <a:cs typeface="Calibri"/>
              </a:rPr>
              <a:t>ANSWER</a:t>
            </a:r>
            <a:endParaRPr sz="1099">
              <a:latin typeface="Calibri"/>
              <a:cs typeface="Calibri"/>
            </a:endParaRPr>
          </a:p>
        </p:txBody>
      </p:sp>
      <p:sp>
        <p:nvSpPr>
          <p:cNvPr id="7" name="object 7" descr="$PPTXTitle"/>
          <p:cNvSpPr txBox="1">
            <a:spLocks noGrp="1"/>
          </p:cNvSpPr>
          <p:nvPr>
            <p:ph type="title"/>
          </p:nvPr>
        </p:nvSpPr>
        <p:spPr>
          <a:xfrm>
            <a:off x="357907" y="180766"/>
            <a:ext cx="1371177" cy="257766"/>
          </a:xfrm>
          <a:prstGeom prst="rect">
            <a:avLst/>
          </a:prstGeom>
        </p:spPr>
        <p:txBody>
          <a:bodyPr vert="horz" wrap="square" lIns="0" tIns="12050" rIns="0" bIns="0" rtlCol="0">
            <a:spAutoFit/>
          </a:bodyPr>
          <a:lstStyle/>
          <a:p>
            <a:pPr marL="12685">
              <a:spcBef>
                <a:spcPts val="95"/>
              </a:spcBef>
            </a:pPr>
            <a:r>
              <a:rPr dirty="0">
                <a:latin typeface="Georgia"/>
                <a:cs typeface="Georgia"/>
              </a:rPr>
              <a:t>Answer</a:t>
            </a:r>
            <a:r>
              <a:rPr spc="-95" dirty="0">
                <a:latin typeface="Georgia"/>
                <a:cs typeface="Georgia"/>
              </a:rPr>
              <a:t> </a:t>
            </a:r>
            <a:r>
              <a:rPr spc="-20" dirty="0">
                <a:latin typeface="Georgia"/>
                <a:cs typeface="Georgia"/>
              </a:rPr>
              <a:t>(1/2)</a:t>
            </a:r>
          </a:p>
        </p:txBody>
      </p:sp>
      <p:sp>
        <p:nvSpPr>
          <p:cNvPr id="8" name="object 8"/>
          <p:cNvSpPr txBox="1"/>
          <p:nvPr/>
        </p:nvSpPr>
        <p:spPr>
          <a:xfrm>
            <a:off x="356461" y="625393"/>
            <a:ext cx="6190592" cy="3712071"/>
          </a:xfrm>
          <a:prstGeom prst="rect">
            <a:avLst/>
          </a:prstGeom>
        </p:spPr>
        <p:txBody>
          <a:bodyPr vert="horz" wrap="square" lIns="0" tIns="12684" rIns="0" bIns="0" rtlCol="0">
            <a:spAutoFit/>
          </a:bodyPr>
          <a:lstStyle/>
          <a:p>
            <a:pPr marL="12685" marR="2972674">
              <a:lnSpc>
                <a:spcPct val="110100"/>
              </a:lnSpc>
              <a:spcBef>
                <a:spcPts val="100"/>
              </a:spcBef>
            </a:pPr>
            <a:r>
              <a:rPr sz="999" spc="-10" dirty="0">
                <a:solidFill>
                  <a:srgbClr val="699954"/>
                </a:solidFill>
                <a:latin typeface="Courier New"/>
                <a:cs typeface="Courier New"/>
              </a:rPr>
              <a:t>-</a:t>
            </a:r>
            <a:r>
              <a:rPr sz="999" dirty="0">
                <a:solidFill>
                  <a:srgbClr val="699954"/>
                </a:solidFill>
                <a:latin typeface="Courier New"/>
                <a:cs typeface="Courier New"/>
              </a:rPr>
              <a:t>-</a:t>
            </a:r>
            <a:r>
              <a:rPr sz="999" spc="-35" dirty="0">
                <a:solidFill>
                  <a:srgbClr val="699954"/>
                </a:solidFill>
                <a:latin typeface="Courier New"/>
                <a:cs typeface="Courier New"/>
              </a:rPr>
              <a:t> </a:t>
            </a:r>
            <a:r>
              <a:rPr sz="999" dirty="0">
                <a:solidFill>
                  <a:srgbClr val="699954"/>
                </a:solidFill>
                <a:latin typeface="Courier New"/>
                <a:cs typeface="Courier New"/>
              </a:rPr>
              <a:t>(a)</a:t>
            </a:r>
            <a:r>
              <a:rPr sz="999" spc="-20" dirty="0">
                <a:solidFill>
                  <a:srgbClr val="699954"/>
                </a:solidFill>
                <a:latin typeface="Courier New"/>
                <a:cs typeface="Courier New"/>
              </a:rPr>
              <a:t> </a:t>
            </a:r>
            <a:r>
              <a:rPr sz="999" dirty="0">
                <a:solidFill>
                  <a:srgbClr val="699954"/>
                </a:solidFill>
                <a:latin typeface="Courier New"/>
                <a:cs typeface="Courier New"/>
              </a:rPr>
              <a:t>CASCADE:</a:t>
            </a:r>
            <a:r>
              <a:rPr sz="999" spc="-20" dirty="0">
                <a:solidFill>
                  <a:srgbClr val="699954"/>
                </a:solidFill>
                <a:latin typeface="Courier New"/>
                <a:cs typeface="Courier New"/>
              </a:rPr>
              <a:t> </a:t>
            </a:r>
            <a:r>
              <a:rPr sz="999" dirty="0">
                <a:solidFill>
                  <a:srgbClr val="699954"/>
                </a:solidFill>
                <a:latin typeface="Courier New"/>
                <a:cs typeface="Courier New"/>
              </a:rPr>
              <a:t>comments</a:t>
            </a:r>
            <a:r>
              <a:rPr sz="999" spc="-20" dirty="0">
                <a:solidFill>
                  <a:srgbClr val="699954"/>
                </a:solidFill>
                <a:latin typeface="Courier New"/>
                <a:cs typeface="Courier New"/>
              </a:rPr>
              <a:t> </a:t>
            </a:r>
            <a:r>
              <a:rPr sz="999" dirty="0">
                <a:solidFill>
                  <a:srgbClr val="699954"/>
                </a:solidFill>
                <a:latin typeface="Courier New"/>
                <a:cs typeface="Courier New"/>
              </a:rPr>
              <a:t>die</a:t>
            </a:r>
            <a:r>
              <a:rPr sz="999" spc="-20" dirty="0">
                <a:solidFill>
                  <a:srgbClr val="699954"/>
                </a:solidFill>
                <a:latin typeface="Courier New"/>
                <a:cs typeface="Courier New"/>
              </a:rPr>
              <a:t> </a:t>
            </a:r>
            <a:r>
              <a:rPr sz="999" dirty="0">
                <a:solidFill>
                  <a:srgbClr val="699954"/>
                </a:solidFill>
                <a:latin typeface="Courier New"/>
                <a:cs typeface="Courier New"/>
              </a:rPr>
              <a:t>with</a:t>
            </a:r>
            <a:r>
              <a:rPr sz="999" spc="-20" dirty="0">
                <a:solidFill>
                  <a:srgbClr val="699954"/>
                </a:solidFill>
                <a:latin typeface="Courier New"/>
                <a:cs typeface="Courier New"/>
              </a:rPr>
              <a:t> </a:t>
            </a:r>
            <a:r>
              <a:rPr sz="999" dirty="0">
                <a:solidFill>
                  <a:srgbClr val="699954"/>
                </a:solidFill>
                <a:latin typeface="Courier New"/>
                <a:cs typeface="Courier New"/>
              </a:rPr>
              <a:t>the</a:t>
            </a:r>
            <a:r>
              <a:rPr sz="999" spc="-20" dirty="0">
                <a:solidFill>
                  <a:srgbClr val="699954"/>
                </a:solidFill>
                <a:latin typeface="Courier New"/>
                <a:cs typeface="Courier New"/>
              </a:rPr>
              <a:t> post </a:t>
            </a:r>
            <a:r>
              <a:rPr sz="999" dirty="0">
                <a:solidFill>
                  <a:srgbClr val="D3D3D3"/>
                </a:solidFill>
                <a:latin typeface="Courier New"/>
                <a:cs typeface="Courier New"/>
              </a:rPr>
              <a:t>CREATE</a:t>
            </a:r>
            <a:r>
              <a:rPr sz="999" spc="-45" dirty="0">
                <a:solidFill>
                  <a:srgbClr val="D3D3D3"/>
                </a:solidFill>
                <a:latin typeface="Courier New"/>
                <a:cs typeface="Courier New"/>
              </a:rPr>
              <a:t> </a:t>
            </a:r>
            <a:r>
              <a:rPr sz="999" dirty="0">
                <a:solidFill>
                  <a:srgbClr val="D3D3D3"/>
                </a:solidFill>
                <a:latin typeface="Courier New"/>
                <a:cs typeface="Courier New"/>
              </a:rPr>
              <a:t>TABLE</a:t>
            </a:r>
            <a:r>
              <a:rPr sz="999" spc="-45" dirty="0">
                <a:solidFill>
                  <a:srgbClr val="D3D3D3"/>
                </a:solidFill>
                <a:latin typeface="Courier New"/>
                <a:cs typeface="Courier New"/>
              </a:rPr>
              <a:t> </a:t>
            </a:r>
            <a:r>
              <a:rPr sz="999" dirty="0">
                <a:solidFill>
                  <a:srgbClr val="D3D3D3"/>
                </a:solidFill>
                <a:latin typeface="Courier New"/>
                <a:cs typeface="Courier New"/>
              </a:rPr>
              <a:t>day_4.blog_posts</a:t>
            </a:r>
            <a:r>
              <a:rPr sz="999" spc="-40" dirty="0">
                <a:solidFill>
                  <a:srgbClr val="D3D3D3"/>
                </a:solidFill>
                <a:latin typeface="Courier New"/>
                <a:cs typeface="Courier New"/>
              </a:rPr>
              <a:t> </a:t>
            </a:r>
            <a:r>
              <a:rPr sz="999" spc="-50" dirty="0">
                <a:solidFill>
                  <a:srgbClr val="D3D3D3"/>
                </a:solidFill>
                <a:latin typeface="Courier New"/>
                <a:cs typeface="Courier New"/>
              </a:rPr>
              <a:t>(</a:t>
            </a:r>
            <a:endParaRPr sz="999">
              <a:latin typeface="Courier New"/>
              <a:cs typeface="Courier New"/>
            </a:endParaRPr>
          </a:p>
          <a:p>
            <a:pPr marL="164268">
              <a:spcBef>
                <a:spcPts val="120"/>
              </a:spcBef>
            </a:pPr>
            <a:r>
              <a:rPr sz="999" dirty="0">
                <a:solidFill>
                  <a:srgbClr val="D3D3D3"/>
                </a:solidFill>
                <a:latin typeface="Courier New"/>
                <a:cs typeface="Courier New"/>
              </a:rPr>
              <a:t>post_id</a:t>
            </a:r>
            <a:r>
              <a:rPr sz="999" spc="-35" dirty="0">
                <a:solidFill>
                  <a:srgbClr val="D3D3D3"/>
                </a:solidFill>
                <a:latin typeface="Courier New"/>
                <a:cs typeface="Courier New"/>
              </a:rPr>
              <a:t> </a:t>
            </a:r>
            <a:r>
              <a:rPr sz="999" dirty="0">
                <a:solidFill>
                  <a:srgbClr val="D3D3D3"/>
                </a:solidFill>
                <a:latin typeface="Courier New"/>
                <a:cs typeface="Courier New"/>
              </a:rPr>
              <a:t>SERIAL</a:t>
            </a:r>
            <a:r>
              <a:rPr sz="999" spc="-30" dirty="0">
                <a:solidFill>
                  <a:srgbClr val="D3D3D3"/>
                </a:solidFill>
                <a:latin typeface="Courier New"/>
                <a:cs typeface="Courier New"/>
              </a:rPr>
              <a:t> </a:t>
            </a:r>
            <a:r>
              <a:rPr sz="999" dirty="0">
                <a:solidFill>
                  <a:srgbClr val="D3D3D3"/>
                </a:solidFill>
                <a:latin typeface="Courier New"/>
                <a:cs typeface="Courier New"/>
              </a:rPr>
              <a:t>PRIMARY</a:t>
            </a:r>
            <a:r>
              <a:rPr sz="999" spc="-30" dirty="0">
                <a:solidFill>
                  <a:srgbClr val="D3D3D3"/>
                </a:solidFill>
                <a:latin typeface="Courier New"/>
                <a:cs typeface="Courier New"/>
              </a:rPr>
              <a:t> </a:t>
            </a:r>
            <a:r>
              <a:rPr sz="999" dirty="0">
                <a:solidFill>
                  <a:srgbClr val="D3D3D3"/>
                </a:solidFill>
                <a:latin typeface="Courier New"/>
                <a:cs typeface="Courier New"/>
              </a:rPr>
              <a:t>KEY,</a:t>
            </a:r>
            <a:r>
              <a:rPr sz="999" spc="-35" dirty="0">
                <a:solidFill>
                  <a:srgbClr val="D3D3D3"/>
                </a:solidFill>
                <a:latin typeface="Courier New"/>
                <a:cs typeface="Courier New"/>
              </a:rPr>
              <a:t> </a:t>
            </a:r>
            <a:r>
              <a:rPr sz="999" dirty="0">
                <a:solidFill>
                  <a:srgbClr val="D3D3D3"/>
                </a:solidFill>
                <a:latin typeface="Courier New"/>
                <a:cs typeface="Courier New"/>
              </a:rPr>
              <a:t>title</a:t>
            </a:r>
            <a:r>
              <a:rPr sz="999" spc="-30" dirty="0">
                <a:solidFill>
                  <a:srgbClr val="D3D3D3"/>
                </a:solidFill>
                <a:latin typeface="Courier New"/>
                <a:cs typeface="Courier New"/>
              </a:rPr>
              <a:t> </a:t>
            </a:r>
            <a:r>
              <a:rPr sz="999" dirty="0">
                <a:solidFill>
                  <a:srgbClr val="D3D3D3"/>
                </a:solidFill>
                <a:latin typeface="Courier New"/>
                <a:cs typeface="Courier New"/>
              </a:rPr>
              <a:t>VARCHAR(200)</a:t>
            </a:r>
            <a:r>
              <a:rPr sz="999" spc="-30" dirty="0">
                <a:solidFill>
                  <a:srgbClr val="D3D3D3"/>
                </a:solidFill>
                <a:latin typeface="Courier New"/>
                <a:cs typeface="Courier New"/>
              </a:rPr>
              <a:t> </a:t>
            </a:r>
            <a:r>
              <a:rPr sz="999" dirty="0">
                <a:solidFill>
                  <a:srgbClr val="D3D3D3"/>
                </a:solidFill>
                <a:latin typeface="Courier New"/>
                <a:cs typeface="Courier New"/>
              </a:rPr>
              <a:t>NOT</a:t>
            </a:r>
            <a:r>
              <a:rPr sz="999" spc="-30" dirty="0">
                <a:solidFill>
                  <a:srgbClr val="D3D3D3"/>
                </a:solidFill>
                <a:latin typeface="Courier New"/>
                <a:cs typeface="Courier New"/>
              </a:rPr>
              <a:t> </a:t>
            </a:r>
            <a:r>
              <a:rPr sz="999" spc="-10" dirty="0">
                <a:solidFill>
                  <a:srgbClr val="D3D3D3"/>
                </a:solidFill>
                <a:latin typeface="Courier New"/>
                <a:cs typeface="Courier New"/>
              </a:rPr>
              <a:t>NULL);</a:t>
            </a:r>
            <a:endParaRPr sz="999">
              <a:latin typeface="Courier New"/>
              <a:cs typeface="Courier New"/>
            </a:endParaRPr>
          </a:p>
          <a:p>
            <a:pPr marL="164268" marR="3582175" indent="-152217">
              <a:lnSpc>
                <a:spcPct val="110100"/>
              </a:lnSpc>
            </a:pPr>
            <a:r>
              <a:rPr sz="999" dirty="0">
                <a:solidFill>
                  <a:srgbClr val="D3D3D3"/>
                </a:solidFill>
                <a:latin typeface="Courier New"/>
                <a:cs typeface="Courier New"/>
              </a:rPr>
              <a:t>CREATE</a:t>
            </a:r>
            <a:r>
              <a:rPr sz="999" spc="-50" dirty="0">
                <a:solidFill>
                  <a:srgbClr val="D3D3D3"/>
                </a:solidFill>
                <a:latin typeface="Courier New"/>
                <a:cs typeface="Courier New"/>
              </a:rPr>
              <a:t> </a:t>
            </a:r>
            <a:r>
              <a:rPr sz="999" dirty="0">
                <a:solidFill>
                  <a:srgbClr val="D3D3D3"/>
                </a:solidFill>
                <a:latin typeface="Courier New"/>
                <a:cs typeface="Courier New"/>
              </a:rPr>
              <a:t>TABLE</a:t>
            </a:r>
            <a:r>
              <a:rPr sz="999" spc="-50" dirty="0">
                <a:solidFill>
                  <a:srgbClr val="D3D3D3"/>
                </a:solidFill>
                <a:latin typeface="Courier New"/>
                <a:cs typeface="Courier New"/>
              </a:rPr>
              <a:t> </a:t>
            </a:r>
            <a:r>
              <a:rPr sz="999" dirty="0">
                <a:solidFill>
                  <a:srgbClr val="D3D3D3"/>
                </a:solidFill>
                <a:latin typeface="Courier New"/>
                <a:cs typeface="Courier New"/>
              </a:rPr>
              <a:t>day_4.post_comments</a:t>
            </a:r>
            <a:r>
              <a:rPr sz="999" spc="-45" dirty="0">
                <a:solidFill>
                  <a:srgbClr val="D3D3D3"/>
                </a:solidFill>
                <a:latin typeface="Courier New"/>
                <a:cs typeface="Courier New"/>
              </a:rPr>
              <a:t> </a:t>
            </a:r>
            <a:r>
              <a:rPr sz="999" spc="-50" dirty="0">
                <a:solidFill>
                  <a:srgbClr val="D3D3D3"/>
                </a:solidFill>
                <a:latin typeface="Courier New"/>
                <a:cs typeface="Courier New"/>
              </a:rPr>
              <a:t>( </a:t>
            </a:r>
            <a:r>
              <a:rPr sz="999" dirty="0">
                <a:solidFill>
                  <a:srgbClr val="D3D3D3"/>
                </a:solidFill>
                <a:latin typeface="Courier New"/>
                <a:cs typeface="Courier New"/>
              </a:rPr>
              <a:t>comment_id</a:t>
            </a:r>
            <a:r>
              <a:rPr sz="999" spc="-35" dirty="0">
                <a:solidFill>
                  <a:srgbClr val="D3D3D3"/>
                </a:solidFill>
                <a:latin typeface="Courier New"/>
                <a:cs typeface="Courier New"/>
              </a:rPr>
              <a:t> </a:t>
            </a:r>
            <a:r>
              <a:rPr sz="999" dirty="0">
                <a:solidFill>
                  <a:srgbClr val="D3D3D3"/>
                </a:solidFill>
                <a:latin typeface="Courier New"/>
                <a:cs typeface="Courier New"/>
              </a:rPr>
              <a:t>SERIAL</a:t>
            </a:r>
            <a:r>
              <a:rPr sz="999" spc="-40" dirty="0">
                <a:solidFill>
                  <a:srgbClr val="D3D3D3"/>
                </a:solidFill>
                <a:latin typeface="Courier New"/>
                <a:cs typeface="Courier New"/>
              </a:rPr>
              <a:t> </a:t>
            </a:r>
            <a:r>
              <a:rPr sz="999" dirty="0">
                <a:solidFill>
                  <a:srgbClr val="D3D3D3"/>
                </a:solidFill>
                <a:latin typeface="Courier New"/>
                <a:cs typeface="Courier New"/>
              </a:rPr>
              <a:t>PRIMARY</a:t>
            </a:r>
            <a:r>
              <a:rPr sz="999" spc="-35" dirty="0">
                <a:solidFill>
                  <a:srgbClr val="D3D3D3"/>
                </a:solidFill>
                <a:latin typeface="Courier New"/>
                <a:cs typeface="Courier New"/>
              </a:rPr>
              <a:t> </a:t>
            </a:r>
            <a:r>
              <a:rPr sz="999" spc="-20" dirty="0">
                <a:solidFill>
                  <a:srgbClr val="D3D3D3"/>
                </a:solidFill>
                <a:latin typeface="Courier New"/>
                <a:cs typeface="Courier New"/>
              </a:rPr>
              <a:t>KEY,</a:t>
            </a:r>
            <a:endParaRPr sz="999">
              <a:latin typeface="Courier New"/>
              <a:cs typeface="Courier New"/>
            </a:endParaRPr>
          </a:p>
          <a:p>
            <a:pPr marL="164268" marR="233399">
              <a:lnSpc>
                <a:spcPct val="110100"/>
              </a:lnSpc>
            </a:pPr>
            <a:r>
              <a:rPr sz="999" dirty="0">
                <a:solidFill>
                  <a:srgbClr val="D3D3D3"/>
                </a:solidFill>
                <a:latin typeface="Courier New"/>
                <a:cs typeface="Courier New"/>
              </a:rPr>
              <a:t>post_id</a:t>
            </a:r>
            <a:r>
              <a:rPr sz="999" spc="-40" dirty="0">
                <a:solidFill>
                  <a:srgbClr val="D3D3D3"/>
                </a:solidFill>
                <a:latin typeface="Courier New"/>
                <a:cs typeface="Courier New"/>
              </a:rPr>
              <a:t> </a:t>
            </a:r>
            <a:r>
              <a:rPr sz="999" dirty="0">
                <a:solidFill>
                  <a:srgbClr val="D3D3D3"/>
                </a:solidFill>
                <a:latin typeface="Courier New"/>
                <a:cs typeface="Courier New"/>
              </a:rPr>
              <a:t>INT</a:t>
            </a:r>
            <a:r>
              <a:rPr sz="999" spc="-35" dirty="0">
                <a:solidFill>
                  <a:srgbClr val="D3D3D3"/>
                </a:solidFill>
                <a:latin typeface="Courier New"/>
                <a:cs typeface="Courier New"/>
              </a:rPr>
              <a:t> </a:t>
            </a:r>
            <a:r>
              <a:rPr sz="999" dirty="0">
                <a:solidFill>
                  <a:srgbClr val="D3D3D3"/>
                </a:solidFill>
                <a:latin typeface="Courier New"/>
                <a:cs typeface="Courier New"/>
              </a:rPr>
              <a:t>NOT</a:t>
            </a:r>
            <a:r>
              <a:rPr sz="999" spc="-40" dirty="0">
                <a:solidFill>
                  <a:srgbClr val="D3D3D3"/>
                </a:solidFill>
                <a:latin typeface="Courier New"/>
                <a:cs typeface="Courier New"/>
              </a:rPr>
              <a:t> </a:t>
            </a:r>
            <a:r>
              <a:rPr sz="999" dirty="0">
                <a:solidFill>
                  <a:srgbClr val="D3D3D3"/>
                </a:solidFill>
                <a:latin typeface="Courier New"/>
                <a:cs typeface="Courier New"/>
              </a:rPr>
              <a:t>NULL</a:t>
            </a:r>
            <a:r>
              <a:rPr sz="999" spc="-35" dirty="0">
                <a:solidFill>
                  <a:srgbClr val="D3D3D3"/>
                </a:solidFill>
                <a:latin typeface="Courier New"/>
                <a:cs typeface="Courier New"/>
              </a:rPr>
              <a:t> </a:t>
            </a:r>
            <a:r>
              <a:rPr sz="999" dirty="0">
                <a:solidFill>
                  <a:srgbClr val="D3D3D3"/>
                </a:solidFill>
                <a:latin typeface="Courier New"/>
                <a:cs typeface="Courier New"/>
              </a:rPr>
              <a:t>REFERENCES</a:t>
            </a:r>
            <a:r>
              <a:rPr sz="999" spc="-40" dirty="0">
                <a:solidFill>
                  <a:srgbClr val="D3D3D3"/>
                </a:solidFill>
                <a:latin typeface="Courier New"/>
                <a:cs typeface="Courier New"/>
              </a:rPr>
              <a:t> </a:t>
            </a:r>
            <a:r>
              <a:rPr sz="999" dirty="0">
                <a:solidFill>
                  <a:srgbClr val="D3D3D3"/>
                </a:solidFill>
                <a:latin typeface="Courier New"/>
                <a:cs typeface="Courier New"/>
              </a:rPr>
              <a:t>day_4.blog_posts(post_id)</a:t>
            </a:r>
            <a:r>
              <a:rPr sz="999" spc="-35" dirty="0">
                <a:solidFill>
                  <a:srgbClr val="D3D3D3"/>
                </a:solidFill>
                <a:latin typeface="Courier New"/>
                <a:cs typeface="Courier New"/>
              </a:rPr>
              <a:t> </a:t>
            </a:r>
            <a:r>
              <a:rPr sz="999" dirty="0">
                <a:solidFill>
                  <a:srgbClr val="D3D3D3"/>
                </a:solidFill>
                <a:latin typeface="Courier New"/>
                <a:cs typeface="Courier New"/>
              </a:rPr>
              <a:t>ON</a:t>
            </a:r>
            <a:r>
              <a:rPr sz="999" spc="-35" dirty="0">
                <a:solidFill>
                  <a:srgbClr val="D3D3D3"/>
                </a:solidFill>
                <a:latin typeface="Courier New"/>
                <a:cs typeface="Courier New"/>
              </a:rPr>
              <a:t> </a:t>
            </a:r>
            <a:r>
              <a:rPr sz="999" dirty="0">
                <a:solidFill>
                  <a:srgbClr val="D3D3D3"/>
                </a:solidFill>
                <a:latin typeface="Courier New"/>
                <a:cs typeface="Courier New"/>
              </a:rPr>
              <a:t>DELETE</a:t>
            </a:r>
            <a:r>
              <a:rPr sz="999" spc="-35" dirty="0">
                <a:solidFill>
                  <a:srgbClr val="D3D3D3"/>
                </a:solidFill>
                <a:latin typeface="Courier New"/>
                <a:cs typeface="Courier New"/>
              </a:rPr>
              <a:t> </a:t>
            </a:r>
            <a:r>
              <a:rPr sz="999" spc="-10" dirty="0">
                <a:solidFill>
                  <a:srgbClr val="D3D3D3"/>
                </a:solidFill>
                <a:latin typeface="Courier New"/>
                <a:cs typeface="Courier New"/>
              </a:rPr>
              <a:t>CASCADE, </a:t>
            </a:r>
            <a:r>
              <a:rPr sz="999" dirty="0">
                <a:solidFill>
                  <a:srgbClr val="D3D3D3"/>
                </a:solidFill>
                <a:latin typeface="Courier New"/>
                <a:cs typeface="Courier New"/>
              </a:rPr>
              <a:t>comment_text</a:t>
            </a:r>
            <a:r>
              <a:rPr sz="999" spc="-35" dirty="0">
                <a:solidFill>
                  <a:srgbClr val="D3D3D3"/>
                </a:solidFill>
                <a:latin typeface="Courier New"/>
                <a:cs typeface="Courier New"/>
              </a:rPr>
              <a:t> </a:t>
            </a:r>
            <a:r>
              <a:rPr sz="999" dirty="0">
                <a:solidFill>
                  <a:srgbClr val="D3D3D3"/>
                </a:solidFill>
                <a:latin typeface="Courier New"/>
                <a:cs typeface="Courier New"/>
              </a:rPr>
              <a:t>TEXT</a:t>
            </a:r>
            <a:r>
              <a:rPr sz="999" spc="-30" dirty="0">
                <a:solidFill>
                  <a:srgbClr val="D3D3D3"/>
                </a:solidFill>
                <a:latin typeface="Courier New"/>
                <a:cs typeface="Courier New"/>
              </a:rPr>
              <a:t> </a:t>
            </a:r>
            <a:r>
              <a:rPr sz="999" dirty="0">
                <a:solidFill>
                  <a:srgbClr val="D3D3D3"/>
                </a:solidFill>
                <a:latin typeface="Courier New"/>
                <a:cs typeface="Courier New"/>
              </a:rPr>
              <a:t>NOT</a:t>
            </a:r>
            <a:r>
              <a:rPr sz="999" spc="-30" dirty="0">
                <a:solidFill>
                  <a:srgbClr val="D3D3D3"/>
                </a:solidFill>
                <a:latin typeface="Courier New"/>
                <a:cs typeface="Courier New"/>
              </a:rPr>
              <a:t> </a:t>
            </a:r>
            <a:r>
              <a:rPr sz="999" spc="-10" dirty="0">
                <a:solidFill>
                  <a:srgbClr val="D3D3D3"/>
                </a:solidFill>
                <a:latin typeface="Courier New"/>
                <a:cs typeface="Courier New"/>
              </a:rPr>
              <a:t>NULL);</a:t>
            </a:r>
            <a:endParaRPr sz="999">
              <a:latin typeface="Courier New"/>
              <a:cs typeface="Courier New"/>
            </a:endParaRPr>
          </a:p>
          <a:p>
            <a:pPr marL="12685" marR="1755571">
              <a:lnSpc>
                <a:spcPct val="110100"/>
              </a:lnSpc>
            </a:pPr>
            <a:r>
              <a:rPr sz="999" dirty="0">
                <a:solidFill>
                  <a:srgbClr val="D3D3D3"/>
                </a:solidFill>
                <a:latin typeface="Courier New"/>
                <a:cs typeface="Courier New"/>
              </a:rPr>
              <a:t>INSERT</a:t>
            </a:r>
            <a:r>
              <a:rPr sz="999" spc="-40" dirty="0">
                <a:solidFill>
                  <a:srgbClr val="D3D3D3"/>
                </a:solidFill>
                <a:latin typeface="Courier New"/>
                <a:cs typeface="Courier New"/>
              </a:rPr>
              <a:t> </a:t>
            </a:r>
            <a:r>
              <a:rPr sz="999" dirty="0">
                <a:solidFill>
                  <a:srgbClr val="D3D3D3"/>
                </a:solidFill>
                <a:latin typeface="Courier New"/>
                <a:cs typeface="Courier New"/>
              </a:rPr>
              <a:t>INTO</a:t>
            </a:r>
            <a:r>
              <a:rPr sz="999" spc="-40" dirty="0">
                <a:solidFill>
                  <a:srgbClr val="D3D3D3"/>
                </a:solidFill>
                <a:latin typeface="Courier New"/>
                <a:cs typeface="Courier New"/>
              </a:rPr>
              <a:t> </a:t>
            </a:r>
            <a:r>
              <a:rPr sz="999" dirty="0">
                <a:solidFill>
                  <a:srgbClr val="D3D3D3"/>
                </a:solidFill>
                <a:latin typeface="Courier New"/>
                <a:cs typeface="Courier New"/>
              </a:rPr>
              <a:t>day_4.blog_posts</a:t>
            </a:r>
            <a:r>
              <a:rPr sz="999" spc="-35" dirty="0">
                <a:solidFill>
                  <a:srgbClr val="D3D3D3"/>
                </a:solidFill>
                <a:latin typeface="Courier New"/>
                <a:cs typeface="Courier New"/>
              </a:rPr>
              <a:t> </a:t>
            </a:r>
            <a:r>
              <a:rPr sz="999" dirty="0">
                <a:solidFill>
                  <a:srgbClr val="D3D3D3"/>
                </a:solidFill>
                <a:latin typeface="Courier New"/>
                <a:cs typeface="Courier New"/>
              </a:rPr>
              <a:t>(title)</a:t>
            </a:r>
            <a:r>
              <a:rPr sz="999" spc="-35" dirty="0">
                <a:solidFill>
                  <a:srgbClr val="D3D3D3"/>
                </a:solidFill>
                <a:latin typeface="Courier New"/>
                <a:cs typeface="Courier New"/>
              </a:rPr>
              <a:t> </a:t>
            </a:r>
            <a:r>
              <a:rPr sz="999" dirty="0">
                <a:solidFill>
                  <a:srgbClr val="D3D3D3"/>
                </a:solidFill>
                <a:latin typeface="Courier New"/>
                <a:cs typeface="Courier New"/>
              </a:rPr>
              <a:t>VALUES</a:t>
            </a:r>
            <a:r>
              <a:rPr sz="999" spc="-40" dirty="0">
                <a:solidFill>
                  <a:srgbClr val="D3D3D3"/>
                </a:solidFill>
                <a:latin typeface="Courier New"/>
                <a:cs typeface="Courier New"/>
              </a:rPr>
              <a:t> </a:t>
            </a:r>
            <a:r>
              <a:rPr sz="999" dirty="0">
                <a:solidFill>
                  <a:srgbClr val="D3D3D3"/>
                </a:solidFill>
                <a:latin typeface="Courier New"/>
                <a:cs typeface="Courier New"/>
              </a:rPr>
              <a:t>('Learn</a:t>
            </a:r>
            <a:r>
              <a:rPr sz="999" spc="-35" dirty="0">
                <a:solidFill>
                  <a:srgbClr val="D3D3D3"/>
                </a:solidFill>
                <a:latin typeface="Courier New"/>
                <a:cs typeface="Courier New"/>
              </a:rPr>
              <a:t> </a:t>
            </a:r>
            <a:r>
              <a:rPr sz="999" spc="-10" dirty="0">
                <a:solidFill>
                  <a:srgbClr val="D3D3D3"/>
                </a:solidFill>
                <a:latin typeface="Courier New"/>
                <a:cs typeface="Courier New"/>
              </a:rPr>
              <a:t>SQL'); </a:t>
            </a:r>
            <a:r>
              <a:rPr sz="999" dirty="0">
                <a:solidFill>
                  <a:srgbClr val="D3D3D3"/>
                </a:solidFill>
                <a:latin typeface="Courier New"/>
                <a:cs typeface="Courier New"/>
              </a:rPr>
              <a:t>INSERT</a:t>
            </a:r>
            <a:r>
              <a:rPr sz="999" spc="-60" dirty="0">
                <a:solidFill>
                  <a:srgbClr val="D3D3D3"/>
                </a:solidFill>
                <a:latin typeface="Courier New"/>
                <a:cs typeface="Courier New"/>
              </a:rPr>
              <a:t> </a:t>
            </a:r>
            <a:r>
              <a:rPr sz="999" dirty="0">
                <a:solidFill>
                  <a:srgbClr val="D3D3D3"/>
                </a:solidFill>
                <a:latin typeface="Courier New"/>
                <a:cs typeface="Courier New"/>
              </a:rPr>
              <a:t>INTO</a:t>
            </a:r>
            <a:r>
              <a:rPr sz="999" spc="-45" dirty="0">
                <a:solidFill>
                  <a:srgbClr val="D3D3D3"/>
                </a:solidFill>
                <a:latin typeface="Courier New"/>
                <a:cs typeface="Courier New"/>
              </a:rPr>
              <a:t> </a:t>
            </a:r>
            <a:r>
              <a:rPr sz="999" dirty="0">
                <a:solidFill>
                  <a:srgbClr val="D3D3D3"/>
                </a:solidFill>
                <a:latin typeface="Courier New"/>
                <a:cs typeface="Courier New"/>
              </a:rPr>
              <a:t>day_4.post_comments</a:t>
            </a:r>
            <a:r>
              <a:rPr sz="999" spc="-50" dirty="0">
                <a:solidFill>
                  <a:srgbClr val="D3D3D3"/>
                </a:solidFill>
                <a:latin typeface="Courier New"/>
                <a:cs typeface="Courier New"/>
              </a:rPr>
              <a:t> </a:t>
            </a:r>
            <a:r>
              <a:rPr sz="999" dirty="0">
                <a:solidFill>
                  <a:srgbClr val="D3D3D3"/>
                </a:solidFill>
                <a:latin typeface="Courier New"/>
                <a:cs typeface="Courier New"/>
              </a:rPr>
              <a:t>(post_id,</a:t>
            </a:r>
            <a:r>
              <a:rPr sz="999" spc="-45" dirty="0">
                <a:solidFill>
                  <a:srgbClr val="D3D3D3"/>
                </a:solidFill>
                <a:latin typeface="Courier New"/>
                <a:cs typeface="Courier New"/>
              </a:rPr>
              <a:t> </a:t>
            </a:r>
            <a:r>
              <a:rPr sz="999" spc="-10" dirty="0">
                <a:solidFill>
                  <a:srgbClr val="D3D3D3"/>
                </a:solidFill>
                <a:latin typeface="Courier New"/>
                <a:cs typeface="Courier New"/>
              </a:rPr>
              <a:t>comment_text) </a:t>
            </a:r>
            <a:r>
              <a:rPr sz="999" dirty="0">
                <a:solidFill>
                  <a:srgbClr val="D3D3D3"/>
                </a:solidFill>
                <a:latin typeface="Courier New"/>
                <a:cs typeface="Courier New"/>
              </a:rPr>
              <a:t>VALUES</a:t>
            </a:r>
            <a:r>
              <a:rPr sz="999" spc="-30" dirty="0">
                <a:solidFill>
                  <a:srgbClr val="D3D3D3"/>
                </a:solidFill>
                <a:latin typeface="Courier New"/>
                <a:cs typeface="Courier New"/>
              </a:rPr>
              <a:t> </a:t>
            </a:r>
            <a:r>
              <a:rPr sz="999" spc="-10" dirty="0">
                <a:solidFill>
                  <a:srgbClr val="D3D3D3"/>
                </a:solidFill>
                <a:latin typeface="Courier New"/>
                <a:cs typeface="Courier New"/>
              </a:rPr>
              <a:t>(1,'Great!'),(1,'Helpful!'),(1,'Bookmarked.'); </a:t>
            </a:r>
            <a:r>
              <a:rPr sz="999" dirty="0">
                <a:solidFill>
                  <a:srgbClr val="D3D3D3"/>
                </a:solidFill>
                <a:latin typeface="Courier New"/>
                <a:cs typeface="Courier New"/>
              </a:rPr>
              <a:t>DELETE</a:t>
            </a:r>
            <a:r>
              <a:rPr sz="999" spc="-35" dirty="0">
                <a:solidFill>
                  <a:srgbClr val="D3D3D3"/>
                </a:solidFill>
                <a:latin typeface="Courier New"/>
                <a:cs typeface="Courier New"/>
              </a:rPr>
              <a:t> </a:t>
            </a:r>
            <a:r>
              <a:rPr sz="999" dirty="0">
                <a:solidFill>
                  <a:srgbClr val="D3D3D3"/>
                </a:solidFill>
                <a:latin typeface="Courier New"/>
                <a:cs typeface="Courier New"/>
              </a:rPr>
              <a:t>FROM</a:t>
            </a:r>
            <a:r>
              <a:rPr sz="999" spc="-30" dirty="0">
                <a:solidFill>
                  <a:srgbClr val="D3D3D3"/>
                </a:solidFill>
                <a:latin typeface="Courier New"/>
                <a:cs typeface="Courier New"/>
              </a:rPr>
              <a:t> </a:t>
            </a:r>
            <a:r>
              <a:rPr sz="999" dirty="0">
                <a:solidFill>
                  <a:srgbClr val="D3D3D3"/>
                </a:solidFill>
                <a:latin typeface="Courier New"/>
                <a:cs typeface="Courier New"/>
              </a:rPr>
              <a:t>day_4.blog_posts</a:t>
            </a:r>
            <a:r>
              <a:rPr sz="999" spc="-35" dirty="0">
                <a:solidFill>
                  <a:srgbClr val="D3D3D3"/>
                </a:solidFill>
                <a:latin typeface="Courier New"/>
                <a:cs typeface="Courier New"/>
              </a:rPr>
              <a:t> </a:t>
            </a:r>
            <a:r>
              <a:rPr sz="999" dirty="0">
                <a:solidFill>
                  <a:srgbClr val="D3D3D3"/>
                </a:solidFill>
                <a:latin typeface="Courier New"/>
                <a:cs typeface="Courier New"/>
              </a:rPr>
              <a:t>WHERE</a:t>
            </a:r>
            <a:r>
              <a:rPr sz="999" spc="-30" dirty="0">
                <a:solidFill>
                  <a:srgbClr val="D3D3D3"/>
                </a:solidFill>
                <a:latin typeface="Courier New"/>
                <a:cs typeface="Courier New"/>
              </a:rPr>
              <a:t> </a:t>
            </a:r>
            <a:r>
              <a:rPr sz="999" dirty="0">
                <a:solidFill>
                  <a:srgbClr val="D3D3D3"/>
                </a:solidFill>
                <a:latin typeface="Courier New"/>
                <a:cs typeface="Courier New"/>
              </a:rPr>
              <a:t>post_id</a:t>
            </a:r>
            <a:r>
              <a:rPr sz="999" spc="-35" dirty="0">
                <a:solidFill>
                  <a:srgbClr val="D3D3D3"/>
                </a:solidFill>
                <a:latin typeface="Courier New"/>
                <a:cs typeface="Courier New"/>
              </a:rPr>
              <a:t> </a:t>
            </a:r>
            <a:r>
              <a:rPr sz="999" dirty="0">
                <a:solidFill>
                  <a:srgbClr val="D3D3D3"/>
                </a:solidFill>
                <a:latin typeface="Courier New"/>
                <a:cs typeface="Courier New"/>
              </a:rPr>
              <a:t>=</a:t>
            </a:r>
            <a:r>
              <a:rPr sz="999" spc="-30" dirty="0">
                <a:solidFill>
                  <a:srgbClr val="D3D3D3"/>
                </a:solidFill>
                <a:latin typeface="Courier New"/>
                <a:cs typeface="Courier New"/>
              </a:rPr>
              <a:t> </a:t>
            </a:r>
            <a:r>
              <a:rPr sz="999" spc="-25" dirty="0">
                <a:solidFill>
                  <a:srgbClr val="D3D3D3"/>
                </a:solidFill>
                <a:latin typeface="Courier New"/>
                <a:cs typeface="Courier New"/>
              </a:rPr>
              <a:t>1;</a:t>
            </a:r>
            <a:endParaRPr sz="999">
              <a:latin typeface="Courier New"/>
              <a:cs typeface="Courier New"/>
            </a:endParaRPr>
          </a:p>
          <a:p>
            <a:pPr marL="12685">
              <a:spcBef>
                <a:spcPts val="120"/>
              </a:spcBef>
            </a:pPr>
            <a:r>
              <a:rPr sz="999" dirty="0">
                <a:solidFill>
                  <a:srgbClr val="D3D3D3"/>
                </a:solidFill>
                <a:latin typeface="Courier New"/>
                <a:cs typeface="Courier New"/>
              </a:rPr>
              <a:t>SELECT</a:t>
            </a:r>
            <a:r>
              <a:rPr sz="999" spc="-25" dirty="0">
                <a:solidFill>
                  <a:srgbClr val="D3D3D3"/>
                </a:solidFill>
                <a:latin typeface="Courier New"/>
                <a:cs typeface="Courier New"/>
              </a:rPr>
              <a:t> </a:t>
            </a:r>
            <a:r>
              <a:rPr sz="999" dirty="0">
                <a:solidFill>
                  <a:srgbClr val="D3D3D3"/>
                </a:solidFill>
                <a:latin typeface="Courier New"/>
                <a:cs typeface="Courier New"/>
              </a:rPr>
              <a:t>count(*)</a:t>
            </a:r>
            <a:r>
              <a:rPr sz="999" spc="-25" dirty="0">
                <a:solidFill>
                  <a:srgbClr val="D3D3D3"/>
                </a:solidFill>
                <a:latin typeface="Courier New"/>
                <a:cs typeface="Courier New"/>
              </a:rPr>
              <a:t> </a:t>
            </a:r>
            <a:r>
              <a:rPr sz="999" dirty="0">
                <a:solidFill>
                  <a:srgbClr val="D3D3D3"/>
                </a:solidFill>
                <a:latin typeface="Courier New"/>
                <a:cs typeface="Courier New"/>
              </a:rPr>
              <a:t>FROM</a:t>
            </a:r>
            <a:r>
              <a:rPr sz="999" spc="-25" dirty="0">
                <a:solidFill>
                  <a:srgbClr val="D3D3D3"/>
                </a:solidFill>
                <a:latin typeface="Courier New"/>
                <a:cs typeface="Courier New"/>
              </a:rPr>
              <a:t> </a:t>
            </a:r>
            <a:r>
              <a:rPr sz="999" dirty="0">
                <a:solidFill>
                  <a:srgbClr val="D3D3D3"/>
                </a:solidFill>
                <a:latin typeface="Courier New"/>
                <a:cs typeface="Courier New"/>
              </a:rPr>
              <a:t>day_4.post_comments;</a:t>
            </a:r>
            <a:r>
              <a:rPr sz="999" spc="-25" dirty="0">
                <a:solidFill>
                  <a:srgbClr val="D3D3D3"/>
                </a:solidFill>
                <a:latin typeface="Courier New"/>
                <a:cs typeface="Courier New"/>
              </a:rPr>
              <a:t>  </a:t>
            </a:r>
            <a:r>
              <a:rPr sz="999" spc="-10" dirty="0">
                <a:solidFill>
                  <a:srgbClr val="D3D3D3"/>
                </a:solidFill>
                <a:latin typeface="Courier New"/>
                <a:cs typeface="Courier New"/>
              </a:rPr>
              <a:t>-</a:t>
            </a:r>
            <a:r>
              <a:rPr sz="999" dirty="0">
                <a:solidFill>
                  <a:srgbClr val="D3D3D3"/>
                </a:solidFill>
                <a:latin typeface="Courier New"/>
                <a:cs typeface="Courier New"/>
              </a:rPr>
              <a:t>-</a:t>
            </a:r>
            <a:r>
              <a:rPr sz="999" spc="-20" dirty="0">
                <a:solidFill>
                  <a:srgbClr val="D3D3D3"/>
                </a:solidFill>
                <a:latin typeface="Courier New"/>
                <a:cs typeface="Courier New"/>
              </a:rPr>
              <a:t> </a:t>
            </a:r>
            <a:r>
              <a:rPr sz="999" dirty="0">
                <a:solidFill>
                  <a:srgbClr val="D3D3D3"/>
                </a:solidFill>
                <a:latin typeface="Courier New"/>
                <a:cs typeface="Courier New"/>
              </a:rPr>
              <a:t>0</a:t>
            </a:r>
            <a:r>
              <a:rPr sz="999" spc="-20" dirty="0">
                <a:solidFill>
                  <a:srgbClr val="D3D3D3"/>
                </a:solidFill>
                <a:latin typeface="Courier New"/>
                <a:cs typeface="Courier New"/>
              </a:rPr>
              <a:t> </a:t>
            </a:r>
            <a:r>
              <a:rPr sz="999" spc="-10" dirty="0">
                <a:solidFill>
                  <a:srgbClr val="D3D3D3"/>
                </a:solidFill>
                <a:latin typeface="Courier New"/>
                <a:cs typeface="Courier New"/>
              </a:rPr>
              <a:t>(auto-deleted)</a:t>
            </a:r>
            <a:endParaRPr sz="999">
              <a:latin typeface="Courier New"/>
              <a:cs typeface="Courier New"/>
            </a:endParaRPr>
          </a:p>
          <a:p>
            <a:pPr>
              <a:spcBef>
                <a:spcPts val="185"/>
              </a:spcBef>
            </a:pPr>
            <a:endParaRPr sz="999">
              <a:latin typeface="Courier New"/>
              <a:cs typeface="Courier New"/>
            </a:endParaRPr>
          </a:p>
          <a:p>
            <a:pPr marL="12685" marR="1755571">
              <a:lnSpc>
                <a:spcPct val="110100"/>
              </a:lnSpc>
            </a:pPr>
            <a:r>
              <a:rPr sz="999" spc="-10" dirty="0">
                <a:solidFill>
                  <a:srgbClr val="699954"/>
                </a:solidFill>
                <a:latin typeface="Courier New"/>
                <a:cs typeface="Courier New"/>
              </a:rPr>
              <a:t>-</a:t>
            </a:r>
            <a:r>
              <a:rPr sz="999" dirty="0">
                <a:solidFill>
                  <a:srgbClr val="699954"/>
                </a:solidFill>
                <a:latin typeface="Courier New"/>
                <a:cs typeface="Courier New"/>
              </a:rPr>
              <a:t>-</a:t>
            </a:r>
            <a:r>
              <a:rPr sz="999" spc="-25" dirty="0">
                <a:solidFill>
                  <a:srgbClr val="699954"/>
                </a:solidFill>
                <a:latin typeface="Courier New"/>
                <a:cs typeface="Courier New"/>
              </a:rPr>
              <a:t> </a:t>
            </a:r>
            <a:r>
              <a:rPr sz="999" dirty="0">
                <a:solidFill>
                  <a:srgbClr val="699954"/>
                </a:solidFill>
                <a:latin typeface="Courier New"/>
                <a:cs typeface="Courier New"/>
              </a:rPr>
              <a:t>(b)</a:t>
            </a:r>
            <a:r>
              <a:rPr sz="999" spc="-25" dirty="0">
                <a:solidFill>
                  <a:srgbClr val="699954"/>
                </a:solidFill>
                <a:latin typeface="Courier New"/>
                <a:cs typeface="Courier New"/>
              </a:rPr>
              <a:t> </a:t>
            </a:r>
            <a:r>
              <a:rPr sz="999" dirty="0">
                <a:solidFill>
                  <a:srgbClr val="699954"/>
                </a:solidFill>
                <a:latin typeface="Courier New"/>
                <a:cs typeface="Courier New"/>
              </a:rPr>
              <a:t>RESTRICT:</a:t>
            </a:r>
            <a:r>
              <a:rPr sz="999" spc="-25" dirty="0">
                <a:solidFill>
                  <a:srgbClr val="699954"/>
                </a:solidFill>
                <a:latin typeface="Courier New"/>
                <a:cs typeface="Courier New"/>
              </a:rPr>
              <a:t> </a:t>
            </a:r>
            <a:r>
              <a:rPr sz="999" dirty="0">
                <a:solidFill>
                  <a:srgbClr val="699954"/>
                </a:solidFill>
                <a:latin typeface="Courier New"/>
                <a:cs typeface="Courier New"/>
              </a:rPr>
              <a:t>cannot</a:t>
            </a:r>
            <a:r>
              <a:rPr sz="999" spc="-25" dirty="0">
                <a:solidFill>
                  <a:srgbClr val="699954"/>
                </a:solidFill>
                <a:latin typeface="Courier New"/>
                <a:cs typeface="Courier New"/>
              </a:rPr>
              <a:t> </a:t>
            </a:r>
            <a:r>
              <a:rPr sz="999" dirty="0">
                <a:solidFill>
                  <a:srgbClr val="699954"/>
                </a:solidFill>
                <a:latin typeface="Courier New"/>
                <a:cs typeface="Courier New"/>
              </a:rPr>
              <a:t>delete</a:t>
            </a:r>
            <a:r>
              <a:rPr sz="999" spc="-25" dirty="0">
                <a:solidFill>
                  <a:srgbClr val="699954"/>
                </a:solidFill>
                <a:latin typeface="Courier New"/>
                <a:cs typeface="Courier New"/>
              </a:rPr>
              <a:t> </a:t>
            </a:r>
            <a:r>
              <a:rPr sz="999" dirty="0">
                <a:solidFill>
                  <a:srgbClr val="699954"/>
                </a:solidFill>
                <a:latin typeface="Courier New"/>
                <a:cs typeface="Courier New"/>
              </a:rPr>
              <a:t>a</a:t>
            </a:r>
            <a:r>
              <a:rPr sz="999" spc="-25" dirty="0">
                <a:solidFill>
                  <a:srgbClr val="699954"/>
                </a:solidFill>
                <a:latin typeface="Courier New"/>
                <a:cs typeface="Courier New"/>
              </a:rPr>
              <a:t> </a:t>
            </a:r>
            <a:r>
              <a:rPr sz="999" dirty="0">
                <a:solidFill>
                  <a:srgbClr val="699954"/>
                </a:solidFill>
                <a:latin typeface="Courier New"/>
                <a:cs typeface="Courier New"/>
              </a:rPr>
              <a:t>department</a:t>
            </a:r>
            <a:r>
              <a:rPr sz="999" spc="-25" dirty="0">
                <a:solidFill>
                  <a:srgbClr val="699954"/>
                </a:solidFill>
                <a:latin typeface="Courier New"/>
                <a:cs typeface="Courier New"/>
              </a:rPr>
              <a:t> </a:t>
            </a:r>
            <a:r>
              <a:rPr sz="999" dirty="0">
                <a:solidFill>
                  <a:srgbClr val="699954"/>
                </a:solidFill>
                <a:latin typeface="Courier New"/>
                <a:cs typeface="Courier New"/>
              </a:rPr>
              <a:t>with</a:t>
            </a:r>
            <a:r>
              <a:rPr sz="999" spc="-20" dirty="0">
                <a:solidFill>
                  <a:srgbClr val="699954"/>
                </a:solidFill>
                <a:latin typeface="Courier New"/>
                <a:cs typeface="Courier New"/>
              </a:rPr>
              <a:t> </a:t>
            </a:r>
            <a:r>
              <a:rPr sz="999" spc="-10" dirty="0">
                <a:solidFill>
                  <a:srgbClr val="699954"/>
                </a:solidFill>
                <a:latin typeface="Courier New"/>
                <a:cs typeface="Courier New"/>
              </a:rPr>
              <a:t>employees </a:t>
            </a:r>
            <a:r>
              <a:rPr sz="999" dirty="0">
                <a:solidFill>
                  <a:srgbClr val="D3D3D3"/>
                </a:solidFill>
                <a:latin typeface="Courier New"/>
                <a:cs typeface="Courier New"/>
              </a:rPr>
              <a:t>CREATE</a:t>
            </a:r>
            <a:r>
              <a:rPr sz="999" spc="-50" dirty="0">
                <a:solidFill>
                  <a:srgbClr val="D3D3D3"/>
                </a:solidFill>
                <a:latin typeface="Courier New"/>
                <a:cs typeface="Courier New"/>
              </a:rPr>
              <a:t> </a:t>
            </a:r>
            <a:r>
              <a:rPr sz="999" dirty="0">
                <a:solidFill>
                  <a:srgbClr val="D3D3D3"/>
                </a:solidFill>
                <a:latin typeface="Courier New"/>
                <a:cs typeface="Courier New"/>
              </a:rPr>
              <a:t>TABLE</a:t>
            </a:r>
            <a:r>
              <a:rPr sz="999" spc="-40" dirty="0">
                <a:solidFill>
                  <a:srgbClr val="D3D3D3"/>
                </a:solidFill>
                <a:latin typeface="Courier New"/>
                <a:cs typeface="Courier New"/>
              </a:rPr>
              <a:t> </a:t>
            </a:r>
            <a:r>
              <a:rPr sz="999" dirty="0">
                <a:solidFill>
                  <a:srgbClr val="D3D3D3"/>
                </a:solidFill>
                <a:latin typeface="Courier New"/>
                <a:cs typeface="Courier New"/>
              </a:rPr>
              <a:t>day_4.departments</a:t>
            </a:r>
            <a:r>
              <a:rPr sz="999" spc="-45" dirty="0">
                <a:solidFill>
                  <a:srgbClr val="D3D3D3"/>
                </a:solidFill>
                <a:latin typeface="Courier New"/>
                <a:cs typeface="Courier New"/>
              </a:rPr>
              <a:t> </a:t>
            </a:r>
            <a:r>
              <a:rPr sz="999" spc="-50" dirty="0">
                <a:solidFill>
                  <a:srgbClr val="D3D3D3"/>
                </a:solidFill>
                <a:latin typeface="Courier New"/>
                <a:cs typeface="Courier New"/>
              </a:rPr>
              <a:t>(</a:t>
            </a:r>
            <a:endParaRPr sz="999">
              <a:latin typeface="Courier New"/>
              <a:cs typeface="Courier New"/>
            </a:endParaRPr>
          </a:p>
          <a:p>
            <a:pPr marL="164268">
              <a:spcBef>
                <a:spcPts val="125"/>
              </a:spcBef>
            </a:pPr>
            <a:r>
              <a:rPr sz="999" dirty="0">
                <a:solidFill>
                  <a:srgbClr val="D3D3D3"/>
                </a:solidFill>
                <a:latin typeface="Courier New"/>
                <a:cs typeface="Courier New"/>
              </a:rPr>
              <a:t>dept_id</a:t>
            </a:r>
            <a:r>
              <a:rPr sz="999" spc="-45" dirty="0">
                <a:solidFill>
                  <a:srgbClr val="D3D3D3"/>
                </a:solidFill>
                <a:latin typeface="Courier New"/>
                <a:cs typeface="Courier New"/>
              </a:rPr>
              <a:t> </a:t>
            </a:r>
            <a:r>
              <a:rPr sz="999" dirty="0">
                <a:solidFill>
                  <a:srgbClr val="D3D3D3"/>
                </a:solidFill>
                <a:latin typeface="Courier New"/>
                <a:cs typeface="Courier New"/>
              </a:rPr>
              <a:t>SERIAL</a:t>
            </a:r>
            <a:r>
              <a:rPr sz="999" spc="-35" dirty="0">
                <a:solidFill>
                  <a:srgbClr val="D3D3D3"/>
                </a:solidFill>
                <a:latin typeface="Courier New"/>
                <a:cs typeface="Courier New"/>
              </a:rPr>
              <a:t> </a:t>
            </a:r>
            <a:r>
              <a:rPr sz="999" dirty="0">
                <a:solidFill>
                  <a:srgbClr val="D3D3D3"/>
                </a:solidFill>
                <a:latin typeface="Courier New"/>
                <a:cs typeface="Courier New"/>
              </a:rPr>
              <a:t>PRIMARY</a:t>
            </a:r>
            <a:r>
              <a:rPr sz="999" spc="-30" dirty="0">
                <a:solidFill>
                  <a:srgbClr val="D3D3D3"/>
                </a:solidFill>
                <a:latin typeface="Courier New"/>
                <a:cs typeface="Courier New"/>
              </a:rPr>
              <a:t> </a:t>
            </a:r>
            <a:r>
              <a:rPr sz="999" dirty="0">
                <a:solidFill>
                  <a:srgbClr val="D3D3D3"/>
                </a:solidFill>
                <a:latin typeface="Courier New"/>
                <a:cs typeface="Courier New"/>
              </a:rPr>
              <a:t>KEY,</a:t>
            </a:r>
            <a:r>
              <a:rPr sz="999" spc="-35" dirty="0">
                <a:solidFill>
                  <a:srgbClr val="D3D3D3"/>
                </a:solidFill>
                <a:latin typeface="Courier New"/>
                <a:cs typeface="Courier New"/>
              </a:rPr>
              <a:t> </a:t>
            </a:r>
            <a:r>
              <a:rPr sz="999" dirty="0">
                <a:solidFill>
                  <a:srgbClr val="D3D3D3"/>
                </a:solidFill>
                <a:latin typeface="Courier New"/>
                <a:cs typeface="Courier New"/>
              </a:rPr>
              <a:t>dept_name</a:t>
            </a:r>
            <a:r>
              <a:rPr sz="999" spc="-35" dirty="0">
                <a:solidFill>
                  <a:srgbClr val="D3D3D3"/>
                </a:solidFill>
                <a:latin typeface="Courier New"/>
                <a:cs typeface="Courier New"/>
              </a:rPr>
              <a:t> </a:t>
            </a:r>
            <a:r>
              <a:rPr sz="999" dirty="0">
                <a:solidFill>
                  <a:srgbClr val="D3D3D3"/>
                </a:solidFill>
                <a:latin typeface="Courier New"/>
                <a:cs typeface="Courier New"/>
              </a:rPr>
              <a:t>VARCHAR(50)</a:t>
            </a:r>
            <a:r>
              <a:rPr sz="999" spc="-30" dirty="0">
                <a:solidFill>
                  <a:srgbClr val="D3D3D3"/>
                </a:solidFill>
                <a:latin typeface="Courier New"/>
                <a:cs typeface="Courier New"/>
              </a:rPr>
              <a:t> </a:t>
            </a:r>
            <a:r>
              <a:rPr sz="999" dirty="0">
                <a:solidFill>
                  <a:srgbClr val="D3D3D3"/>
                </a:solidFill>
                <a:latin typeface="Courier New"/>
                <a:cs typeface="Courier New"/>
              </a:rPr>
              <a:t>UNIQUE</a:t>
            </a:r>
            <a:r>
              <a:rPr sz="999" spc="-35" dirty="0">
                <a:solidFill>
                  <a:srgbClr val="D3D3D3"/>
                </a:solidFill>
                <a:latin typeface="Courier New"/>
                <a:cs typeface="Courier New"/>
              </a:rPr>
              <a:t> </a:t>
            </a:r>
            <a:r>
              <a:rPr sz="999" dirty="0">
                <a:solidFill>
                  <a:srgbClr val="D3D3D3"/>
                </a:solidFill>
                <a:latin typeface="Courier New"/>
                <a:cs typeface="Courier New"/>
              </a:rPr>
              <a:t>NOT</a:t>
            </a:r>
            <a:r>
              <a:rPr sz="999" spc="-25" dirty="0">
                <a:solidFill>
                  <a:srgbClr val="D3D3D3"/>
                </a:solidFill>
                <a:latin typeface="Courier New"/>
                <a:cs typeface="Courier New"/>
              </a:rPr>
              <a:t> </a:t>
            </a:r>
            <a:r>
              <a:rPr sz="999" spc="-10" dirty="0">
                <a:solidFill>
                  <a:srgbClr val="D3D3D3"/>
                </a:solidFill>
                <a:latin typeface="Courier New"/>
                <a:cs typeface="Courier New"/>
              </a:rPr>
              <a:t>NULL);</a:t>
            </a:r>
            <a:endParaRPr sz="999">
              <a:latin typeface="Courier New"/>
              <a:cs typeface="Courier New"/>
            </a:endParaRPr>
          </a:p>
          <a:p>
            <a:pPr marL="12685">
              <a:spcBef>
                <a:spcPts val="120"/>
              </a:spcBef>
            </a:pPr>
            <a:r>
              <a:rPr sz="999" dirty="0">
                <a:solidFill>
                  <a:srgbClr val="D3D3D3"/>
                </a:solidFill>
                <a:latin typeface="Courier New"/>
                <a:cs typeface="Courier New"/>
              </a:rPr>
              <a:t>CREATE</a:t>
            </a:r>
            <a:r>
              <a:rPr sz="999" spc="-55" dirty="0">
                <a:solidFill>
                  <a:srgbClr val="D3D3D3"/>
                </a:solidFill>
                <a:latin typeface="Courier New"/>
                <a:cs typeface="Courier New"/>
              </a:rPr>
              <a:t> </a:t>
            </a:r>
            <a:r>
              <a:rPr sz="999" dirty="0">
                <a:solidFill>
                  <a:srgbClr val="D3D3D3"/>
                </a:solidFill>
                <a:latin typeface="Courier New"/>
                <a:cs typeface="Courier New"/>
              </a:rPr>
              <a:t>TABLE</a:t>
            </a:r>
            <a:r>
              <a:rPr sz="999" spc="-45" dirty="0">
                <a:solidFill>
                  <a:srgbClr val="D3D3D3"/>
                </a:solidFill>
                <a:latin typeface="Courier New"/>
                <a:cs typeface="Courier New"/>
              </a:rPr>
              <a:t> </a:t>
            </a:r>
            <a:r>
              <a:rPr sz="999" dirty="0">
                <a:solidFill>
                  <a:srgbClr val="D3D3D3"/>
                </a:solidFill>
                <a:latin typeface="Courier New"/>
                <a:cs typeface="Courier New"/>
              </a:rPr>
              <a:t>day_4.dept_employees</a:t>
            </a:r>
            <a:r>
              <a:rPr sz="999" spc="-50" dirty="0">
                <a:solidFill>
                  <a:srgbClr val="D3D3D3"/>
                </a:solidFill>
                <a:latin typeface="Courier New"/>
                <a:cs typeface="Courier New"/>
              </a:rPr>
              <a:t> (</a:t>
            </a:r>
            <a:endParaRPr sz="999">
              <a:latin typeface="Courier New"/>
              <a:cs typeface="Courier New"/>
            </a:endParaRPr>
          </a:p>
          <a:p>
            <a:pPr marL="164268">
              <a:spcBef>
                <a:spcPts val="120"/>
              </a:spcBef>
            </a:pPr>
            <a:r>
              <a:rPr sz="999" dirty="0">
                <a:solidFill>
                  <a:srgbClr val="D3D3D3"/>
                </a:solidFill>
                <a:latin typeface="Courier New"/>
                <a:cs typeface="Courier New"/>
              </a:rPr>
              <a:t>emp_id</a:t>
            </a:r>
            <a:r>
              <a:rPr sz="999" spc="-45" dirty="0">
                <a:solidFill>
                  <a:srgbClr val="D3D3D3"/>
                </a:solidFill>
                <a:latin typeface="Courier New"/>
                <a:cs typeface="Courier New"/>
              </a:rPr>
              <a:t> </a:t>
            </a:r>
            <a:r>
              <a:rPr sz="999" dirty="0">
                <a:solidFill>
                  <a:srgbClr val="D3D3D3"/>
                </a:solidFill>
                <a:latin typeface="Courier New"/>
                <a:cs typeface="Courier New"/>
              </a:rPr>
              <a:t>SERIAL</a:t>
            </a:r>
            <a:r>
              <a:rPr sz="999" spc="-35" dirty="0">
                <a:solidFill>
                  <a:srgbClr val="D3D3D3"/>
                </a:solidFill>
                <a:latin typeface="Courier New"/>
                <a:cs typeface="Courier New"/>
              </a:rPr>
              <a:t> </a:t>
            </a:r>
            <a:r>
              <a:rPr sz="999" dirty="0">
                <a:solidFill>
                  <a:srgbClr val="D3D3D3"/>
                </a:solidFill>
                <a:latin typeface="Courier New"/>
                <a:cs typeface="Courier New"/>
              </a:rPr>
              <a:t>PRIMARY</a:t>
            </a:r>
            <a:r>
              <a:rPr sz="999" spc="-30" dirty="0">
                <a:solidFill>
                  <a:srgbClr val="D3D3D3"/>
                </a:solidFill>
                <a:latin typeface="Courier New"/>
                <a:cs typeface="Courier New"/>
              </a:rPr>
              <a:t> </a:t>
            </a:r>
            <a:r>
              <a:rPr sz="999" dirty="0">
                <a:solidFill>
                  <a:srgbClr val="D3D3D3"/>
                </a:solidFill>
                <a:latin typeface="Courier New"/>
                <a:cs typeface="Courier New"/>
              </a:rPr>
              <a:t>KEY,</a:t>
            </a:r>
            <a:r>
              <a:rPr sz="999" spc="-35" dirty="0">
                <a:solidFill>
                  <a:srgbClr val="D3D3D3"/>
                </a:solidFill>
                <a:latin typeface="Courier New"/>
                <a:cs typeface="Courier New"/>
              </a:rPr>
              <a:t> </a:t>
            </a:r>
            <a:r>
              <a:rPr sz="999" dirty="0">
                <a:solidFill>
                  <a:srgbClr val="D3D3D3"/>
                </a:solidFill>
                <a:latin typeface="Courier New"/>
                <a:cs typeface="Courier New"/>
              </a:rPr>
              <a:t>emp_name</a:t>
            </a:r>
            <a:r>
              <a:rPr sz="999" spc="-30" dirty="0">
                <a:solidFill>
                  <a:srgbClr val="D3D3D3"/>
                </a:solidFill>
                <a:latin typeface="Courier New"/>
                <a:cs typeface="Courier New"/>
              </a:rPr>
              <a:t> </a:t>
            </a:r>
            <a:r>
              <a:rPr sz="999" dirty="0">
                <a:solidFill>
                  <a:srgbClr val="D3D3D3"/>
                </a:solidFill>
                <a:latin typeface="Courier New"/>
                <a:cs typeface="Courier New"/>
              </a:rPr>
              <a:t>VARCHAR(100)</a:t>
            </a:r>
            <a:r>
              <a:rPr sz="999" spc="-35" dirty="0">
                <a:solidFill>
                  <a:srgbClr val="D3D3D3"/>
                </a:solidFill>
                <a:latin typeface="Courier New"/>
                <a:cs typeface="Courier New"/>
              </a:rPr>
              <a:t> </a:t>
            </a:r>
            <a:r>
              <a:rPr sz="999" dirty="0">
                <a:solidFill>
                  <a:srgbClr val="D3D3D3"/>
                </a:solidFill>
                <a:latin typeface="Courier New"/>
                <a:cs typeface="Courier New"/>
              </a:rPr>
              <a:t>NOT</a:t>
            </a:r>
            <a:r>
              <a:rPr sz="999" spc="-30" dirty="0">
                <a:solidFill>
                  <a:srgbClr val="D3D3D3"/>
                </a:solidFill>
                <a:latin typeface="Courier New"/>
                <a:cs typeface="Courier New"/>
              </a:rPr>
              <a:t> </a:t>
            </a:r>
            <a:r>
              <a:rPr sz="999" spc="-10" dirty="0">
                <a:solidFill>
                  <a:srgbClr val="D3D3D3"/>
                </a:solidFill>
                <a:latin typeface="Courier New"/>
                <a:cs typeface="Courier New"/>
              </a:rPr>
              <a:t>NULL,</a:t>
            </a:r>
            <a:endParaRPr sz="999">
              <a:latin typeface="Courier New"/>
              <a:cs typeface="Courier New"/>
            </a:endParaRPr>
          </a:p>
          <a:p>
            <a:pPr marL="12685" marR="5074" indent="151583">
              <a:lnSpc>
                <a:spcPct val="110100"/>
              </a:lnSpc>
            </a:pPr>
            <a:r>
              <a:rPr sz="999" dirty="0">
                <a:solidFill>
                  <a:srgbClr val="D3D3D3"/>
                </a:solidFill>
                <a:latin typeface="Courier New"/>
                <a:cs typeface="Courier New"/>
              </a:rPr>
              <a:t>dept_id</a:t>
            </a:r>
            <a:r>
              <a:rPr sz="999" spc="-40" dirty="0">
                <a:solidFill>
                  <a:srgbClr val="D3D3D3"/>
                </a:solidFill>
                <a:latin typeface="Courier New"/>
                <a:cs typeface="Courier New"/>
              </a:rPr>
              <a:t> </a:t>
            </a:r>
            <a:r>
              <a:rPr sz="999" dirty="0">
                <a:solidFill>
                  <a:srgbClr val="D3D3D3"/>
                </a:solidFill>
                <a:latin typeface="Courier New"/>
                <a:cs typeface="Courier New"/>
              </a:rPr>
              <a:t>INT</a:t>
            </a:r>
            <a:r>
              <a:rPr sz="999" spc="-40" dirty="0">
                <a:solidFill>
                  <a:srgbClr val="D3D3D3"/>
                </a:solidFill>
                <a:latin typeface="Courier New"/>
                <a:cs typeface="Courier New"/>
              </a:rPr>
              <a:t> </a:t>
            </a:r>
            <a:r>
              <a:rPr sz="999" dirty="0">
                <a:solidFill>
                  <a:srgbClr val="D3D3D3"/>
                </a:solidFill>
                <a:latin typeface="Courier New"/>
                <a:cs typeface="Courier New"/>
              </a:rPr>
              <a:t>NOT</a:t>
            </a:r>
            <a:r>
              <a:rPr sz="999" spc="-35" dirty="0">
                <a:solidFill>
                  <a:srgbClr val="D3D3D3"/>
                </a:solidFill>
                <a:latin typeface="Courier New"/>
                <a:cs typeface="Courier New"/>
              </a:rPr>
              <a:t> </a:t>
            </a:r>
            <a:r>
              <a:rPr sz="999" dirty="0">
                <a:solidFill>
                  <a:srgbClr val="D3D3D3"/>
                </a:solidFill>
                <a:latin typeface="Courier New"/>
                <a:cs typeface="Courier New"/>
              </a:rPr>
              <a:t>NULL</a:t>
            </a:r>
            <a:r>
              <a:rPr sz="999" spc="-40" dirty="0">
                <a:solidFill>
                  <a:srgbClr val="D3D3D3"/>
                </a:solidFill>
                <a:latin typeface="Courier New"/>
                <a:cs typeface="Courier New"/>
              </a:rPr>
              <a:t> </a:t>
            </a:r>
            <a:r>
              <a:rPr sz="999" dirty="0">
                <a:solidFill>
                  <a:srgbClr val="D3D3D3"/>
                </a:solidFill>
                <a:latin typeface="Courier New"/>
                <a:cs typeface="Courier New"/>
              </a:rPr>
              <a:t>REFERENCES</a:t>
            </a:r>
            <a:r>
              <a:rPr sz="999" spc="-40" dirty="0">
                <a:solidFill>
                  <a:srgbClr val="D3D3D3"/>
                </a:solidFill>
                <a:latin typeface="Courier New"/>
                <a:cs typeface="Courier New"/>
              </a:rPr>
              <a:t> </a:t>
            </a:r>
            <a:r>
              <a:rPr sz="999" dirty="0">
                <a:solidFill>
                  <a:srgbClr val="D3D3D3"/>
                </a:solidFill>
                <a:latin typeface="Courier New"/>
                <a:cs typeface="Courier New"/>
              </a:rPr>
              <a:t>day_4.departments(dept_id)</a:t>
            </a:r>
            <a:r>
              <a:rPr sz="999" spc="-35" dirty="0">
                <a:solidFill>
                  <a:srgbClr val="D3D3D3"/>
                </a:solidFill>
                <a:latin typeface="Courier New"/>
                <a:cs typeface="Courier New"/>
              </a:rPr>
              <a:t> </a:t>
            </a:r>
            <a:r>
              <a:rPr sz="999" dirty="0">
                <a:solidFill>
                  <a:srgbClr val="D3D3D3"/>
                </a:solidFill>
                <a:latin typeface="Courier New"/>
                <a:cs typeface="Courier New"/>
              </a:rPr>
              <a:t>ON</a:t>
            </a:r>
            <a:r>
              <a:rPr sz="999" spc="-40" dirty="0">
                <a:solidFill>
                  <a:srgbClr val="D3D3D3"/>
                </a:solidFill>
                <a:latin typeface="Courier New"/>
                <a:cs typeface="Courier New"/>
              </a:rPr>
              <a:t> </a:t>
            </a:r>
            <a:r>
              <a:rPr sz="999" dirty="0">
                <a:solidFill>
                  <a:srgbClr val="D3D3D3"/>
                </a:solidFill>
                <a:latin typeface="Courier New"/>
                <a:cs typeface="Courier New"/>
              </a:rPr>
              <a:t>DELETE</a:t>
            </a:r>
            <a:r>
              <a:rPr sz="999" spc="-35" dirty="0">
                <a:solidFill>
                  <a:srgbClr val="D3D3D3"/>
                </a:solidFill>
                <a:latin typeface="Courier New"/>
                <a:cs typeface="Courier New"/>
              </a:rPr>
              <a:t> </a:t>
            </a:r>
            <a:r>
              <a:rPr sz="999" spc="-10" dirty="0">
                <a:solidFill>
                  <a:srgbClr val="D3D3D3"/>
                </a:solidFill>
                <a:latin typeface="Courier New"/>
                <a:cs typeface="Courier New"/>
              </a:rPr>
              <a:t>RESTRICT); </a:t>
            </a:r>
            <a:r>
              <a:rPr sz="999" dirty="0">
                <a:solidFill>
                  <a:srgbClr val="D3D3D3"/>
                </a:solidFill>
                <a:latin typeface="Courier New"/>
                <a:cs typeface="Courier New"/>
              </a:rPr>
              <a:t>INSERT</a:t>
            </a:r>
            <a:r>
              <a:rPr sz="999" spc="-55" dirty="0">
                <a:solidFill>
                  <a:srgbClr val="D3D3D3"/>
                </a:solidFill>
                <a:latin typeface="Courier New"/>
                <a:cs typeface="Courier New"/>
              </a:rPr>
              <a:t> </a:t>
            </a:r>
            <a:r>
              <a:rPr sz="999" dirty="0">
                <a:solidFill>
                  <a:srgbClr val="D3D3D3"/>
                </a:solidFill>
                <a:latin typeface="Courier New"/>
                <a:cs typeface="Courier New"/>
              </a:rPr>
              <a:t>INTO</a:t>
            </a:r>
            <a:r>
              <a:rPr sz="999" spc="-45" dirty="0">
                <a:solidFill>
                  <a:srgbClr val="D3D3D3"/>
                </a:solidFill>
                <a:latin typeface="Courier New"/>
                <a:cs typeface="Courier New"/>
              </a:rPr>
              <a:t> </a:t>
            </a:r>
            <a:r>
              <a:rPr sz="999" dirty="0">
                <a:solidFill>
                  <a:srgbClr val="D3D3D3"/>
                </a:solidFill>
                <a:latin typeface="Courier New"/>
                <a:cs typeface="Courier New"/>
              </a:rPr>
              <a:t>day_4.departments</a:t>
            </a:r>
            <a:r>
              <a:rPr sz="999" spc="-45" dirty="0">
                <a:solidFill>
                  <a:srgbClr val="D3D3D3"/>
                </a:solidFill>
                <a:latin typeface="Courier New"/>
                <a:cs typeface="Courier New"/>
              </a:rPr>
              <a:t> </a:t>
            </a:r>
            <a:r>
              <a:rPr sz="999" dirty="0">
                <a:solidFill>
                  <a:srgbClr val="D3D3D3"/>
                </a:solidFill>
                <a:latin typeface="Courier New"/>
                <a:cs typeface="Courier New"/>
              </a:rPr>
              <a:t>(dept_name)</a:t>
            </a:r>
            <a:r>
              <a:rPr sz="999" spc="-45" dirty="0">
                <a:solidFill>
                  <a:srgbClr val="D3D3D3"/>
                </a:solidFill>
                <a:latin typeface="Courier New"/>
                <a:cs typeface="Courier New"/>
              </a:rPr>
              <a:t> </a:t>
            </a:r>
            <a:r>
              <a:rPr sz="999" dirty="0">
                <a:solidFill>
                  <a:srgbClr val="D3D3D3"/>
                </a:solidFill>
                <a:latin typeface="Courier New"/>
                <a:cs typeface="Courier New"/>
              </a:rPr>
              <a:t>VALUES</a:t>
            </a:r>
            <a:r>
              <a:rPr sz="999" spc="-40" dirty="0">
                <a:solidFill>
                  <a:srgbClr val="D3D3D3"/>
                </a:solidFill>
                <a:latin typeface="Courier New"/>
                <a:cs typeface="Courier New"/>
              </a:rPr>
              <a:t> </a:t>
            </a:r>
            <a:r>
              <a:rPr sz="999" spc="-10" dirty="0">
                <a:solidFill>
                  <a:srgbClr val="D3D3D3"/>
                </a:solidFill>
                <a:latin typeface="Courier New"/>
                <a:cs typeface="Courier New"/>
              </a:rPr>
              <a:t>('Engineering');</a:t>
            </a:r>
            <a:endParaRPr sz="999">
              <a:latin typeface="Courier New"/>
              <a:cs typeface="Courier New"/>
            </a:endParaRPr>
          </a:p>
          <a:p>
            <a:pPr marL="12685">
              <a:spcBef>
                <a:spcPts val="120"/>
              </a:spcBef>
            </a:pPr>
            <a:r>
              <a:rPr sz="999" dirty="0">
                <a:solidFill>
                  <a:srgbClr val="D3D3D3"/>
                </a:solidFill>
                <a:latin typeface="Courier New"/>
                <a:cs typeface="Courier New"/>
              </a:rPr>
              <a:t>INSERT</a:t>
            </a:r>
            <a:r>
              <a:rPr sz="999" spc="-45" dirty="0">
                <a:solidFill>
                  <a:srgbClr val="D3D3D3"/>
                </a:solidFill>
                <a:latin typeface="Courier New"/>
                <a:cs typeface="Courier New"/>
              </a:rPr>
              <a:t> </a:t>
            </a:r>
            <a:r>
              <a:rPr sz="999" dirty="0">
                <a:solidFill>
                  <a:srgbClr val="D3D3D3"/>
                </a:solidFill>
                <a:latin typeface="Courier New"/>
                <a:cs typeface="Courier New"/>
              </a:rPr>
              <a:t>INTO</a:t>
            </a:r>
            <a:r>
              <a:rPr sz="999" spc="-45" dirty="0">
                <a:solidFill>
                  <a:srgbClr val="D3D3D3"/>
                </a:solidFill>
                <a:latin typeface="Courier New"/>
                <a:cs typeface="Courier New"/>
              </a:rPr>
              <a:t> </a:t>
            </a:r>
            <a:r>
              <a:rPr sz="999" dirty="0">
                <a:solidFill>
                  <a:srgbClr val="D3D3D3"/>
                </a:solidFill>
                <a:latin typeface="Courier New"/>
                <a:cs typeface="Courier New"/>
              </a:rPr>
              <a:t>day_4.dept_employees</a:t>
            </a:r>
            <a:r>
              <a:rPr sz="999" spc="-45" dirty="0">
                <a:solidFill>
                  <a:srgbClr val="D3D3D3"/>
                </a:solidFill>
                <a:latin typeface="Courier New"/>
                <a:cs typeface="Courier New"/>
              </a:rPr>
              <a:t> </a:t>
            </a:r>
            <a:r>
              <a:rPr sz="999" dirty="0">
                <a:solidFill>
                  <a:srgbClr val="D3D3D3"/>
                </a:solidFill>
                <a:latin typeface="Courier New"/>
                <a:cs typeface="Courier New"/>
              </a:rPr>
              <a:t>(emp_name,</a:t>
            </a:r>
            <a:r>
              <a:rPr sz="999" spc="-45" dirty="0">
                <a:solidFill>
                  <a:srgbClr val="D3D3D3"/>
                </a:solidFill>
                <a:latin typeface="Courier New"/>
                <a:cs typeface="Courier New"/>
              </a:rPr>
              <a:t> </a:t>
            </a:r>
            <a:r>
              <a:rPr sz="999" dirty="0">
                <a:solidFill>
                  <a:srgbClr val="D3D3D3"/>
                </a:solidFill>
                <a:latin typeface="Courier New"/>
                <a:cs typeface="Courier New"/>
              </a:rPr>
              <a:t>dept_id)</a:t>
            </a:r>
            <a:r>
              <a:rPr sz="999" spc="-45" dirty="0">
                <a:solidFill>
                  <a:srgbClr val="D3D3D3"/>
                </a:solidFill>
                <a:latin typeface="Courier New"/>
                <a:cs typeface="Courier New"/>
              </a:rPr>
              <a:t> </a:t>
            </a:r>
            <a:r>
              <a:rPr sz="999" dirty="0">
                <a:solidFill>
                  <a:srgbClr val="D3D3D3"/>
                </a:solidFill>
                <a:latin typeface="Courier New"/>
                <a:cs typeface="Courier New"/>
              </a:rPr>
              <a:t>VALUES</a:t>
            </a:r>
            <a:r>
              <a:rPr sz="999" spc="-45" dirty="0">
                <a:solidFill>
                  <a:srgbClr val="D3D3D3"/>
                </a:solidFill>
                <a:latin typeface="Courier New"/>
                <a:cs typeface="Courier New"/>
              </a:rPr>
              <a:t> </a:t>
            </a:r>
            <a:r>
              <a:rPr sz="999" dirty="0">
                <a:solidFill>
                  <a:srgbClr val="D3D3D3"/>
                </a:solidFill>
                <a:latin typeface="Courier New"/>
                <a:cs typeface="Courier New"/>
              </a:rPr>
              <a:t>('Arun',</a:t>
            </a:r>
            <a:r>
              <a:rPr sz="999" spc="-40" dirty="0">
                <a:solidFill>
                  <a:srgbClr val="D3D3D3"/>
                </a:solidFill>
                <a:latin typeface="Courier New"/>
                <a:cs typeface="Courier New"/>
              </a:rPr>
              <a:t> </a:t>
            </a:r>
            <a:r>
              <a:rPr sz="999" spc="-25" dirty="0">
                <a:solidFill>
                  <a:srgbClr val="D3D3D3"/>
                </a:solidFill>
                <a:latin typeface="Courier New"/>
                <a:cs typeface="Courier New"/>
              </a:rPr>
              <a:t>1);</a:t>
            </a:r>
            <a:endParaRPr sz="999">
              <a:latin typeface="Courier New"/>
              <a:cs typeface="Courier New"/>
            </a:endParaRPr>
          </a:p>
          <a:p>
            <a:pPr marL="12685">
              <a:spcBef>
                <a:spcPts val="120"/>
              </a:spcBef>
            </a:pPr>
            <a:r>
              <a:rPr sz="999" spc="-10" dirty="0">
                <a:solidFill>
                  <a:srgbClr val="699954"/>
                </a:solidFill>
                <a:latin typeface="Courier New"/>
                <a:cs typeface="Courier New"/>
              </a:rPr>
              <a:t>-</a:t>
            </a:r>
            <a:r>
              <a:rPr sz="999" dirty="0">
                <a:solidFill>
                  <a:srgbClr val="699954"/>
                </a:solidFill>
                <a:latin typeface="Courier New"/>
                <a:cs typeface="Courier New"/>
              </a:rPr>
              <a:t>-</a:t>
            </a:r>
            <a:r>
              <a:rPr sz="999" spc="-35" dirty="0">
                <a:solidFill>
                  <a:srgbClr val="699954"/>
                </a:solidFill>
                <a:latin typeface="Courier New"/>
                <a:cs typeface="Courier New"/>
              </a:rPr>
              <a:t> </a:t>
            </a:r>
            <a:r>
              <a:rPr sz="999" dirty="0">
                <a:solidFill>
                  <a:srgbClr val="699954"/>
                </a:solidFill>
                <a:latin typeface="Courier New"/>
                <a:cs typeface="Courier New"/>
              </a:rPr>
              <a:t>FAILS</a:t>
            </a:r>
            <a:r>
              <a:rPr sz="999" spc="-30" dirty="0">
                <a:solidFill>
                  <a:srgbClr val="699954"/>
                </a:solidFill>
                <a:latin typeface="Courier New"/>
                <a:cs typeface="Courier New"/>
              </a:rPr>
              <a:t> </a:t>
            </a:r>
            <a:r>
              <a:rPr sz="999" dirty="0">
                <a:solidFill>
                  <a:srgbClr val="699954"/>
                </a:solidFill>
                <a:latin typeface="Courier New"/>
                <a:cs typeface="Courier New"/>
              </a:rPr>
              <a:t>(RESTRICT):</a:t>
            </a:r>
            <a:r>
              <a:rPr sz="999" spc="-30" dirty="0">
                <a:solidFill>
                  <a:srgbClr val="699954"/>
                </a:solidFill>
                <a:latin typeface="Courier New"/>
                <a:cs typeface="Courier New"/>
              </a:rPr>
              <a:t> </a:t>
            </a:r>
            <a:r>
              <a:rPr sz="999" dirty="0">
                <a:solidFill>
                  <a:srgbClr val="699954"/>
                </a:solidFill>
                <a:latin typeface="Courier New"/>
                <a:cs typeface="Courier New"/>
              </a:rPr>
              <a:t>employees</a:t>
            </a:r>
            <a:r>
              <a:rPr sz="999" spc="-30" dirty="0">
                <a:solidFill>
                  <a:srgbClr val="699954"/>
                </a:solidFill>
                <a:latin typeface="Courier New"/>
                <a:cs typeface="Courier New"/>
              </a:rPr>
              <a:t> </a:t>
            </a:r>
            <a:r>
              <a:rPr sz="999" dirty="0">
                <a:solidFill>
                  <a:srgbClr val="699954"/>
                </a:solidFill>
                <a:latin typeface="Courier New"/>
                <a:cs typeface="Courier New"/>
              </a:rPr>
              <a:t>still</a:t>
            </a:r>
            <a:r>
              <a:rPr sz="999" spc="-25" dirty="0">
                <a:solidFill>
                  <a:srgbClr val="699954"/>
                </a:solidFill>
                <a:latin typeface="Courier New"/>
                <a:cs typeface="Courier New"/>
              </a:rPr>
              <a:t> </a:t>
            </a:r>
            <a:r>
              <a:rPr sz="999" dirty="0">
                <a:solidFill>
                  <a:srgbClr val="699954"/>
                </a:solidFill>
                <a:latin typeface="Courier New"/>
                <a:cs typeface="Courier New"/>
              </a:rPr>
              <a:t>reference</a:t>
            </a:r>
            <a:r>
              <a:rPr sz="999" spc="-30" dirty="0">
                <a:solidFill>
                  <a:srgbClr val="699954"/>
                </a:solidFill>
                <a:latin typeface="Courier New"/>
                <a:cs typeface="Courier New"/>
              </a:rPr>
              <a:t> </a:t>
            </a:r>
            <a:r>
              <a:rPr sz="999" dirty="0">
                <a:solidFill>
                  <a:srgbClr val="699954"/>
                </a:solidFill>
                <a:latin typeface="Courier New"/>
                <a:cs typeface="Courier New"/>
              </a:rPr>
              <a:t>dept</a:t>
            </a:r>
            <a:r>
              <a:rPr sz="999" spc="-30" dirty="0">
                <a:solidFill>
                  <a:srgbClr val="699954"/>
                </a:solidFill>
                <a:latin typeface="Courier New"/>
                <a:cs typeface="Courier New"/>
              </a:rPr>
              <a:t> </a:t>
            </a:r>
            <a:r>
              <a:rPr sz="999" spc="-50" dirty="0">
                <a:solidFill>
                  <a:srgbClr val="699954"/>
                </a:solidFill>
                <a:latin typeface="Courier New"/>
                <a:cs typeface="Courier New"/>
              </a:rPr>
              <a:t>1</a:t>
            </a:r>
            <a:endParaRPr sz="999">
              <a:latin typeface="Courier New"/>
              <a:cs typeface="Courier New"/>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685650" y="187953"/>
            <a:ext cx="712226" cy="223183"/>
          </a:xfrm>
          <a:prstGeom prst="rect">
            <a:avLst/>
          </a:prstGeom>
        </p:spPr>
        <p:txBody>
          <a:bodyPr vert="horz" wrap="square" lIns="0" tIns="15855" rIns="0" bIns="0" rtlCol="0">
            <a:spAutoFit/>
          </a:bodyPr>
          <a:lstStyle/>
          <a:p>
            <a:pPr marL="12685">
              <a:spcBef>
                <a:spcPts val="125"/>
              </a:spcBef>
            </a:pPr>
            <a:r>
              <a:rPr sz="1348" spc="-155" dirty="0">
                <a:solidFill>
                  <a:srgbClr val="FFFFFF"/>
                </a:solidFill>
                <a:latin typeface="Segoe UI Symbol"/>
                <a:cs typeface="Segoe UI Symbol"/>
              </a:rPr>
              <a:t>✅</a:t>
            </a:r>
            <a:r>
              <a:rPr sz="1348" spc="-225" dirty="0">
                <a:solidFill>
                  <a:srgbClr val="FFFFFF"/>
                </a:solidFill>
                <a:latin typeface="Segoe UI Symbol"/>
                <a:cs typeface="Segoe UI Symbol"/>
              </a:rPr>
              <a:t> </a:t>
            </a:r>
            <a:r>
              <a:rPr sz="1099" b="1" spc="-10" dirty="0">
                <a:solidFill>
                  <a:srgbClr val="FFFFFF"/>
                </a:solidFill>
                <a:latin typeface="Calibri"/>
                <a:cs typeface="Calibri"/>
              </a:rPr>
              <a:t>ANSWER</a:t>
            </a:r>
            <a:endParaRPr sz="1099">
              <a:latin typeface="Calibri"/>
              <a:cs typeface="Calibri"/>
            </a:endParaRPr>
          </a:p>
        </p:txBody>
      </p:sp>
      <p:sp>
        <p:nvSpPr>
          <p:cNvPr id="3" name="object 3"/>
          <p:cNvSpPr txBox="1"/>
          <p:nvPr/>
        </p:nvSpPr>
        <p:spPr>
          <a:xfrm>
            <a:off x="357907" y="180766"/>
            <a:ext cx="1398449" cy="257766"/>
          </a:xfrm>
          <a:prstGeom prst="rect">
            <a:avLst/>
          </a:prstGeom>
        </p:spPr>
        <p:txBody>
          <a:bodyPr vert="horz" wrap="square" lIns="0" tIns="12050" rIns="0" bIns="0" rtlCol="0">
            <a:spAutoFit/>
          </a:bodyPr>
          <a:lstStyle/>
          <a:p>
            <a:pPr marL="12685">
              <a:spcBef>
                <a:spcPts val="95"/>
              </a:spcBef>
            </a:pPr>
            <a:r>
              <a:rPr sz="1598" b="1" dirty="0">
                <a:solidFill>
                  <a:srgbClr val="FFB200"/>
                </a:solidFill>
                <a:latin typeface="Georgia"/>
                <a:cs typeface="Georgia"/>
              </a:rPr>
              <a:t>Answer</a:t>
            </a:r>
            <a:r>
              <a:rPr sz="1598" b="1" spc="-95" dirty="0">
                <a:solidFill>
                  <a:srgbClr val="FFB200"/>
                </a:solidFill>
                <a:latin typeface="Georgia"/>
                <a:cs typeface="Georgia"/>
              </a:rPr>
              <a:t> </a:t>
            </a:r>
            <a:r>
              <a:rPr sz="1598" b="1" spc="-20" dirty="0">
                <a:solidFill>
                  <a:srgbClr val="FFB200"/>
                </a:solidFill>
                <a:latin typeface="Georgia"/>
                <a:cs typeface="Georgia"/>
              </a:rPr>
              <a:t>(2/2)</a:t>
            </a:r>
            <a:endParaRPr sz="1598">
              <a:latin typeface="Georgia"/>
              <a:cs typeface="Georgia"/>
            </a:endParaRPr>
          </a:p>
        </p:txBody>
      </p:sp>
      <p:sp>
        <p:nvSpPr>
          <p:cNvPr id="4" name="object 4"/>
          <p:cNvSpPr txBox="1"/>
          <p:nvPr/>
        </p:nvSpPr>
        <p:spPr>
          <a:xfrm>
            <a:off x="356461" y="640637"/>
            <a:ext cx="3679093" cy="166379"/>
          </a:xfrm>
          <a:prstGeom prst="rect">
            <a:avLst/>
          </a:prstGeom>
        </p:spPr>
        <p:txBody>
          <a:bodyPr vert="horz" wrap="square" lIns="0" tIns="12684" rIns="0" bIns="0" rtlCol="0">
            <a:spAutoFit/>
          </a:bodyPr>
          <a:lstStyle/>
          <a:p>
            <a:pPr marL="12685">
              <a:spcBef>
                <a:spcPts val="100"/>
              </a:spcBef>
            </a:pPr>
            <a:r>
              <a:rPr sz="999" dirty="0">
                <a:solidFill>
                  <a:srgbClr val="D3D3D3"/>
                </a:solidFill>
                <a:latin typeface="Courier New"/>
                <a:cs typeface="Courier New"/>
              </a:rPr>
              <a:t>DELETE</a:t>
            </a:r>
            <a:r>
              <a:rPr sz="999" spc="-35" dirty="0">
                <a:solidFill>
                  <a:srgbClr val="D3D3D3"/>
                </a:solidFill>
                <a:latin typeface="Courier New"/>
                <a:cs typeface="Courier New"/>
              </a:rPr>
              <a:t> </a:t>
            </a:r>
            <a:r>
              <a:rPr sz="999" dirty="0">
                <a:solidFill>
                  <a:srgbClr val="D3D3D3"/>
                </a:solidFill>
                <a:latin typeface="Courier New"/>
                <a:cs typeface="Courier New"/>
              </a:rPr>
              <a:t>FROM</a:t>
            </a:r>
            <a:r>
              <a:rPr sz="999" spc="-35" dirty="0">
                <a:solidFill>
                  <a:srgbClr val="D3D3D3"/>
                </a:solidFill>
                <a:latin typeface="Courier New"/>
                <a:cs typeface="Courier New"/>
              </a:rPr>
              <a:t> </a:t>
            </a:r>
            <a:r>
              <a:rPr sz="999" dirty="0">
                <a:solidFill>
                  <a:srgbClr val="D3D3D3"/>
                </a:solidFill>
                <a:latin typeface="Courier New"/>
                <a:cs typeface="Courier New"/>
              </a:rPr>
              <a:t>day_4.departments</a:t>
            </a:r>
            <a:r>
              <a:rPr sz="999" spc="-30" dirty="0">
                <a:solidFill>
                  <a:srgbClr val="D3D3D3"/>
                </a:solidFill>
                <a:latin typeface="Courier New"/>
                <a:cs typeface="Courier New"/>
              </a:rPr>
              <a:t> </a:t>
            </a:r>
            <a:r>
              <a:rPr sz="999" dirty="0">
                <a:solidFill>
                  <a:srgbClr val="D3D3D3"/>
                </a:solidFill>
                <a:latin typeface="Courier New"/>
                <a:cs typeface="Courier New"/>
              </a:rPr>
              <a:t>WHERE</a:t>
            </a:r>
            <a:r>
              <a:rPr sz="999" spc="-35" dirty="0">
                <a:solidFill>
                  <a:srgbClr val="D3D3D3"/>
                </a:solidFill>
                <a:latin typeface="Courier New"/>
                <a:cs typeface="Courier New"/>
              </a:rPr>
              <a:t> </a:t>
            </a:r>
            <a:r>
              <a:rPr sz="999" dirty="0">
                <a:solidFill>
                  <a:srgbClr val="D3D3D3"/>
                </a:solidFill>
                <a:latin typeface="Courier New"/>
                <a:cs typeface="Courier New"/>
              </a:rPr>
              <a:t>dept_id</a:t>
            </a:r>
            <a:r>
              <a:rPr sz="999" spc="-35" dirty="0">
                <a:solidFill>
                  <a:srgbClr val="D3D3D3"/>
                </a:solidFill>
                <a:latin typeface="Courier New"/>
                <a:cs typeface="Courier New"/>
              </a:rPr>
              <a:t> </a:t>
            </a:r>
            <a:r>
              <a:rPr sz="999" dirty="0">
                <a:solidFill>
                  <a:srgbClr val="D3D3D3"/>
                </a:solidFill>
                <a:latin typeface="Courier New"/>
                <a:cs typeface="Courier New"/>
              </a:rPr>
              <a:t>=</a:t>
            </a:r>
            <a:r>
              <a:rPr sz="999" spc="-30" dirty="0">
                <a:solidFill>
                  <a:srgbClr val="D3D3D3"/>
                </a:solidFill>
                <a:latin typeface="Courier New"/>
                <a:cs typeface="Courier New"/>
              </a:rPr>
              <a:t> </a:t>
            </a:r>
            <a:r>
              <a:rPr sz="999" spc="-25" dirty="0">
                <a:solidFill>
                  <a:srgbClr val="D3D3D3"/>
                </a:solidFill>
                <a:latin typeface="Courier New"/>
                <a:cs typeface="Courier New"/>
              </a:rPr>
              <a:t>1;</a:t>
            </a:r>
            <a:endParaRPr sz="999">
              <a:latin typeface="Courier New"/>
              <a:cs typeface="Courier New"/>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79619" y="273628"/>
            <a:ext cx="2054228" cy="4566363"/>
          </a:xfrm>
          <a:custGeom>
            <a:avLst/>
            <a:gdLst/>
            <a:ahLst/>
            <a:cxnLst/>
            <a:rect l="l" t="t" r="r" b="b"/>
            <a:pathLst>
              <a:path w="2056764" h="4572000">
                <a:moveTo>
                  <a:pt x="72720" y="0"/>
                </a:moveTo>
                <a:lnTo>
                  <a:pt x="0" y="0"/>
                </a:lnTo>
                <a:lnTo>
                  <a:pt x="0" y="4571631"/>
                </a:lnTo>
                <a:lnTo>
                  <a:pt x="36360" y="4571631"/>
                </a:lnTo>
                <a:lnTo>
                  <a:pt x="72720" y="4571631"/>
                </a:lnTo>
                <a:lnTo>
                  <a:pt x="72720" y="0"/>
                </a:lnTo>
                <a:close/>
              </a:path>
              <a:path w="2056764" h="4572000">
                <a:moveTo>
                  <a:pt x="2056676" y="355"/>
                </a:moveTo>
                <a:lnTo>
                  <a:pt x="228244" y="355"/>
                </a:lnTo>
                <a:lnTo>
                  <a:pt x="228244" y="320040"/>
                </a:lnTo>
                <a:lnTo>
                  <a:pt x="1142644" y="320040"/>
                </a:lnTo>
                <a:lnTo>
                  <a:pt x="2056676" y="320040"/>
                </a:lnTo>
                <a:lnTo>
                  <a:pt x="2056676" y="355"/>
                </a:lnTo>
                <a:close/>
              </a:path>
            </a:pathLst>
          </a:custGeom>
          <a:solidFill>
            <a:srgbClr val="4D332E"/>
          </a:solidFill>
        </p:spPr>
        <p:txBody>
          <a:bodyPr wrap="square" lIns="0" tIns="0" rIns="0" bIns="0" rtlCol="0"/>
          <a:lstStyle/>
          <a:p>
            <a:endParaRPr sz="1798"/>
          </a:p>
        </p:txBody>
      </p:sp>
      <p:sp>
        <p:nvSpPr>
          <p:cNvPr id="3" name="object 3"/>
          <p:cNvSpPr txBox="1"/>
          <p:nvPr/>
        </p:nvSpPr>
        <p:spPr>
          <a:xfrm>
            <a:off x="1209331" y="345079"/>
            <a:ext cx="423023" cy="166379"/>
          </a:xfrm>
          <a:prstGeom prst="rect">
            <a:avLst/>
          </a:prstGeom>
        </p:spPr>
        <p:txBody>
          <a:bodyPr vert="horz" wrap="square" lIns="0" tIns="12684" rIns="0" bIns="0" rtlCol="0">
            <a:spAutoFit/>
          </a:bodyPr>
          <a:lstStyle/>
          <a:p>
            <a:pPr marL="12685">
              <a:spcBef>
                <a:spcPts val="100"/>
              </a:spcBef>
            </a:pPr>
            <a:r>
              <a:rPr sz="999" b="1" spc="-10" dirty="0">
                <a:solidFill>
                  <a:srgbClr val="FFFFFF"/>
                </a:solidFill>
                <a:latin typeface="Calibri"/>
                <a:cs typeface="Calibri"/>
              </a:rPr>
              <a:t>REVEAL</a:t>
            </a:r>
            <a:endParaRPr sz="999">
              <a:latin typeface="Calibri"/>
              <a:cs typeface="Calibri"/>
            </a:endParaRPr>
          </a:p>
        </p:txBody>
      </p:sp>
      <p:sp>
        <p:nvSpPr>
          <p:cNvPr id="4" name="object 4" descr="$PPTXTitle"/>
          <p:cNvSpPr txBox="1">
            <a:spLocks noGrp="1"/>
          </p:cNvSpPr>
          <p:nvPr>
            <p:ph type="title"/>
          </p:nvPr>
        </p:nvSpPr>
        <p:spPr>
          <a:xfrm>
            <a:off x="494897" y="748137"/>
            <a:ext cx="7501519" cy="330427"/>
          </a:xfrm>
          <a:prstGeom prst="rect">
            <a:avLst/>
          </a:prstGeom>
        </p:spPr>
        <p:txBody>
          <a:bodyPr vert="horz" wrap="square" lIns="0" tIns="12684" rIns="0" bIns="0" rtlCol="0">
            <a:spAutoFit/>
          </a:bodyPr>
          <a:lstStyle/>
          <a:p>
            <a:pPr marL="12685">
              <a:spcBef>
                <a:spcPts val="100"/>
              </a:spcBef>
            </a:pPr>
            <a:r>
              <a:rPr sz="1998" dirty="0">
                <a:solidFill>
                  <a:srgbClr val="202020"/>
                </a:solidFill>
                <a:latin typeface="Georgia"/>
                <a:cs typeface="Georgia"/>
              </a:rPr>
              <a:t>Data</a:t>
            </a:r>
            <a:r>
              <a:rPr sz="1998" spc="-20" dirty="0">
                <a:solidFill>
                  <a:srgbClr val="202020"/>
                </a:solidFill>
                <a:latin typeface="Georgia"/>
                <a:cs typeface="Georgia"/>
              </a:rPr>
              <a:t> </a:t>
            </a:r>
            <a:r>
              <a:rPr sz="1998" dirty="0">
                <a:solidFill>
                  <a:srgbClr val="202020"/>
                </a:solidFill>
                <a:latin typeface="Georgia"/>
                <a:cs typeface="Georgia"/>
              </a:rPr>
              <a:t>Types,</a:t>
            </a:r>
            <a:r>
              <a:rPr sz="1998" spc="-20" dirty="0">
                <a:solidFill>
                  <a:srgbClr val="202020"/>
                </a:solidFill>
                <a:latin typeface="Georgia"/>
                <a:cs typeface="Georgia"/>
              </a:rPr>
              <a:t> </a:t>
            </a:r>
            <a:r>
              <a:rPr sz="1998" dirty="0">
                <a:solidFill>
                  <a:srgbClr val="202020"/>
                </a:solidFill>
                <a:latin typeface="Georgia"/>
                <a:cs typeface="Georgia"/>
              </a:rPr>
              <a:t>Constraints</a:t>
            </a:r>
            <a:r>
              <a:rPr sz="1998" spc="-20" dirty="0">
                <a:solidFill>
                  <a:srgbClr val="202020"/>
                </a:solidFill>
                <a:latin typeface="Georgia"/>
                <a:cs typeface="Georgia"/>
              </a:rPr>
              <a:t> </a:t>
            </a:r>
            <a:r>
              <a:rPr sz="1998" dirty="0">
                <a:solidFill>
                  <a:srgbClr val="202020"/>
                </a:solidFill>
                <a:latin typeface="Georgia"/>
                <a:cs typeface="Georgia"/>
              </a:rPr>
              <a:t>&amp;</a:t>
            </a:r>
            <a:r>
              <a:rPr sz="1998" spc="-25" dirty="0">
                <a:solidFill>
                  <a:srgbClr val="202020"/>
                </a:solidFill>
                <a:latin typeface="Georgia"/>
                <a:cs typeface="Georgia"/>
              </a:rPr>
              <a:t> </a:t>
            </a:r>
            <a:r>
              <a:rPr sz="1998" dirty="0">
                <a:solidFill>
                  <a:srgbClr val="202020"/>
                </a:solidFill>
                <a:latin typeface="Georgia"/>
                <a:cs typeface="Georgia"/>
              </a:rPr>
              <a:t>Keys</a:t>
            </a:r>
            <a:r>
              <a:rPr sz="1998" spc="-20" dirty="0">
                <a:solidFill>
                  <a:srgbClr val="202020"/>
                </a:solidFill>
                <a:latin typeface="Georgia"/>
                <a:cs typeface="Georgia"/>
              </a:rPr>
              <a:t> </a:t>
            </a:r>
            <a:r>
              <a:rPr sz="1998" spc="-10" dirty="0">
                <a:solidFill>
                  <a:srgbClr val="202020"/>
                </a:solidFill>
                <a:latin typeface="Georgia"/>
                <a:cs typeface="Georgia"/>
              </a:rPr>
              <a:t>Self-</a:t>
            </a:r>
            <a:r>
              <a:rPr sz="1998" dirty="0">
                <a:solidFill>
                  <a:srgbClr val="202020"/>
                </a:solidFill>
                <a:latin typeface="Georgia"/>
                <a:cs typeface="Georgia"/>
              </a:rPr>
              <a:t>Check</a:t>
            </a:r>
            <a:r>
              <a:rPr sz="1998" spc="-25" dirty="0">
                <a:solidFill>
                  <a:srgbClr val="202020"/>
                </a:solidFill>
                <a:latin typeface="Georgia"/>
                <a:cs typeface="Georgia"/>
              </a:rPr>
              <a:t> </a:t>
            </a:r>
            <a:r>
              <a:rPr sz="1998" dirty="0">
                <a:solidFill>
                  <a:srgbClr val="202020"/>
                </a:solidFill>
                <a:latin typeface="Georgia"/>
                <a:cs typeface="Georgia"/>
              </a:rPr>
              <a:t>(12</a:t>
            </a:r>
            <a:r>
              <a:rPr sz="1998" spc="-20" dirty="0">
                <a:solidFill>
                  <a:srgbClr val="202020"/>
                </a:solidFill>
                <a:latin typeface="Georgia"/>
                <a:cs typeface="Georgia"/>
              </a:rPr>
              <a:t> </a:t>
            </a:r>
            <a:r>
              <a:rPr sz="1998" spc="-10" dirty="0">
                <a:solidFill>
                  <a:srgbClr val="202020"/>
                </a:solidFill>
                <a:latin typeface="Georgia"/>
                <a:cs typeface="Georgia"/>
              </a:rPr>
              <a:t>Questions)</a:t>
            </a:r>
            <a:endParaRPr sz="1998">
              <a:latin typeface="Georgia"/>
              <a:cs typeface="Georgia"/>
            </a:endParaRPr>
          </a:p>
        </p:txBody>
      </p:sp>
      <p:sp>
        <p:nvSpPr>
          <p:cNvPr id="5" name="object 5"/>
          <p:cNvSpPr txBox="1"/>
          <p:nvPr/>
        </p:nvSpPr>
        <p:spPr>
          <a:xfrm>
            <a:off x="584779" y="1258707"/>
            <a:ext cx="2718254" cy="212297"/>
          </a:xfrm>
          <a:prstGeom prst="rect">
            <a:avLst/>
          </a:prstGeom>
        </p:spPr>
        <p:txBody>
          <a:bodyPr vert="horz" wrap="square" lIns="0" tIns="12684" rIns="0" bIns="0" rtlCol="0">
            <a:spAutoFit/>
          </a:bodyPr>
          <a:lstStyle/>
          <a:p>
            <a:pPr marL="12685">
              <a:spcBef>
                <a:spcPts val="100"/>
              </a:spcBef>
            </a:pPr>
            <a:r>
              <a:rPr sz="1298" dirty="0">
                <a:solidFill>
                  <a:srgbClr val="202020"/>
                </a:solidFill>
                <a:latin typeface="Calibri"/>
                <a:cs typeface="Calibri"/>
              </a:rPr>
              <a:t>Close</a:t>
            </a:r>
            <a:r>
              <a:rPr sz="1298" spc="-60" dirty="0">
                <a:solidFill>
                  <a:srgbClr val="202020"/>
                </a:solidFill>
                <a:latin typeface="Calibri"/>
                <a:cs typeface="Calibri"/>
              </a:rPr>
              <a:t> </a:t>
            </a:r>
            <a:r>
              <a:rPr sz="1298" dirty="0">
                <a:solidFill>
                  <a:srgbClr val="202020"/>
                </a:solidFill>
                <a:latin typeface="Calibri"/>
                <a:cs typeface="Calibri"/>
              </a:rPr>
              <a:t>your</a:t>
            </a:r>
            <a:r>
              <a:rPr sz="1298" spc="-55" dirty="0">
                <a:solidFill>
                  <a:srgbClr val="202020"/>
                </a:solidFill>
                <a:latin typeface="Calibri"/>
                <a:cs typeface="Calibri"/>
              </a:rPr>
              <a:t> </a:t>
            </a:r>
            <a:r>
              <a:rPr sz="1298" dirty="0">
                <a:solidFill>
                  <a:srgbClr val="202020"/>
                </a:solidFill>
                <a:latin typeface="Calibri"/>
                <a:cs typeface="Calibri"/>
              </a:rPr>
              <a:t>notes.</a:t>
            </a:r>
            <a:r>
              <a:rPr sz="1298" spc="-60" dirty="0">
                <a:solidFill>
                  <a:srgbClr val="202020"/>
                </a:solidFill>
                <a:latin typeface="Calibri"/>
                <a:cs typeface="Calibri"/>
              </a:rPr>
              <a:t> </a:t>
            </a:r>
            <a:r>
              <a:rPr sz="1298" dirty="0">
                <a:solidFill>
                  <a:srgbClr val="202020"/>
                </a:solidFill>
                <a:latin typeface="Calibri"/>
                <a:cs typeface="Calibri"/>
              </a:rPr>
              <a:t>Answer</a:t>
            </a:r>
            <a:r>
              <a:rPr sz="1298" spc="-55" dirty="0">
                <a:solidFill>
                  <a:srgbClr val="202020"/>
                </a:solidFill>
                <a:latin typeface="Calibri"/>
                <a:cs typeface="Calibri"/>
              </a:rPr>
              <a:t> </a:t>
            </a:r>
            <a:r>
              <a:rPr sz="1298" dirty="0">
                <a:solidFill>
                  <a:srgbClr val="202020"/>
                </a:solidFill>
                <a:latin typeface="Calibri"/>
                <a:cs typeface="Calibri"/>
              </a:rPr>
              <a:t>from</a:t>
            </a:r>
            <a:r>
              <a:rPr sz="1298" spc="-60" dirty="0">
                <a:solidFill>
                  <a:srgbClr val="202020"/>
                </a:solidFill>
                <a:latin typeface="Calibri"/>
                <a:cs typeface="Calibri"/>
              </a:rPr>
              <a:t> </a:t>
            </a:r>
            <a:r>
              <a:rPr sz="1298" spc="-10" dirty="0">
                <a:solidFill>
                  <a:srgbClr val="202020"/>
                </a:solidFill>
                <a:latin typeface="Calibri"/>
                <a:cs typeface="Calibri"/>
              </a:rPr>
              <a:t>memory:</a:t>
            </a:r>
            <a:endParaRPr sz="1298">
              <a:latin typeface="Calibri"/>
              <a:cs typeface="Calibri"/>
            </a:endParaRPr>
          </a:p>
        </p:txBody>
      </p:sp>
      <p:sp>
        <p:nvSpPr>
          <p:cNvPr id="6" name="object 6"/>
          <p:cNvSpPr txBox="1"/>
          <p:nvPr/>
        </p:nvSpPr>
        <p:spPr>
          <a:xfrm>
            <a:off x="584779" y="1504861"/>
            <a:ext cx="79911" cy="2683705"/>
          </a:xfrm>
          <a:prstGeom prst="rect">
            <a:avLst/>
          </a:prstGeom>
        </p:spPr>
        <p:txBody>
          <a:bodyPr vert="horz" wrap="square" lIns="0" tIns="48835" rIns="0" bIns="0" rtlCol="0">
            <a:spAutoFit/>
          </a:bodyPr>
          <a:lstStyle/>
          <a:p>
            <a:pPr marL="12685">
              <a:spcBef>
                <a:spcPts val="385"/>
              </a:spcBef>
            </a:pPr>
            <a:r>
              <a:rPr sz="1199" spc="-50" dirty="0">
                <a:solidFill>
                  <a:srgbClr val="202020"/>
                </a:solidFill>
                <a:latin typeface="Arial MT"/>
                <a:cs typeface="Arial MT"/>
              </a:rPr>
              <a:t>•</a:t>
            </a:r>
            <a:endParaRPr sz="1199">
              <a:latin typeface="Arial MT"/>
              <a:cs typeface="Arial MT"/>
            </a:endParaRPr>
          </a:p>
          <a:p>
            <a:pPr marL="12685">
              <a:spcBef>
                <a:spcPts val="285"/>
              </a:spcBef>
            </a:pPr>
            <a:r>
              <a:rPr sz="1199" spc="-50" dirty="0">
                <a:solidFill>
                  <a:srgbClr val="202020"/>
                </a:solidFill>
                <a:latin typeface="Arial MT"/>
                <a:cs typeface="Arial MT"/>
              </a:rPr>
              <a:t>•</a:t>
            </a:r>
            <a:endParaRPr sz="1199">
              <a:latin typeface="Arial MT"/>
              <a:cs typeface="Arial MT"/>
            </a:endParaRPr>
          </a:p>
          <a:p>
            <a:pPr marL="12685">
              <a:spcBef>
                <a:spcPts val="290"/>
              </a:spcBef>
            </a:pPr>
            <a:r>
              <a:rPr sz="1199" spc="-50" dirty="0">
                <a:solidFill>
                  <a:srgbClr val="202020"/>
                </a:solidFill>
                <a:latin typeface="Arial MT"/>
                <a:cs typeface="Arial MT"/>
              </a:rPr>
              <a:t>•</a:t>
            </a:r>
            <a:endParaRPr sz="1199">
              <a:latin typeface="Arial MT"/>
              <a:cs typeface="Arial MT"/>
            </a:endParaRPr>
          </a:p>
          <a:p>
            <a:pPr marL="12685">
              <a:spcBef>
                <a:spcPts val="285"/>
              </a:spcBef>
            </a:pPr>
            <a:r>
              <a:rPr sz="1199" spc="-50" dirty="0">
                <a:solidFill>
                  <a:srgbClr val="202020"/>
                </a:solidFill>
                <a:latin typeface="Arial MT"/>
                <a:cs typeface="Arial MT"/>
              </a:rPr>
              <a:t>•</a:t>
            </a:r>
            <a:endParaRPr sz="1199">
              <a:latin typeface="Arial MT"/>
              <a:cs typeface="Arial MT"/>
            </a:endParaRPr>
          </a:p>
          <a:p>
            <a:pPr marL="12685">
              <a:spcBef>
                <a:spcPts val="285"/>
              </a:spcBef>
            </a:pPr>
            <a:r>
              <a:rPr sz="1199" spc="-50" dirty="0">
                <a:solidFill>
                  <a:srgbClr val="202020"/>
                </a:solidFill>
                <a:latin typeface="Arial MT"/>
                <a:cs typeface="Arial MT"/>
              </a:rPr>
              <a:t>•</a:t>
            </a:r>
            <a:endParaRPr sz="1199">
              <a:latin typeface="Arial MT"/>
              <a:cs typeface="Arial MT"/>
            </a:endParaRPr>
          </a:p>
          <a:p>
            <a:pPr marL="12685">
              <a:spcBef>
                <a:spcPts val="285"/>
              </a:spcBef>
            </a:pPr>
            <a:r>
              <a:rPr sz="1199" spc="-50" dirty="0">
                <a:solidFill>
                  <a:srgbClr val="202020"/>
                </a:solidFill>
                <a:latin typeface="Arial MT"/>
                <a:cs typeface="Arial MT"/>
              </a:rPr>
              <a:t>•</a:t>
            </a:r>
            <a:endParaRPr sz="1199">
              <a:latin typeface="Arial MT"/>
              <a:cs typeface="Arial MT"/>
            </a:endParaRPr>
          </a:p>
          <a:p>
            <a:pPr marL="12685">
              <a:spcBef>
                <a:spcPts val="290"/>
              </a:spcBef>
            </a:pPr>
            <a:r>
              <a:rPr sz="1199" spc="-50" dirty="0">
                <a:solidFill>
                  <a:srgbClr val="202020"/>
                </a:solidFill>
                <a:latin typeface="Arial MT"/>
                <a:cs typeface="Arial MT"/>
              </a:rPr>
              <a:t>•</a:t>
            </a:r>
            <a:endParaRPr sz="1199">
              <a:latin typeface="Arial MT"/>
              <a:cs typeface="Arial MT"/>
            </a:endParaRPr>
          </a:p>
          <a:p>
            <a:pPr marL="12685">
              <a:spcBef>
                <a:spcPts val="285"/>
              </a:spcBef>
            </a:pPr>
            <a:r>
              <a:rPr sz="1199" spc="-50" dirty="0">
                <a:solidFill>
                  <a:srgbClr val="202020"/>
                </a:solidFill>
                <a:latin typeface="Arial MT"/>
                <a:cs typeface="Arial MT"/>
              </a:rPr>
              <a:t>•</a:t>
            </a:r>
            <a:endParaRPr sz="1199">
              <a:latin typeface="Arial MT"/>
              <a:cs typeface="Arial MT"/>
            </a:endParaRPr>
          </a:p>
          <a:p>
            <a:pPr marL="12685">
              <a:spcBef>
                <a:spcPts val="285"/>
              </a:spcBef>
            </a:pPr>
            <a:r>
              <a:rPr sz="1199" spc="-50" dirty="0">
                <a:solidFill>
                  <a:srgbClr val="202020"/>
                </a:solidFill>
                <a:latin typeface="Arial MT"/>
                <a:cs typeface="Arial MT"/>
              </a:rPr>
              <a:t>•</a:t>
            </a:r>
            <a:endParaRPr sz="1199">
              <a:latin typeface="Arial MT"/>
              <a:cs typeface="Arial MT"/>
            </a:endParaRPr>
          </a:p>
          <a:p>
            <a:pPr marL="12685">
              <a:spcBef>
                <a:spcPts val="285"/>
              </a:spcBef>
            </a:pPr>
            <a:r>
              <a:rPr sz="1199" spc="-50" dirty="0">
                <a:solidFill>
                  <a:srgbClr val="202020"/>
                </a:solidFill>
                <a:latin typeface="Arial MT"/>
                <a:cs typeface="Arial MT"/>
              </a:rPr>
              <a:t>•</a:t>
            </a:r>
            <a:endParaRPr sz="1199">
              <a:latin typeface="Arial MT"/>
              <a:cs typeface="Arial MT"/>
            </a:endParaRPr>
          </a:p>
          <a:p>
            <a:pPr marL="12685">
              <a:spcBef>
                <a:spcPts val="290"/>
              </a:spcBef>
            </a:pPr>
            <a:r>
              <a:rPr sz="1199" spc="-50" dirty="0">
                <a:solidFill>
                  <a:srgbClr val="202020"/>
                </a:solidFill>
                <a:latin typeface="Arial MT"/>
                <a:cs typeface="Arial MT"/>
              </a:rPr>
              <a:t>•</a:t>
            </a:r>
            <a:endParaRPr sz="1199">
              <a:latin typeface="Arial MT"/>
              <a:cs typeface="Arial MT"/>
            </a:endParaRPr>
          </a:p>
          <a:p>
            <a:pPr marL="12685">
              <a:spcBef>
                <a:spcPts val="285"/>
              </a:spcBef>
            </a:pPr>
            <a:r>
              <a:rPr sz="1199" spc="-50" dirty="0">
                <a:solidFill>
                  <a:srgbClr val="202020"/>
                </a:solidFill>
                <a:latin typeface="Arial MT"/>
                <a:cs typeface="Arial MT"/>
              </a:rPr>
              <a:t>•</a:t>
            </a:r>
            <a:endParaRPr sz="1199">
              <a:latin typeface="Arial MT"/>
              <a:cs typeface="Arial MT"/>
            </a:endParaRPr>
          </a:p>
        </p:txBody>
      </p:sp>
      <p:sp>
        <p:nvSpPr>
          <p:cNvPr id="7" name="object 7"/>
          <p:cNvSpPr txBox="1"/>
          <p:nvPr/>
        </p:nvSpPr>
        <p:spPr>
          <a:xfrm>
            <a:off x="927433" y="1529304"/>
            <a:ext cx="4321555" cy="2683705"/>
          </a:xfrm>
          <a:prstGeom prst="rect">
            <a:avLst/>
          </a:prstGeom>
        </p:spPr>
        <p:txBody>
          <a:bodyPr vert="horz" wrap="square" lIns="0" tIns="48835" rIns="0" bIns="0" rtlCol="0">
            <a:spAutoFit/>
          </a:bodyPr>
          <a:lstStyle/>
          <a:p>
            <a:pPr marL="161731" indent="-149046">
              <a:spcBef>
                <a:spcPts val="385"/>
              </a:spcBef>
              <a:buAutoNum type="arabicPeriod"/>
              <a:tabLst>
                <a:tab pos="161731" algn="l"/>
              </a:tabLst>
            </a:pPr>
            <a:r>
              <a:rPr sz="1199" dirty="0">
                <a:solidFill>
                  <a:srgbClr val="202020"/>
                </a:solidFill>
                <a:latin typeface="Calibri"/>
                <a:cs typeface="Calibri"/>
              </a:rPr>
              <a:t>Which</a:t>
            </a:r>
            <a:r>
              <a:rPr sz="1199" spc="-30" dirty="0">
                <a:solidFill>
                  <a:srgbClr val="202020"/>
                </a:solidFill>
                <a:latin typeface="Calibri"/>
                <a:cs typeface="Calibri"/>
              </a:rPr>
              <a:t> </a:t>
            </a:r>
            <a:r>
              <a:rPr sz="1199" dirty="0">
                <a:solidFill>
                  <a:srgbClr val="202020"/>
                </a:solidFill>
                <a:latin typeface="Calibri"/>
                <a:cs typeface="Calibri"/>
              </a:rPr>
              <a:t>type</a:t>
            </a:r>
            <a:r>
              <a:rPr sz="1199" spc="-25" dirty="0">
                <a:solidFill>
                  <a:srgbClr val="202020"/>
                </a:solidFill>
                <a:latin typeface="Calibri"/>
                <a:cs typeface="Calibri"/>
              </a:rPr>
              <a:t> </a:t>
            </a:r>
            <a:r>
              <a:rPr sz="1199" dirty="0">
                <a:solidFill>
                  <a:srgbClr val="202020"/>
                </a:solidFill>
                <a:latin typeface="Calibri"/>
                <a:cs typeface="Calibri"/>
              </a:rPr>
              <a:t>for</a:t>
            </a:r>
            <a:r>
              <a:rPr sz="1199" spc="-25" dirty="0">
                <a:solidFill>
                  <a:srgbClr val="202020"/>
                </a:solidFill>
                <a:latin typeface="Calibri"/>
                <a:cs typeface="Calibri"/>
              </a:rPr>
              <a:t> </a:t>
            </a:r>
            <a:r>
              <a:rPr sz="1199" spc="-20" dirty="0">
                <a:solidFill>
                  <a:srgbClr val="202020"/>
                </a:solidFill>
                <a:latin typeface="Calibri"/>
                <a:cs typeface="Calibri"/>
              </a:rPr>
              <a:t>money,</a:t>
            </a:r>
            <a:r>
              <a:rPr sz="1199" spc="-25" dirty="0">
                <a:solidFill>
                  <a:srgbClr val="202020"/>
                </a:solidFill>
                <a:latin typeface="Calibri"/>
                <a:cs typeface="Calibri"/>
              </a:rPr>
              <a:t> </a:t>
            </a:r>
            <a:r>
              <a:rPr sz="1199" dirty="0">
                <a:solidFill>
                  <a:srgbClr val="202020"/>
                </a:solidFill>
                <a:latin typeface="Calibri"/>
                <a:cs typeface="Calibri"/>
              </a:rPr>
              <a:t>and</a:t>
            </a:r>
            <a:r>
              <a:rPr sz="1199" spc="-25" dirty="0">
                <a:solidFill>
                  <a:srgbClr val="202020"/>
                </a:solidFill>
                <a:latin typeface="Calibri"/>
                <a:cs typeface="Calibri"/>
              </a:rPr>
              <a:t> </a:t>
            </a:r>
            <a:r>
              <a:rPr sz="1199" dirty="0">
                <a:solidFill>
                  <a:srgbClr val="202020"/>
                </a:solidFill>
                <a:latin typeface="Calibri"/>
                <a:cs typeface="Calibri"/>
              </a:rPr>
              <a:t>which</a:t>
            </a:r>
            <a:r>
              <a:rPr sz="1199" spc="-25" dirty="0">
                <a:solidFill>
                  <a:srgbClr val="202020"/>
                </a:solidFill>
                <a:latin typeface="Calibri"/>
                <a:cs typeface="Calibri"/>
              </a:rPr>
              <a:t> </a:t>
            </a:r>
            <a:r>
              <a:rPr sz="1199" dirty="0">
                <a:solidFill>
                  <a:srgbClr val="202020"/>
                </a:solidFill>
                <a:latin typeface="Calibri"/>
                <a:cs typeface="Calibri"/>
              </a:rPr>
              <a:t>must</a:t>
            </a:r>
            <a:r>
              <a:rPr sz="1199" spc="-25" dirty="0">
                <a:solidFill>
                  <a:srgbClr val="202020"/>
                </a:solidFill>
                <a:latin typeface="Calibri"/>
                <a:cs typeface="Calibri"/>
              </a:rPr>
              <a:t> </a:t>
            </a:r>
            <a:r>
              <a:rPr sz="1199" dirty="0">
                <a:solidFill>
                  <a:srgbClr val="202020"/>
                </a:solidFill>
                <a:latin typeface="Calibri"/>
                <a:cs typeface="Calibri"/>
              </a:rPr>
              <a:t>you</a:t>
            </a:r>
            <a:r>
              <a:rPr sz="1199" spc="-25" dirty="0">
                <a:solidFill>
                  <a:srgbClr val="202020"/>
                </a:solidFill>
                <a:latin typeface="Calibri"/>
                <a:cs typeface="Calibri"/>
              </a:rPr>
              <a:t> </a:t>
            </a:r>
            <a:r>
              <a:rPr sz="1199" dirty="0">
                <a:solidFill>
                  <a:srgbClr val="202020"/>
                </a:solidFill>
                <a:latin typeface="Calibri"/>
                <a:cs typeface="Calibri"/>
              </a:rPr>
              <a:t>never</a:t>
            </a:r>
            <a:r>
              <a:rPr sz="1199" spc="-25" dirty="0">
                <a:solidFill>
                  <a:srgbClr val="202020"/>
                </a:solidFill>
                <a:latin typeface="Calibri"/>
                <a:cs typeface="Calibri"/>
              </a:rPr>
              <a:t> </a:t>
            </a:r>
            <a:r>
              <a:rPr sz="1199" spc="-20" dirty="0">
                <a:solidFill>
                  <a:srgbClr val="202020"/>
                </a:solidFill>
                <a:latin typeface="Calibri"/>
                <a:cs typeface="Calibri"/>
              </a:rPr>
              <a:t>use?</a:t>
            </a:r>
            <a:endParaRPr sz="1199">
              <a:latin typeface="Calibri"/>
              <a:cs typeface="Calibri"/>
            </a:endParaRPr>
          </a:p>
          <a:p>
            <a:pPr marL="161731" indent="-149046">
              <a:spcBef>
                <a:spcPts val="285"/>
              </a:spcBef>
              <a:buAutoNum type="arabicPeriod"/>
              <a:tabLst>
                <a:tab pos="161731" algn="l"/>
              </a:tabLst>
            </a:pPr>
            <a:r>
              <a:rPr sz="1199" dirty="0">
                <a:solidFill>
                  <a:srgbClr val="202020"/>
                </a:solidFill>
                <a:latin typeface="Calibri"/>
                <a:cs typeface="Calibri"/>
              </a:rPr>
              <a:t>Why</a:t>
            </a:r>
            <a:r>
              <a:rPr sz="1199" spc="-30" dirty="0">
                <a:solidFill>
                  <a:srgbClr val="202020"/>
                </a:solidFill>
                <a:latin typeface="Calibri"/>
                <a:cs typeface="Calibri"/>
              </a:rPr>
              <a:t> </a:t>
            </a:r>
            <a:r>
              <a:rPr sz="1199" dirty="0">
                <a:solidFill>
                  <a:srgbClr val="202020"/>
                </a:solidFill>
                <a:latin typeface="Calibri"/>
                <a:cs typeface="Calibri"/>
              </a:rPr>
              <a:t>is</a:t>
            </a:r>
            <a:r>
              <a:rPr sz="1199" spc="-30" dirty="0">
                <a:solidFill>
                  <a:srgbClr val="202020"/>
                </a:solidFill>
                <a:latin typeface="Calibri"/>
                <a:cs typeface="Calibri"/>
              </a:rPr>
              <a:t> </a:t>
            </a:r>
            <a:r>
              <a:rPr sz="1199" dirty="0">
                <a:solidFill>
                  <a:srgbClr val="202020"/>
                </a:solidFill>
                <a:latin typeface="Calibri"/>
                <a:cs typeface="Calibri"/>
              </a:rPr>
              <a:t>phone</a:t>
            </a:r>
            <a:r>
              <a:rPr sz="1199" spc="-30" dirty="0">
                <a:solidFill>
                  <a:srgbClr val="202020"/>
                </a:solidFill>
                <a:latin typeface="Calibri"/>
                <a:cs typeface="Calibri"/>
              </a:rPr>
              <a:t> </a:t>
            </a:r>
            <a:r>
              <a:rPr sz="1199" spc="-10" dirty="0">
                <a:solidFill>
                  <a:srgbClr val="202020"/>
                </a:solidFill>
                <a:latin typeface="Calibri"/>
                <a:cs typeface="Calibri"/>
              </a:rPr>
              <a:t>VARCHAR,</a:t>
            </a:r>
            <a:r>
              <a:rPr sz="1199" spc="-30" dirty="0">
                <a:solidFill>
                  <a:srgbClr val="202020"/>
                </a:solidFill>
                <a:latin typeface="Calibri"/>
                <a:cs typeface="Calibri"/>
              </a:rPr>
              <a:t> </a:t>
            </a:r>
            <a:r>
              <a:rPr sz="1199" dirty="0">
                <a:solidFill>
                  <a:srgbClr val="202020"/>
                </a:solidFill>
                <a:latin typeface="Calibri"/>
                <a:cs typeface="Calibri"/>
              </a:rPr>
              <a:t>not</a:t>
            </a:r>
            <a:r>
              <a:rPr sz="1199" spc="-30" dirty="0">
                <a:solidFill>
                  <a:srgbClr val="202020"/>
                </a:solidFill>
                <a:latin typeface="Calibri"/>
                <a:cs typeface="Calibri"/>
              </a:rPr>
              <a:t> </a:t>
            </a:r>
            <a:r>
              <a:rPr sz="1199" dirty="0">
                <a:solidFill>
                  <a:srgbClr val="202020"/>
                </a:solidFill>
                <a:latin typeface="Calibri"/>
                <a:cs typeface="Calibri"/>
              </a:rPr>
              <a:t>INT?</a:t>
            </a:r>
            <a:r>
              <a:rPr sz="1199" spc="-30" dirty="0">
                <a:solidFill>
                  <a:srgbClr val="202020"/>
                </a:solidFill>
                <a:latin typeface="Calibri"/>
                <a:cs typeface="Calibri"/>
              </a:rPr>
              <a:t> </a:t>
            </a:r>
            <a:r>
              <a:rPr sz="1199" dirty="0">
                <a:solidFill>
                  <a:srgbClr val="202020"/>
                </a:solidFill>
                <a:latin typeface="Calibri"/>
                <a:cs typeface="Calibri"/>
              </a:rPr>
              <a:t>Give</a:t>
            </a:r>
            <a:r>
              <a:rPr sz="1199" spc="-30" dirty="0">
                <a:solidFill>
                  <a:srgbClr val="202020"/>
                </a:solidFill>
                <a:latin typeface="Calibri"/>
                <a:cs typeface="Calibri"/>
              </a:rPr>
              <a:t> </a:t>
            </a:r>
            <a:r>
              <a:rPr sz="1199" dirty="0">
                <a:solidFill>
                  <a:srgbClr val="202020"/>
                </a:solidFill>
                <a:latin typeface="Calibri"/>
                <a:cs typeface="Calibri"/>
              </a:rPr>
              <a:t>2</a:t>
            </a:r>
            <a:r>
              <a:rPr sz="1199" spc="-30" dirty="0">
                <a:solidFill>
                  <a:srgbClr val="202020"/>
                </a:solidFill>
                <a:latin typeface="Calibri"/>
                <a:cs typeface="Calibri"/>
              </a:rPr>
              <a:t> </a:t>
            </a:r>
            <a:r>
              <a:rPr sz="1199" spc="-10" dirty="0">
                <a:solidFill>
                  <a:srgbClr val="202020"/>
                </a:solidFill>
                <a:latin typeface="Calibri"/>
                <a:cs typeface="Calibri"/>
              </a:rPr>
              <a:t>reasons.</a:t>
            </a:r>
            <a:endParaRPr sz="1199">
              <a:latin typeface="Calibri"/>
              <a:cs typeface="Calibri"/>
            </a:endParaRPr>
          </a:p>
          <a:p>
            <a:pPr marL="161731" indent="-149046">
              <a:spcBef>
                <a:spcPts val="290"/>
              </a:spcBef>
              <a:buAutoNum type="arabicPeriod"/>
              <a:tabLst>
                <a:tab pos="161731" algn="l"/>
              </a:tabLst>
            </a:pPr>
            <a:r>
              <a:rPr sz="1199" dirty="0">
                <a:solidFill>
                  <a:srgbClr val="202020"/>
                </a:solidFill>
                <a:latin typeface="Calibri"/>
                <a:cs typeface="Calibri"/>
              </a:rPr>
              <a:t>Write</a:t>
            </a:r>
            <a:r>
              <a:rPr sz="1199" spc="-35" dirty="0">
                <a:solidFill>
                  <a:srgbClr val="202020"/>
                </a:solidFill>
                <a:latin typeface="Calibri"/>
                <a:cs typeface="Calibri"/>
              </a:rPr>
              <a:t> </a:t>
            </a:r>
            <a:r>
              <a:rPr sz="1199" dirty="0">
                <a:solidFill>
                  <a:srgbClr val="202020"/>
                </a:solidFill>
                <a:latin typeface="Calibri"/>
                <a:cs typeface="Calibri"/>
              </a:rPr>
              <a:t>the</a:t>
            </a:r>
            <a:r>
              <a:rPr sz="1199" spc="-35" dirty="0">
                <a:solidFill>
                  <a:srgbClr val="202020"/>
                </a:solidFill>
                <a:latin typeface="Calibri"/>
                <a:cs typeface="Calibri"/>
              </a:rPr>
              <a:t> </a:t>
            </a:r>
            <a:r>
              <a:rPr sz="1199" spc="-20" dirty="0">
                <a:solidFill>
                  <a:srgbClr val="202020"/>
                </a:solidFill>
                <a:latin typeface="Calibri"/>
                <a:cs typeface="Calibri"/>
              </a:rPr>
              <a:t>ALTER</a:t>
            </a:r>
            <a:r>
              <a:rPr sz="1199" spc="-30" dirty="0">
                <a:solidFill>
                  <a:srgbClr val="202020"/>
                </a:solidFill>
                <a:latin typeface="Calibri"/>
                <a:cs typeface="Calibri"/>
              </a:rPr>
              <a:t> </a:t>
            </a:r>
            <a:r>
              <a:rPr sz="1199" dirty="0">
                <a:solidFill>
                  <a:srgbClr val="202020"/>
                </a:solidFill>
                <a:latin typeface="Calibri"/>
                <a:cs typeface="Calibri"/>
              </a:rPr>
              <a:t>that</a:t>
            </a:r>
            <a:r>
              <a:rPr sz="1199" spc="-35" dirty="0">
                <a:solidFill>
                  <a:srgbClr val="202020"/>
                </a:solidFill>
                <a:latin typeface="Calibri"/>
                <a:cs typeface="Calibri"/>
              </a:rPr>
              <a:t> </a:t>
            </a:r>
            <a:r>
              <a:rPr sz="1199" spc="-10" dirty="0">
                <a:solidFill>
                  <a:srgbClr val="202020"/>
                </a:solidFill>
                <a:latin typeface="Calibri"/>
                <a:cs typeface="Calibri"/>
              </a:rPr>
              <a:t>converts</a:t>
            </a:r>
            <a:r>
              <a:rPr sz="1199" spc="-30" dirty="0">
                <a:solidFill>
                  <a:srgbClr val="202020"/>
                </a:solidFill>
                <a:latin typeface="Calibri"/>
                <a:cs typeface="Calibri"/>
              </a:rPr>
              <a:t> </a:t>
            </a:r>
            <a:r>
              <a:rPr sz="1199" dirty="0">
                <a:solidFill>
                  <a:srgbClr val="202020"/>
                </a:solidFill>
                <a:latin typeface="Calibri"/>
                <a:cs typeface="Calibri"/>
              </a:rPr>
              <a:t>a</a:t>
            </a:r>
            <a:r>
              <a:rPr sz="1199" spc="-35" dirty="0">
                <a:solidFill>
                  <a:srgbClr val="202020"/>
                </a:solidFill>
                <a:latin typeface="Calibri"/>
                <a:cs typeface="Calibri"/>
              </a:rPr>
              <a:t> </a:t>
            </a:r>
            <a:r>
              <a:rPr sz="1199" dirty="0">
                <a:solidFill>
                  <a:srgbClr val="202020"/>
                </a:solidFill>
                <a:latin typeface="Calibri"/>
                <a:cs typeface="Calibri"/>
              </a:rPr>
              <a:t>TEXT</a:t>
            </a:r>
            <a:r>
              <a:rPr sz="1199" spc="-30" dirty="0">
                <a:solidFill>
                  <a:srgbClr val="202020"/>
                </a:solidFill>
                <a:latin typeface="Calibri"/>
                <a:cs typeface="Calibri"/>
              </a:rPr>
              <a:t> </a:t>
            </a:r>
            <a:r>
              <a:rPr sz="1199" dirty="0">
                <a:solidFill>
                  <a:srgbClr val="202020"/>
                </a:solidFill>
                <a:latin typeface="Calibri"/>
                <a:cs typeface="Calibri"/>
              </a:rPr>
              <a:t>column</a:t>
            </a:r>
            <a:r>
              <a:rPr sz="1199" spc="-35" dirty="0">
                <a:solidFill>
                  <a:srgbClr val="202020"/>
                </a:solidFill>
                <a:latin typeface="Calibri"/>
                <a:cs typeface="Calibri"/>
              </a:rPr>
              <a:t> </a:t>
            </a:r>
            <a:r>
              <a:rPr sz="1199" dirty="0">
                <a:solidFill>
                  <a:srgbClr val="202020"/>
                </a:solidFill>
                <a:latin typeface="Calibri"/>
                <a:cs typeface="Calibri"/>
              </a:rPr>
              <a:t>to</a:t>
            </a:r>
            <a:r>
              <a:rPr sz="1199" spc="-35" dirty="0">
                <a:solidFill>
                  <a:srgbClr val="202020"/>
                </a:solidFill>
                <a:latin typeface="Calibri"/>
                <a:cs typeface="Calibri"/>
              </a:rPr>
              <a:t> </a:t>
            </a:r>
            <a:r>
              <a:rPr sz="1199" spc="-10" dirty="0">
                <a:solidFill>
                  <a:srgbClr val="202020"/>
                </a:solidFill>
                <a:latin typeface="Calibri"/>
                <a:cs typeface="Calibri"/>
              </a:rPr>
              <a:t>DATE.</a:t>
            </a:r>
            <a:endParaRPr sz="1199">
              <a:latin typeface="Calibri"/>
              <a:cs typeface="Calibri"/>
            </a:endParaRPr>
          </a:p>
          <a:p>
            <a:pPr marL="161731" indent="-149046">
              <a:spcBef>
                <a:spcPts val="285"/>
              </a:spcBef>
              <a:buAutoNum type="arabicPeriod"/>
              <a:tabLst>
                <a:tab pos="161731" algn="l"/>
              </a:tabLst>
            </a:pPr>
            <a:r>
              <a:rPr sz="1199" dirty="0">
                <a:solidFill>
                  <a:srgbClr val="202020"/>
                </a:solidFill>
                <a:latin typeface="Calibri"/>
                <a:cs typeface="Calibri"/>
              </a:rPr>
              <a:t>What</a:t>
            </a:r>
            <a:r>
              <a:rPr sz="1199" spc="-30" dirty="0">
                <a:solidFill>
                  <a:srgbClr val="202020"/>
                </a:solidFill>
                <a:latin typeface="Calibri"/>
                <a:cs typeface="Calibri"/>
              </a:rPr>
              <a:t> </a:t>
            </a:r>
            <a:r>
              <a:rPr sz="1199" dirty="0">
                <a:solidFill>
                  <a:srgbClr val="202020"/>
                </a:solidFill>
                <a:latin typeface="Calibri"/>
                <a:cs typeface="Calibri"/>
              </a:rPr>
              <a:t>does</a:t>
            </a:r>
            <a:r>
              <a:rPr sz="1199" spc="-25" dirty="0">
                <a:solidFill>
                  <a:srgbClr val="202020"/>
                </a:solidFill>
                <a:latin typeface="Calibri"/>
                <a:cs typeface="Calibri"/>
              </a:rPr>
              <a:t> </a:t>
            </a:r>
            <a:r>
              <a:rPr sz="1199" dirty="0">
                <a:solidFill>
                  <a:srgbClr val="202020"/>
                </a:solidFill>
                <a:latin typeface="Calibri"/>
                <a:cs typeface="Calibri"/>
              </a:rPr>
              <a:t>the</a:t>
            </a:r>
            <a:r>
              <a:rPr sz="1199" spc="-25" dirty="0">
                <a:solidFill>
                  <a:srgbClr val="202020"/>
                </a:solidFill>
                <a:latin typeface="Calibri"/>
                <a:cs typeface="Calibri"/>
              </a:rPr>
              <a:t> </a:t>
            </a:r>
            <a:r>
              <a:rPr sz="1199" dirty="0">
                <a:solidFill>
                  <a:srgbClr val="202020"/>
                </a:solidFill>
                <a:latin typeface="Calibri"/>
                <a:cs typeface="Calibri"/>
              </a:rPr>
              <a:t>USING</a:t>
            </a:r>
            <a:r>
              <a:rPr sz="1199" spc="-30" dirty="0">
                <a:solidFill>
                  <a:srgbClr val="202020"/>
                </a:solidFill>
                <a:latin typeface="Calibri"/>
                <a:cs typeface="Calibri"/>
              </a:rPr>
              <a:t> </a:t>
            </a:r>
            <a:r>
              <a:rPr sz="1199" dirty="0">
                <a:solidFill>
                  <a:srgbClr val="202020"/>
                </a:solidFill>
                <a:latin typeface="Calibri"/>
                <a:cs typeface="Calibri"/>
              </a:rPr>
              <a:t>clause</a:t>
            </a:r>
            <a:r>
              <a:rPr sz="1199" spc="-25" dirty="0">
                <a:solidFill>
                  <a:srgbClr val="202020"/>
                </a:solidFill>
                <a:latin typeface="Calibri"/>
                <a:cs typeface="Calibri"/>
              </a:rPr>
              <a:t> </a:t>
            </a:r>
            <a:r>
              <a:rPr sz="1199" dirty="0">
                <a:solidFill>
                  <a:srgbClr val="202020"/>
                </a:solidFill>
                <a:latin typeface="Calibri"/>
                <a:cs typeface="Calibri"/>
              </a:rPr>
              <a:t>do</a:t>
            </a:r>
            <a:r>
              <a:rPr sz="1199" spc="-25" dirty="0">
                <a:solidFill>
                  <a:srgbClr val="202020"/>
                </a:solidFill>
                <a:latin typeface="Calibri"/>
                <a:cs typeface="Calibri"/>
              </a:rPr>
              <a:t> </a:t>
            </a:r>
            <a:r>
              <a:rPr sz="1199" dirty="0">
                <a:solidFill>
                  <a:srgbClr val="202020"/>
                </a:solidFill>
                <a:latin typeface="Calibri"/>
                <a:cs typeface="Calibri"/>
              </a:rPr>
              <a:t>in</a:t>
            </a:r>
            <a:r>
              <a:rPr sz="1199" spc="-30" dirty="0">
                <a:solidFill>
                  <a:srgbClr val="202020"/>
                </a:solidFill>
                <a:latin typeface="Calibri"/>
                <a:cs typeface="Calibri"/>
              </a:rPr>
              <a:t> </a:t>
            </a:r>
            <a:r>
              <a:rPr sz="1199" spc="-20" dirty="0">
                <a:solidFill>
                  <a:srgbClr val="202020"/>
                </a:solidFill>
                <a:latin typeface="Calibri"/>
                <a:cs typeface="Calibri"/>
              </a:rPr>
              <a:t>ALTER</a:t>
            </a:r>
            <a:r>
              <a:rPr sz="1199" spc="-25" dirty="0">
                <a:solidFill>
                  <a:srgbClr val="202020"/>
                </a:solidFill>
                <a:latin typeface="Calibri"/>
                <a:cs typeface="Calibri"/>
              </a:rPr>
              <a:t> </a:t>
            </a:r>
            <a:r>
              <a:rPr sz="1199" dirty="0">
                <a:solidFill>
                  <a:srgbClr val="202020"/>
                </a:solidFill>
                <a:latin typeface="Calibri"/>
                <a:cs typeface="Calibri"/>
              </a:rPr>
              <a:t>...</a:t>
            </a:r>
            <a:r>
              <a:rPr sz="1199" spc="-25" dirty="0">
                <a:solidFill>
                  <a:srgbClr val="202020"/>
                </a:solidFill>
                <a:latin typeface="Calibri"/>
                <a:cs typeface="Calibri"/>
              </a:rPr>
              <a:t> </a:t>
            </a:r>
            <a:r>
              <a:rPr sz="1199" spc="-10" dirty="0">
                <a:solidFill>
                  <a:srgbClr val="202020"/>
                </a:solidFill>
                <a:latin typeface="Calibri"/>
                <a:cs typeface="Calibri"/>
              </a:rPr>
              <a:t>TYPE?</a:t>
            </a:r>
            <a:endParaRPr sz="1199">
              <a:latin typeface="Calibri"/>
              <a:cs typeface="Calibri"/>
            </a:endParaRPr>
          </a:p>
          <a:p>
            <a:pPr marL="161731" indent="-149046">
              <a:spcBef>
                <a:spcPts val="285"/>
              </a:spcBef>
              <a:buAutoNum type="arabicPeriod"/>
              <a:tabLst>
                <a:tab pos="161731" algn="l"/>
              </a:tabLst>
            </a:pPr>
            <a:r>
              <a:rPr sz="1199" spc="-10" dirty="0">
                <a:solidFill>
                  <a:srgbClr val="202020"/>
                </a:solidFill>
                <a:latin typeface="Calibri"/>
                <a:cs typeface="Calibri"/>
              </a:rPr>
              <a:t>Difference</a:t>
            </a:r>
            <a:r>
              <a:rPr sz="1199" spc="-45" dirty="0">
                <a:solidFill>
                  <a:srgbClr val="202020"/>
                </a:solidFill>
                <a:latin typeface="Calibri"/>
                <a:cs typeface="Calibri"/>
              </a:rPr>
              <a:t> </a:t>
            </a:r>
            <a:r>
              <a:rPr sz="1199" dirty="0">
                <a:solidFill>
                  <a:srgbClr val="202020"/>
                </a:solidFill>
                <a:latin typeface="Calibri"/>
                <a:cs typeface="Calibri"/>
              </a:rPr>
              <a:t>between</a:t>
            </a:r>
            <a:r>
              <a:rPr sz="1199" spc="-40" dirty="0">
                <a:solidFill>
                  <a:srgbClr val="202020"/>
                </a:solidFill>
                <a:latin typeface="Calibri"/>
                <a:cs typeface="Calibri"/>
              </a:rPr>
              <a:t> </a:t>
            </a:r>
            <a:r>
              <a:rPr sz="1199" dirty="0">
                <a:solidFill>
                  <a:srgbClr val="202020"/>
                </a:solidFill>
                <a:latin typeface="Calibri"/>
                <a:cs typeface="Calibri"/>
              </a:rPr>
              <a:t>NOT</a:t>
            </a:r>
            <a:r>
              <a:rPr sz="1199" spc="-40" dirty="0">
                <a:solidFill>
                  <a:srgbClr val="202020"/>
                </a:solidFill>
                <a:latin typeface="Calibri"/>
                <a:cs typeface="Calibri"/>
              </a:rPr>
              <a:t> </a:t>
            </a:r>
            <a:r>
              <a:rPr sz="1199" dirty="0">
                <a:solidFill>
                  <a:srgbClr val="202020"/>
                </a:solidFill>
                <a:latin typeface="Calibri"/>
                <a:cs typeface="Calibri"/>
              </a:rPr>
              <a:t>NULL</a:t>
            </a:r>
            <a:r>
              <a:rPr sz="1199" spc="-40" dirty="0">
                <a:solidFill>
                  <a:srgbClr val="202020"/>
                </a:solidFill>
                <a:latin typeface="Calibri"/>
                <a:cs typeface="Calibri"/>
              </a:rPr>
              <a:t> </a:t>
            </a:r>
            <a:r>
              <a:rPr sz="1199" dirty="0">
                <a:solidFill>
                  <a:srgbClr val="202020"/>
                </a:solidFill>
                <a:latin typeface="Calibri"/>
                <a:cs typeface="Calibri"/>
              </a:rPr>
              <a:t>and</a:t>
            </a:r>
            <a:r>
              <a:rPr sz="1199" spc="-45" dirty="0">
                <a:solidFill>
                  <a:srgbClr val="202020"/>
                </a:solidFill>
                <a:latin typeface="Calibri"/>
                <a:cs typeface="Calibri"/>
              </a:rPr>
              <a:t> </a:t>
            </a:r>
            <a:r>
              <a:rPr sz="1199" spc="-10" dirty="0">
                <a:solidFill>
                  <a:srgbClr val="202020"/>
                </a:solidFill>
                <a:latin typeface="Calibri"/>
                <a:cs typeface="Calibri"/>
              </a:rPr>
              <a:t>DEFAULT?</a:t>
            </a:r>
            <a:endParaRPr sz="1199">
              <a:latin typeface="Calibri"/>
              <a:cs typeface="Calibri"/>
            </a:endParaRPr>
          </a:p>
          <a:p>
            <a:pPr marL="161731" indent="-149046">
              <a:spcBef>
                <a:spcPts val="285"/>
              </a:spcBef>
              <a:buAutoNum type="arabicPeriod"/>
              <a:tabLst>
                <a:tab pos="161731" algn="l"/>
              </a:tabLst>
            </a:pPr>
            <a:r>
              <a:rPr sz="1199" dirty="0">
                <a:solidFill>
                  <a:srgbClr val="202020"/>
                </a:solidFill>
                <a:latin typeface="Calibri"/>
                <a:cs typeface="Calibri"/>
              </a:rPr>
              <a:t>Does</a:t>
            </a:r>
            <a:r>
              <a:rPr sz="1199" spc="-30" dirty="0">
                <a:solidFill>
                  <a:srgbClr val="202020"/>
                </a:solidFill>
                <a:latin typeface="Calibri"/>
                <a:cs typeface="Calibri"/>
              </a:rPr>
              <a:t> </a:t>
            </a:r>
            <a:r>
              <a:rPr sz="1199" dirty="0">
                <a:solidFill>
                  <a:srgbClr val="202020"/>
                </a:solidFill>
                <a:latin typeface="Calibri"/>
                <a:cs typeface="Calibri"/>
              </a:rPr>
              <a:t>a</a:t>
            </a:r>
            <a:r>
              <a:rPr sz="1199" spc="-30" dirty="0">
                <a:solidFill>
                  <a:srgbClr val="202020"/>
                </a:solidFill>
                <a:latin typeface="Calibri"/>
                <a:cs typeface="Calibri"/>
              </a:rPr>
              <a:t> </a:t>
            </a:r>
            <a:r>
              <a:rPr sz="1199" dirty="0">
                <a:solidFill>
                  <a:srgbClr val="202020"/>
                </a:solidFill>
                <a:latin typeface="Calibri"/>
                <a:cs typeface="Calibri"/>
              </a:rPr>
              <a:t>CHECK</a:t>
            </a:r>
            <a:r>
              <a:rPr sz="1199" spc="-30" dirty="0">
                <a:solidFill>
                  <a:srgbClr val="202020"/>
                </a:solidFill>
                <a:latin typeface="Calibri"/>
                <a:cs typeface="Calibri"/>
              </a:rPr>
              <a:t> </a:t>
            </a:r>
            <a:r>
              <a:rPr sz="1199" spc="-10" dirty="0">
                <a:solidFill>
                  <a:srgbClr val="202020"/>
                </a:solidFill>
                <a:latin typeface="Calibri"/>
                <a:cs typeface="Calibri"/>
              </a:rPr>
              <a:t>constraint</a:t>
            </a:r>
            <a:r>
              <a:rPr sz="1199" spc="-30" dirty="0">
                <a:solidFill>
                  <a:srgbClr val="202020"/>
                </a:solidFill>
                <a:latin typeface="Calibri"/>
                <a:cs typeface="Calibri"/>
              </a:rPr>
              <a:t> </a:t>
            </a:r>
            <a:r>
              <a:rPr sz="1199" dirty="0">
                <a:solidFill>
                  <a:srgbClr val="202020"/>
                </a:solidFill>
                <a:latin typeface="Calibri"/>
                <a:cs typeface="Calibri"/>
              </a:rPr>
              <a:t>block</a:t>
            </a:r>
            <a:r>
              <a:rPr sz="1199" spc="-30" dirty="0">
                <a:solidFill>
                  <a:srgbClr val="202020"/>
                </a:solidFill>
                <a:latin typeface="Calibri"/>
                <a:cs typeface="Calibri"/>
              </a:rPr>
              <a:t> </a:t>
            </a:r>
            <a:r>
              <a:rPr sz="1199" dirty="0">
                <a:solidFill>
                  <a:srgbClr val="202020"/>
                </a:solidFill>
                <a:latin typeface="Calibri"/>
                <a:cs typeface="Calibri"/>
              </a:rPr>
              <a:t>NULL?</a:t>
            </a:r>
            <a:r>
              <a:rPr sz="1199" spc="-30" dirty="0">
                <a:solidFill>
                  <a:srgbClr val="202020"/>
                </a:solidFill>
                <a:latin typeface="Calibri"/>
                <a:cs typeface="Calibri"/>
              </a:rPr>
              <a:t> </a:t>
            </a:r>
            <a:r>
              <a:rPr sz="1199" dirty="0">
                <a:solidFill>
                  <a:srgbClr val="202020"/>
                </a:solidFill>
                <a:latin typeface="Calibri"/>
                <a:cs typeface="Calibri"/>
              </a:rPr>
              <a:t>How</a:t>
            </a:r>
            <a:r>
              <a:rPr sz="1199" spc="-30" dirty="0">
                <a:solidFill>
                  <a:srgbClr val="202020"/>
                </a:solidFill>
                <a:latin typeface="Calibri"/>
                <a:cs typeface="Calibri"/>
              </a:rPr>
              <a:t> </a:t>
            </a:r>
            <a:r>
              <a:rPr sz="1199" dirty="0">
                <a:solidFill>
                  <a:srgbClr val="202020"/>
                </a:solidFill>
                <a:latin typeface="Calibri"/>
                <a:cs typeface="Calibri"/>
              </a:rPr>
              <a:t>do</a:t>
            </a:r>
            <a:r>
              <a:rPr sz="1199" spc="-30" dirty="0">
                <a:solidFill>
                  <a:srgbClr val="202020"/>
                </a:solidFill>
                <a:latin typeface="Calibri"/>
                <a:cs typeface="Calibri"/>
              </a:rPr>
              <a:t> </a:t>
            </a:r>
            <a:r>
              <a:rPr sz="1199" dirty="0">
                <a:solidFill>
                  <a:srgbClr val="202020"/>
                </a:solidFill>
                <a:latin typeface="Calibri"/>
                <a:cs typeface="Calibri"/>
              </a:rPr>
              <a:t>you</a:t>
            </a:r>
            <a:r>
              <a:rPr sz="1199" spc="-25" dirty="0">
                <a:solidFill>
                  <a:srgbClr val="202020"/>
                </a:solidFill>
                <a:latin typeface="Calibri"/>
                <a:cs typeface="Calibri"/>
              </a:rPr>
              <a:t> </a:t>
            </a:r>
            <a:r>
              <a:rPr sz="1199" dirty="0">
                <a:solidFill>
                  <a:srgbClr val="202020"/>
                </a:solidFill>
                <a:latin typeface="Calibri"/>
                <a:cs typeface="Calibri"/>
              </a:rPr>
              <a:t>also</a:t>
            </a:r>
            <a:r>
              <a:rPr sz="1199" spc="-30" dirty="0">
                <a:solidFill>
                  <a:srgbClr val="202020"/>
                </a:solidFill>
                <a:latin typeface="Calibri"/>
                <a:cs typeface="Calibri"/>
              </a:rPr>
              <a:t> </a:t>
            </a:r>
            <a:r>
              <a:rPr sz="1199" dirty="0">
                <a:solidFill>
                  <a:srgbClr val="202020"/>
                </a:solidFill>
                <a:latin typeface="Calibri"/>
                <a:cs typeface="Calibri"/>
              </a:rPr>
              <a:t>block</a:t>
            </a:r>
            <a:r>
              <a:rPr sz="1199" spc="-30" dirty="0">
                <a:solidFill>
                  <a:srgbClr val="202020"/>
                </a:solidFill>
                <a:latin typeface="Calibri"/>
                <a:cs typeface="Calibri"/>
              </a:rPr>
              <a:t> </a:t>
            </a:r>
            <a:r>
              <a:rPr sz="1199" spc="-10" dirty="0">
                <a:solidFill>
                  <a:srgbClr val="202020"/>
                </a:solidFill>
                <a:latin typeface="Calibri"/>
                <a:cs typeface="Calibri"/>
              </a:rPr>
              <a:t>NULL?</a:t>
            </a:r>
            <a:endParaRPr sz="1199">
              <a:latin typeface="Calibri"/>
              <a:cs typeface="Calibri"/>
            </a:endParaRPr>
          </a:p>
          <a:p>
            <a:pPr marL="161731" indent="-149046">
              <a:spcBef>
                <a:spcPts val="290"/>
              </a:spcBef>
              <a:buAutoNum type="arabicPeriod"/>
              <a:tabLst>
                <a:tab pos="161731" algn="l"/>
              </a:tabLst>
            </a:pPr>
            <a:r>
              <a:rPr sz="1199" dirty="0">
                <a:solidFill>
                  <a:srgbClr val="202020"/>
                </a:solidFill>
                <a:latin typeface="Calibri"/>
                <a:cs typeface="Calibri"/>
              </a:rPr>
              <a:t>UNIQUE</a:t>
            </a:r>
            <a:r>
              <a:rPr sz="1199" spc="-30" dirty="0">
                <a:solidFill>
                  <a:srgbClr val="202020"/>
                </a:solidFill>
                <a:latin typeface="Calibri"/>
                <a:cs typeface="Calibri"/>
              </a:rPr>
              <a:t> </a:t>
            </a:r>
            <a:r>
              <a:rPr sz="1199" dirty="0">
                <a:solidFill>
                  <a:srgbClr val="202020"/>
                </a:solidFill>
                <a:latin typeface="Calibri"/>
                <a:cs typeface="Calibri"/>
              </a:rPr>
              <a:t>vs</a:t>
            </a:r>
            <a:r>
              <a:rPr sz="1199" spc="-30" dirty="0">
                <a:solidFill>
                  <a:srgbClr val="202020"/>
                </a:solidFill>
                <a:latin typeface="Calibri"/>
                <a:cs typeface="Calibri"/>
              </a:rPr>
              <a:t> </a:t>
            </a:r>
            <a:r>
              <a:rPr sz="1199" spc="-10" dirty="0">
                <a:solidFill>
                  <a:srgbClr val="202020"/>
                </a:solidFill>
                <a:latin typeface="Calibri"/>
                <a:cs typeface="Calibri"/>
              </a:rPr>
              <a:t>PRIMARY</a:t>
            </a:r>
            <a:r>
              <a:rPr sz="1199" spc="-30" dirty="0">
                <a:solidFill>
                  <a:srgbClr val="202020"/>
                </a:solidFill>
                <a:latin typeface="Calibri"/>
                <a:cs typeface="Calibri"/>
              </a:rPr>
              <a:t> </a:t>
            </a:r>
            <a:r>
              <a:rPr sz="1199" dirty="0">
                <a:solidFill>
                  <a:srgbClr val="202020"/>
                </a:solidFill>
                <a:latin typeface="Calibri"/>
                <a:cs typeface="Calibri"/>
              </a:rPr>
              <a:t>KEY</a:t>
            </a:r>
            <a:r>
              <a:rPr sz="1199" spc="-25" dirty="0">
                <a:solidFill>
                  <a:srgbClr val="202020"/>
                </a:solidFill>
                <a:latin typeface="Calibri"/>
                <a:cs typeface="Calibri"/>
              </a:rPr>
              <a:t> </a:t>
            </a:r>
            <a:r>
              <a:rPr sz="1199" dirty="0">
                <a:solidFill>
                  <a:srgbClr val="202020"/>
                </a:solidFill>
                <a:latin typeface="Calibri"/>
                <a:cs typeface="Calibri"/>
              </a:rPr>
              <a:t>-</a:t>
            </a:r>
            <a:r>
              <a:rPr sz="1199" spc="-30" dirty="0">
                <a:solidFill>
                  <a:srgbClr val="202020"/>
                </a:solidFill>
                <a:latin typeface="Calibri"/>
                <a:cs typeface="Calibri"/>
              </a:rPr>
              <a:t> </a:t>
            </a:r>
            <a:r>
              <a:rPr sz="1199" dirty="0">
                <a:solidFill>
                  <a:srgbClr val="202020"/>
                </a:solidFill>
                <a:latin typeface="Calibri"/>
                <a:cs typeface="Calibri"/>
              </a:rPr>
              <a:t>two</a:t>
            </a:r>
            <a:r>
              <a:rPr sz="1199" spc="-30" dirty="0">
                <a:solidFill>
                  <a:srgbClr val="202020"/>
                </a:solidFill>
                <a:latin typeface="Calibri"/>
                <a:cs typeface="Calibri"/>
              </a:rPr>
              <a:t> </a:t>
            </a:r>
            <a:r>
              <a:rPr sz="1199" spc="-10" dirty="0">
                <a:solidFill>
                  <a:srgbClr val="202020"/>
                </a:solidFill>
                <a:latin typeface="Calibri"/>
                <a:cs typeface="Calibri"/>
              </a:rPr>
              <a:t>differences.</a:t>
            </a:r>
            <a:endParaRPr sz="1199">
              <a:latin typeface="Calibri"/>
              <a:cs typeface="Calibri"/>
            </a:endParaRPr>
          </a:p>
          <a:p>
            <a:pPr marL="161731" indent="-149046">
              <a:spcBef>
                <a:spcPts val="285"/>
              </a:spcBef>
              <a:buAutoNum type="arabicPeriod"/>
              <a:tabLst>
                <a:tab pos="161731" algn="l"/>
              </a:tabLst>
            </a:pPr>
            <a:r>
              <a:rPr sz="1199" dirty="0">
                <a:solidFill>
                  <a:srgbClr val="202020"/>
                </a:solidFill>
                <a:latin typeface="Calibri"/>
                <a:cs typeface="Calibri"/>
              </a:rPr>
              <a:t>What</a:t>
            </a:r>
            <a:r>
              <a:rPr sz="1199" spc="-30" dirty="0">
                <a:solidFill>
                  <a:srgbClr val="202020"/>
                </a:solidFill>
                <a:latin typeface="Calibri"/>
                <a:cs typeface="Calibri"/>
              </a:rPr>
              <a:t> </a:t>
            </a:r>
            <a:r>
              <a:rPr sz="1199" dirty="0">
                <a:solidFill>
                  <a:srgbClr val="202020"/>
                </a:solidFill>
                <a:latin typeface="Calibri"/>
                <a:cs typeface="Calibri"/>
              </a:rPr>
              <a:t>is</a:t>
            </a:r>
            <a:r>
              <a:rPr sz="1199" spc="-25" dirty="0">
                <a:solidFill>
                  <a:srgbClr val="202020"/>
                </a:solidFill>
                <a:latin typeface="Calibri"/>
                <a:cs typeface="Calibri"/>
              </a:rPr>
              <a:t> </a:t>
            </a:r>
            <a:r>
              <a:rPr sz="1199" spc="-10" dirty="0">
                <a:solidFill>
                  <a:srgbClr val="202020"/>
                </a:solidFill>
                <a:latin typeface="Calibri"/>
                <a:cs typeface="Calibri"/>
              </a:rPr>
              <a:t>PRIMARY</a:t>
            </a:r>
            <a:r>
              <a:rPr sz="1199" spc="-25" dirty="0">
                <a:solidFill>
                  <a:srgbClr val="202020"/>
                </a:solidFill>
                <a:latin typeface="Calibri"/>
                <a:cs typeface="Calibri"/>
              </a:rPr>
              <a:t> </a:t>
            </a:r>
            <a:r>
              <a:rPr sz="1199" dirty="0">
                <a:solidFill>
                  <a:srgbClr val="202020"/>
                </a:solidFill>
                <a:latin typeface="Calibri"/>
                <a:cs typeface="Calibri"/>
              </a:rPr>
              <a:t>KEY</a:t>
            </a:r>
            <a:r>
              <a:rPr sz="1199" spc="-25" dirty="0">
                <a:solidFill>
                  <a:srgbClr val="202020"/>
                </a:solidFill>
                <a:latin typeface="Calibri"/>
                <a:cs typeface="Calibri"/>
              </a:rPr>
              <a:t> </a:t>
            </a:r>
            <a:r>
              <a:rPr sz="1199" dirty="0">
                <a:solidFill>
                  <a:srgbClr val="202020"/>
                </a:solidFill>
                <a:latin typeface="Calibri"/>
                <a:cs typeface="Calibri"/>
              </a:rPr>
              <a:t>equal</a:t>
            </a:r>
            <a:r>
              <a:rPr sz="1199" spc="-25" dirty="0">
                <a:solidFill>
                  <a:srgbClr val="202020"/>
                </a:solidFill>
                <a:latin typeface="Calibri"/>
                <a:cs typeface="Calibri"/>
              </a:rPr>
              <a:t> </a:t>
            </a:r>
            <a:r>
              <a:rPr sz="1199" dirty="0">
                <a:solidFill>
                  <a:srgbClr val="202020"/>
                </a:solidFill>
                <a:latin typeface="Calibri"/>
                <a:cs typeface="Calibri"/>
              </a:rPr>
              <a:t>to</a:t>
            </a:r>
            <a:r>
              <a:rPr sz="1199" spc="-25" dirty="0">
                <a:solidFill>
                  <a:srgbClr val="202020"/>
                </a:solidFill>
                <a:latin typeface="Calibri"/>
                <a:cs typeface="Calibri"/>
              </a:rPr>
              <a:t> </a:t>
            </a:r>
            <a:r>
              <a:rPr sz="1199" dirty="0">
                <a:solidFill>
                  <a:srgbClr val="202020"/>
                </a:solidFill>
                <a:latin typeface="Calibri"/>
                <a:cs typeface="Calibri"/>
              </a:rPr>
              <a:t>(in</a:t>
            </a:r>
            <a:r>
              <a:rPr sz="1199" spc="-25" dirty="0">
                <a:solidFill>
                  <a:srgbClr val="202020"/>
                </a:solidFill>
                <a:latin typeface="Calibri"/>
                <a:cs typeface="Calibri"/>
              </a:rPr>
              <a:t> </a:t>
            </a:r>
            <a:r>
              <a:rPr sz="1199" dirty="0">
                <a:solidFill>
                  <a:srgbClr val="202020"/>
                </a:solidFill>
                <a:latin typeface="Calibri"/>
                <a:cs typeface="Calibri"/>
              </a:rPr>
              <a:t>terms</a:t>
            </a:r>
            <a:r>
              <a:rPr sz="1199" spc="-25" dirty="0">
                <a:solidFill>
                  <a:srgbClr val="202020"/>
                </a:solidFill>
                <a:latin typeface="Calibri"/>
                <a:cs typeface="Calibri"/>
              </a:rPr>
              <a:t> </a:t>
            </a:r>
            <a:r>
              <a:rPr sz="1199" dirty="0">
                <a:solidFill>
                  <a:srgbClr val="202020"/>
                </a:solidFill>
                <a:latin typeface="Calibri"/>
                <a:cs typeface="Calibri"/>
              </a:rPr>
              <a:t>of</a:t>
            </a:r>
            <a:r>
              <a:rPr sz="1199" spc="-25" dirty="0">
                <a:solidFill>
                  <a:srgbClr val="202020"/>
                </a:solidFill>
                <a:latin typeface="Calibri"/>
                <a:cs typeface="Calibri"/>
              </a:rPr>
              <a:t> </a:t>
            </a:r>
            <a:r>
              <a:rPr sz="1199" dirty="0">
                <a:solidFill>
                  <a:srgbClr val="202020"/>
                </a:solidFill>
                <a:latin typeface="Calibri"/>
                <a:cs typeface="Calibri"/>
              </a:rPr>
              <a:t>other</a:t>
            </a:r>
            <a:r>
              <a:rPr sz="1199" spc="-25" dirty="0">
                <a:solidFill>
                  <a:srgbClr val="202020"/>
                </a:solidFill>
                <a:latin typeface="Calibri"/>
                <a:cs typeface="Calibri"/>
              </a:rPr>
              <a:t> </a:t>
            </a:r>
            <a:r>
              <a:rPr sz="1199" spc="-10" dirty="0">
                <a:solidFill>
                  <a:srgbClr val="202020"/>
                </a:solidFill>
                <a:latin typeface="Calibri"/>
                <a:cs typeface="Calibri"/>
              </a:rPr>
              <a:t>constraints)?</a:t>
            </a:r>
            <a:endParaRPr sz="1199">
              <a:latin typeface="Calibri"/>
              <a:cs typeface="Calibri"/>
            </a:endParaRPr>
          </a:p>
          <a:p>
            <a:pPr marL="161731" indent="-149046">
              <a:spcBef>
                <a:spcPts val="285"/>
              </a:spcBef>
              <a:buAutoNum type="arabicPeriod"/>
              <a:tabLst>
                <a:tab pos="161731" algn="l"/>
              </a:tabLst>
            </a:pPr>
            <a:r>
              <a:rPr sz="1199" dirty="0">
                <a:solidFill>
                  <a:srgbClr val="202020"/>
                </a:solidFill>
                <a:latin typeface="Calibri"/>
                <a:cs typeface="Calibri"/>
              </a:rPr>
              <a:t>What</a:t>
            </a:r>
            <a:r>
              <a:rPr sz="1199" spc="-40" dirty="0">
                <a:solidFill>
                  <a:srgbClr val="202020"/>
                </a:solidFill>
                <a:latin typeface="Calibri"/>
                <a:cs typeface="Calibri"/>
              </a:rPr>
              <a:t> </a:t>
            </a:r>
            <a:r>
              <a:rPr sz="1199" dirty="0">
                <a:solidFill>
                  <a:srgbClr val="202020"/>
                </a:solidFill>
                <a:latin typeface="Calibri"/>
                <a:cs typeface="Calibri"/>
              </a:rPr>
              <a:t>does</a:t>
            </a:r>
            <a:r>
              <a:rPr sz="1199" spc="-35" dirty="0">
                <a:solidFill>
                  <a:srgbClr val="202020"/>
                </a:solidFill>
                <a:latin typeface="Calibri"/>
                <a:cs typeface="Calibri"/>
              </a:rPr>
              <a:t> </a:t>
            </a:r>
            <a:r>
              <a:rPr sz="1199" dirty="0">
                <a:solidFill>
                  <a:srgbClr val="202020"/>
                </a:solidFill>
                <a:latin typeface="Calibri"/>
                <a:cs typeface="Calibri"/>
              </a:rPr>
              <a:t>a</a:t>
            </a:r>
            <a:r>
              <a:rPr sz="1199" spc="-35" dirty="0">
                <a:solidFill>
                  <a:srgbClr val="202020"/>
                </a:solidFill>
                <a:latin typeface="Calibri"/>
                <a:cs typeface="Calibri"/>
              </a:rPr>
              <a:t> </a:t>
            </a:r>
            <a:r>
              <a:rPr sz="1199" dirty="0">
                <a:solidFill>
                  <a:srgbClr val="202020"/>
                </a:solidFill>
                <a:latin typeface="Calibri"/>
                <a:cs typeface="Calibri"/>
              </a:rPr>
              <a:t>FOREIGN</a:t>
            </a:r>
            <a:r>
              <a:rPr sz="1199" spc="-35" dirty="0">
                <a:solidFill>
                  <a:srgbClr val="202020"/>
                </a:solidFill>
                <a:latin typeface="Calibri"/>
                <a:cs typeface="Calibri"/>
              </a:rPr>
              <a:t> </a:t>
            </a:r>
            <a:r>
              <a:rPr sz="1199" dirty="0">
                <a:solidFill>
                  <a:srgbClr val="202020"/>
                </a:solidFill>
                <a:latin typeface="Calibri"/>
                <a:cs typeface="Calibri"/>
              </a:rPr>
              <a:t>KEY</a:t>
            </a:r>
            <a:r>
              <a:rPr sz="1199" spc="-35" dirty="0">
                <a:solidFill>
                  <a:srgbClr val="202020"/>
                </a:solidFill>
                <a:latin typeface="Calibri"/>
                <a:cs typeface="Calibri"/>
              </a:rPr>
              <a:t> </a:t>
            </a:r>
            <a:r>
              <a:rPr sz="1199" spc="-10" dirty="0">
                <a:solidFill>
                  <a:srgbClr val="202020"/>
                </a:solidFill>
                <a:latin typeface="Calibri"/>
                <a:cs typeface="Calibri"/>
              </a:rPr>
              <a:t>guarantee?</a:t>
            </a:r>
            <a:endParaRPr sz="1199">
              <a:latin typeface="Calibri"/>
              <a:cs typeface="Calibri"/>
            </a:endParaRPr>
          </a:p>
          <a:p>
            <a:pPr marL="238473" indent="-225789">
              <a:spcBef>
                <a:spcPts val="285"/>
              </a:spcBef>
              <a:buAutoNum type="arabicPeriod"/>
              <a:tabLst>
                <a:tab pos="238473" algn="l"/>
              </a:tabLst>
            </a:pPr>
            <a:r>
              <a:rPr sz="1199" spc="-10" dirty="0">
                <a:solidFill>
                  <a:srgbClr val="202020"/>
                </a:solidFill>
                <a:latin typeface="Calibri"/>
                <a:cs typeface="Calibri"/>
              </a:rPr>
              <a:t>Parent</a:t>
            </a:r>
            <a:r>
              <a:rPr sz="1199" spc="-40" dirty="0">
                <a:solidFill>
                  <a:srgbClr val="202020"/>
                </a:solidFill>
                <a:latin typeface="Calibri"/>
                <a:cs typeface="Calibri"/>
              </a:rPr>
              <a:t> </a:t>
            </a:r>
            <a:r>
              <a:rPr sz="1199" dirty="0">
                <a:solidFill>
                  <a:srgbClr val="202020"/>
                </a:solidFill>
                <a:latin typeface="Calibri"/>
                <a:cs typeface="Calibri"/>
              </a:rPr>
              <a:t>or</a:t>
            </a:r>
            <a:r>
              <a:rPr sz="1199" spc="-30" dirty="0">
                <a:solidFill>
                  <a:srgbClr val="202020"/>
                </a:solidFill>
                <a:latin typeface="Calibri"/>
                <a:cs typeface="Calibri"/>
              </a:rPr>
              <a:t> </a:t>
            </a:r>
            <a:r>
              <a:rPr sz="1199" dirty="0">
                <a:solidFill>
                  <a:srgbClr val="202020"/>
                </a:solidFill>
                <a:latin typeface="Calibri"/>
                <a:cs typeface="Calibri"/>
              </a:rPr>
              <a:t>child</a:t>
            </a:r>
            <a:r>
              <a:rPr sz="1199" spc="-30" dirty="0">
                <a:solidFill>
                  <a:srgbClr val="202020"/>
                </a:solidFill>
                <a:latin typeface="Calibri"/>
                <a:cs typeface="Calibri"/>
              </a:rPr>
              <a:t> </a:t>
            </a:r>
            <a:r>
              <a:rPr sz="1199" dirty="0">
                <a:solidFill>
                  <a:srgbClr val="202020"/>
                </a:solidFill>
                <a:latin typeface="Calibri"/>
                <a:cs typeface="Calibri"/>
              </a:rPr>
              <a:t>first</a:t>
            </a:r>
            <a:r>
              <a:rPr sz="1199" spc="-35" dirty="0">
                <a:solidFill>
                  <a:srgbClr val="202020"/>
                </a:solidFill>
                <a:latin typeface="Calibri"/>
                <a:cs typeface="Calibri"/>
              </a:rPr>
              <a:t> </a:t>
            </a:r>
            <a:r>
              <a:rPr sz="1199" dirty="0">
                <a:solidFill>
                  <a:srgbClr val="202020"/>
                </a:solidFill>
                <a:latin typeface="Calibri"/>
                <a:cs typeface="Calibri"/>
              </a:rPr>
              <a:t>when</a:t>
            </a:r>
            <a:r>
              <a:rPr sz="1199" spc="-35" dirty="0">
                <a:solidFill>
                  <a:srgbClr val="202020"/>
                </a:solidFill>
                <a:latin typeface="Calibri"/>
                <a:cs typeface="Calibri"/>
              </a:rPr>
              <a:t> </a:t>
            </a:r>
            <a:r>
              <a:rPr sz="1199" dirty="0">
                <a:solidFill>
                  <a:srgbClr val="202020"/>
                </a:solidFill>
                <a:latin typeface="Calibri"/>
                <a:cs typeface="Calibri"/>
              </a:rPr>
              <a:t>inserting?</a:t>
            </a:r>
            <a:r>
              <a:rPr sz="1199" spc="-35" dirty="0">
                <a:solidFill>
                  <a:srgbClr val="202020"/>
                </a:solidFill>
                <a:latin typeface="Calibri"/>
                <a:cs typeface="Calibri"/>
              </a:rPr>
              <a:t> </a:t>
            </a:r>
            <a:r>
              <a:rPr sz="1199" spc="-20" dirty="0">
                <a:solidFill>
                  <a:srgbClr val="202020"/>
                </a:solidFill>
                <a:latin typeface="Calibri"/>
                <a:cs typeface="Calibri"/>
              </a:rPr>
              <a:t>Why?</a:t>
            </a:r>
            <a:endParaRPr sz="1199">
              <a:latin typeface="Calibri"/>
              <a:cs typeface="Calibri"/>
            </a:endParaRPr>
          </a:p>
          <a:p>
            <a:pPr marL="238473" indent="-225789">
              <a:spcBef>
                <a:spcPts val="290"/>
              </a:spcBef>
              <a:buAutoNum type="arabicPeriod"/>
              <a:tabLst>
                <a:tab pos="238473" algn="l"/>
              </a:tabLst>
            </a:pPr>
            <a:r>
              <a:rPr sz="1199" dirty="0">
                <a:solidFill>
                  <a:srgbClr val="202020"/>
                </a:solidFill>
                <a:latin typeface="Calibri"/>
                <a:cs typeface="Calibri"/>
              </a:rPr>
              <a:t>RESTRICT</a:t>
            </a:r>
            <a:r>
              <a:rPr sz="1199" spc="-35" dirty="0">
                <a:solidFill>
                  <a:srgbClr val="202020"/>
                </a:solidFill>
                <a:latin typeface="Calibri"/>
                <a:cs typeface="Calibri"/>
              </a:rPr>
              <a:t> </a:t>
            </a:r>
            <a:r>
              <a:rPr sz="1199" dirty="0">
                <a:solidFill>
                  <a:srgbClr val="202020"/>
                </a:solidFill>
                <a:latin typeface="Calibri"/>
                <a:cs typeface="Calibri"/>
              </a:rPr>
              <a:t>vs</a:t>
            </a:r>
            <a:r>
              <a:rPr sz="1199" spc="-30" dirty="0">
                <a:solidFill>
                  <a:srgbClr val="202020"/>
                </a:solidFill>
                <a:latin typeface="Calibri"/>
                <a:cs typeface="Calibri"/>
              </a:rPr>
              <a:t> </a:t>
            </a:r>
            <a:r>
              <a:rPr sz="1199" dirty="0">
                <a:solidFill>
                  <a:srgbClr val="202020"/>
                </a:solidFill>
                <a:latin typeface="Calibri"/>
                <a:cs typeface="Calibri"/>
              </a:rPr>
              <a:t>CASCADE</a:t>
            </a:r>
            <a:r>
              <a:rPr sz="1199" spc="-30" dirty="0">
                <a:solidFill>
                  <a:srgbClr val="202020"/>
                </a:solidFill>
                <a:latin typeface="Calibri"/>
                <a:cs typeface="Calibri"/>
              </a:rPr>
              <a:t> </a:t>
            </a:r>
            <a:r>
              <a:rPr sz="1199" dirty="0">
                <a:solidFill>
                  <a:srgbClr val="202020"/>
                </a:solidFill>
                <a:latin typeface="Calibri"/>
                <a:cs typeface="Calibri"/>
              </a:rPr>
              <a:t>vs</a:t>
            </a:r>
            <a:r>
              <a:rPr sz="1199" spc="-30" dirty="0">
                <a:solidFill>
                  <a:srgbClr val="202020"/>
                </a:solidFill>
                <a:latin typeface="Calibri"/>
                <a:cs typeface="Calibri"/>
              </a:rPr>
              <a:t> </a:t>
            </a:r>
            <a:r>
              <a:rPr sz="1199" dirty="0">
                <a:solidFill>
                  <a:srgbClr val="202020"/>
                </a:solidFill>
                <a:latin typeface="Calibri"/>
                <a:cs typeface="Calibri"/>
              </a:rPr>
              <a:t>SET</a:t>
            </a:r>
            <a:r>
              <a:rPr sz="1199" spc="-30" dirty="0">
                <a:solidFill>
                  <a:srgbClr val="202020"/>
                </a:solidFill>
                <a:latin typeface="Calibri"/>
                <a:cs typeface="Calibri"/>
              </a:rPr>
              <a:t> </a:t>
            </a:r>
            <a:r>
              <a:rPr sz="1199" dirty="0">
                <a:solidFill>
                  <a:srgbClr val="202020"/>
                </a:solidFill>
                <a:latin typeface="Calibri"/>
                <a:cs typeface="Calibri"/>
              </a:rPr>
              <a:t>NULL</a:t>
            </a:r>
            <a:r>
              <a:rPr sz="1199" spc="-30" dirty="0">
                <a:solidFill>
                  <a:srgbClr val="202020"/>
                </a:solidFill>
                <a:latin typeface="Calibri"/>
                <a:cs typeface="Calibri"/>
              </a:rPr>
              <a:t> </a:t>
            </a:r>
            <a:r>
              <a:rPr sz="1199" dirty="0">
                <a:solidFill>
                  <a:srgbClr val="202020"/>
                </a:solidFill>
                <a:latin typeface="Calibri"/>
                <a:cs typeface="Calibri"/>
              </a:rPr>
              <a:t>-</a:t>
            </a:r>
            <a:r>
              <a:rPr sz="1199" spc="-30" dirty="0">
                <a:solidFill>
                  <a:srgbClr val="202020"/>
                </a:solidFill>
                <a:latin typeface="Calibri"/>
                <a:cs typeface="Calibri"/>
              </a:rPr>
              <a:t> </a:t>
            </a:r>
            <a:r>
              <a:rPr sz="1199" dirty="0">
                <a:solidFill>
                  <a:srgbClr val="202020"/>
                </a:solidFill>
                <a:latin typeface="Calibri"/>
                <a:cs typeface="Calibri"/>
              </a:rPr>
              <a:t>one</a:t>
            </a:r>
            <a:r>
              <a:rPr sz="1199" spc="-35" dirty="0">
                <a:solidFill>
                  <a:srgbClr val="202020"/>
                </a:solidFill>
                <a:latin typeface="Calibri"/>
                <a:cs typeface="Calibri"/>
              </a:rPr>
              <a:t> </a:t>
            </a:r>
            <a:r>
              <a:rPr sz="1199" dirty="0">
                <a:solidFill>
                  <a:srgbClr val="202020"/>
                </a:solidFill>
                <a:latin typeface="Calibri"/>
                <a:cs typeface="Calibri"/>
              </a:rPr>
              <a:t>use</a:t>
            </a:r>
            <a:r>
              <a:rPr sz="1199" spc="-30" dirty="0">
                <a:solidFill>
                  <a:srgbClr val="202020"/>
                </a:solidFill>
                <a:latin typeface="Calibri"/>
                <a:cs typeface="Calibri"/>
              </a:rPr>
              <a:t> </a:t>
            </a:r>
            <a:r>
              <a:rPr sz="1199" dirty="0">
                <a:solidFill>
                  <a:srgbClr val="202020"/>
                </a:solidFill>
                <a:latin typeface="Calibri"/>
                <a:cs typeface="Calibri"/>
              </a:rPr>
              <a:t>case</a:t>
            </a:r>
            <a:r>
              <a:rPr sz="1199" spc="-30" dirty="0">
                <a:solidFill>
                  <a:srgbClr val="202020"/>
                </a:solidFill>
                <a:latin typeface="Calibri"/>
                <a:cs typeface="Calibri"/>
              </a:rPr>
              <a:t> </a:t>
            </a:r>
            <a:r>
              <a:rPr sz="1199" spc="-10" dirty="0">
                <a:solidFill>
                  <a:srgbClr val="202020"/>
                </a:solidFill>
                <a:latin typeface="Calibri"/>
                <a:cs typeface="Calibri"/>
              </a:rPr>
              <a:t>each.</a:t>
            </a:r>
            <a:endParaRPr sz="1199">
              <a:latin typeface="Calibri"/>
              <a:cs typeface="Calibri"/>
            </a:endParaRPr>
          </a:p>
          <a:p>
            <a:pPr marL="238473" indent="-225789">
              <a:spcBef>
                <a:spcPts val="285"/>
              </a:spcBef>
              <a:buAutoNum type="arabicPeriod"/>
              <a:tabLst>
                <a:tab pos="238473" algn="l"/>
              </a:tabLst>
            </a:pPr>
            <a:r>
              <a:rPr sz="1199" dirty="0">
                <a:solidFill>
                  <a:srgbClr val="202020"/>
                </a:solidFill>
                <a:latin typeface="Calibri"/>
                <a:cs typeface="Calibri"/>
              </a:rPr>
              <a:t>Why</a:t>
            </a:r>
            <a:r>
              <a:rPr sz="1199" spc="-30" dirty="0">
                <a:solidFill>
                  <a:srgbClr val="202020"/>
                </a:solidFill>
                <a:latin typeface="Calibri"/>
                <a:cs typeface="Calibri"/>
              </a:rPr>
              <a:t> </a:t>
            </a:r>
            <a:r>
              <a:rPr sz="1199" dirty="0">
                <a:solidFill>
                  <a:srgbClr val="202020"/>
                </a:solidFill>
                <a:latin typeface="Calibri"/>
                <a:cs typeface="Calibri"/>
              </a:rPr>
              <a:t>use</a:t>
            </a:r>
            <a:r>
              <a:rPr sz="1199" spc="-30" dirty="0">
                <a:solidFill>
                  <a:srgbClr val="202020"/>
                </a:solidFill>
                <a:latin typeface="Calibri"/>
                <a:cs typeface="Calibri"/>
              </a:rPr>
              <a:t> </a:t>
            </a:r>
            <a:r>
              <a:rPr sz="1199" dirty="0">
                <a:solidFill>
                  <a:srgbClr val="202020"/>
                </a:solidFill>
                <a:latin typeface="Calibri"/>
                <a:cs typeface="Calibri"/>
              </a:rPr>
              <a:t>RESTRICT</a:t>
            </a:r>
            <a:r>
              <a:rPr sz="1199" spc="-30" dirty="0">
                <a:solidFill>
                  <a:srgbClr val="202020"/>
                </a:solidFill>
                <a:latin typeface="Calibri"/>
                <a:cs typeface="Calibri"/>
              </a:rPr>
              <a:t> </a:t>
            </a:r>
            <a:r>
              <a:rPr sz="1199" dirty="0">
                <a:solidFill>
                  <a:srgbClr val="202020"/>
                </a:solidFill>
                <a:latin typeface="Calibri"/>
                <a:cs typeface="Calibri"/>
              </a:rPr>
              <a:t>+</a:t>
            </a:r>
            <a:r>
              <a:rPr sz="1199" spc="-35" dirty="0">
                <a:solidFill>
                  <a:srgbClr val="202020"/>
                </a:solidFill>
                <a:latin typeface="Calibri"/>
                <a:cs typeface="Calibri"/>
              </a:rPr>
              <a:t> </a:t>
            </a:r>
            <a:r>
              <a:rPr sz="1199" spc="-25" dirty="0">
                <a:solidFill>
                  <a:srgbClr val="202020"/>
                </a:solidFill>
                <a:latin typeface="Calibri"/>
                <a:cs typeface="Calibri"/>
              </a:rPr>
              <a:t>soft-</a:t>
            </a:r>
            <a:r>
              <a:rPr sz="1199" dirty="0">
                <a:solidFill>
                  <a:srgbClr val="202020"/>
                </a:solidFill>
                <a:latin typeface="Calibri"/>
                <a:cs typeface="Calibri"/>
              </a:rPr>
              <a:t>delete</a:t>
            </a:r>
            <a:r>
              <a:rPr sz="1199" spc="-30" dirty="0">
                <a:solidFill>
                  <a:srgbClr val="202020"/>
                </a:solidFill>
                <a:latin typeface="Calibri"/>
                <a:cs typeface="Calibri"/>
              </a:rPr>
              <a:t> </a:t>
            </a:r>
            <a:r>
              <a:rPr sz="1199" dirty="0">
                <a:solidFill>
                  <a:srgbClr val="202020"/>
                </a:solidFill>
                <a:latin typeface="Calibri"/>
                <a:cs typeface="Calibri"/>
              </a:rPr>
              <a:t>for</a:t>
            </a:r>
            <a:r>
              <a:rPr sz="1199" spc="-30" dirty="0">
                <a:solidFill>
                  <a:srgbClr val="202020"/>
                </a:solidFill>
                <a:latin typeface="Calibri"/>
                <a:cs typeface="Calibri"/>
              </a:rPr>
              <a:t> </a:t>
            </a:r>
            <a:r>
              <a:rPr sz="1199" dirty="0">
                <a:solidFill>
                  <a:srgbClr val="202020"/>
                </a:solidFill>
                <a:latin typeface="Calibri"/>
                <a:cs typeface="Calibri"/>
              </a:rPr>
              <a:t>financial</a:t>
            </a:r>
            <a:r>
              <a:rPr sz="1199" spc="-30" dirty="0">
                <a:solidFill>
                  <a:srgbClr val="202020"/>
                </a:solidFill>
                <a:latin typeface="Calibri"/>
                <a:cs typeface="Calibri"/>
              </a:rPr>
              <a:t> </a:t>
            </a:r>
            <a:r>
              <a:rPr sz="1199" spc="-20" dirty="0">
                <a:solidFill>
                  <a:srgbClr val="202020"/>
                </a:solidFill>
                <a:latin typeface="Calibri"/>
                <a:cs typeface="Calibri"/>
              </a:rPr>
              <a:t>data?</a:t>
            </a:r>
            <a:endParaRPr sz="1199">
              <a:latin typeface="Calibri"/>
              <a:cs typeface="Calibri"/>
            </a:endParaRPr>
          </a:p>
        </p:txBody>
      </p:sp>
      <p:sp>
        <p:nvSpPr>
          <p:cNvPr id="8" name="object 8"/>
          <p:cNvSpPr txBox="1"/>
          <p:nvPr/>
        </p:nvSpPr>
        <p:spPr>
          <a:xfrm>
            <a:off x="584779" y="4269272"/>
            <a:ext cx="5400358" cy="212297"/>
          </a:xfrm>
          <a:prstGeom prst="rect">
            <a:avLst/>
          </a:prstGeom>
        </p:spPr>
        <p:txBody>
          <a:bodyPr vert="horz" wrap="square" lIns="0" tIns="12684" rIns="0" bIns="0" rtlCol="0">
            <a:spAutoFit/>
          </a:bodyPr>
          <a:lstStyle/>
          <a:p>
            <a:pPr marL="12685">
              <a:spcBef>
                <a:spcPts val="100"/>
              </a:spcBef>
            </a:pPr>
            <a:r>
              <a:rPr sz="1298" dirty="0">
                <a:solidFill>
                  <a:srgbClr val="202020"/>
                </a:solidFill>
                <a:latin typeface="Calibri"/>
                <a:cs typeface="Calibri"/>
              </a:rPr>
              <a:t>Score</a:t>
            </a:r>
            <a:r>
              <a:rPr sz="1298" spc="-35" dirty="0">
                <a:solidFill>
                  <a:srgbClr val="202020"/>
                </a:solidFill>
                <a:latin typeface="Calibri"/>
                <a:cs typeface="Calibri"/>
              </a:rPr>
              <a:t> </a:t>
            </a:r>
            <a:r>
              <a:rPr sz="1298" dirty="0">
                <a:solidFill>
                  <a:srgbClr val="202020"/>
                </a:solidFill>
                <a:latin typeface="Calibri"/>
                <a:cs typeface="Calibri"/>
              </a:rPr>
              <a:t>10+</a:t>
            </a:r>
            <a:r>
              <a:rPr sz="1298" spc="-35" dirty="0">
                <a:solidFill>
                  <a:srgbClr val="202020"/>
                </a:solidFill>
                <a:latin typeface="Calibri"/>
                <a:cs typeface="Calibri"/>
              </a:rPr>
              <a:t> </a:t>
            </a:r>
            <a:r>
              <a:rPr sz="1298" spc="-10" dirty="0">
                <a:solidFill>
                  <a:srgbClr val="202020"/>
                </a:solidFill>
                <a:latin typeface="Calibri"/>
                <a:cs typeface="Calibri"/>
              </a:rPr>
              <a:t>-</a:t>
            </a:r>
            <a:r>
              <a:rPr sz="1298" dirty="0">
                <a:solidFill>
                  <a:srgbClr val="202020"/>
                </a:solidFill>
                <a:latin typeface="Calibri"/>
                <a:cs typeface="Calibri"/>
              </a:rPr>
              <a:t>&gt;</a:t>
            </a:r>
            <a:r>
              <a:rPr sz="1298" spc="-35" dirty="0">
                <a:solidFill>
                  <a:srgbClr val="202020"/>
                </a:solidFill>
                <a:latin typeface="Calibri"/>
                <a:cs typeface="Calibri"/>
              </a:rPr>
              <a:t> </a:t>
            </a:r>
            <a:r>
              <a:rPr sz="1298" dirty="0">
                <a:solidFill>
                  <a:srgbClr val="202020"/>
                </a:solidFill>
                <a:latin typeface="Calibri"/>
                <a:cs typeface="Calibri"/>
              </a:rPr>
              <a:t>ready</a:t>
            </a:r>
            <a:r>
              <a:rPr sz="1298" spc="-35" dirty="0">
                <a:solidFill>
                  <a:srgbClr val="202020"/>
                </a:solidFill>
                <a:latin typeface="Calibri"/>
                <a:cs typeface="Calibri"/>
              </a:rPr>
              <a:t> </a:t>
            </a:r>
            <a:r>
              <a:rPr sz="1298" dirty="0">
                <a:solidFill>
                  <a:srgbClr val="202020"/>
                </a:solidFill>
                <a:latin typeface="Calibri"/>
                <a:cs typeface="Calibri"/>
              </a:rPr>
              <a:t>for</a:t>
            </a:r>
            <a:r>
              <a:rPr sz="1298" spc="-35" dirty="0">
                <a:solidFill>
                  <a:srgbClr val="202020"/>
                </a:solidFill>
                <a:latin typeface="Calibri"/>
                <a:cs typeface="Calibri"/>
              </a:rPr>
              <a:t> </a:t>
            </a:r>
            <a:r>
              <a:rPr sz="1298" spc="-10" dirty="0">
                <a:solidFill>
                  <a:srgbClr val="202020"/>
                </a:solidFill>
                <a:latin typeface="Calibri"/>
                <a:cs typeface="Calibri"/>
              </a:rPr>
              <a:t>Filtering</a:t>
            </a:r>
            <a:r>
              <a:rPr sz="1298" spc="-35" dirty="0">
                <a:solidFill>
                  <a:srgbClr val="202020"/>
                </a:solidFill>
                <a:latin typeface="Calibri"/>
                <a:cs typeface="Calibri"/>
              </a:rPr>
              <a:t> </a:t>
            </a:r>
            <a:r>
              <a:rPr sz="1298" dirty="0">
                <a:solidFill>
                  <a:srgbClr val="202020"/>
                </a:solidFill>
                <a:latin typeface="Calibri"/>
                <a:cs typeface="Calibri"/>
              </a:rPr>
              <a:t>&amp;</a:t>
            </a:r>
            <a:r>
              <a:rPr sz="1298" spc="-35" dirty="0">
                <a:solidFill>
                  <a:srgbClr val="202020"/>
                </a:solidFill>
                <a:latin typeface="Calibri"/>
                <a:cs typeface="Calibri"/>
              </a:rPr>
              <a:t> </a:t>
            </a:r>
            <a:r>
              <a:rPr sz="1298" dirty="0">
                <a:solidFill>
                  <a:srgbClr val="202020"/>
                </a:solidFill>
                <a:latin typeface="Calibri"/>
                <a:cs typeface="Calibri"/>
              </a:rPr>
              <a:t>Sorting.</a:t>
            </a:r>
            <a:r>
              <a:rPr sz="1298" spc="-35" dirty="0">
                <a:solidFill>
                  <a:srgbClr val="202020"/>
                </a:solidFill>
                <a:latin typeface="Calibri"/>
                <a:cs typeface="Calibri"/>
              </a:rPr>
              <a:t> </a:t>
            </a:r>
            <a:r>
              <a:rPr sz="1298" dirty="0">
                <a:solidFill>
                  <a:srgbClr val="202020"/>
                </a:solidFill>
                <a:latin typeface="Calibri"/>
                <a:cs typeface="Calibri"/>
              </a:rPr>
              <a:t>Below</a:t>
            </a:r>
            <a:r>
              <a:rPr sz="1298" spc="-35" dirty="0">
                <a:solidFill>
                  <a:srgbClr val="202020"/>
                </a:solidFill>
                <a:latin typeface="Calibri"/>
                <a:cs typeface="Calibri"/>
              </a:rPr>
              <a:t> </a:t>
            </a:r>
            <a:r>
              <a:rPr sz="1298" dirty="0">
                <a:solidFill>
                  <a:srgbClr val="202020"/>
                </a:solidFill>
                <a:latin typeface="Calibri"/>
                <a:cs typeface="Calibri"/>
              </a:rPr>
              <a:t>10</a:t>
            </a:r>
            <a:r>
              <a:rPr sz="1298" spc="-35" dirty="0">
                <a:solidFill>
                  <a:srgbClr val="202020"/>
                </a:solidFill>
                <a:latin typeface="Calibri"/>
                <a:cs typeface="Calibri"/>
              </a:rPr>
              <a:t> </a:t>
            </a:r>
            <a:r>
              <a:rPr sz="1298" spc="-10" dirty="0">
                <a:solidFill>
                  <a:srgbClr val="202020"/>
                </a:solidFill>
                <a:latin typeface="Calibri"/>
                <a:cs typeface="Calibri"/>
              </a:rPr>
              <a:t>-</a:t>
            </a:r>
            <a:r>
              <a:rPr sz="1298" dirty="0">
                <a:solidFill>
                  <a:srgbClr val="202020"/>
                </a:solidFill>
                <a:latin typeface="Calibri"/>
                <a:cs typeface="Calibri"/>
              </a:rPr>
              <a:t>&gt;</a:t>
            </a:r>
            <a:r>
              <a:rPr sz="1298" spc="-35" dirty="0">
                <a:solidFill>
                  <a:srgbClr val="202020"/>
                </a:solidFill>
                <a:latin typeface="Calibri"/>
                <a:cs typeface="Calibri"/>
              </a:rPr>
              <a:t> </a:t>
            </a:r>
            <a:r>
              <a:rPr sz="1298" spc="-20" dirty="0">
                <a:solidFill>
                  <a:srgbClr val="202020"/>
                </a:solidFill>
                <a:latin typeface="Calibri"/>
                <a:cs typeface="Calibri"/>
              </a:rPr>
              <a:t>re-</a:t>
            </a:r>
            <a:r>
              <a:rPr sz="1298" dirty="0">
                <a:solidFill>
                  <a:srgbClr val="202020"/>
                </a:solidFill>
                <a:latin typeface="Calibri"/>
                <a:cs typeface="Calibri"/>
              </a:rPr>
              <a:t>read</a:t>
            </a:r>
            <a:r>
              <a:rPr sz="1298" spc="-35" dirty="0">
                <a:solidFill>
                  <a:srgbClr val="202020"/>
                </a:solidFill>
                <a:latin typeface="Calibri"/>
                <a:cs typeface="Calibri"/>
              </a:rPr>
              <a:t> </a:t>
            </a:r>
            <a:r>
              <a:rPr sz="1298" dirty="0">
                <a:solidFill>
                  <a:srgbClr val="202020"/>
                </a:solidFill>
                <a:latin typeface="Calibri"/>
                <a:cs typeface="Calibri"/>
              </a:rPr>
              <a:t>the</a:t>
            </a:r>
            <a:r>
              <a:rPr sz="1298" spc="-35" dirty="0">
                <a:solidFill>
                  <a:srgbClr val="202020"/>
                </a:solidFill>
                <a:latin typeface="Calibri"/>
                <a:cs typeface="Calibri"/>
              </a:rPr>
              <a:t> </a:t>
            </a:r>
            <a:r>
              <a:rPr sz="1298" dirty="0">
                <a:solidFill>
                  <a:srgbClr val="202020"/>
                </a:solidFill>
                <a:latin typeface="Calibri"/>
                <a:cs typeface="Calibri"/>
              </a:rPr>
              <a:t>weak</a:t>
            </a:r>
            <a:r>
              <a:rPr sz="1298" spc="-35" dirty="0">
                <a:solidFill>
                  <a:srgbClr val="202020"/>
                </a:solidFill>
                <a:latin typeface="Calibri"/>
                <a:cs typeface="Calibri"/>
              </a:rPr>
              <a:t> </a:t>
            </a:r>
            <a:r>
              <a:rPr sz="1298" spc="-10" dirty="0">
                <a:solidFill>
                  <a:srgbClr val="202020"/>
                </a:solidFill>
                <a:latin typeface="Calibri"/>
                <a:cs typeface="Calibri"/>
              </a:rPr>
              <a:t>sections.</a:t>
            </a:r>
            <a:endParaRPr sz="1298">
              <a:latin typeface="Calibri"/>
              <a:cs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79619" y="273628"/>
            <a:ext cx="2054228" cy="4566363"/>
          </a:xfrm>
          <a:custGeom>
            <a:avLst/>
            <a:gdLst/>
            <a:ahLst/>
            <a:cxnLst/>
            <a:rect l="l" t="t" r="r" b="b"/>
            <a:pathLst>
              <a:path w="2056764" h="4572000">
                <a:moveTo>
                  <a:pt x="72720" y="0"/>
                </a:moveTo>
                <a:lnTo>
                  <a:pt x="0" y="0"/>
                </a:lnTo>
                <a:lnTo>
                  <a:pt x="0" y="4571631"/>
                </a:lnTo>
                <a:lnTo>
                  <a:pt x="36360" y="4571631"/>
                </a:lnTo>
                <a:lnTo>
                  <a:pt x="72720" y="4571631"/>
                </a:lnTo>
                <a:lnTo>
                  <a:pt x="72720" y="0"/>
                </a:lnTo>
                <a:close/>
              </a:path>
              <a:path w="2056764" h="4572000">
                <a:moveTo>
                  <a:pt x="2056676" y="355"/>
                </a:moveTo>
                <a:lnTo>
                  <a:pt x="228244" y="355"/>
                </a:lnTo>
                <a:lnTo>
                  <a:pt x="228244" y="320040"/>
                </a:lnTo>
                <a:lnTo>
                  <a:pt x="1142644" y="320040"/>
                </a:lnTo>
                <a:lnTo>
                  <a:pt x="2056676" y="320040"/>
                </a:lnTo>
                <a:lnTo>
                  <a:pt x="2056676" y="355"/>
                </a:lnTo>
                <a:close/>
              </a:path>
            </a:pathLst>
          </a:custGeom>
          <a:solidFill>
            <a:srgbClr val="49138B"/>
          </a:solidFill>
        </p:spPr>
        <p:txBody>
          <a:bodyPr wrap="square" lIns="0" tIns="0" rIns="0" bIns="0" rtlCol="0"/>
          <a:lstStyle/>
          <a:p>
            <a:endParaRPr sz="1798"/>
          </a:p>
        </p:txBody>
      </p:sp>
      <p:sp>
        <p:nvSpPr>
          <p:cNvPr id="3" name="object 3"/>
          <p:cNvSpPr txBox="1"/>
          <p:nvPr/>
        </p:nvSpPr>
        <p:spPr>
          <a:xfrm>
            <a:off x="1099662" y="345079"/>
            <a:ext cx="643096" cy="166379"/>
          </a:xfrm>
          <a:prstGeom prst="rect">
            <a:avLst/>
          </a:prstGeom>
        </p:spPr>
        <p:txBody>
          <a:bodyPr vert="horz" wrap="square" lIns="0" tIns="12684" rIns="0" bIns="0" rtlCol="0">
            <a:spAutoFit/>
          </a:bodyPr>
          <a:lstStyle/>
          <a:p>
            <a:pPr marL="12685">
              <a:spcBef>
                <a:spcPts val="100"/>
              </a:spcBef>
            </a:pPr>
            <a:r>
              <a:rPr sz="999" b="1" spc="-10" dirty="0">
                <a:solidFill>
                  <a:srgbClr val="FFFFFF"/>
                </a:solidFill>
                <a:latin typeface="Calibri"/>
                <a:cs typeface="Calibri"/>
              </a:rPr>
              <a:t>CHALLENGE</a:t>
            </a:r>
            <a:endParaRPr sz="999">
              <a:latin typeface="Calibri"/>
              <a:cs typeface="Calibri"/>
            </a:endParaRPr>
          </a:p>
        </p:txBody>
      </p:sp>
      <p:sp>
        <p:nvSpPr>
          <p:cNvPr id="4" name="object 4" descr="$PPTXTitle"/>
          <p:cNvSpPr txBox="1">
            <a:spLocks noGrp="1"/>
          </p:cNvSpPr>
          <p:nvPr>
            <p:ph type="title"/>
          </p:nvPr>
        </p:nvSpPr>
        <p:spPr>
          <a:xfrm>
            <a:off x="494897" y="748137"/>
            <a:ext cx="7042346" cy="330427"/>
          </a:xfrm>
          <a:prstGeom prst="rect">
            <a:avLst/>
          </a:prstGeom>
        </p:spPr>
        <p:txBody>
          <a:bodyPr vert="horz" wrap="square" lIns="0" tIns="12684" rIns="0" bIns="0" rtlCol="0">
            <a:spAutoFit/>
          </a:bodyPr>
          <a:lstStyle/>
          <a:p>
            <a:pPr marL="12685">
              <a:spcBef>
                <a:spcPts val="100"/>
              </a:spcBef>
            </a:pPr>
            <a:r>
              <a:rPr sz="1998" dirty="0">
                <a:solidFill>
                  <a:srgbClr val="202020"/>
                </a:solidFill>
                <a:latin typeface="Georgia"/>
                <a:cs typeface="Georgia"/>
              </a:rPr>
              <a:t>Data</a:t>
            </a:r>
            <a:r>
              <a:rPr sz="1998" spc="-25" dirty="0">
                <a:solidFill>
                  <a:srgbClr val="202020"/>
                </a:solidFill>
                <a:latin typeface="Georgia"/>
                <a:cs typeface="Georgia"/>
              </a:rPr>
              <a:t> </a:t>
            </a:r>
            <a:r>
              <a:rPr sz="1998" dirty="0">
                <a:solidFill>
                  <a:srgbClr val="202020"/>
                </a:solidFill>
                <a:latin typeface="Georgia"/>
                <a:cs typeface="Georgia"/>
              </a:rPr>
              <a:t>Types,</a:t>
            </a:r>
            <a:r>
              <a:rPr sz="1998" spc="-25" dirty="0">
                <a:solidFill>
                  <a:srgbClr val="202020"/>
                </a:solidFill>
                <a:latin typeface="Georgia"/>
                <a:cs typeface="Georgia"/>
              </a:rPr>
              <a:t> </a:t>
            </a:r>
            <a:r>
              <a:rPr sz="1998" dirty="0">
                <a:solidFill>
                  <a:srgbClr val="202020"/>
                </a:solidFill>
                <a:latin typeface="Georgia"/>
                <a:cs typeface="Georgia"/>
              </a:rPr>
              <a:t>Constraints</a:t>
            </a:r>
            <a:r>
              <a:rPr sz="1998" spc="-30" dirty="0">
                <a:solidFill>
                  <a:srgbClr val="202020"/>
                </a:solidFill>
                <a:latin typeface="Georgia"/>
                <a:cs typeface="Georgia"/>
              </a:rPr>
              <a:t> </a:t>
            </a:r>
            <a:r>
              <a:rPr sz="1998" dirty="0">
                <a:solidFill>
                  <a:srgbClr val="202020"/>
                </a:solidFill>
                <a:latin typeface="Georgia"/>
                <a:cs typeface="Georgia"/>
              </a:rPr>
              <a:t>&amp;</a:t>
            </a:r>
            <a:r>
              <a:rPr sz="1998" spc="-30" dirty="0">
                <a:solidFill>
                  <a:srgbClr val="202020"/>
                </a:solidFill>
                <a:latin typeface="Georgia"/>
                <a:cs typeface="Georgia"/>
              </a:rPr>
              <a:t> </a:t>
            </a:r>
            <a:r>
              <a:rPr sz="1998" dirty="0">
                <a:solidFill>
                  <a:srgbClr val="202020"/>
                </a:solidFill>
                <a:latin typeface="Georgia"/>
                <a:cs typeface="Georgia"/>
              </a:rPr>
              <a:t>Keys</a:t>
            </a:r>
            <a:r>
              <a:rPr sz="1998" spc="-30" dirty="0">
                <a:solidFill>
                  <a:srgbClr val="202020"/>
                </a:solidFill>
                <a:latin typeface="Georgia"/>
                <a:cs typeface="Georgia"/>
              </a:rPr>
              <a:t> </a:t>
            </a:r>
            <a:r>
              <a:rPr sz="1998" spc="-10" dirty="0">
                <a:solidFill>
                  <a:srgbClr val="202020"/>
                </a:solidFill>
                <a:latin typeface="Georgia"/>
                <a:cs typeface="Georgia"/>
              </a:rPr>
              <a:t>Take-</a:t>
            </a:r>
            <a:r>
              <a:rPr sz="1998" dirty="0">
                <a:solidFill>
                  <a:srgbClr val="202020"/>
                </a:solidFill>
                <a:latin typeface="Georgia"/>
                <a:cs typeface="Georgia"/>
              </a:rPr>
              <a:t>Home</a:t>
            </a:r>
            <a:r>
              <a:rPr sz="1998" spc="-25" dirty="0">
                <a:solidFill>
                  <a:srgbClr val="202020"/>
                </a:solidFill>
                <a:latin typeface="Georgia"/>
                <a:cs typeface="Georgia"/>
              </a:rPr>
              <a:t> </a:t>
            </a:r>
            <a:r>
              <a:rPr sz="1998" spc="-10" dirty="0">
                <a:solidFill>
                  <a:srgbClr val="202020"/>
                </a:solidFill>
                <a:latin typeface="Georgia"/>
                <a:cs typeface="Georgia"/>
              </a:rPr>
              <a:t>Challenge</a:t>
            </a:r>
            <a:endParaRPr sz="1998">
              <a:latin typeface="Georgia"/>
              <a:cs typeface="Georgia"/>
            </a:endParaRPr>
          </a:p>
        </p:txBody>
      </p:sp>
      <p:sp>
        <p:nvSpPr>
          <p:cNvPr id="5" name="object 5"/>
          <p:cNvSpPr txBox="1"/>
          <p:nvPr/>
        </p:nvSpPr>
        <p:spPr>
          <a:xfrm>
            <a:off x="584779" y="1146454"/>
            <a:ext cx="7853509" cy="2619950"/>
          </a:xfrm>
          <a:prstGeom prst="rect">
            <a:avLst/>
          </a:prstGeom>
        </p:spPr>
        <p:txBody>
          <a:bodyPr vert="horz" wrap="square" lIns="0" tIns="124941" rIns="0" bIns="0" rtlCol="0">
            <a:spAutoFit/>
          </a:bodyPr>
          <a:lstStyle/>
          <a:p>
            <a:pPr marL="12685">
              <a:spcBef>
                <a:spcPts val="984"/>
              </a:spcBef>
            </a:pPr>
            <a:r>
              <a:rPr sz="1298" spc="-10" dirty="0">
                <a:solidFill>
                  <a:srgbClr val="202020"/>
                </a:solidFill>
                <a:latin typeface="Calibri"/>
                <a:cs typeface="Calibri"/>
              </a:rPr>
              <a:t>Complete</a:t>
            </a:r>
            <a:r>
              <a:rPr sz="1298" spc="-35" dirty="0">
                <a:solidFill>
                  <a:srgbClr val="202020"/>
                </a:solidFill>
                <a:latin typeface="Calibri"/>
                <a:cs typeface="Calibri"/>
              </a:rPr>
              <a:t> </a:t>
            </a:r>
            <a:r>
              <a:rPr sz="1298" dirty="0">
                <a:solidFill>
                  <a:srgbClr val="202020"/>
                </a:solidFill>
                <a:latin typeface="Calibri"/>
                <a:cs typeface="Calibri"/>
              </a:rPr>
              <a:t>these</a:t>
            </a:r>
            <a:r>
              <a:rPr sz="1298" spc="-35" dirty="0">
                <a:solidFill>
                  <a:srgbClr val="202020"/>
                </a:solidFill>
                <a:latin typeface="Calibri"/>
                <a:cs typeface="Calibri"/>
              </a:rPr>
              <a:t> </a:t>
            </a:r>
            <a:r>
              <a:rPr sz="1298" dirty="0">
                <a:solidFill>
                  <a:srgbClr val="202020"/>
                </a:solidFill>
                <a:latin typeface="Calibri"/>
                <a:cs typeface="Calibri"/>
              </a:rPr>
              <a:t>BEFORE</a:t>
            </a:r>
            <a:r>
              <a:rPr sz="1298" spc="-35" dirty="0">
                <a:solidFill>
                  <a:srgbClr val="202020"/>
                </a:solidFill>
                <a:latin typeface="Calibri"/>
                <a:cs typeface="Calibri"/>
              </a:rPr>
              <a:t> </a:t>
            </a:r>
            <a:r>
              <a:rPr sz="1298" spc="-10" dirty="0">
                <a:solidFill>
                  <a:srgbClr val="202020"/>
                </a:solidFill>
                <a:latin typeface="Calibri"/>
                <a:cs typeface="Calibri"/>
              </a:rPr>
              <a:t>Filtering</a:t>
            </a:r>
            <a:r>
              <a:rPr sz="1298" spc="-35" dirty="0">
                <a:solidFill>
                  <a:srgbClr val="202020"/>
                </a:solidFill>
                <a:latin typeface="Calibri"/>
                <a:cs typeface="Calibri"/>
              </a:rPr>
              <a:t> </a:t>
            </a:r>
            <a:r>
              <a:rPr sz="1298" dirty="0">
                <a:solidFill>
                  <a:srgbClr val="202020"/>
                </a:solidFill>
                <a:latin typeface="Calibri"/>
                <a:cs typeface="Calibri"/>
              </a:rPr>
              <a:t>&amp;</a:t>
            </a:r>
            <a:r>
              <a:rPr sz="1298" spc="-40" dirty="0">
                <a:solidFill>
                  <a:srgbClr val="202020"/>
                </a:solidFill>
                <a:latin typeface="Calibri"/>
                <a:cs typeface="Calibri"/>
              </a:rPr>
              <a:t> </a:t>
            </a:r>
            <a:r>
              <a:rPr sz="1298" dirty="0">
                <a:solidFill>
                  <a:srgbClr val="202020"/>
                </a:solidFill>
                <a:latin typeface="Calibri"/>
                <a:cs typeface="Calibri"/>
              </a:rPr>
              <a:t>Sorting,</a:t>
            </a:r>
            <a:r>
              <a:rPr sz="1298" spc="-35" dirty="0">
                <a:solidFill>
                  <a:srgbClr val="202020"/>
                </a:solidFill>
                <a:latin typeface="Calibri"/>
                <a:cs typeface="Calibri"/>
              </a:rPr>
              <a:t> </a:t>
            </a:r>
            <a:r>
              <a:rPr sz="1298" dirty="0">
                <a:solidFill>
                  <a:srgbClr val="202020"/>
                </a:solidFill>
                <a:latin typeface="Calibri"/>
                <a:cs typeface="Calibri"/>
              </a:rPr>
              <a:t>in</a:t>
            </a:r>
            <a:r>
              <a:rPr sz="1298" spc="-35" dirty="0">
                <a:solidFill>
                  <a:srgbClr val="202020"/>
                </a:solidFill>
                <a:latin typeface="Calibri"/>
                <a:cs typeface="Calibri"/>
              </a:rPr>
              <a:t> </a:t>
            </a:r>
            <a:r>
              <a:rPr sz="1298" spc="-10" dirty="0">
                <a:solidFill>
                  <a:srgbClr val="202020"/>
                </a:solidFill>
                <a:latin typeface="Calibri"/>
                <a:cs typeface="Calibri"/>
              </a:rPr>
              <a:t>accio_NN:</a:t>
            </a:r>
            <a:endParaRPr sz="1298">
              <a:latin typeface="Calibri"/>
              <a:cs typeface="Calibri"/>
            </a:endParaRPr>
          </a:p>
          <a:p>
            <a:pPr marL="12685" marR="149046" indent="164268">
              <a:lnSpc>
                <a:spcPct val="120100"/>
              </a:lnSpc>
              <a:spcBef>
                <a:spcPts val="569"/>
              </a:spcBef>
              <a:buAutoNum type="arabicPeriod"/>
              <a:tabLst>
                <a:tab pos="176952" algn="l"/>
              </a:tabLst>
            </a:pPr>
            <a:r>
              <a:rPr sz="1298" b="1" spc="-10" dirty="0">
                <a:solidFill>
                  <a:srgbClr val="1D3A5E"/>
                </a:solidFill>
                <a:latin typeface="Calibri"/>
                <a:cs typeface="Calibri"/>
              </a:rPr>
              <a:t>Convert:</a:t>
            </a:r>
            <a:r>
              <a:rPr sz="1298" b="1" spc="-40" dirty="0">
                <a:solidFill>
                  <a:srgbClr val="1D3A5E"/>
                </a:solidFill>
                <a:latin typeface="Calibri"/>
                <a:cs typeface="Calibri"/>
              </a:rPr>
              <a:t> </a:t>
            </a:r>
            <a:r>
              <a:rPr sz="1298" b="1" dirty="0">
                <a:solidFill>
                  <a:srgbClr val="1D3A5E"/>
                </a:solidFill>
                <a:latin typeface="Calibri"/>
                <a:cs typeface="Calibri"/>
              </a:rPr>
              <a:t>:</a:t>
            </a:r>
            <a:r>
              <a:rPr sz="1298" b="1" spc="-40" dirty="0">
                <a:solidFill>
                  <a:srgbClr val="1D3A5E"/>
                </a:solidFill>
                <a:latin typeface="Calibri"/>
                <a:cs typeface="Calibri"/>
              </a:rPr>
              <a:t> </a:t>
            </a:r>
            <a:r>
              <a:rPr sz="1298" spc="-35" dirty="0">
                <a:solidFill>
                  <a:srgbClr val="202020"/>
                </a:solidFill>
                <a:latin typeface="Calibri"/>
                <a:cs typeface="Calibri"/>
              </a:rPr>
              <a:t>Take </a:t>
            </a:r>
            <a:r>
              <a:rPr sz="1298" dirty="0">
                <a:solidFill>
                  <a:srgbClr val="202020"/>
                </a:solidFill>
                <a:latin typeface="Calibri"/>
                <a:cs typeface="Calibri"/>
              </a:rPr>
              <a:t>the</a:t>
            </a:r>
            <a:r>
              <a:rPr sz="1298" spc="-40" dirty="0">
                <a:solidFill>
                  <a:srgbClr val="202020"/>
                </a:solidFill>
                <a:latin typeface="Calibri"/>
                <a:cs typeface="Calibri"/>
              </a:rPr>
              <a:t> </a:t>
            </a:r>
            <a:r>
              <a:rPr sz="1298" dirty="0">
                <a:solidFill>
                  <a:srgbClr val="202020"/>
                </a:solidFill>
                <a:latin typeface="Calibri"/>
                <a:cs typeface="Calibri"/>
              </a:rPr>
              <a:t>TEXT</a:t>
            </a:r>
            <a:r>
              <a:rPr sz="1298" spc="-40" dirty="0">
                <a:solidFill>
                  <a:srgbClr val="202020"/>
                </a:solidFill>
                <a:latin typeface="Calibri"/>
                <a:cs typeface="Calibri"/>
              </a:rPr>
              <a:t> </a:t>
            </a:r>
            <a:r>
              <a:rPr sz="1298" spc="-10" dirty="0">
                <a:solidFill>
                  <a:srgbClr val="202020"/>
                </a:solidFill>
                <a:latin typeface="Calibri"/>
                <a:cs typeface="Calibri"/>
              </a:rPr>
              <a:t>tables</a:t>
            </a:r>
            <a:r>
              <a:rPr sz="1298" spc="-35" dirty="0">
                <a:solidFill>
                  <a:srgbClr val="202020"/>
                </a:solidFill>
                <a:latin typeface="Calibri"/>
                <a:cs typeface="Calibri"/>
              </a:rPr>
              <a:t> </a:t>
            </a:r>
            <a:r>
              <a:rPr sz="1298" dirty="0">
                <a:solidFill>
                  <a:srgbClr val="202020"/>
                </a:solidFill>
                <a:latin typeface="Calibri"/>
                <a:cs typeface="Calibri"/>
              </a:rPr>
              <a:t>you</a:t>
            </a:r>
            <a:r>
              <a:rPr sz="1298" spc="-40" dirty="0">
                <a:solidFill>
                  <a:srgbClr val="202020"/>
                </a:solidFill>
                <a:latin typeface="Calibri"/>
                <a:cs typeface="Calibri"/>
              </a:rPr>
              <a:t> </a:t>
            </a:r>
            <a:r>
              <a:rPr sz="1298" dirty="0">
                <a:solidFill>
                  <a:srgbClr val="202020"/>
                </a:solidFill>
                <a:latin typeface="Calibri"/>
                <a:cs typeface="Calibri"/>
              </a:rPr>
              <a:t>built</a:t>
            </a:r>
            <a:r>
              <a:rPr sz="1298" spc="-40" dirty="0">
                <a:solidFill>
                  <a:srgbClr val="202020"/>
                </a:solidFill>
                <a:latin typeface="Calibri"/>
                <a:cs typeface="Calibri"/>
              </a:rPr>
              <a:t> </a:t>
            </a:r>
            <a:r>
              <a:rPr sz="1298" dirty="0">
                <a:solidFill>
                  <a:srgbClr val="202020"/>
                </a:solidFill>
                <a:latin typeface="Calibri"/>
                <a:cs typeface="Calibri"/>
              </a:rPr>
              <a:t>earlier</a:t>
            </a:r>
            <a:r>
              <a:rPr sz="1298" spc="-35" dirty="0">
                <a:solidFill>
                  <a:srgbClr val="202020"/>
                </a:solidFill>
                <a:latin typeface="Calibri"/>
                <a:cs typeface="Calibri"/>
              </a:rPr>
              <a:t> </a:t>
            </a:r>
            <a:r>
              <a:rPr sz="1298" dirty="0">
                <a:solidFill>
                  <a:srgbClr val="202020"/>
                </a:solidFill>
                <a:latin typeface="Calibri"/>
                <a:cs typeface="Calibri"/>
              </a:rPr>
              <a:t>and</a:t>
            </a:r>
            <a:r>
              <a:rPr sz="1298" spc="-40" dirty="0">
                <a:solidFill>
                  <a:srgbClr val="202020"/>
                </a:solidFill>
                <a:latin typeface="Calibri"/>
                <a:cs typeface="Calibri"/>
              </a:rPr>
              <a:t> </a:t>
            </a:r>
            <a:r>
              <a:rPr sz="1298" spc="-20" dirty="0">
                <a:solidFill>
                  <a:srgbClr val="202020"/>
                </a:solidFill>
                <a:latin typeface="Calibri"/>
                <a:cs typeface="Calibri"/>
              </a:rPr>
              <a:t>ALTER</a:t>
            </a:r>
            <a:r>
              <a:rPr sz="1298" spc="-40" dirty="0">
                <a:solidFill>
                  <a:srgbClr val="202020"/>
                </a:solidFill>
                <a:latin typeface="Calibri"/>
                <a:cs typeface="Calibri"/>
              </a:rPr>
              <a:t> </a:t>
            </a:r>
            <a:r>
              <a:rPr sz="1298" dirty="0">
                <a:solidFill>
                  <a:srgbClr val="202020"/>
                </a:solidFill>
                <a:latin typeface="Calibri"/>
                <a:cs typeface="Calibri"/>
              </a:rPr>
              <a:t>each</a:t>
            </a:r>
            <a:r>
              <a:rPr sz="1298" spc="-35" dirty="0">
                <a:solidFill>
                  <a:srgbClr val="202020"/>
                </a:solidFill>
                <a:latin typeface="Calibri"/>
                <a:cs typeface="Calibri"/>
              </a:rPr>
              <a:t> </a:t>
            </a:r>
            <a:r>
              <a:rPr sz="1298" dirty="0">
                <a:solidFill>
                  <a:srgbClr val="202020"/>
                </a:solidFill>
                <a:latin typeface="Calibri"/>
                <a:cs typeface="Calibri"/>
              </a:rPr>
              <a:t>column</a:t>
            </a:r>
            <a:r>
              <a:rPr sz="1298" spc="-40" dirty="0">
                <a:solidFill>
                  <a:srgbClr val="202020"/>
                </a:solidFill>
                <a:latin typeface="Calibri"/>
                <a:cs typeface="Calibri"/>
              </a:rPr>
              <a:t> </a:t>
            </a:r>
            <a:r>
              <a:rPr sz="1298" dirty="0">
                <a:solidFill>
                  <a:srgbClr val="202020"/>
                </a:solidFill>
                <a:latin typeface="Calibri"/>
                <a:cs typeface="Calibri"/>
              </a:rPr>
              <a:t>to</a:t>
            </a:r>
            <a:r>
              <a:rPr sz="1298" spc="-40" dirty="0">
                <a:solidFill>
                  <a:srgbClr val="202020"/>
                </a:solidFill>
                <a:latin typeface="Calibri"/>
                <a:cs typeface="Calibri"/>
              </a:rPr>
              <a:t> </a:t>
            </a:r>
            <a:r>
              <a:rPr sz="1298" dirty="0">
                <a:solidFill>
                  <a:srgbClr val="202020"/>
                </a:solidFill>
                <a:latin typeface="Calibri"/>
                <a:cs typeface="Calibri"/>
              </a:rPr>
              <a:t>its</a:t>
            </a:r>
            <a:r>
              <a:rPr sz="1298" spc="-35" dirty="0">
                <a:solidFill>
                  <a:srgbClr val="202020"/>
                </a:solidFill>
                <a:latin typeface="Calibri"/>
                <a:cs typeface="Calibri"/>
              </a:rPr>
              <a:t> </a:t>
            </a:r>
            <a:r>
              <a:rPr sz="1298" dirty="0">
                <a:solidFill>
                  <a:srgbClr val="202020"/>
                </a:solidFill>
                <a:latin typeface="Calibri"/>
                <a:cs typeface="Calibri"/>
              </a:rPr>
              <a:t>proper</a:t>
            </a:r>
            <a:r>
              <a:rPr sz="1298" spc="-40" dirty="0">
                <a:solidFill>
                  <a:srgbClr val="202020"/>
                </a:solidFill>
                <a:latin typeface="Calibri"/>
                <a:cs typeface="Calibri"/>
              </a:rPr>
              <a:t> </a:t>
            </a:r>
            <a:r>
              <a:rPr sz="1298" dirty="0">
                <a:solidFill>
                  <a:srgbClr val="202020"/>
                </a:solidFill>
                <a:latin typeface="Calibri"/>
                <a:cs typeface="Calibri"/>
              </a:rPr>
              <a:t>type</a:t>
            </a:r>
            <a:r>
              <a:rPr sz="1298" spc="-40" dirty="0">
                <a:solidFill>
                  <a:srgbClr val="202020"/>
                </a:solidFill>
                <a:latin typeface="Calibri"/>
                <a:cs typeface="Calibri"/>
              </a:rPr>
              <a:t> </a:t>
            </a:r>
            <a:r>
              <a:rPr sz="1298" dirty="0">
                <a:solidFill>
                  <a:srgbClr val="202020"/>
                </a:solidFill>
                <a:latin typeface="Calibri"/>
                <a:cs typeface="Calibri"/>
              </a:rPr>
              <a:t>(USING</a:t>
            </a:r>
            <a:r>
              <a:rPr sz="1298" spc="-35" dirty="0">
                <a:solidFill>
                  <a:srgbClr val="202020"/>
                </a:solidFill>
                <a:latin typeface="Calibri"/>
                <a:cs typeface="Calibri"/>
              </a:rPr>
              <a:t> </a:t>
            </a:r>
            <a:r>
              <a:rPr sz="1298" spc="-10" dirty="0">
                <a:solidFill>
                  <a:srgbClr val="202020"/>
                </a:solidFill>
                <a:latin typeface="Calibri"/>
                <a:cs typeface="Calibri"/>
              </a:rPr>
              <a:t>casts).</a:t>
            </a:r>
            <a:r>
              <a:rPr sz="1298" spc="-40" dirty="0">
                <a:solidFill>
                  <a:srgbClr val="202020"/>
                </a:solidFill>
                <a:latin typeface="Calibri"/>
                <a:cs typeface="Calibri"/>
              </a:rPr>
              <a:t> </a:t>
            </a:r>
            <a:r>
              <a:rPr sz="1298" spc="-10" dirty="0">
                <a:solidFill>
                  <a:srgbClr val="202020"/>
                </a:solidFill>
                <a:latin typeface="Calibri"/>
                <a:cs typeface="Calibri"/>
              </a:rPr>
              <a:t>Confirm </a:t>
            </a:r>
            <a:r>
              <a:rPr sz="1298" dirty="0">
                <a:solidFill>
                  <a:srgbClr val="202020"/>
                </a:solidFill>
                <a:latin typeface="Calibri"/>
                <a:cs typeface="Calibri"/>
              </a:rPr>
              <a:t>with</a:t>
            </a:r>
            <a:r>
              <a:rPr sz="1298" spc="-40" dirty="0">
                <a:solidFill>
                  <a:srgbClr val="202020"/>
                </a:solidFill>
                <a:latin typeface="Calibri"/>
                <a:cs typeface="Calibri"/>
              </a:rPr>
              <a:t> </a:t>
            </a:r>
            <a:r>
              <a:rPr sz="1298" spc="-10" dirty="0">
                <a:solidFill>
                  <a:srgbClr val="202020"/>
                </a:solidFill>
                <a:latin typeface="Calibri"/>
                <a:cs typeface="Calibri"/>
              </a:rPr>
              <a:t>information_schema.columns</a:t>
            </a:r>
            <a:r>
              <a:rPr sz="1298" spc="-35" dirty="0">
                <a:solidFill>
                  <a:srgbClr val="202020"/>
                </a:solidFill>
                <a:latin typeface="Calibri"/>
                <a:cs typeface="Calibri"/>
              </a:rPr>
              <a:t> </a:t>
            </a:r>
            <a:r>
              <a:rPr sz="1298" dirty="0">
                <a:solidFill>
                  <a:srgbClr val="202020"/>
                </a:solidFill>
                <a:latin typeface="Calibri"/>
                <a:cs typeface="Calibri"/>
              </a:rPr>
              <a:t>that</a:t>
            </a:r>
            <a:r>
              <a:rPr sz="1298" spc="-35" dirty="0">
                <a:solidFill>
                  <a:srgbClr val="202020"/>
                </a:solidFill>
                <a:latin typeface="Calibri"/>
                <a:cs typeface="Calibri"/>
              </a:rPr>
              <a:t> </a:t>
            </a:r>
            <a:r>
              <a:rPr sz="1298" dirty="0">
                <a:solidFill>
                  <a:srgbClr val="202020"/>
                </a:solidFill>
                <a:latin typeface="Calibri"/>
                <a:cs typeface="Calibri"/>
              </a:rPr>
              <a:t>none</a:t>
            </a:r>
            <a:r>
              <a:rPr sz="1298" spc="-40" dirty="0">
                <a:solidFill>
                  <a:srgbClr val="202020"/>
                </a:solidFill>
                <a:latin typeface="Calibri"/>
                <a:cs typeface="Calibri"/>
              </a:rPr>
              <a:t> </a:t>
            </a:r>
            <a:r>
              <a:rPr sz="1298" dirty="0">
                <a:solidFill>
                  <a:srgbClr val="202020"/>
                </a:solidFill>
                <a:latin typeface="Calibri"/>
                <a:cs typeface="Calibri"/>
              </a:rPr>
              <a:t>are</a:t>
            </a:r>
            <a:r>
              <a:rPr sz="1298" spc="-35" dirty="0">
                <a:solidFill>
                  <a:srgbClr val="202020"/>
                </a:solidFill>
                <a:latin typeface="Calibri"/>
                <a:cs typeface="Calibri"/>
              </a:rPr>
              <a:t> </a:t>
            </a:r>
            <a:r>
              <a:rPr sz="1298" spc="-10" dirty="0">
                <a:solidFill>
                  <a:srgbClr val="202020"/>
                </a:solidFill>
                <a:latin typeface="Calibri"/>
                <a:cs typeface="Calibri"/>
              </a:rPr>
              <a:t>'text'</a:t>
            </a:r>
            <a:r>
              <a:rPr sz="1298" spc="-35" dirty="0">
                <a:solidFill>
                  <a:srgbClr val="202020"/>
                </a:solidFill>
                <a:latin typeface="Calibri"/>
                <a:cs typeface="Calibri"/>
              </a:rPr>
              <a:t> </a:t>
            </a:r>
            <a:r>
              <a:rPr sz="1298" spc="-10" dirty="0">
                <a:solidFill>
                  <a:srgbClr val="202020"/>
                </a:solidFill>
                <a:latin typeface="Calibri"/>
                <a:cs typeface="Calibri"/>
              </a:rPr>
              <a:t>anymore.</a:t>
            </a:r>
            <a:endParaRPr sz="1298">
              <a:latin typeface="Calibri"/>
              <a:cs typeface="Calibri"/>
            </a:endParaRPr>
          </a:p>
          <a:p>
            <a:pPr marL="176952" indent="-164268">
              <a:spcBef>
                <a:spcPts val="315"/>
              </a:spcBef>
              <a:buAutoNum type="arabicPeriod"/>
              <a:tabLst>
                <a:tab pos="176952" algn="l"/>
              </a:tabLst>
            </a:pPr>
            <a:r>
              <a:rPr sz="1298" b="1" spc="-10" dirty="0">
                <a:solidFill>
                  <a:srgbClr val="1D3A5E"/>
                </a:solidFill>
                <a:latin typeface="Calibri"/>
                <a:cs typeface="Calibri"/>
              </a:rPr>
              <a:t>Constrain:</a:t>
            </a:r>
            <a:r>
              <a:rPr sz="1298" b="1" spc="-30" dirty="0">
                <a:solidFill>
                  <a:srgbClr val="1D3A5E"/>
                </a:solidFill>
                <a:latin typeface="Calibri"/>
                <a:cs typeface="Calibri"/>
              </a:rPr>
              <a:t> </a:t>
            </a:r>
            <a:r>
              <a:rPr sz="1298" b="1" dirty="0">
                <a:solidFill>
                  <a:srgbClr val="1D3A5E"/>
                </a:solidFill>
                <a:latin typeface="Calibri"/>
                <a:cs typeface="Calibri"/>
              </a:rPr>
              <a:t>:</a:t>
            </a:r>
            <a:r>
              <a:rPr sz="1298" b="1" spc="-25" dirty="0">
                <a:solidFill>
                  <a:srgbClr val="1D3A5E"/>
                </a:solidFill>
                <a:latin typeface="Calibri"/>
                <a:cs typeface="Calibri"/>
              </a:rPr>
              <a:t> </a:t>
            </a:r>
            <a:r>
              <a:rPr sz="1298" dirty="0">
                <a:solidFill>
                  <a:srgbClr val="202020"/>
                </a:solidFill>
                <a:latin typeface="Calibri"/>
                <a:cs typeface="Calibri"/>
              </a:rPr>
              <a:t>Add</a:t>
            </a:r>
            <a:r>
              <a:rPr sz="1298" spc="-20" dirty="0">
                <a:solidFill>
                  <a:srgbClr val="202020"/>
                </a:solidFill>
                <a:latin typeface="Calibri"/>
                <a:cs typeface="Calibri"/>
              </a:rPr>
              <a:t> </a:t>
            </a:r>
            <a:r>
              <a:rPr sz="1298" dirty="0">
                <a:solidFill>
                  <a:srgbClr val="202020"/>
                </a:solidFill>
                <a:latin typeface="Calibri"/>
                <a:cs typeface="Calibri"/>
              </a:rPr>
              <a:t>NOT</a:t>
            </a:r>
            <a:r>
              <a:rPr sz="1298" spc="-25" dirty="0">
                <a:solidFill>
                  <a:srgbClr val="202020"/>
                </a:solidFill>
                <a:latin typeface="Calibri"/>
                <a:cs typeface="Calibri"/>
              </a:rPr>
              <a:t> </a:t>
            </a:r>
            <a:r>
              <a:rPr sz="1298" dirty="0">
                <a:solidFill>
                  <a:srgbClr val="202020"/>
                </a:solidFill>
                <a:latin typeface="Calibri"/>
                <a:cs typeface="Calibri"/>
              </a:rPr>
              <a:t>NULL,</a:t>
            </a:r>
            <a:r>
              <a:rPr sz="1298" spc="-25" dirty="0">
                <a:solidFill>
                  <a:srgbClr val="202020"/>
                </a:solidFill>
                <a:latin typeface="Calibri"/>
                <a:cs typeface="Calibri"/>
              </a:rPr>
              <a:t> </a:t>
            </a:r>
            <a:r>
              <a:rPr sz="1298" spc="-55" dirty="0">
                <a:solidFill>
                  <a:srgbClr val="202020"/>
                </a:solidFill>
                <a:latin typeface="Calibri"/>
                <a:cs typeface="Calibri"/>
              </a:rPr>
              <a:t>DEFAULT,</a:t>
            </a:r>
            <a:r>
              <a:rPr sz="1298" spc="-20" dirty="0">
                <a:solidFill>
                  <a:srgbClr val="202020"/>
                </a:solidFill>
                <a:latin typeface="Calibri"/>
                <a:cs typeface="Calibri"/>
              </a:rPr>
              <a:t> </a:t>
            </a:r>
            <a:r>
              <a:rPr sz="1298" dirty="0">
                <a:solidFill>
                  <a:srgbClr val="202020"/>
                </a:solidFill>
                <a:latin typeface="Calibri"/>
                <a:cs typeface="Calibri"/>
              </a:rPr>
              <a:t>UNIQUE,</a:t>
            </a:r>
            <a:r>
              <a:rPr sz="1298" spc="-25" dirty="0">
                <a:solidFill>
                  <a:srgbClr val="202020"/>
                </a:solidFill>
                <a:latin typeface="Calibri"/>
                <a:cs typeface="Calibri"/>
              </a:rPr>
              <a:t> </a:t>
            </a:r>
            <a:r>
              <a:rPr sz="1298" dirty="0">
                <a:solidFill>
                  <a:srgbClr val="202020"/>
                </a:solidFill>
                <a:latin typeface="Calibri"/>
                <a:cs typeface="Calibri"/>
              </a:rPr>
              <a:t>and</a:t>
            </a:r>
            <a:r>
              <a:rPr sz="1298" spc="-20" dirty="0">
                <a:solidFill>
                  <a:srgbClr val="202020"/>
                </a:solidFill>
                <a:latin typeface="Calibri"/>
                <a:cs typeface="Calibri"/>
              </a:rPr>
              <a:t> </a:t>
            </a:r>
            <a:r>
              <a:rPr sz="1298" dirty="0">
                <a:solidFill>
                  <a:srgbClr val="202020"/>
                </a:solidFill>
                <a:latin typeface="Calibri"/>
                <a:cs typeface="Calibri"/>
              </a:rPr>
              <a:t>at</a:t>
            </a:r>
            <a:r>
              <a:rPr sz="1298" spc="-25" dirty="0">
                <a:solidFill>
                  <a:srgbClr val="202020"/>
                </a:solidFill>
                <a:latin typeface="Calibri"/>
                <a:cs typeface="Calibri"/>
              </a:rPr>
              <a:t> </a:t>
            </a:r>
            <a:r>
              <a:rPr sz="1298" dirty="0">
                <a:solidFill>
                  <a:srgbClr val="202020"/>
                </a:solidFill>
                <a:latin typeface="Calibri"/>
                <a:cs typeface="Calibri"/>
              </a:rPr>
              <a:t>least</a:t>
            </a:r>
            <a:r>
              <a:rPr sz="1298" spc="-25" dirty="0">
                <a:solidFill>
                  <a:srgbClr val="202020"/>
                </a:solidFill>
                <a:latin typeface="Calibri"/>
                <a:cs typeface="Calibri"/>
              </a:rPr>
              <a:t> </a:t>
            </a:r>
            <a:r>
              <a:rPr sz="1298" dirty="0">
                <a:solidFill>
                  <a:srgbClr val="202020"/>
                </a:solidFill>
                <a:latin typeface="Calibri"/>
                <a:cs typeface="Calibri"/>
              </a:rPr>
              <a:t>one</a:t>
            </a:r>
            <a:r>
              <a:rPr sz="1298" spc="-20" dirty="0">
                <a:solidFill>
                  <a:srgbClr val="202020"/>
                </a:solidFill>
                <a:latin typeface="Calibri"/>
                <a:cs typeface="Calibri"/>
              </a:rPr>
              <a:t> </a:t>
            </a:r>
            <a:r>
              <a:rPr sz="1298" dirty="0">
                <a:solidFill>
                  <a:srgbClr val="202020"/>
                </a:solidFill>
                <a:latin typeface="Calibri"/>
                <a:cs typeface="Calibri"/>
              </a:rPr>
              <a:t>CHECK</a:t>
            </a:r>
            <a:r>
              <a:rPr sz="1298" spc="-25" dirty="0">
                <a:solidFill>
                  <a:srgbClr val="202020"/>
                </a:solidFill>
                <a:latin typeface="Calibri"/>
                <a:cs typeface="Calibri"/>
              </a:rPr>
              <a:t> </a:t>
            </a:r>
            <a:r>
              <a:rPr sz="1298" dirty="0">
                <a:solidFill>
                  <a:srgbClr val="202020"/>
                </a:solidFill>
                <a:latin typeface="Calibri"/>
                <a:cs typeface="Calibri"/>
              </a:rPr>
              <a:t>to</a:t>
            </a:r>
            <a:r>
              <a:rPr sz="1298" spc="-25" dirty="0">
                <a:solidFill>
                  <a:srgbClr val="202020"/>
                </a:solidFill>
                <a:latin typeface="Calibri"/>
                <a:cs typeface="Calibri"/>
              </a:rPr>
              <a:t> </a:t>
            </a:r>
            <a:r>
              <a:rPr sz="1298" dirty="0">
                <a:solidFill>
                  <a:srgbClr val="202020"/>
                </a:solidFill>
                <a:latin typeface="Calibri"/>
                <a:cs typeface="Calibri"/>
              </a:rPr>
              <a:t>your</a:t>
            </a:r>
            <a:r>
              <a:rPr sz="1298" spc="-25" dirty="0">
                <a:solidFill>
                  <a:srgbClr val="202020"/>
                </a:solidFill>
                <a:latin typeface="Calibri"/>
                <a:cs typeface="Calibri"/>
              </a:rPr>
              <a:t> </a:t>
            </a:r>
            <a:r>
              <a:rPr sz="1298" spc="-20" dirty="0">
                <a:solidFill>
                  <a:srgbClr val="202020"/>
                </a:solidFill>
                <a:latin typeface="Calibri"/>
                <a:cs typeface="Calibri"/>
              </a:rPr>
              <a:t>products/customers/orders </a:t>
            </a:r>
            <a:r>
              <a:rPr sz="1298" spc="-10" dirty="0">
                <a:solidFill>
                  <a:srgbClr val="202020"/>
                </a:solidFill>
                <a:latin typeface="Calibri"/>
                <a:cs typeface="Calibri"/>
              </a:rPr>
              <a:t>tables.</a:t>
            </a:r>
            <a:endParaRPr sz="1298">
              <a:latin typeface="Calibri"/>
              <a:cs typeface="Calibri"/>
            </a:endParaRPr>
          </a:p>
          <a:p>
            <a:pPr marL="176952" indent="-164268">
              <a:spcBef>
                <a:spcPts val="315"/>
              </a:spcBef>
              <a:buAutoNum type="arabicPeriod"/>
              <a:tabLst>
                <a:tab pos="176952" algn="l"/>
              </a:tabLst>
            </a:pPr>
            <a:r>
              <a:rPr sz="1298" b="1" dirty="0">
                <a:solidFill>
                  <a:srgbClr val="1D3A5E"/>
                </a:solidFill>
                <a:latin typeface="Calibri"/>
                <a:cs typeface="Calibri"/>
              </a:rPr>
              <a:t>Keys:</a:t>
            </a:r>
            <a:r>
              <a:rPr sz="1298" b="1" spc="-50" dirty="0">
                <a:solidFill>
                  <a:srgbClr val="1D3A5E"/>
                </a:solidFill>
                <a:latin typeface="Calibri"/>
                <a:cs typeface="Calibri"/>
              </a:rPr>
              <a:t> </a:t>
            </a:r>
            <a:r>
              <a:rPr sz="1298" b="1" dirty="0">
                <a:solidFill>
                  <a:srgbClr val="1D3A5E"/>
                </a:solidFill>
                <a:latin typeface="Calibri"/>
                <a:cs typeface="Calibri"/>
              </a:rPr>
              <a:t>:</a:t>
            </a:r>
            <a:r>
              <a:rPr sz="1298" b="1" spc="-35" dirty="0">
                <a:solidFill>
                  <a:srgbClr val="1D3A5E"/>
                </a:solidFill>
                <a:latin typeface="Calibri"/>
                <a:cs typeface="Calibri"/>
              </a:rPr>
              <a:t> </a:t>
            </a:r>
            <a:r>
              <a:rPr sz="1298" dirty="0">
                <a:solidFill>
                  <a:srgbClr val="202020"/>
                </a:solidFill>
                <a:latin typeface="Calibri"/>
                <a:cs typeface="Calibri"/>
              </a:rPr>
              <a:t>Give</a:t>
            </a:r>
            <a:r>
              <a:rPr sz="1298" spc="-40" dirty="0">
                <a:solidFill>
                  <a:srgbClr val="202020"/>
                </a:solidFill>
                <a:latin typeface="Calibri"/>
                <a:cs typeface="Calibri"/>
              </a:rPr>
              <a:t> </a:t>
            </a:r>
            <a:r>
              <a:rPr sz="1298" dirty="0">
                <a:solidFill>
                  <a:srgbClr val="202020"/>
                </a:solidFill>
                <a:latin typeface="Calibri"/>
                <a:cs typeface="Calibri"/>
              </a:rPr>
              <a:t>every</a:t>
            </a:r>
            <a:r>
              <a:rPr sz="1298" spc="-40" dirty="0">
                <a:solidFill>
                  <a:srgbClr val="202020"/>
                </a:solidFill>
                <a:latin typeface="Calibri"/>
                <a:cs typeface="Calibri"/>
              </a:rPr>
              <a:t> </a:t>
            </a:r>
            <a:r>
              <a:rPr sz="1298" dirty="0">
                <a:solidFill>
                  <a:srgbClr val="202020"/>
                </a:solidFill>
                <a:latin typeface="Calibri"/>
                <a:cs typeface="Calibri"/>
              </a:rPr>
              <a:t>table</a:t>
            </a:r>
            <a:r>
              <a:rPr sz="1298" spc="-35" dirty="0">
                <a:solidFill>
                  <a:srgbClr val="202020"/>
                </a:solidFill>
                <a:latin typeface="Calibri"/>
                <a:cs typeface="Calibri"/>
              </a:rPr>
              <a:t> </a:t>
            </a:r>
            <a:r>
              <a:rPr sz="1298" dirty="0">
                <a:solidFill>
                  <a:srgbClr val="202020"/>
                </a:solidFill>
                <a:latin typeface="Calibri"/>
                <a:cs typeface="Calibri"/>
              </a:rPr>
              <a:t>a</a:t>
            </a:r>
            <a:r>
              <a:rPr sz="1298" spc="-40" dirty="0">
                <a:solidFill>
                  <a:srgbClr val="202020"/>
                </a:solidFill>
                <a:latin typeface="Calibri"/>
                <a:cs typeface="Calibri"/>
              </a:rPr>
              <a:t> </a:t>
            </a:r>
            <a:r>
              <a:rPr sz="1298" dirty="0">
                <a:solidFill>
                  <a:srgbClr val="202020"/>
                </a:solidFill>
                <a:latin typeface="Calibri"/>
                <a:cs typeface="Calibri"/>
              </a:rPr>
              <a:t>PRIMARY</a:t>
            </a:r>
            <a:r>
              <a:rPr sz="1298" spc="-40" dirty="0">
                <a:solidFill>
                  <a:srgbClr val="202020"/>
                </a:solidFill>
                <a:latin typeface="Calibri"/>
                <a:cs typeface="Calibri"/>
              </a:rPr>
              <a:t> </a:t>
            </a:r>
            <a:r>
              <a:rPr sz="1298" spc="-45" dirty="0">
                <a:solidFill>
                  <a:srgbClr val="202020"/>
                </a:solidFill>
                <a:latin typeface="Calibri"/>
                <a:cs typeface="Calibri"/>
              </a:rPr>
              <a:t>KEY.</a:t>
            </a:r>
            <a:r>
              <a:rPr sz="1298" spc="-30" dirty="0">
                <a:solidFill>
                  <a:srgbClr val="202020"/>
                </a:solidFill>
                <a:latin typeface="Calibri"/>
                <a:cs typeface="Calibri"/>
              </a:rPr>
              <a:t> </a:t>
            </a:r>
            <a:r>
              <a:rPr sz="1298" dirty="0">
                <a:solidFill>
                  <a:srgbClr val="202020"/>
                </a:solidFill>
                <a:latin typeface="Calibri"/>
                <a:cs typeface="Calibri"/>
              </a:rPr>
              <a:t>Add</a:t>
            </a:r>
            <a:r>
              <a:rPr sz="1298" spc="-35" dirty="0">
                <a:solidFill>
                  <a:srgbClr val="202020"/>
                </a:solidFill>
                <a:latin typeface="Calibri"/>
                <a:cs typeface="Calibri"/>
              </a:rPr>
              <a:t> </a:t>
            </a:r>
            <a:r>
              <a:rPr sz="1298" dirty="0">
                <a:solidFill>
                  <a:srgbClr val="202020"/>
                </a:solidFill>
                <a:latin typeface="Calibri"/>
                <a:cs typeface="Calibri"/>
              </a:rPr>
              <a:t>a</a:t>
            </a:r>
            <a:r>
              <a:rPr sz="1298" spc="-40" dirty="0">
                <a:solidFill>
                  <a:srgbClr val="202020"/>
                </a:solidFill>
                <a:latin typeface="Calibri"/>
                <a:cs typeface="Calibri"/>
              </a:rPr>
              <a:t> </a:t>
            </a:r>
            <a:r>
              <a:rPr sz="1298" dirty="0">
                <a:solidFill>
                  <a:srgbClr val="202020"/>
                </a:solidFill>
                <a:latin typeface="Calibri"/>
                <a:cs typeface="Calibri"/>
              </a:rPr>
              <a:t>FOREIGN</a:t>
            </a:r>
            <a:r>
              <a:rPr sz="1298" spc="-40" dirty="0">
                <a:solidFill>
                  <a:srgbClr val="202020"/>
                </a:solidFill>
                <a:latin typeface="Calibri"/>
                <a:cs typeface="Calibri"/>
              </a:rPr>
              <a:t> </a:t>
            </a:r>
            <a:r>
              <a:rPr sz="1298" dirty="0">
                <a:solidFill>
                  <a:srgbClr val="202020"/>
                </a:solidFill>
                <a:latin typeface="Calibri"/>
                <a:cs typeface="Calibri"/>
              </a:rPr>
              <a:t>KEY</a:t>
            </a:r>
            <a:r>
              <a:rPr sz="1298" spc="-35" dirty="0">
                <a:solidFill>
                  <a:srgbClr val="202020"/>
                </a:solidFill>
                <a:latin typeface="Calibri"/>
                <a:cs typeface="Calibri"/>
              </a:rPr>
              <a:t> </a:t>
            </a:r>
            <a:r>
              <a:rPr sz="1298" dirty="0">
                <a:solidFill>
                  <a:srgbClr val="202020"/>
                </a:solidFill>
                <a:latin typeface="Calibri"/>
                <a:cs typeface="Calibri"/>
              </a:rPr>
              <a:t>from</a:t>
            </a:r>
            <a:r>
              <a:rPr sz="1298" spc="-40" dirty="0">
                <a:solidFill>
                  <a:srgbClr val="202020"/>
                </a:solidFill>
                <a:latin typeface="Calibri"/>
                <a:cs typeface="Calibri"/>
              </a:rPr>
              <a:t> </a:t>
            </a:r>
            <a:r>
              <a:rPr sz="1298" spc="-10" dirty="0">
                <a:solidFill>
                  <a:srgbClr val="202020"/>
                </a:solidFill>
                <a:latin typeface="Calibri"/>
                <a:cs typeface="Calibri"/>
              </a:rPr>
              <a:t>orders</a:t>
            </a:r>
            <a:r>
              <a:rPr sz="1298" spc="-35" dirty="0">
                <a:solidFill>
                  <a:srgbClr val="202020"/>
                </a:solidFill>
                <a:latin typeface="Calibri"/>
                <a:cs typeface="Calibri"/>
              </a:rPr>
              <a:t> </a:t>
            </a:r>
            <a:r>
              <a:rPr sz="1298" dirty="0">
                <a:solidFill>
                  <a:srgbClr val="202020"/>
                </a:solidFill>
                <a:latin typeface="Calibri"/>
                <a:cs typeface="Calibri"/>
              </a:rPr>
              <a:t>to</a:t>
            </a:r>
            <a:r>
              <a:rPr sz="1298" spc="-40" dirty="0">
                <a:solidFill>
                  <a:srgbClr val="202020"/>
                </a:solidFill>
                <a:latin typeface="Calibri"/>
                <a:cs typeface="Calibri"/>
              </a:rPr>
              <a:t> </a:t>
            </a:r>
            <a:r>
              <a:rPr sz="1298" spc="-10" dirty="0">
                <a:solidFill>
                  <a:srgbClr val="202020"/>
                </a:solidFill>
                <a:latin typeface="Calibri"/>
                <a:cs typeface="Calibri"/>
              </a:rPr>
              <a:t>customers.</a:t>
            </a:r>
            <a:endParaRPr sz="1298">
              <a:latin typeface="Calibri"/>
              <a:cs typeface="Calibri"/>
            </a:endParaRPr>
          </a:p>
          <a:p>
            <a:pPr marL="12685" marR="194711" indent="164268">
              <a:lnSpc>
                <a:spcPct val="120100"/>
              </a:lnSpc>
              <a:buAutoNum type="arabicPeriod"/>
              <a:tabLst>
                <a:tab pos="176952" algn="l"/>
              </a:tabLst>
            </a:pPr>
            <a:r>
              <a:rPr sz="1298" b="1" dirty="0">
                <a:solidFill>
                  <a:srgbClr val="1D3A5E"/>
                </a:solidFill>
                <a:latin typeface="Calibri"/>
                <a:cs typeface="Calibri"/>
              </a:rPr>
              <a:t>Prove</a:t>
            </a:r>
            <a:r>
              <a:rPr sz="1298" b="1" spc="-45" dirty="0">
                <a:solidFill>
                  <a:srgbClr val="1D3A5E"/>
                </a:solidFill>
                <a:latin typeface="Calibri"/>
                <a:cs typeface="Calibri"/>
              </a:rPr>
              <a:t> </a:t>
            </a:r>
            <a:r>
              <a:rPr sz="1298" b="1" dirty="0">
                <a:solidFill>
                  <a:srgbClr val="1D3A5E"/>
                </a:solidFill>
                <a:latin typeface="Calibri"/>
                <a:cs typeface="Calibri"/>
              </a:rPr>
              <a:t>it:</a:t>
            </a:r>
            <a:r>
              <a:rPr sz="1298" b="1" spc="-40" dirty="0">
                <a:solidFill>
                  <a:srgbClr val="1D3A5E"/>
                </a:solidFill>
                <a:latin typeface="Calibri"/>
                <a:cs typeface="Calibri"/>
              </a:rPr>
              <a:t> </a:t>
            </a:r>
            <a:r>
              <a:rPr sz="1298" b="1" dirty="0">
                <a:solidFill>
                  <a:srgbClr val="1D3A5E"/>
                </a:solidFill>
                <a:latin typeface="Calibri"/>
                <a:cs typeface="Calibri"/>
              </a:rPr>
              <a:t>:</a:t>
            </a:r>
            <a:r>
              <a:rPr sz="1298" b="1" spc="-40" dirty="0">
                <a:solidFill>
                  <a:srgbClr val="1D3A5E"/>
                </a:solidFill>
                <a:latin typeface="Calibri"/>
                <a:cs typeface="Calibri"/>
              </a:rPr>
              <a:t> </a:t>
            </a:r>
            <a:r>
              <a:rPr sz="1298" spc="-10" dirty="0">
                <a:solidFill>
                  <a:srgbClr val="202020"/>
                </a:solidFill>
                <a:latin typeface="Calibri"/>
                <a:cs typeface="Calibri"/>
              </a:rPr>
              <a:t>Write</a:t>
            </a:r>
            <a:r>
              <a:rPr sz="1298" spc="-40" dirty="0">
                <a:solidFill>
                  <a:srgbClr val="202020"/>
                </a:solidFill>
                <a:latin typeface="Calibri"/>
                <a:cs typeface="Calibri"/>
              </a:rPr>
              <a:t> </a:t>
            </a:r>
            <a:r>
              <a:rPr sz="1298" dirty="0">
                <a:solidFill>
                  <a:srgbClr val="202020"/>
                </a:solidFill>
                <a:latin typeface="Calibri"/>
                <a:cs typeface="Calibri"/>
              </a:rPr>
              <a:t>4</a:t>
            </a:r>
            <a:r>
              <a:rPr sz="1298" spc="-45" dirty="0">
                <a:solidFill>
                  <a:srgbClr val="202020"/>
                </a:solidFill>
                <a:latin typeface="Calibri"/>
                <a:cs typeface="Calibri"/>
              </a:rPr>
              <a:t> </a:t>
            </a:r>
            <a:r>
              <a:rPr sz="1298" spc="-20" dirty="0">
                <a:solidFill>
                  <a:srgbClr val="202020"/>
                </a:solidFill>
                <a:latin typeface="Calibri"/>
                <a:cs typeface="Calibri"/>
              </a:rPr>
              <a:t>INSERTs</a:t>
            </a:r>
            <a:r>
              <a:rPr sz="1298" spc="-40" dirty="0">
                <a:solidFill>
                  <a:srgbClr val="202020"/>
                </a:solidFill>
                <a:latin typeface="Calibri"/>
                <a:cs typeface="Calibri"/>
              </a:rPr>
              <a:t> </a:t>
            </a:r>
            <a:r>
              <a:rPr sz="1298" dirty="0">
                <a:solidFill>
                  <a:srgbClr val="202020"/>
                </a:solidFill>
                <a:latin typeface="Calibri"/>
                <a:cs typeface="Calibri"/>
              </a:rPr>
              <a:t>that</a:t>
            </a:r>
            <a:r>
              <a:rPr sz="1298" spc="-40" dirty="0">
                <a:solidFill>
                  <a:srgbClr val="202020"/>
                </a:solidFill>
                <a:latin typeface="Calibri"/>
                <a:cs typeface="Calibri"/>
              </a:rPr>
              <a:t> </a:t>
            </a:r>
            <a:r>
              <a:rPr sz="1298" dirty="0">
                <a:solidFill>
                  <a:srgbClr val="202020"/>
                </a:solidFill>
                <a:latin typeface="Calibri"/>
                <a:cs typeface="Calibri"/>
              </a:rPr>
              <a:t>each</a:t>
            </a:r>
            <a:r>
              <a:rPr sz="1298" spc="-40" dirty="0">
                <a:solidFill>
                  <a:srgbClr val="202020"/>
                </a:solidFill>
                <a:latin typeface="Calibri"/>
                <a:cs typeface="Calibri"/>
              </a:rPr>
              <a:t> </a:t>
            </a:r>
            <a:r>
              <a:rPr sz="1298" dirty="0">
                <a:solidFill>
                  <a:srgbClr val="202020"/>
                </a:solidFill>
                <a:latin typeface="Calibri"/>
                <a:cs typeface="Calibri"/>
              </a:rPr>
              <a:t>fail</a:t>
            </a:r>
            <a:r>
              <a:rPr sz="1298" spc="-40" dirty="0">
                <a:solidFill>
                  <a:srgbClr val="202020"/>
                </a:solidFill>
                <a:latin typeface="Calibri"/>
                <a:cs typeface="Calibri"/>
              </a:rPr>
              <a:t> </a:t>
            </a:r>
            <a:r>
              <a:rPr sz="1298" dirty="0">
                <a:solidFill>
                  <a:srgbClr val="202020"/>
                </a:solidFill>
                <a:latin typeface="Calibri"/>
                <a:cs typeface="Calibri"/>
              </a:rPr>
              <a:t>for</a:t>
            </a:r>
            <a:r>
              <a:rPr sz="1298" spc="-45" dirty="0">
                <a:solidFill>
                  <a:srgbClr val="202020"/>
                </a:solidFill>
                <a:latin typeface="Calibri"/>
                <a:cs typeface="Calibri"/>
              </a:rPr>
              <a:t> </a:t>
            </a:r>
            <a:r>
              <a:rPr sz="1298" dirty="0">
                <a:solidFill>
                  <a:srgbClr val="202020"/>
                </a:solidFill>
                <a:latin typeface="Calibri"/>
                <a:cs typeface="Calibri"/>
              </a:rPr>
              <a:t>a</a:t>
            </a:r>
            <a:r>
              <a:rPr sz="1298" spc="-40" dirty="0">
                <a:solidFill>
                  <a:srgbClr val="202020"/>
                </a:solidFill>
                <a:latin typeface="Calibri"/>
                <a:cs typeface="Calibri"/>
              </a:rPr>
              <a:t> </a:t>
            </a:r>
            <a:r>
              <a:rPr sz="1298" dirty="0">
                <a:solidFill>
                  <a:srgbClr val="202020"/>
                </a:solidFill>
                <a:latin typeface="Calibri"/>
                <a:cs typeface="Calibri"/>
              </a:rPr>
              <a:t>DIFFERENT</a:t>
            </a:r>
            <a:r>
              <a:rPr sz="1298" spc="-40" dirty="0">
                <a:solidFill>
                  <a:srgbClr val="202020"/>
                </a:solidFill>
                <a:latin typeface="Calibri"/>
                <a:cs typeface="Calibri"/>
              </a:rPr>
              <a:t> </a:t>
            </a:r>
            <a:r>
              <a:rPr sz="1298" spc="-10" dirty="0">
                <a:solidFill>
                  <a:srgbClr val="202020"/>
                </a:solidFill>
                <a:latin typeface="Calibri"/>
                <a:cs typeface="Calibri"/>
              </a:rPr>
              <a:t>reason</a:t>
            </a:r>
            <a:r>
              <a:rPr sz="1298" spc="-40" dirty="0">
                <a:solidFill>
                  <a:srgbClr val="202020"/>
                </a:solidFill>
                <a:latin typeface="Calibri"/>
                <a:cs typeface="Calibri"/>
              </a:rPr>
              <a:t> </a:t>
            </a:r>
            <a:r>
              <a:rPr sz="1298" spc="-10" dirty="0">
                <a:solidFill>
                  <a:srgbClr val="202020"/>
                </a:solidFill>
                <a:latin typeface="Calibri"/>
                <a:cs typeface="Calibri"/>
              </a:rPr>
              <a:t>(NOT</a:t>
            </a:r>
            <a:r>
              <a:rPr sz="1298" spc="-40" dirty="0">
                <a:solidFill>
                  <a:srgbClr val="202020"/>
                </a:solidFill>
                <a:latin typeface="Calibri"/>
                <a:cs typeface="Calibri"/>
              </a:rPr>
              <a:t> </a:t>
            </a:r>
            <a:r>
              <a:rPr sz="1298" dirty="0">
                <a:solidFill>
                  <a:srgbClr val="202020"/>
                </a:solidFill>
                <a:latin typeface="Calibri"/>
                <a:cs typeface="Calibri"/>
              </a:rPr>
              <a:t>NULL,</a:t>
            </a:r>
            <a:r>
              <a:rPr sz="1298" spc="-45" dirty="0">
                <a:solidFill>
                  <a:srgbClr val="202020"/>
                </a:solidFill>
                <a:latin typeface="Calibri"/>
                <a:cs typeface="Calibri"/>
              </a:rPr>
              <a:t> </a:t>
            </a:r>
            <a:r>
              <a:rPr sz="1298" dirty="0">
                <a:solidFill>
                  <a:srgbClr val="202020"/>
                </a:solidFill>
                <a:latin typeface="Calibri"/>
                <a:cs typeface="Calibri"/>
              </a:rPr>
              <a:t>UNIQUE,</a:t>
            </a:r>
            <a:r>
              <a:rPr sz="1298" spc="-40" dirty="0">
                <a:solidFill>
                  <a:srgbClr val="202020"/>
                </a:solidFill>
                <a:latin typeface="Calibri"/>
                <a:cs typeface="Calibri"/>
              </a:rPr>
              <a:t> </a:t>
            </a:r>
            <a:r>
              <a:rPr sz="1298" dirty="0">
                <a:solidFill>
                  <a:srgbClr val="202020"/>
                </a:solidFill>
                <a:latin typeface="Calibri"/>
                <a:cs typeface="Calibri"/>
              </a:rPr>
              <a:t>CHECK,</a:t>
            </a:r>
            <a:r>
              <a:rPr sz="1298" spc="-40" dirty="0">
                <a:solidFill>
                  <a:srgbClr val="202020"/>
                </a:solidFill>
                <a:latin typeface="Calibri"/>
                <a:cs typeface="Calibri"/>
              </a:rPr>
              <a:t> </a:t>
            </a:r>
            <a:r>
              <a:rPr sz="1298" dirty="0">
                <a:solidFill>
                  <a:srgbClr val="202020"/>
                </a:solidFill>
                <a:latin typeface="Calibri"/>
                <a:cs typeface="Calibri"/>
              </a:rPr>
              <a:t>FK).</a:t>
            </a:r>
            <a:r>
              <a:rPr sz="1298" spc="-40" dirty="0">
                <a:solidFill>
                  <a:srgbClr val="202020"/>
                </a:solidFill>
                <a:latin typeface="Calibri"/>
                <a:cs typeface="Calibri"/>
              </a:rPr>
              <a:t> </a:t>
            </a:r>
            <a:r>
              <a:rPr sz="1298" dirty="0">
                <a:solidFill>
                  <a:srgbClr val="202020"/>
                </a:solidFill>
                <a:latin typeface="Calibri"/>
                <a:cs typeface="Calibri"/>
              </a:rPr>
              <a:t>Save</a:t>
            </a:r>
            <a:r>
              <a:rPr sz="1298" spc="-40" dirty="0">
                <a:solidFill>
                  <a:srgbClr val="202020"/>
                </a:solidFill>
                <a:latin typeface="Calibri"/>
                <a:cs typeface="Calibri"/>
              </a:rPr>
              <a:t> </a:t>
            </a:r>
            <a:r>
              <a:rPr sz="1298" dirty="0">
                <a:solidFill>
                  <a:srgbClr val="202020"/>
                </a:solidFill>
                <a:latin typeface="Calibri"/>
                <a:cs typeface="Calibri"/>
              </a:rPr>
              <a:t>the</a:t>
            </a:r>
            <a:r>
              <a:rPr sz="1298" spc="-45" dirty="0">
                <a:solidFill>
                  <a:srgbClr val="202020"/>
                </a:solidFill>
                <a:latin typeface="Calibri"/>
                <a:cs typeface="Calibri"/>
              </a:rPr>
              <a:t> </a:t>
            </a:r>
            <a:r>
              <a:rPr sz="1298" spc="-10" dirty="0">
                <a:solidFill>
                  <a:srgbClr val="202020"/>
                </a:solidFill>
                <a:latin typeface="Calibri"/>
                <a:cs typeface="Calibri"/>
              </a:rPr>
              <a:t>error messages.</a:t>
            </a:r>
            <a:endParaRPr sz="1298">
              <a:latin typeface="Calibri"/>
              <a:cs typeface="Calibri"/>
            </a:endParaRPr>
          </a:p>
          <a:p>
            <a:pPr marL="176952" indent="-164268">
              <a:spcBef>
                <a:spcPts val="315"/>
              </a:spcBef>
              <a:buAutoNum type="arabicPeriod"/>
              <a:tabLst>
                <a:tab pos="176952" algn="l"/>
              </a:tabLst>
            </a:pPr>
            <a:r>
              <a:rPr sz="1298" b="1" dirty="0">
                <a:solidFill>
                  <a:srgbClr val="1D3A5E"/>
                </a:solidFill>
                <a:latin typeface="Calibri"/>
                <a:cs typeface="Calibri"/>
              </a:rPr>
              <a:t>Cascade:</a:t>
            </a:r>
            <a:r>
              <a:rPr sz="1298" b="1" spc="-35" dirty="0">
                <a:solidFill>
                  <a:srgbClr val="1D3A5E"/>
                </a:solidFill>
                <a:latin typeface="Calibri"/>
                <a:cs typeface="Calibri"/>
              </a:rPr>
              <a:t> </a:t>
            </a:r>
            <a:r>
              <a:rPr sz="1298" b="1" dirty="0">
                <a:solidFill>
                  <a:srgbClr val="1D3A5E"/>
                </a:solidFill>
                <a:latin typeface="Calibri"/>
                <a:cs typeface="Calibri"/>
              </a:rPr>
              <a:t>:</a:t>
            </a:r>
            <a:r>
              <a:rPr sz="1298" b="1" spc="-40" dirty="0">
                <a:solidFill>
                  <a:srgbClr val="1D3A5E"/>
                </a:solidFill>
                <a:latin typeface="Calibri"/>
                <a:cs typeface="Calibri"/>
              </a:rPr>
              <a:t> </a:t>
            </a:r>
            <a:r>
              <a:rPr sz="1298" dirty="0">
                <a:solidFill>
                  <a:srgbClr val="202020"/>
                </a:solidFill>
                <a:latin typeface="Calibri"/>
                <a:cs typeface="Calibri"/>
              </a:rPr>
              <a:t>Add</a:t>
            </a:r>
            <a:r>
              <a:rPr sz="1298" spc="-35" dirty="0">
                <a:solidFill>
                  <a:srgbClr val="202020"/>
                </a:solidFill>
                <a:latin typeface="Calibri"/>
                <a:cs typeface="Calibri"/>
              </a:rPr>
              <a:t> </a:t>
            </a:r>
            <a:r>
              <a:rPr sz="1298" dirty="0">
                <a:solidFill>
                  <a:srgbClr val="202020"/>
                </a:solidFill>
                <a:latin typeface="Calibri"/>
                <a:cs typeface="Calibri"/>
              </a:rPr>
              <a:t>an</a:t>
            </a:r>
            <a:r>
              <a:rPr sz="1298" spc="-35" dirty="0">
                <a:solidFill>
                  <a:srgbClr val="202020"/>
                </a:solidFill>
                <a:latin typeface="Calibri"/>
                <a:cs typeface="Calibri"/>
              </a:rPr>
              <a:t> </a:t>
            </a:r>
            <a:r>
              <a:rPr sz="1298" spc="-10" dirty="0">
                <a:solidFill>
                  <a:srgbClr val="202020"/>
                </a:solidFill>
                <a:latin typeface="Calibri"/>
                <a:cs typeface="Calibri"/>
              </a:rPr>
              <a:t>order_items</a:t>
            </a:r>
            <a:r>
              <a:rPr sz="1298" spc="-30" dirty="0">
                <a:solidFill>
                  <a:srgbClr val="202020"/>
                </a:solidFill>
                <a:latin typeface="Calibri"/>
                <a:cs typeface="Calibri"/>
              </a:rPr>
              <a:t> </a:t>
            </a:r>
            <a:r>
              <a:rPr sz="1298" dirty="0">
                <a:solidFill>
                  <a:srgbClr val="202020"/>
                </a:solidFill>
                <a:latin typeface="Calibri"/>
                <a:cs typeface="Calibri"/>
              </a:rPr>
              <a:t>table</a:t>
            </a:r>
            <a:r>
              <a:rPr sz="1298" spc="-35" dirty="0">
                <a:solidFill>
                  <a:srgbClr val="202020"/>
                </a:solidFill>
                <a:latin typeface="Calibri"/>
                <a:cs typeface="Calibri"/>
              </a:rPr>
              <a:t> </a:t>
            </a:r>
            <a:r>
              <a:rPr sz="1298" dirty="0">
                <a:solidFill>
                  <a:srgbClr val="202020"/>
                </a:solidFill>
                <a:latin typeface="Calibri"/>
                <a:cs typeface="Calibri"/>
              </a:rPr>
              <a:t>with</a:t>
            </a:r>
            <a:r>
              <a:rPr sz="1298" spc="-35" dirty="0">
                <a:solidFill>
                  <a:srgbClr val="202020"/>
                </a:solidFill>
                <a:latin typeface="Calibri"/>
                <a:cs typeface="Calibri"/>
              </a:rPr>
              <a:t> </a:t>
            </a:r>
            <a:r>
              <a:rPr sz="1298" dirty="0">
                <a:solidFill>
                  <a:srgbClr val="202020"/>
                </a:solidFill>
                <a:latin typeface="Calibri"/>
                <a:cs typeface="Calibri"/>
              </a:rPr>
              <a:t>ON</a:t>
            </a:r>
            <a:r>
              <a:rPr sz="1298" spc="-35" dirty="0">
                <a:solidFill>
                  <a:srgbClr val="202020"/>
                </a:solidFill>
                <a:latin typeface="Calibri"/>
                <a:cs typeface="Calibri"/>
              </a:rPr>
              <a:t> </a:t>
            </a:r>
            <a:r>
              <a:rPr sz="1298" dirty="0">
                <a:solidFill>
                  <a:srgbClr val="202020"/>
                </a:solidFill>
                <a:latin typeface="Calibri"/>
                <a:cs typeface="Calibri"/>
              </a:rPr>
              <a:t>DELETE</a:t>
            </a:r>
            <a:r>
              <a:rPr sz="1298" spc="-30" dirty="0">
                <a:solidFill>
                  <a:srgbClr val="202020"/>
                </a:solidFill>
                <a:latin typeface="Calibri"/>
                <a:cs typeface="Calibri"/>
              </a:rPr>
              <a:t> </a:t>
            </a:r>
            <a:r>
              <a:rPr sz="1298" dirty="0">
                <a:solidFill>
                  <a:srgbClr val="202020"/>
                </a:solidFill>
                <a:latin typeface="Calibri"/>
                <a:cs typeface="Calibri"/>
              </a:rPr>
              <a:t>CASCADE</a:t>
            </a:r>
            <a:r>
              <a:rPr sz="1298" spc="-35" dirty="0">
                <a:solidFill>
                  <a:srgbClr val="202020"/>
                </a:solidFill>
                <a:latin typeface="Calibri"/>
                <a:cs typeface="Calibri"/>
              </a:rPr>
              <a:t> </a:t>
            </a:r>
            <a:r>
              <a:rPr sz="1298" dirty="0">
                <a:solidFill>
                  <a:srgbClr val="202020"/>
                </a:solidFill>
                <a:latin typeface="Calibri"/>
                <a:cs typeface="Calibri"/>
              </a:rPr>
              <a:t>to</a:t>
            </a:r>
            <a:r>
              <a:rPr sz="1298" spc="-35" dirty="0">
                <a:solidFill>
                  <a:srgbClr val="202020"/>
                </a:solidFill>
                <a:latin typeface="Calibri"/>
                <a:cs typeface="Calibri"/>
              </a:rPr>
              <a:t> </a:t>
            </a:r>
            <a:r>
              <a:rPr sz="1298" spc="-10" dirty="0">
                <a:solidFill>
                  <a:srgbClr val="202020"/>
                </a:solidFill>
                <a:latin typeface="Calibri"/>
                <a:cs typeface="Calibri"/>
              </a:rPr>
              <a:t>orders.</a:t>
            </a:r>
            <a:r>
              <a:rPr sz="1298" spc="-35" dirty="0">
                <a:solidFill>
                  <a:srgbClr val="202020"/>
                </a:solidFill>
                <a:latin typeface="Calibri"/>
                <a:cs typeface="Calibri"/>
              </a:rPr>
              <a:t> </a:t>
            </a:r>
            <a:r>
              <a:rPr sz="1298" spc="-10" dirty="0">
                <a:solidFill>
                  <a:srgbClr val="202020"/>
                </a:solidFill>
                <a:latin typeface="Calibri"/>
                <a:cs typeface="Calibri"/>
              </a:rPr>
              <a:t>Delete</a:t>
            </a:r>
            <a:r>
              <a:rPr sz="1298" spc="-35" dirty="0">
                <a:solidFill>
                  <a:srgbClr val="202020"/>
                </a:solidFill>
                <a:latin typeface="Calibri"/>
                <a:cs typeface="Calibri"/>
              </a:rPr>
              <a:t> </a:t>
            </a:r>
            <a:r>
              <a:rPr sz="1298" dirty="0">
                <a:solidFill>
                  <a:srgbClr val="202020"/>
                </a:solidFill>
                <a:latin typeface="Calibri"/>
                <a:cs typeface="Calibri"/>
              </a:rPr>
              <a:t>an</a:t>
            </a:r>
            <a:r>
              <a:rPr sz="1298" spc="-30" dirty="0">
                <a:solidFill>
                  <a:srgbClr val="202020"/>
                </a:solidFill>
                <a:latin typeface="Calibri"/>
                <a:cs typeface="Calibri"/>
              </a:rPr>
              <a:t> </a:t>
            </a:r>
            <a:r>
              <a:rPr sz="1298" dirty="0">
                <a:solidFill>
                  <a:srgbClr val="202020"/>
                </a:solidFill>
                <a:latin typeface="Calibri"/>
                <a:cs typeface="Calibri"/>
              </a:rPr>
              <a:t>order;</a:t>
            </a:r>
            <a:r>
              <a:rPr sz="1298" spc="-35" dirty="0">
                <a:solidFill>
                  <a:srgbClr val="202020"/>
                </a:solidFill>
                <a:latin typeface="Calibri"/>
                <a:cs typeface="Calibri"/>
              </a:rPr>
              <a:t> </a:t>
            </a:r>
            <a:r>
              <a:rPr sz="1298" spc="-10" dirty="0">
                <a:solidFill>
                  <a:srgbClr val="202020"/>
                </a:solidFill>
                <a:latin typeface="Calibri"/>
                <a:cs typeface="Calibri"/>
              </a:rPr>
              <a:t>confirm</a:t>
            </a:r>
            <a:r>
              <a:rPr sz="1298" spc="-35" dirty="0">
                <a:solidFill>
                  <a:srgbClr val="202020"/>
                </a:solidFill>
                <a:latin typeface="Calibri"/>
                <a:cs typeface="Calibri"/>
              </a:rPr>
              <a:t> </a:t>
            </a:r>
            <a:r>
              <a:rPr sz="1298" dirty="0">
                <a:solidFill>
                  <a:srgbClr val="202020"/>
                </a:solidFill>
                <a:latin typeface="Calibri"/>
                <a:cs typeface="Calibri"/>
              </a:rPr>
              <a:t>its</a:t>
            </a:r>
            <a:r>
              <a:rPr sz="1298" spc="-35" dirty="0">
                <a:solidFill>
                  <a:srgbClr val="202020"/>
                </a:solidFill>
                <a:latin typeface="Calibri"/>
                <a:cs typeface="Calibri"/>
              </a:rPr>
              <a:t> </a:t>
            </a:r>
            <a:r>
              <a:rPr sz="1298" dirty="0">
                <a:solidFill>
                  <a:srgbClr val="202020"/>
                </a:solidFill>
                <a:latin typeface="Calibri"/>
                <a:cs typeface="Calibri"/>
              </a:rPr>
              <a:t>items</a:t>
            </a:r>
            <a:r>
              <a:rPr sz="1298" spc="-30" dirty="0">
                <a:solidFill>
                  <a:srgbClr val="202020"/>
                </a:solidFill>
                <a:latin typeface="Calibri"/>
                <a:cs typeface="Calibri"/>
              </a:rPr>
              <a:t> </a:t>
            </a:r>
            <a:r>
              <a:rPr sz="1298" spc="-10" dirty="0">
                <a:solidFill>
                  <a:srgbClr val="202020"/>
                </a:solidFill>
                <a:latin typeface="Calibri"/>
                <a:cs typeface="Calibri"/>
              </a:rPr>
              <a:t>vanish.</a:t>
            </a:r>
            <a:endParaRPr sz="1298">
              <a:latin typeface="Calibri"/>
              <a:cs typeface="Calibri"/>
            </a:endParaRPr>
          </a:p>
          <a:p>
            <a:pPr marL="12685" marR="549884">
              <a:lnSpc>
                <a:spcPct val="120100"/>
              </a:lnSpc>
              <a:spcBef>
                <a:spcPts val="569"/>
              </a:spcBef>
            </a:pPr>
            <a:r>
              <a:rPr sz="1298" spc="-25" dirty="0">
                <a:solidFill>
                  <a:srgbClr val="202020"/>
                </a:solidFill>
                <a:latin typeface="Calibri"/>
                <a:cs typeface="Calibri"/>
              </a:rPr>
              <a:t>Tomorrow:</a:t>
            </a:r>
            <a:r>
              <a:rPr sz="1298" spc="-50" dirty="0">
                <a:solidFill>
                  <a:srgbClr val="202020"/>
                </a:solidFill>
                <a:latin typeface="Calibri"/>
                <a:cs typeface="Calibri"/>
              </a:rPr>
              <a:t> </a:t>
            </a:r>
            <a:r>
              <a:rPr sz="1298" spc="-10" dirty="0">
                <a:solidFill>
                  <a:srgbClr val="202020"/>
                </a:solidFill>
                <a:latin typeface="Calibri"/>
                <a:cs typeface="Calibri"/>
              </a:rPr>
              <a:t>Filtering</a:t>
            </a:r>
            <a:r>
              <a:rPr sz="1298" spc="-40" dirty="0">
                <a:solidFill>
                  <a:srgbClr val="202020"/>
                </a:solidFill>
                <a:latin typeface="Calibri"/>
                <a:cs typeface="Calibri"/>
              </a:rPr>
              <a:t> </a:t>
            </a:r>
            <a:r>
              <a:rPr sz="1298" dirty="0">
                <a:solidFill>
                  <a:srgbClr val="202020"/>
                </a:solidFill>
                <a:latin typeface="Calibri"/>
                <a:cs typeface="Calibri"/>
              </a:rPr>
              <a:t>&amp;</a:t>
            </a:r>
            <a:r>
              <a:rPr sz="1298" spc="-30" dirty="0">
                <a:solidFill>
                  <a:srgbClr val="202020"/>
                </a:solidFill>
                <a:latin typeface="Calibri"/>
                <a:cs typeface="Calibri"/>
              </a:rPr>
              <a:t> </a:t>
            </a:r>
            <a:r>
              <a:rPr sz="1298" dirty="0">
                <a:solidFill>
                  <a:srgbClr val="202020"/>
                </a:solidFill>
                <a:latin typeface="Calibri"/>
                <a:cs typeface="Calibri"/>
              </a:rPr>
              <a:t>Sorting</a:t>
            </a:r>
            <a:r>
              <a:rPr sz="1298" spc="-30" dirty="0">
                <a:solidFill>
                  <a:srgbClr val="202020"/>
                </a:solidFill>
                <a:latin typeface="Calibri"/>
                <a:cs typeface="Calibri"/>
              </a:rPr>
              <a:t> </a:t>
            </a:r>
            <a:r>
              <a:rPr sz="1298" dirty="0">
                <a:solidFill>
                  <a:srgbClr val="202020"/>
                </a:solidFill>
                <a:latin typeface="Calibri"/>
                <a:cs typeface="Calibri"/>
              </a:rPr>
              <a:t>-</a:t>
            </a:r>
            <a:r>
              <a:rPr sz="1298" spc="-30" dirty="0">
                <a:solidFill>
                  <a:srgbClr val="202020"/>
                </a:solidFill>
                <a:latin typeface="Calibri"/>
                <a:cs typeface="Calibri"/>
              </a:rPr>
              <a:t> </a:t>
            </a:r>
            <a:r>
              <a:rPr sz="1298" dirty="0">
                <a:solidFill>
                  <a:srgbClr val="202020"/>
                </a:solidFill>
                <a:latin typeface="Calibri"/>
                <a:cs typeface="Calibri"/>
              </a:rPr>
              <a:t>your</a:t>
            </a:r>
            <a:r>
              <a:rPr sz="1298" spc="-30" dirty="0">
                <a:solidFill>
                  <a:srgbClr val="202020"/>
                </a:solidFill>
                <a:latin typeface="Calibri"/>
                <a:cs typeface="Calibri"/>
              </a:rPr>
              <a:t> </a:t>
            </a:r>
            <a:r>
              <a:rPr sz="1298" dirty="0">
                <a:solidFill>
                  <a:srgbClr val="202020"/>
                </a:solidFill>
                <a:latin typeface="Calibri"/>
                <a:cs typeface="Calibri"/>
              </a:rPr>
              <a:t>FIRST</a:t>
            </a:r>
            <a:r>
              <a:rPr sz="1298" spc="-30" dirty="0">
                <a:solidFill>
                  <a:srgbClr val="202020"/>
                </a:solidFill>
                <a:latin typeface="Calibri"/>
                <a:cs typeface="Calibri"/>
              </a:rPr>
              <a:t> </a:t>
            </a:r>
            <a:r>
              <a:rPr sz="1298" dirty="0">
                <a:solidFill>
                  <a:srgbClr val="202020"/>
                </a:solidFill>
                <a:latin typeface="Calibri"/>
                <a:cs typeface="Calibri"/>
              </a:rPr>
              <a:t>real</a:t>
            </a:r>
            <a:r>
              <a:rPr sz="1298" spc="-30" dirty="0">
                <a:solidFill>
                  <a:srgbClr val="202020"/>
                </a:solidFill>
                <a:latin typeface="Calibri"/>
                <a:cs typeface="Calibri"/>
              </a:rPr>
              <a:t> </a:t>
            </a:r>
            <a:r>
              <a:rPr sz="1298" dirty="0">
                <a:solidFill>
                  <a:srgbClr val="202020"/>
                </a:solidFill>
                <a:latin typeface="Calibri"/>
                <a:cs typeface="Calibri"/>
              </a:rPr>
              <a:t>DQL.</a:t>
            </a:r>
            <a:r>
              <a:rPr sz="1298" spc="-30" dirty="0">
                <a:solidFill>
                  <a:srgbClr val="202020"/>
                </a:solidFill>
                <a:latin typeface="Calibri"/>
                <a:cs typeface="Calibri"/>
              </a:rPr>
              <a:t> </a:t>
            </a:r>
            <a:r>
              <a:rPr sz="1298" dirty="0">
                <a:solidFill>
                  <a:srgbClr val="202020"/>
                </a:solidFill>
                <a:latin typeface="Calibri"/>
                <a:cs typeface="Calibri"/>
              </a:rPr>
              <a:t>WHERE,</a:t>
            </a:r>
            <a:r>
              <a:rPr sz="1298" spc="-30" dirty="0">
                <a:solidFill>
                  <a:srgbClr val="202020"/>
                </a:solidFill>
                <a:latin typeface="Calibri"/>
                <a:cs typeface="Calibri"/>
              </a:rPr>
              <a:t> </a:t>
            </a:r>
            <a:r>
              <a:rPr sz="1298" dirty="0">
                <a:solidFill>
                  <a:srgbClr val="202020"/>
                </a:solidFill>
                <a:latin typeface="Calibri"/>
                <a:cs typeface="Calibri"/>
              </a:rPr>
              <a:t>LIKE,</a:t>
            </a:r>
            <a:r>
              <a:rPr sz="1298" spc="-30" dirty="0">
                <a:solidFill>
                  <a:srgbClr val="202020"/>
                </a:solidFill>
                <a:latin typeface="Calibri"/>
                <a:cs typeface="Calibri"/>
              </a:rPr>
              <a:t> </a:t>
            </a:r>
            <a:r>
              <a:rPr sz="1298" spc="-10" dirty="0">
                <a:solidFill>
                  <a:srgbClr val="202020"/>
                </a:solidFill>
                <a:latin typeface="Calibri"/>
                <a:cs typeface="Calibri"/>
              </a:rPr>
              <a:t>BETWEEN,</a:t>
            </a:r>
            <a:r>
              <a:rPr sz="1298" spc="-30" dirty="0">
                <a:solidFill>
                  <a:srgbClr val="202020"/>
                </a:solidFill>
                <a:latin typeface="Calibri"/>
                <a:cs typeface="Calibri"/>
              </a:rPr>
              <a:t> </a:t>
            </a:r>
            <a:r>
              <a:rPr sz="1298" dirty="0">
                <a:solidFill>
                  <a:srgbClr val="202020"/>
                </a:solidFill>
                <a:latin typeface="Calibri"/>
                <a:cs typeface="Calibri"/>
              </a:rPr>
              <a:t>IN,</a:t>
            </a:r>
            <a:r>
              <a:rPr sz="1298" spc="-35" dirty="0">
                <a:solidFill>
                  <a:srgbClr val="202020"/>
                </a:solidFill>
                <a:latin typeface="Calibri"/>
                <a:cs typeface="Calibri"/>
              </a:rPr>
              <a:t> </a:t>
            </a:r>
            <a:r>
              <a:rPr sz="1298" dirty="0">
                <a:solidFill>
                  <a:srgbClr val="202020"/>
                </a:solidFill>
                <a:latin typeface="Calibri"/>
                <a:cs typeface="Calibri"/>
              </a:rPr>
              <a:t>IS</a:t>
            </a:r>
            <a:r>
              <a:rPr sz="1298" spc="-30" dirty="0">
                <a:solidFill>
                  <a:srgbClr val="202020"/>
                </a:solidFill>
                <a:latin typeface="Calibri"/>
                <a:cs typeface="Calibri"/>
              </a:rPr>
              <a:t> </a:t>
            </a:r>
            <a:r>
              <a:rPr sz="1298" dirty="0">
                <a:solidFill>
                  <a:srgbClr val="202020"/>
                </a:solidFill>
                <a:latin typeface="Calibri"/>
                <a:cs typeface="Calibri"/>
              </a:rPr>
              <a:t>NULL,</a:t>
            </a:r>
            <a:r>
              <a:rPr sz="1298" spc="-30" dirty="0">
                <a:solidFill>
                  <a:srgbClr val="202020"/>
                </a:solidFill>
                <a:latin typeface="Calibri"/>
                <a:cs typeface="Calibri"/>
              </a:rPr>
              <a:t> </a:t>
            </a:r>
            <a:r>
              <a:rPr sz="1298" dirty="0">
                <a:solidFill>
                  <a:srgbClr val="202020"/>
                </a:solidFill>
                <a:latin typeface="Calibri"/>
                <a:cs typeface="Calibri"/>
              </a:rPr>
              <a:t>ORDER</a:t>
            </a:r>
            <a:r>
              <a:rPr sz="1298" spc="-30" dirty="0">
                <a:solidFill>
                  <a:srgbClr val="202020"/>
                </a:solidFill>
                <a:latin typeface="Calibri"/>
                <a:cs typeface="Calibri"/>
              </a:rPr>
              <a:t> </a:t>
            </a:r>
            <a:r>
              <a:rPr sz="1298" spc="-75" dirty="0">
                <a:solidFill>
                  <a:srgbClr val="202020"/>
                </a:solidFill>
                <a:latin typeface="Calibri"/>
                <a:cs typeface="Calibri"/>
              </a:rPr>
              <a:t>BY,</a:t>
            </a:r>
            <a:r>
              <a:rPr sz="1298" spc="-5" dirty="0">
                <a:solidFill>
                  <a:srgbClr val="202020"/>
                </a:solidFill>
                <a:latin typeface="Calibri"/>
                <a:cs typeface="Calibri"/>
              </a:rPr>
              <a:t> </a:t>
            </a:r>
            <a:r>
              <a:rPr sz="1298" dirty="0">
                <a:solidFill>
                  <a:srgbClr val="202020"/>
                </a:solidFill>
                <a:latin typeface="Calibri"/>
                <a:cs typeface="Calibri"/>
              </a:rPr>
              <a:t>LIMIT</a:t>
            </a:r>
            <a:r>
              <a:rPr sz="1298" spc="-30" dirty="0">
                <a:solidFill>
                  <a:srgbClr val="202020"/>
                </a:solidFill>
                <a:latin typeface="Calibri"/>
                <a:cs typeface="Calibri"/>
              </a:rPr>
              <a:t> </a:t>
            </a:r>
            <a:r>
              <a:rPr sz="1298" spc="-25" dirty="0">
                <a:solidFill>
                  <a:srgbClr val="202020"/>
                </a:solidFill>
                <a:latin typeface="Calibri"/>
                <a:cs typeface="Calibri"/>
              </a:rPr>
              <a:t>on </a:t>
            </a:r>
            <a:r>
              <a:rPr sz="1298" spc="-10" dirty="0">
                <a:solidFill>
                  <a:srgbClr val="202020"/>
                </a:solidFill>
                <a:latin typeface="Calibri"/>
                <a:cs typeface="Calibri"/>
              </a:rPr>
              <a:t>RetailMart.</a:t>
            </a:r>
            <a:endParaRPr sz="1298">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8891</Words>
  <Application>Microsoft Office PowerPoint</Application>
  <PresentationFormat>On-screen Show (16:9)</PresentationFormat>
  <Paragraphs>811</Paragraphs>
  <Slides>48</Slides>
  <Notes>17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48</vt:i4>
      </vt:variant>
    </vt:vector>
  </HeadingPairs>
  <TitlesOfParts>
    <vt:vector size="59" baseType="lpstr">
      <vt:lpstr>Arial</vt:lpstr>
      <vt:lpstr>Arial MT</vt:lpstr>
      <vt:lpstr>Calibri</vt:lpstr>
      <vt:lpstr>Carlito</vt:lpstr>
      <vt:lpstr>Courier New</vt:lpstr>
      <vt:lpstr>Georgia</vt:lpstr>
      <vt:lpstr>Liberation Sans Narrow</vt:lpstr>
      <vt:lpstr>Segoe UI 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EASY</vt:lpstr>
      <vt:lpstr>Answer</vt:lpstr>
      <vt:lpstr>MEDIUM</vt:lpstr>
      <vt:lpstr>Find the 9 Wrong Types</vt:lpstr>
      <vt:lpstr>Answer</vt:lpstr>
      <vt:lpstr>HARD</vt:lpstr>
      <vt:lpstr>Answer</vt:lpstr>
      <vt:lpstr>CRAZY</vt:lpstr>
      <vt:lpstr>Answer (1/2)</vt:lpstr>
      <vt:lpstr>Answer (2/2)</vt:lpstr>
      <vt:lpstr>The Exam Hall Without Rules</vt:lpstr>
      <vt:lpstr>NOT NULL &amp; DEFAULT</vt:lpstr>
      <vt:lpstr>UNIQUE &amp; CHECK (1/2)</vt:lpstr>
      <vt:lpstr>UNIQUE &amp; CHECK (2/2)</vt:lpstr>
      <vt:lpstr>PRIMARY KEY - The Identity of Every Row</vt:lpstr>
      <vt:lpstr>FOREIGN KEY - The Bridge Between Tables (1/2)</vt:lpstr>
      <vt:lpstr>FOREIGN KEY - The Bridge Between Tables (2/2)</vt:lpstr>
      <vt:lpstr>ON DELETE Actions - What Happens to Children?</vt:lpstr>
      <vt:lpstr>ALTER TABLE - Add &amp; Drop Constraints on EXISTING Tables (1/2)</vt:lpstr>
      <vt:lpstr>ALTER TABLE - Add &amp; Drop Constraints on EXISTING Tables (2/2)</vt:lpstr>
      <vt:lpstr>EASY</vt:lpstr>
      <vt:lpstr>Answer</vt:lpstr>
      <vt:lpstr>MEDIUM</vt:lpstr>
      <vt:lpstr>Answer</vt:lpstr>
      <vt:lpstr>HARD</vt:lpstr>
      <vt:lpstr>Answer</vt:lpstr>
      <vt:lpstr>CRAZY</vt:lpstr>
      <vt:lpstr>Answer (1/2)</vt:lpstr>
      <vt:lpstr>PowerPoint Presentation</vt:lpstr>
      <vt:lpstr>Data Types, Constraints &amp; Keys Self-Check (12 Questions)</vt:lpstr>
      <vt:lpstr>Data Types, Constraints &amp; Keys Take-Home Challenge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Ankit Kumar</cp:lastModifiedBy>
  <cp:revision>5</cp:revision>
  <dcterms:created xsi:type="dcterms:W3CDTF">2026-09-19T10:14:11Z</dcterms:created>
  <dcterms:modified xsi:type="dcterms:W3CDTF">2026-09-19T11:10:14Z</dcterms:modified>
</cp:coreProperties>
</file>