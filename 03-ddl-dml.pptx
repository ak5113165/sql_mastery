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02020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2020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2020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2020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2020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2020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7F8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1D3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9864" y="672022"/>
            <a:ext cx="8125459" cy="4078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02020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136" y="1403468"/>
            <a:ext cx="8004809" cy="1908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2020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mailto:%27diya@college.edu" TargetMode="External"/><Relationship Id="rId2" Type="http://schemas.openxmlformats.org/officeDocument/2006/relationships/hyperlink" Target="mailto:%27aarav@college.ed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%27meera@college.edu" TargetMode="External"/><Relationship Id="rId4" Type="http://schemas.openxmlformats.org/officeDocument/2006/relationships/hyperlink" Target="mailto:%27kabir@college.edu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mailto:%27aarav.sharma@college.edu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mailto:%27diya@college.edu" TargetMode="External"/><Relationship Id="rId2" Type="http://schemas.openxmlformats.org/officeDocument/2006/relationships/hyperlink" Target="mailto:%27aarav@college.ed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%27meera@college.edu" TargetMode="External"/><Relationship Id="rId4" Type="http://schemas.openxmlformats.org/officeDocument/2006/relationships/hyperlink" Target="mailto:%27kabir@college.edu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mailto:%27aarav.sharma@college.edu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mailto:%27aarav.sharma@college.edu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002"/>
            <a:ext cx="9144000" cy="5090160"/>
          </a:xfrm>
          <a:custGeom>
            <a:avLst/>
            <a:gdLst/>
            <a:ahLst/>
            <a:cxnLst/>
            <a:rect l="l" t="t" r="r" b="b"/>
            <a:pathLst>
              <a:path w="9144000" h="5090160">
                <a:moveTo>
                  <a:pt x="0" y="5089677"/>
                </a:moveTo>
                <a:lnTo>
                  <a:pt x="9144000" y="5089677"/>
                </a:lnTo>
                <a:lnTo>
                  <a:pt x="9144000" y="0"/>
                </a:lnTo>
                <a:lnTo>
                  <a:pt x="0" y="0"/>
                </a:lnTo>
                <a:lnTo>
                  <a:pt x="0" y="5089677"/>
                </a:lnTo>
                <a:close/>
              </a:path>
            </a:pathLst>
          </a:custGeom>
          <a:solidFill>
            <a:srgbClr val="191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861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136" y="1206260"/>
            <a:ext cx="29864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3880" algn="l"/>
                <a:tab pos="2298065" algn="l"/>
                <a:tab pos="2538730" algn="l"/>
              </a:tabLst>
            </a:pP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R</a:t>
            </a:r>
            <a:r>
              <a:rPr sz="1400" b="1" spc="27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E</a:t>
            </a:r>
            <a:r>
              <a:rPr sz="1400" b="1" spc="27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T</a:t>
            </a:r>
            <a:r>
              <a:rPr sz="1400" b="1" spc="16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A</a:t>
            </a:r>
            <a:r>
              <a:rPr sz="1400" b="1" spc="27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I</a:t>
            </a:r>
            <a:r>
              <a:rPr sz="1400" b="1" spc="27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L</a:t>
            </a:r>
            <a:r>
              <a:rPr sz="1400" b="1" spc="27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M</a:t>
            </a:r>
            <a:r>
              <a:rPr sz="1400" b="1" spc="275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A</a:t>
            </a:r>
            <a:r>
              <a:rPr sz="1400" b="1" spc="27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R</a:t>
            </a:r>
            <a:r>
              <a:rPr sz="1400" b="1" spc="265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F86166"/>
                </a:solidFill>
                <a:latin typeface="Calibri"/>
                <a:cs typeface="Calibri"/>
              </a:rPr>
              <a:t>T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	V</a:t>
            </a:r>
            <a:r>
              <a:rPr sz="1400" b="1" spc="275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F86166"/>
                </a:solidFill>
                <a:latin typeface="Calibri"/>
                <a:cs typeface="Calibri"/>
              </a:rPr>
              <a:t>3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	</a:t>
            </a:r>
            <a:r>
              <a:rPr sz="1400" b="1" spc="-50" dirty="0">
                <a:solidFill>
                  <a:srgbClr val="F86166"/>
                </a:solidFill>
                <a:latin typeface="Calibri"/>
                <a:cs typeface="Calibri"/>
              </a:rPr>
              <a:t>·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	S</a:t>
            </a:r>
            <a:r>
              <a:rPr sz="1400" b="1" spc="265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Q</a:t>
            </a:r>
            <a:r>
              <a:rPr sz="1400" b="1" spc="265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F86166"/>
                </a:solidFill>
                <a:latin typeface="Calibri"/>
                <a:cs typeface="Calibri"/>
              </a:rPr>
              <a:t>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34136" y="1800620"/>
            <a:ext cx="301942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FFFFFF"/>
                </a:solidFill>
              </a:rPr>
              <a:t>DDL</a:t>
            </a:r>
            <a:r>
              <a:rPr sz="3800" spc="-45" dirty="0">
                <a:solidFill>
                  <a:srgbClr val="FFFFFF"/>
                </a:solidFill>
              </a:rPr>
              <a:t> </a:t>
            </a:r>
            <a:r>
              <a:rPr sz="3800" dirty="0">
                <a:solidFill>
                  <a:srgbClr val="FFFFFF"/>
                </a:solidFill>
              </a:rPr>
              <a:t>&amp;</a:t>
            </a:r>
            <a:r>
              <a:rPr sz="3800" spc="-35" dirty="0">
                <a:solidFill>
                  <a:srgbClr val="FFFFFF"/>
                </a:solidFill>
              </a:rPr>
              <a:t> </a:t>
            </a:r>
            <a:r>
              <a:rPr sz="3800" spc="-25" dirty="0">
                <a:solidFill>
                  <a:srgbClr val="FFFFFF"/>
                </a:solidFill>
              </a:rPr>
              <a:t>DML</a:t>
            </a:r>
            <a:endParaRPr sz="3800"/>
          </a:p>
        </p:txBody>
      </p:sp>
      <p:sp>
        <p:nvSpPr>
          <p:cNvPr id="6" name="object 6"/>
          <p:cNvSpPr txBox="1"/>
          <p:nvPr/>
        </p:nvSpPr>
        <p:spPr>
          <a:xfrm>
            <a:off x="534136" y="4482632"/>
            <a:ext cx="22136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545477"/>
                </a:solidFill>
                <a:latin typeface="Calibri"/>
                <a:cs typeface="Calibri"/>
              </a:rPr>
              <a:t>AccioJob</a:t>
            </a:r>
            <a:r>
              <a:rPr sz="1000" spc="-15" dirty="0">
                <a:solidFill>
                  <a:srgbClr val="54547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45477"/>
                </a:solidFill>
                <a:latin typeface="Calibri"/>
                <a:cs typeface="Calibri"/>
              </a:rPr>
              <a:t>SQL</a:t>
            </a:r>
            <a:r>
              <a:rPr sz="1000" spc="-10" dirty="0">
                <a:solidFill>
                  <a:srgbClr val="545477"/>
                </a:solidFill>
                <a:latin typeface="Calibri"/>
                <a:cs typeface="Calibri"/>
              </a:rPr>
              <a:t> Masterclass</a:t>
            </a:r>
            <a:r>
              <a:rPr sz="1000" spc="-15" dirty="0">
                <a:solidFill>
                  <a:srgbClr val="54547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45477"/>
                </a:solidFill>
                <a:latin typeface="Calibri"/>
                <a:cs typeface="Calibri"/>
              </a:rPr>
              <a:t>—</a:t>
            </a:r>
            <a:r>
              <a:rPr sz="1000" spc="-10" dirty="0">
                <a:solidFill>
                  <a:srgbClr val="545477"/>
                </a:solidFill>
                <a:latin typeface="Calibri"/>
                <a:cs typeface="Calibri"/>
              </a:rPr>
              <a:t> RetailMart</a:t>
            </a:r>
            <a:r>
              <a:rPr sz="1000" spc="-15" dirty="0">
                <a:solidFill>
                  <a:srgbClr val="545477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545477"/>
                </a:solidFill>
                <a:latin typeface="Calibri"/>
                <a:cs typeface="Calibri"/>
              </a:rPr>
              <a:t>V3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61376" y="4482632"/>
            <a:ext cx="548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545477"/>
                </a:solidFill>
                <a:latin typeface="Calibri"/>
                <a:cs typeface="Calibri"/>
              </a:rPr>
              <a:t>—</a:t>
            </a:r>
            <a:r>
              <a:rPr sz="1000" spc="-35" dirty="0">
                <a:solidFill>
                  <a:srgbClr val="54547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45477"/>
                </a:solidFill>
                <a:latin typeface="Calibri"/>
                <a:cs typeface="Calibri"/>
              </a:rPr>
              <a:t>Siraj</a:t>
            </a:r>
            <a:r>
              <a:rPr sz="1000" spc="-25" dirty="0">
                <a:solidFill>
                  <a:srgbClr val="545477"/>
                </a:solidFill>
                <a:latin typeface="Calibri"/>
                <a:cs typeface="Calibri"/>
              </a:rPr>
              <a:t> Sir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164" y="273966"/>
            <a:ext cx="7680959" cy="457200"/>
          </a:xfrm>
          <a:custGeom>
            <a:avLst/>
            <a:gdLst/>
            <a:ahLst/>
            <a:cxnLst/>
            <a:rect l="l" t="t" r="r" b="b"/>
            <a:pathLst>
              <a:path w="7680959" h="457200">
                <a:moveTo>
                  <a:pt x="7680591" y="0"/>
                </a:moveTo>
                <a:lnTo>
                  <a:pt x="0" y="0"/>
                </a:lnTo>
                <a:lnTo>
                  <a:pt x="0" y="456831"/>
                </a:lnTo>
                <a:lnTo>
                  <a:pt x="3840479" y="456831"/>
                </a:lnTo>
                <a:lnTo>
                  <a:pt x="7680591" y="456831"/>
                </a:lnTo>
                <a:lnTo>
                  <a:pt x="7680591" y="0"/>
                </a:lnTo>
                <a:close/>
              </a:path>
            </a:pathLst>
          </a:custGeom>
          <a:solidFill>
            <a:srgbClr val="24D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70655" y="338841"/>
            <a:ext cx="219964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0" spc="-210" dirty="0">
                <a:solidFill>
                  <a:srgbClr val="FFFFFF"/>
                </a:solidFill>
                <a:latin typeface="Segoe UI Symbol"/>
                <a:cs typeface="Segoe UI Symbol"/>
              </a:rPr>
              <a:t>📱</a:t>
            </a:r>
            <a:r>
              <a:rPr sz="1750" b="0" spc="-300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WhatsApp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Announcement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1164" y="822606"/>
            <a:ext cx="7680959" cy="4114800"/>
            <a:chOff x="731164" y="822606"/>
            <a:chExt cx="7680959" cy="4114800"/>
          </a:xfrm>
        </p:grpSpPr>
        <p:sp>
          <p:nvSpPr>
            <p:cNvPr id="5" name="object 5"/>
            <p:cNvSpPr/>
            <p:nvPr/>
          </p:nvSpPr>
          <p:spPr>
            <a:xfrm>
              <a:off x="731164" y="822606"/>
              <a:ext cx="7680959" cy="4114800"/>
            </a:xfrm>
            <a:custGeom>
              <a:avLst/>
              <a:gdLst/>
              <a:ahLst/>
              <a:cxnLst/>
              <a:rect l="l" t="t" r="r" b="b"/>
              <a:pathLst>
                <a:path w="7680959" h="4114800">
                  <a:moveTo>
                    <a:pt x="7680591" y="0"/>
                  </a:moveTo>
                  <a:lnTo>
                    <a:pt x="0" y="0"/>
                  </a:lnTo>
                  <a:lnTo>
                    <a:pt x="0" y="4114431"/>
                  </a:lnTo>
                  <a:lnTo>
                    <a:pt x="3840479" y="4114431"/>
                  </a:lnTo>
                  <a:lnTo>
                    <a:pt x="7680591" y="4114431"/>
                  </a:lnTo>
                  <a:lnTo>
                    <a:pt x="7680591" y="0"/>
                  </a:lnTo>
                  <a:close/>
                </a:path>
              </a:pathLst>
            </a:custGeom>
            <a:solidFill>
              <a:srgbClr val="E8F4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1156" y="1243223"/>
              <a:ext cx="855980" cy="563245"/>
            </a:xfrm>
            <a:custGeom>
              <a:avLst/>
              <a:gdLst/>
              <a:ahLst/>
              <a:cxnLst/>
              <a:rect l="l" t="t" r="r" b="b"/>
              <a:pathLst>
                <a:path w="855980" h="563244">
                  <a:moveTo>
                    <a:pt x="0" y="0"/>
                  </a:moveTo>
                  <a:lnTo>
                    <a:pt x="855925" y="0"/>
                  </a:lnTo>
                </a:path>
                <a:path w="855980" h="563244">
                  <a:moveTo>
                    <a:pt x="0" y="562686"/>
                  </a:moveTo>
                  <a:lnTo>
                    <a:pt x="855925" y="562686"/>
                  </a:lnTo>
                </a:path>
              </a:pathLst>
            </a:custGeom>
            <a:ln w="10161">
              <a:solidFill>
                <a:srgbClr val="1F1F1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08456" y="874701"/>
            <a:ext cx="7438390" cy="1267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DDL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&amp;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DML: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Build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Your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First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Tables,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Fill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Them!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11900"/>
              </a:lnSpc>
              <a:spcBef>
                <a:spcPts val="5"/>
              </a:spcBef>
            </a:pP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Yesterday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explored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RetailMart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V3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55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tables,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millions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You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looked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data.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Today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go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spectator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architect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1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builder: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first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BUILD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(DDL),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put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202020"/>
                </a:solidFill>
                <a:latin typeface="Calibri"/>
                <a:cs typeface="Calibri"/>
              </a:rPr>
              <a:t>DATA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into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them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(DML).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Today's</a:t>
            </a:r>
            <a:r>
              <a:rPr sz="1100" spc="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Focus: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8456" y="2093884"/>
            <a:ext cx="75565" cy="77597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1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1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1534" y="2116185"/>
            <a:ext cx="5380990" cy="77597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DATABASE, 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CREATE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SCHEMA,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TABLE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building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structure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scratch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11900"/>
              </a:lnSpc>
            </a:pP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today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we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focus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100%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STRUCTURE,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types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(types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come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tomorrow) </a:t>
            </a:r>
            <a:r>
              <a:rPr sz="1100" spc="-30" dirty="0">
                <a:solidFill>
                  <a:srgbClr val="202020"/>
                </a:solidFill>
                <a:latin typeface="Calibri"/>
                <a:cs typeface="Calibri"/>
              </a:rPr>
              <a:t>DROP,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EXISTS,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naming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conventions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1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add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UPDATE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1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change</a:t>
            </a:r>
            <a:r>
              <a:rPr sz="11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1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DELETE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1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remove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TRUNCATE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1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empty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1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144" y="368174"/>
            <a:ext cx="42081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1D3A5E"/>
                </a:solidFill>
              </a:rPr>
              <a:t>TODAY'S</a:t>
            </a:r>
            <a:r>
              <a:rPr sz="2200" spc="-65" dirty="0">
                <a:solidFill>
                  <a:srgbClr val="1D3A5E"/>
                </a:solidFill>
              </a:rPr>
              <a:t> </a:t>
            </a:r>
            <a:r>
              <a:rPr sz="2200" dirty="0">
                <a:solidFill>
                  <a:srgbClr val="1D3A5E"/>
                </a:solidFill>
              </a:rPr>
              <a:t>AGENDA</a:t>
            </a:r>
            <a:r>
              <a:rPr sz="2200" spc="-65" dirty="0">
                <a:solidFill>
                  <a:srgbClr val="1D3A5E"/>
                </a:solidFill>
              </a:rPr>
              <a:t> </a:t>
            </a:r>
            <a:r>
              <a:rPr sz="2200" dirty="0">
                <a:solidFill>
                  <a:srgbClr val="1D3A5E"/>
                </a:solidFill>
              </a:rPr>
              <a:t>(2</a:t>
            </a:r>
            <a:r>
              <a:rPr sz="2200" spc="-65" dirty="0">
                <a:solidFill>
                  <a:srgbClr val="1D3A5E"/>
                </a:solidFill>
              </a:rPr>
              <a:t> </a:t>
            </a:r>
            <a:r>
              <a:rPr sz="2200" spc="-10" dirty="0">
                <a:solidFill>
                  <a:srgbClr val="1D3A5E"/>
                </a:solidFill>
              </a:rPr>
              <a:t>Hours)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457200" y="777242"/>
            <a:ext cx="1371600" cy="635"/>
          </a:xfrm>
          <a:custGeom>
            <a:avLst/>
            <a:gdLst/>
            <a:ahLst/>
            <a:cxnLst/>
            <a:rect l="l" t="t" r="r" b="b"/>
            <a:pathLst>
              <a:path w="1371600" h="634">
                <a:moveTo>
                  <a:pt x="0" y="0"/>
                </a:moveTo>
                <a:lnTo>
                  <a:pt x="1371600" y="355"/>
                </a:lnTo>
              </a:path>
            </a:pathLst>
          </a:custGeom>
          <a:ln w="25559">
            <a:solidFill>
              <a:srgbClr val="F861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4341" y="911543"/>
          <a:ext cx="8229599" cy="35178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Topics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Quick</a:t>
                      </a:r>
                      <a:r>
                        <a:rPr sz="1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Recap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mins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9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SQL</a:t>
                      </a:r>
                      <a:r>
                        <a:rPr sz="9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categories,</a:t>
                      </a:r>
                      <a:r>
                        <a:rPr sz="9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Database</a:t>
                      </a:r>
                      <a:r>
                        <a:rPr sz="9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hierarchy,</a:t>
                      </a:r>
                      <a:r>
                        <a:rPr sz="9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pgAdmin</a:t>
                      </a:r>
                      <a:r>
                        <a:rPr sz="9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connection</a:t>
                      </a:r>
                      <a:r>
                        <a:rPr sz="9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check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b="1" spc="-20" dirty="0">
                          <a:latin typeface="Calibri"/>
                          <a:cs typeface="Calibri"/>
                        </a:rPr>
                        <a:t>Topic</a:t>
                      </a:r>
                      <a:r>
                        <a:rPr sz="10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1: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DDL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Building Structures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35</a:t>
                      </a:r>
                      <a:r>
                        <a:rPr sz="1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mins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42799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CREATE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DATABASE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SCHEMA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TABLE,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Why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every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column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TEXT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today, 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DROP,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EXISTS,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Naming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conventions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Practice</a:t>
                      </a:r>
                      <a:r>
                        <a:rPr sz="10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0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1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mins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problems: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Build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tables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scratch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(all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TEXT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columns)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b="1" spc="-20" dirty="0">
                          <a:latin typeface="Calibri"/>
                          <a:cs typeface="Calibri"/>
                        </a:rPr>
                        <a:t>Topic</a:t>
                      </a:r>
                      <a:r>
                        <a:rPr sz="1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2:</a:t>
                      </a:r>
                      <a:r>
                        <a:rPr sz="1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DML</a:t>
                      </a:r>
                      <a:r>
                        <a:rPr sz="10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Putting</a:t>
                      </a:r>
                      <a:r>
                        <a:rPr sz="1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0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5" dirty="0">
                          <a:latin typeface="Calibri"/>
                          <a:cs typeface="Calibri"/>
                        </a:rPr>
                        <a:t>In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40</a:t>
                      </a:r>
                      <a:r>
                        <a:rPr sz="1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mins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619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INSERT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(single,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multi-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row,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RETURNING),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UPDATE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(always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WHERE!),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DELETE,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TRUNCATE,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DROP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vs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 TRUNCATE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vs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DELETE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Practice</a:t>
                      </a:r>
                      <a:r>
                        <a:rPr sz="10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0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mins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problems: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INSERT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UPDATE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DELETE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 TRUNCATE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tables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b="1" spc="-25" dirty="0">
                          <a:latin typeface="Calibri"/>
                          <a:cs typeface="Calibri"/>
                        </a:rPr>
                        <a:t>Wrap-up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15</a:t>
                      </a:r>
                      <a:r>
                        <a:rPr sz="1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mins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900" spc="-10" dirty="0">
                          <a:latin typeface="Calibri"/>
                          <a:cs typeface="Calibri"/>
                        </a:rPr>
                        <a:t>Summary,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latin typeface="Calibri"/>
                          <a:cs typeface="Calibri"/>
                        </a:rPr>
                        <a:t>self-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check,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homework,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Data</a:t>
                      </a:r>
                      <a:r>
                        <a:rPr sz="9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Types</a:t>
                      </a:r>
                      <a:r>
                        <a:rPr sz="9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9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Constraints</a:t>
                      </a:r>
                      <a:r>
                        <a:rPr sz="9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preview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144" y="276747"/>
            <a:ext cx="2115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B200"/>
                </a:solidFill>
                <a:latin typeface="Calibri"/>
                <a:cs typeface="Calibri"/>
              </a:rPr>
              <a:t>5-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Minute</a:t>
            </a:r>
            <a:r>
              <a:rPr sz="1600" spc="-7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Memory</a:t>
            </a:r>
            <a:r>
              <a:rPr sz="1600" spc="-7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B200"/>
                </a:solidFill>
                <a:latin typeface="Calibri"/>
                <a:cs typeface="Calibri"/>
              </a:rPr>
              <a:t>Check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17592"/>
            <a:ext cx="5969000" cy="2010807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SQL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Intro:</a:t>
            </a:r>
            <a:endParaRPr sz="1000" dirty="0">
              <a:latin typeface="Courier New"/>
              <a:cs typeface="Courier New"/>
            </a:endParaRPr>
          </a:p>
          <a:p>
            <a:pPr marL="316230" indent="-151765">
              <a:lnSpc>
                <a:spcPct val="100000"/>
              </a:lnSpc>
              <a:spcBef>
                <a:spcPts val="180"/>
              </a:spcBef>
              <a:buChar char="-"/>
              <a:tabLst>
                <a:tab pos="316230" algn="l"/>
              </a:tabLst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5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SQL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Categories: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DDL,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DML,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DQL,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DCL,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TCL</a:t>
            </a:r>
            <a:endParaRPr sz="1000" dirty="0">
              <a:latin typeface="Courier New"/>
              <a:cs typeface="Courier New"/>
            </a:endParaRPr>
          </a:p>
          <a:p>
            <a:pPr marL="316230" indent="-151765">
              <a:lnSpc>
                <a:spcPct val="100000"/>
              </a:lnSpc>
              <a:spcBef>
                <a:spcPts val="180"/>
              </a:spcBef>
              <a:buChar char="-"/>
              <a:tabLst>
                <a:tab pos="316230" algn="l"/>
              </a:tabLst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Database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Hierarchy: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Server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Database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Schema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Row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Cell</a:t>
            </a:r>
            <a:endParaRPr sz="1000" dirty="0">
              <a:latin typeface="Courier New"/>
              <a:cs typeface="Courier New"/>
            </a:endParaRPr>
          </a:p>
          <a:p>
            <a:pPr marL="316230" indent="-151765">
              <a:lnSpc>
                <a:spcPct val="100000"/>
              </a:lnSpc>
              <a:spcBef>
                <a:spcPts val="180"/>
              </a:spcBef>
              <a:buChar char="-"/>
              <a:tabLst>
                <a:tab pos="316230" algn="l"/>
              </a:tabLst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SQL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DECLARATIVE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you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say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WHAT,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engine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decides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HOW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buClr>
                <a:srgbClr val="D3D3D3"/>
              </a:buClr>
              <a:buFont typeface="Courier New"/>
              <a:buChar char="-"/>
            </a:pP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Setup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&amp;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Onboarding:</a:t>
            </a:r>
            <a:endParaRPr sz="1000" dirty="0">
              <a:latin typeface="Courier New"/>
              <a:cs typeface="Courier New"/>
            </a:endParaRPr>
          </a:p>
          <a:p>
            <a:pPr marL="316230" indent="-151765">
              <a:lnSpc>
                <a:spcPct val="100000"/>
              </a:lnSpc>
              <a:spcBef>
                <a:spcPts val="180"/>
              </a:spcBef>
              <a:buChar char="-"/>
              <a:tabLst>
                <a:tab pos="316230" algn="l"/>
              </a:tabLst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PostgreSQL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server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process.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pgAdmin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GUI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client.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psql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terminal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client.</a:t>
            </a:r>
            <a:endParaRPr sz="1000" dirty="0">
              <a:latin typeface="Courier New"/>
              <a:cs typeface="Courier New"/>
            </a:endParaRPr>
          </a:p>
          <a:p>
            <a:pPr marL="316230" indent="-151765">
              <a:lnSpc>
                <a:spcPct val="100000"/>
              </a:lnSpc>
              <a:spcBef>
                <a:spcPts val="180"/>
              </a:spcBef>
              <a:buChar char="-"/>
              <a:tabLst>
                <a:tab pos="316230" algn="l"/>
              </a:tabLst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RetailMart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V3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loaded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16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schemas,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55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tables</a:t>
            </a:r>
            <a:endParaRPr sz="1000" dirty="0">
              <a:latin typeface="Courier New"/>
              <a:cs typeface="Courier New"/>
            </a:endParaRPr>
          </a:p>
          <a:p>
            <a:pPr marL="316230" indent="-151765">
              <a:lnSpc>
                <a:spcPct val="100000"/>
              </a:lnSpc>
              <a:spcBef>
                <a:spcPts val="180"/>
              </a:spcBef>
              <a:buChar char="-"/>
              <a:tabLst>
                <a:tab pos="316230" algn="l"/>
              </a:tabLst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You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ran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count(*)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and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...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LIMIT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5</a:t>
            </a:r>
            <a:endParaRPr sz="1000" dirty="0">
              <a:latin typeface="Courier New"/>
              <a:cs typeface="Courier New"/>
            </a:endParaRPr>
          </a:p>
          <a:p>
            <a:pPr marL="316230" indent="-151765">
              <a:lnSpc>
                <a:spcPct val="100000"/>
              </a:lnSpc>
              <a:spcBef>
                <a:spcPts val="180"/>
              </a:spcBef>
              <a:buChar char="-"/>
              <a:tabLst>
                <a:tab pos="316230" algn="l"/>
              </a:tabLst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You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browsed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schemas: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customers,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sales,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products,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stores,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finance...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dirty="0"/>
              <a:t>Architect,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Builder,</a:t>
            </a:r>
            <a:r>
              <a:rPr spc="-2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Resident</a:t>
            </a:r>
            <a:r>
              <a:rPr spc="-35" dirty="0"/>
              <a:t> </a:t>
            </a:r>
            <a:r>
              <a:rPr spc="-10" dirty="0"/>
              <a:t>(1/2)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147869"/>
            <a:ext cx="7333615" cy="190944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Three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people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work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building: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b="1" dirty="0">
                <a:solidFill>
                  <a:srgbClr val="2E7C32"/>
                </a:solidFill>
                <a:latin typeface="Calibri"/>
                <a:cs typeface="Calibri"/>
              </a:rPr>
              <a:t>The</a:t>
            </a:r>
            <a:r>
              <a:rPr sz="1300" b="1" spc="-25" dirty="0">
                <a:solidFill>
                  <a:srgbClr val="2E7C32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E7C32"/>
                </a:solidFill>
                <a:latin typeface="Calibri"/>
                <a:cs typeface="Calibri"/>
              </a:rPr>
              <a:t>Architect</a:t>
            </a:r>
            <a:r>
              <a:rPr sz="1300" b="1" spc="-20" dirty="0">
                <a:solidFill>
                  <a:srgbClr val="2E7C32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E7C32"/>
                </a:solidFill>
                <a:latin typeface="Calibri"/>
                <a:cs typeface="Calibri"/>
              </a:rPr>
              <a:t>(DDL):</a:t>
            </a:r>
            <a:endParaRPr sz="1300">
              <a:latin typeface="Calibri"/>
              <a:cs typeface="Calibri"/>
            </a:endParaRPr>
          </a:p>
          <a:p>
            <a:pPr marL="12700" marR="179070">
              <a:lnSpc>
                <a:spcPct val="120100"/>
              </a:lnSpc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Draws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blueprint.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many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floors?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many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rooms?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room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called?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architect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defines STRUCTURE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never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moves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furniture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in.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b="1" dirty="0">
                <a:solidFill>
                  <a:srgbClr val="F86166"/>
                </a:solidFill>
                <a:latin typeface="Calibri"/>
                <a:cs typeface="Calibri"/>
              </a:rPr>
              <a:t>The</a:t>
            </a:r>
            <a:r>
              <a:rPr sz="1300" b="1" spc="-4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86166"/>
                </a:solidFill>
                <a:latin typeface="Calibri"/>
                <a:cs typeface="Calibri"/>
              </a:rPr>
              <a:t>Builder</a:t>
            </a:r>
            <a:r>
              <a:rPr sz="1300" b="1" spc="-4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86166"/>
                </a:solidFill>
                <a:latin typeface="Calibri"/>
                <a:cs typeface="Calibri"/>
              </a:rPr>
              <a:t>(DML):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20100"/>
              </a:lnSpc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Follows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blueprint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puts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things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INSIDE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moves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furniture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(INSERT),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rearranges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(UPDATE),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removes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it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(DELETE).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builder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add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room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needs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architect.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dirty="0"/>
              <a:t>Architect,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Builder,</a:t>
            </a:r>
            <a:r>
              <a:rPr spc="-2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Resident</a:t>
            </a:r>
            <a:r>
              <a:rPr spc="-35" dirty="0"/>
              <a:t> </a:t>
            </a:r>
            <a:r>
              <a:rPr spc="-10" dirty="0"/>
              <a:t>(2/2)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926070" cy="12877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The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Resident</a:t>
            </a:r>
            <a:r>
              <a:rPr sz="1300" b="1" spc="-1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(DQL):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20100"/>
              </a:lnSpc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Lives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house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looks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around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(SELECT).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Changes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nothing.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You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meet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Resident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starting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tomorrow-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(Filtering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&amp;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Sorting).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Today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BOTH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Architect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(Topic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DDL)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Builder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(Topic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2: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DML).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900" b="1" dirty="0">
                <a:solidFill>
                  <a:srgbClr val="FFB200"/>
                </a:solidFill>
                <a:latin typeface="Courier New"/>
                <a:cs typeface="Courier New"/>
              </a:rPr>
              <a:t>[Mapping to </a:t>
            </a:r>
            <a:r>
              <a:rPr sz="900" b="1" spc="-20" dirty="0">
                <a:solidFill>
                  <a:srgbClr val="FFB200"/>
                </a:solidFill>
                <a:latin typeface="Courier New"/>
                <a:cs typeface="Courier New"/>
              </a:rPr>
              <a:t>SQL]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856" y="2482671"/>
            <a:ext cx="3059430" cy="52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100"/>
              </a:spcBef>
              <a:tabLst>
                <a:tab pos="2011680" algn="l"/>
              </a:tabLst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Architect draws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blueprint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	-&gt; CREATE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TABLE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Architect modifies blueprint -&gt; ALTER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TABLE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Architect demolishes a room  -&gt; DROP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TABLE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20494" y="2482671"/>
            <a:ext cx="2094230" cy="52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(define structure)  [Topic </a:t>
            </a:r>
            <a:r>
              <a:rPr sz="900" spc="-25" dirty="0">
                <a:solidFill>
                  <a:srgbClr val="333333"/>
                </a:solidFill>
                <a:latin typeface="Courier New"/>
                <a:cs typeface="Courier New"/>
              </a:rPr>
              <a:t>1]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(change structure) 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[tomorrow]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(destroy structure) [Topic </a:t>
            </a:r>
            <a:r>
              <a:rPr sz="900" spc="-25" dirty="0">
                <a:solidFill>
                  <a:srgbClr val="333333"/>
                </a:solidFill>
                <a:latin typeface="Courier New"/>
                <a:cs typeface="Courier New"/>
              </a:rPr>
              <a:t>1]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9856" y="2977311"/>
            <a:ext cx="2645410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100"/>
              </a:spcBef>
              <a:tabLst>
                <a:tab pos="2011680" algn="l"/>
              </a:tabLst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Builder brings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furniture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	-&gt;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INSERT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Builder rearranges furniture -&gt;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UPDATE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9856" y="3307091"/>
            <a:ext cx="1749425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Builder removes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furniture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Resident looks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around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79325" y="3307091"/>
            <a:ext cx="646430" cy="3556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-&gt;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DELETE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-&gt;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SELECT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20494" y="2977311"/>
            <a:ext cx="922019" cy="685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(add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data)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(change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data)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(remove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data)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(read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data)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99493" y="2977311"/>
            <a:ext cx="646430" cy="6851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[Topic </a:t>
            </a:r>
            <a:r>
              <a:rPr sz="900" spc="-25" dirty="0">
                <a:solidFill>
                  <a:srgbClr val="333333"/>
                </a:solidFill>
                <a:latin typeface="Courier New"/>
                <a:cs typeface="Courier New"/>
              </a:rPr>
              <a:t>2]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[Topic </a:t>
            </a:r>
            <a:r>
              <a:rPr sz="900" spc="-25" dirty="0">
                <a:solidFill>
                  <a:srgbClr val="333333"/>
                </a:solidFill>
                <a:latin typeface="Courier New"/>
                <a:cs typeface="Courier New"/>
              </a:rPr>
              <a:t>2]</a:t>
            </a:r>
            <a:endParaRPr sz="900">
              <a:latin typeface="Courier New"/>
              <a:cs typeface="Courier New"/>
            </a:endParaRPr>
          </a:p>
          <a:p>
            <a:pPr marL="12700" marR="5080">
              <a:lnSpc>
                <a:spcPct val="120200"/>
              </a:lnSpc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[Topic </a:t>
            </a:r>
            <a:r>
              <a:rPr sz="900" spc="-25" dirty="0">
                <a:solidFill>
                  <a:srgbClr val="333333"/>
                </a:solidFill>
                <a:latin typeface="Courier New"/>
                <a:cs typeface="Courier New"/>
              </a:rPr>
              <a:t>2]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[later]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F47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96898" y="345505"/>
            <a:ext cx="4413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PRO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TIP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Today's</a:t>
            </a:r>
            <a:r>
              <a:rPr spc="-30" dirty="0"/>
              <a:t> </a:t>
            </a:r>
            <a:r>
              <a:rPr dirty="0"/>
              <a:t>Big</a:t>
            </a:r>
            <a:r>
              <a:rPr spc="-25" dirty="0"/>
              <a:t> </a:t>
            </a:r>
            <a:r>
              <a:rPr dirty="0"/>
              <a:t>Idea:</a:t>
            </a:r>
            <a:r>
              <a:rPr spc="-20" dirty="0"/>
              <a:t> </a:t>
            </a:r>
            <a:r>
              <a:rPr dirty="0"/>
              <a:t>Every</a:t>
            </a:r>
            <a:r>
              <a:rPr spc="-20" dirty="0"/>
              <a:t> </a:t>
            </a:r>
            <a:r>
              <a:rPr dirty="0"/>
              <a:t>Column</a:t>
            </a:r>
            <a:r>
              <a:rPr spc="-2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spc="-20" dirty="0"/>
              <a:t>TEXT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940675" cy="1050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STRUCTURE: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order,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grouped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must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TYPE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today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give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simplest,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most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forgiving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type: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TEXT.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accepts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characters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letters,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digits,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dates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typed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text,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anything.</a:t>
            </a:r>
            <a:endParaRPr sz="13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885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everything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today?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856" y="2257096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856" y="2695577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9856" y="3134057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2934" y="2245085"/>
            <a:ext cx="7390130" cy="112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5270">
              <a:lnSpc>
                <a:spcPct val="119900"/>
              </a:lnSpc>
              <a:spcBef>
                <a:spcPts val="100"/>
              </a:spcBef>
            </a:pP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So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focus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100%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STRUCTURE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exist,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they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named,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they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hold,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how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schemas organize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them.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9900"/>
              </a:lnSpc>
            </a:pP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Choosing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RIGHT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type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(INT,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NUMERIC,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DATE,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BOOLEAN...)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whole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skill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TOMORROW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(Data Types).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Tomorrow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will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ALTER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these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into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proper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types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motivated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real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data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today.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9856" y="3414069"/>
            <a:ext cx="7659370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today's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beautifully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simple: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'column_name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TEXT'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types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agonize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over,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no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rules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yet.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Just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structure.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CREATE</a:t>
            </a:r>
            <a:r>
              <a:rPr spc="-20" dirty="0"/>
              <a:t> </a:t>
            </a:r>
            <a:r>
              <a:rPr dirty="0"/>
              <a:t>DATABASE</a:t>
            </a:r>
            <a:r>
              <a:rPr spc="-20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Empty</a:t>
            </a:r>
            <a:r>
              <a:rPr spc="-20" dirty="0"/>
              <a:t> </a:t>
            </a:r>
            <a:r>
              <a:rPr dirty="0"/>
              <a:t>Plot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Land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60261"/>
            <a:ext cx="7091045" cy="3319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database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top-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level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container.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Everything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lives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inside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schemas,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views,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indexes,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functions.</a:t>
            </a:r>
            <a:endParaRPr sz="13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900" b="1" dirty="0">
                <a:solidFill>
                  <a:srgbClr val="FFB200"/>
                </a:solidFill>
                <a:latin typeface="Courier New"/>
                <a:cs typeface="Courier New"/>
              </a:rPr>
              <a:t>[Syntax &amp; </a:t>
            </a:r>
            <a:r>
              <a:rPr sz="900" b="1" spc="-10" dirty="0">
                <a:solidFill>
                  <a:srgbClr val="FFB200"/>
                </a:solidFill>
                <a:latin typeface="Courier New"/>
                <a:cs typeface="Courier New"/>
              </a:rPr>
              <a:t>Examples]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Basic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syntax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CREATE DATABASE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database_name;</a:t>
            </a: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900" dirty="0">
              <a:latin typeface="Courier New"/>
              <a:cs typeface="Courier New"/>
            </a:endParaRPr>
          </a:p>
          <a:p>
            <a:pPr marL="12700" marR="4864100">
              <a:lnSpc>
                <a:spcPct val="1202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Create your practice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database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CREATE DATABASE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accio_NN;</a:t>
            </a: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What just happened under the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hood?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-- 1. PostgreSQL created a NEW directory on </a:t>
            </a:r>
            <a:r>
              <a:rPr sz="900" spc="-20" dirty="0">
                <a:solidFill>
                  <a:srgbClr val="699954"/>
                </a:solidFill>
                <a:latin typeface="Courier New"/>
                <a:cs typeface="Courier New"/>
              </a:rPr>
              <a:t>disk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-- 2. Copied the template database (template1) as the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skeleton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-- 3. Created one default schema inside: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'public'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-- 4. Created system catalogs (pg_catalog,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information_schema)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-- 5. The database has ZERO user tables. You build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those.</a:t>
            </a: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Connect to </a:t>
            </a:r>
            <a:r>
              <a:rPr sz="900" spc="-25" dirty="0">
                <a:solidFill>
                  <a:srgbClr val="699954"/>
                </a:solidFill>
                <a:latin typeface="Courier New"/>
                <a:cs typeface="Courier New"/>
              </a:rPr>
              <a:t>it: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  <a:tabLst>
                <a:tab pos="1046480" algn="l"/>
              </a:tabLst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\c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accio_NN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	--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in </a:t>
            </a: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psql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or: right-click in pgAdmin -&gt; Query </a:t>
            </a:r>
            <a:r>
              <a:rPr sz="900" spc="-20" dirty="0">
                <a:solidFill>
                  <a:srgbClr val="699954"/>
                </a:solidFill>
                <a:latin typeface="Courier New"/>
                <a:cs typeface="Courier New"/>
              </a:rPr>
              <a:t>Tool</a:t>
            </a:r>
            <a:endParaRPr sz="9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CREATE</a:t>
            </a:r>
            <a:r>
              <a:rPr spc="-20" dirty="0"/>
              <a:t> </a:t>
            </a:r>
            <a:r>
              <a:rPr dirty="0"/>
              <a:t>SCHEMA</a:t>
            </a:r>
            <a:r>
              <a:rPr spc="-20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Folders</a:t>
            </a:r>
            <a:r>
              <a:rPr spc="-25" dirty="0"/>
              <a:t> </a:t>
            </a:r>
            <a:r>
              <a:rPr dirty="0"/>
              <a:t>Inside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Database</a:t>
            </a:r>
            <a:r>
              <a:rPr spc="-20" dirty="0"/>
              <a:t> </a:t>
            </a:r>
            <a:r>
              <a:rPr spc="-10" dirty="0"/>
              <a:t>(1/4)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865109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namespace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logical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folder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groups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related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Without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schemas,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dump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one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flat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'public'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Imagine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folder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55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subfolders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chaos.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900" b="1" dirty="0">
                <a:solidFill>
                  <a:srgbClr val="FFB200"/>
                </a:solidFill>
                <a:latin typeface="Courier New"/>
                <a:cs typeface="Courier New"/>
              </a:rPr>
              <a:t>[Syntax &amp; </a:t>
            </a:r>
            <a:r>
              <a:rPr sz="900" b="1" spc="-10" dirty="0">
                <a:solidFill>
                  <a:srgbClr val="FFB200"/>
                </a:solidFill>
                <a:latin typeface="Courier New"/>
                <a:cs typeface="Courier New"/>
              </a:rPr>
              <a:t>Examples]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CREATE SCHEMA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schema_name;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Organize like a real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company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856" y="2501772"/>
            <a:ext cx="1887220" cy="5200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CREATE SCHEMA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shop;</a:t>
            </a:r>
            <a:endParaRPr sz="900">
              <a:latin typeface="Courier New"/>
              <a:cs typeface="Courier New"/>
            </a:endParaRPr>
          </a:p>
          <a:p>
            <a:pPr marL="12700" marR="5080">
              <a:lnSpc>
                <a:spcPct val="120200"/>
              </a:lnSpc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CREATE SCHEMA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people;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CREATE SCHEMA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transactions;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79325" y="2501772"/>
            <a:ext cx="2301240" cy="5200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-- products, inventory,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suppliers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-- customers,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employees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-- orders, payments,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returns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CREATE</a:t>
            </a:r>
            <a:r>
              <a:rPr spc="-20" dirty="0"/>
              <a:t> </a:t>
            </a:r>
            <a:r>
              <a:rPr dirty="0"/>
              <a:t>SCHEMA</a:t>
            </a:r>
            <a:r>
              <a:rPr spc="-20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Folders</a:t>
            </a:r>
            <a:r>
              <a:rPr spc="-25" dirty="0"/>
              <a:t> </a:t>
            </a:r>
            <a:r>
              <a:rPr dirty="0"/>
              <a:t>Inside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Database</a:t>
            </a:r>
            <a:r>
              <a:rPr spc="-20" dirty="0"/>
              <a:t> </a:t>
            </a:r>
            <a:r>
              <a:rPr spc="-10" dirty="0"/>
              <a:t>(2/4)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07"/>
            <a:ext cx="4231640" cy="3556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Why schemas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matter: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-- 1. Organization: many tables in a few folders vs all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loose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856" y="1550288"/>
            <a:ext cx="1129030" cy="3556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-- 2.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Namespace: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-- 3.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Clarity: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8856" y="1550288"/>
            <a:ext cx="3610610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10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shop.products is different from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analytics.products </a:t>
            </a: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SELECT * FROM sales.orders - you KNOW where it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lives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CREATE</a:t>
            </a:r>
            <a:r>
              <a:rPr spc="-15" dirty="0"/>
              <a:t> </a:t>
            </a:r>
            <a:r>
              <a:rPr dirty="0"/>
              <a:t>TABLE</a:t>
            </a:r>
            <a:r>
              <a:rPr spc="-1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Main</a:t>
            </a:r>
            <a:r>
              <a:rPr spc="-15" dirty="0"/>
              <a:t> </a:t>
            </a:r>
            <a:r>
              <a:rPr dirty="0"/>
              <a:t>Event</a:t>
            </a:r>
            <a:r>
              <a:rPr spc="-20" dirty="0"/>
              <a:t> </a:t>
            </a:r>
            <a:r>
              <a:rPr spc="-10" dirty="0"/>
              <a:t>(1/5)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420609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DDL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command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most.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defines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type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each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column.</a:t>
            </a:r>
            <a:r>
              <a:rPr sz="1300" spc="-6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MUST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have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type.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Today,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type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always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TEXT.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900" b="1" dirty="0">
                <a:solidFill>
                  <a:srgbClr val="FFB200"/>
                </a:solidFill>
                <a:latin typeface="Courier New"/>
                <a:cs typeface="Courier New"/>
              </a:rPr>
              <a:t>[Syntax - The </a:t>
            </a:r>
            <a:r>
              <a:rPr sz="900" b="1" spc="-10" dirty="0">
                <a:solidFill>
                  <a:srgbClr val="FFB200"/>
                </a:solidFill>
                <a:latin typeface="Courier New"/>
                <a:cs typeface="Courier New"/>
              </a:rPr>
              <a:t>Template]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CREATE TABLE schema_name.table_name </a:t>
            </a:r>
            <a:r>
              <a:rPr sz="900" spc="-50" dirty="0">
                <a:solidFill>
                  <a:srgbClr val="333333"/>
                </a:solidFill>
                <a:latin typeface="Courier New"/>
                <a:cs typeface="Courier New"/>
              </a:rPr>
              <a:t>(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5133" y="2098928"/>
            <a:ext cx="370205" cy="52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200"/>
              </a:lnSpc>
              <a:spcBef>
                <a:spcPts val="100"/>
              </a:spcBef>
            </a:pP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TEXT, TEXT, TEXT,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5519" y="2098928"/>
            <a:ext cx="577215" cy="685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200"/>
              </a:lnSpc>
              <a:spcBef>
                <a:spcPts val="100"/>
              </a:spcBef>
            </a:pP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column_1 column_2 column_3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spc="-25" dirty="0">
                <a:solidFill>
                  <a:srgbClr val="333333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9856" y="2785950"/>
            <a:ext cx="4714240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333333"/>
                </a:solidFill>
                <a:latin typeface="Courier New"/>
                <a:cs typeface="Courier New"/>
              </a:rPr>
              <a:t>);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If you skip schema_name, the table goes into the 'public'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schema.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ALWAYS specify the schema explicitly. It is a professional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habit.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CREATE</a:t>
            </a:r>
            <a:r>
              <a:rPr spc="-15" dirty="0"/>
              <a:t> </a:t>
            </a:r>
            <a:r>
              <a:rPr dirty="0"/>
              <a:t>TABLE</a:t>
            </a:r>
            <a:r>
              <a:rPr spc="-1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Main</a:t>
            </a:r>
            <a:r>
              <a:rPr spc="-15" dirty="0"/>
              <a:t> </a:t>
            </a:r>
            <a:r>
              <a:rPr dirty="0"/>
              <a:t>Event</a:t>
            </a:r>
            <a:r>
              <a:rPr spc="-20" dirty="0"/>
              <a:t> </a:t>
            </a:r>
            <a:r>
              <a:rPr spc="-10" dirty="0"/>
              <a:t>(2/5)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07"/>
            <a:ext cx="2852420" cy="3556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dirty="0">
                <a:solidFill>
                  <a:srgbClr val="FFB200"/>
                </a:solidFill>
                <a:latin typeface="Courier New"/>
                <a:cs typeface="Courier New"/>
              </a:rPr>
              <a:t>[Example 1 - A Students Table (all </a:t>
            </a:r>
            <a:r>
              <a:rPr sz="900" b="1" spc="-10" dirty="0">
                <a:solidFill>
                  <a:srgbClr val="FFB200"/>
                </a:solidFill>
                <a:latin typeface="Courier New"/>
                <a:cs typeface="Courier New"/>
              </a:rPr>
              <a:t>TEXT)]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CREATE TABLE public.students </a:t>
            </a:r>
            <a:r>
              <a:rPr sz="900" spc="-50" dirty="0">
                <a:solidFill>
                  <a:srgbClr val="333333"/>
                </a:solidFill>
                <a:latin typeface="Courier New"/>
                <a:cs typeface="Courier New"/>
              </a:rPr>
              <a:t>(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5519" y="1550288"/>
            <a:ext cx="715010" cy="685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100"/>
              </a:spcBef>
            </a:pP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student_id first_name last_name email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20796" y="1550288"/>
            <a:ext cx="370205" cy="685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200"/>
              </a:lnSpc>
              <a:spcBef>
                <a:spcPts val="100"/>
              </a:spcBef>
            </a:pP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TEXT, TEXT, TEXT, TEXT,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9856" y="2209812"/>
            <a:ext cx="1611630" cy="52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290" marR="5080">
              <a:lnSpc>
                <a:spcPct val="120200"/>
              </a:lnSpc>
              <a:spcBef>
                <a:spcPts val="100"/>
              </a:spcBef>
              <a:tabLst>
                <a:tab pos="1253490" algn="l"/>
              </a:tabLst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date_of_birth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TEXT, is_active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	</a:t>
            </a: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TEXT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spc="-25" dirty="0">
                <a:solidFill>
                  <a:srgbClr val="333333"/>
                </a:solidFill>
                <a:latin typeface="Courier New"/>
                <a:cs typeface="Courier New"/>
              </a:rPr>
              <a:t>);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CREATE</a:t>
            </a:r>
            <a:r>
              <a:rPr spc="-15" dirty="0"/>
              <a:t> </a:t>
            </a:r>
            <a:r>
              <a:rPr dirty="0"/>
              <a:t>TABLE</a:t>
            </a:r>
            <a:r>
              <a:rPr spc="-1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Main</a:t>
            </a:r>
            <a:r>
              <a:rPr spc="-15" dirty="0"/>
              <a:t> </a:t>
            </a:r>
            <a:r>
              <a:rPr dirty="0"/>
              <a:t>Event</a:t>
            </a:r>
            <a:r>
              <a:rPr spc="-20" dirty="0"/>
              <a:t> </a:t>
            </a:r>
            <a:r>
              <a:rPr spc="-10" dirty="0"/>
              <a:t>(3/5)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07"/>
            <a:ext cx="5266055" cy="8502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What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happened?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PostgreSQL created a table with 6 columns, all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TEXT.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Each column has a NAME and a TYPE (TEXT for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now).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The table has 0 rows. It is an empty blueprint waiting for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data.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Tomorrow: student_id -&gt; INT, date_of_birth -&gt; DATE, is_active -&gt;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BOOLEAN.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CREATE</a:t>
            </a:r>
            <a:r>
              <a:rPr spc="-15" dirty="0"/>
              <a:t> </a:t>
            </a:r>
            <a:r>
              <a:rPr dirty="0"/>
              <a:t>TABLE</a:t>
            </a:r>
            <a:r>
              <a:rPr spc="-1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Main</a:t>
            </a:r>
            <a:r>
              <a:rPr spc="-15" dirty="0"/>
              <a:t> </a:t>
            </a:r>
            <a:r>
              <a:rPr dirty="0"/>
              <a:t>Event</a:t>
            </a:r>
            <a:r>
              <a:rPr spc="-20" dirty="0"/>
              <a:t> </a:t>
            </a:r>
            <a:r>
              <a:rPr spc="-10" dirty="0"/>
              <a:t>(4/5)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07"/>
            <a:ext cx="3817620" cy="3556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dirty="0">
                <a:solidFill>
                  <a:srgbClr val="FFB200"/>
                </a:solidFill>
                <a:latin typeface="Courier New"/>
                <a:cs typeface="Courier New"/>
              </a:rPr>
              <a:t>[Example 2 - A Products Table (inspired by </a:t>
            </a:r>
            <a:r>
              <a:rPr sz="900" b="1" spc="-10" dirty="0">
                <a:solidFill>
                  <a:srgbClr val="FFB200"/>
                </a:solidFill>
                <a:latin typeface="Courier New"/>
                <a:cs typeface="Courier New"/>
              </a:rPr>
              <a:t>RetailMart)]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CREATE TABLE shop.products </a:t>
            </a:r>
            <a:r>
              <a:rPr sz="900" spc="-50" dirty="0">
                <a:solidFill>
                  <a:srgbClr val="333333"/>
                </a:solidFill>
                <a:latin typeface="Courier New"/>
                <a:cs typeface="Courier New"/>
              </a:rPr>
              <a:t>(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1494" y="1577786"/>
            <a:ext cx="26454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-- tomorrow: INT (auto-ID with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SERIAL)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41494" y="2044915"/>
            <a:ext cx="2507615" cy="3556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-- tomorrow: NUMERIC(10,2) for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money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-- tomorrow: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NUMERIC(10,2)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519" y="1550288"/>
            <a:ext cx="853440" cy="1179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100"/>
              </a:spcBef>
            </a:pP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product_id product_name brand_name price cost_price category is_available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20796" y="1550288"/>
            <a:ext cx="370205" cy="1179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200"/>
              </a:lnSpc>
              <a:spcBef>
                <a:spcPts val="100"/>
              </a:spcBef>
            </a:pP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TEXT, TEXT, TEXT, TEXT, TEXT, TEXT, </a:t>
            </a: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TEXT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1494" y="2567065"/>
            <a:ext cx="14046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-- tomorrow: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BOOLEAN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9856" y="2731949"/>
            <a:ext cx="3956050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333333"/>
                </a:solidFill>
                <a:latin typeface="Courier New"/>
                <a:cs typeface="Courier New"/>
              </a:rPr>
              <a:t>);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Notice every column is TEXT. That is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intentional.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We are practising STRUCTURE today, not type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selection.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CREATE</a:t>
            </a:r>
            <a:r>
              <a:rPr spc="-15" dirty="0"/>
              <a:t> </a:t>
            </a:r>
            <a:r>
              <a:rPr dirty="0"/>
              <a:t>TABLE</a:t>
            </a:r>
            <a:r>
              <a:rPr spc="-1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Main</a:t>
            </a:r>
            <a:r>
              <a:rPr spc="-15" dirty="0"/>
              <a:t> </a:t>
            </a:r>
            <a:r>
              <a:rPr dirty="0"/>
              <a:t>Event</a:t>
            </a:r>
            <a:r>
              <a:rPr spc="-20" dirty="0"/>
              <a:t> </a:t>
            </a:r>
            <a:r>
              <a:rPr spc="-10" dirty="0"/>
              <a:t>(5/5)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07"/>
            <a:ext cx="3956050" cy="3556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dirty="0">
                <a:solidFill>
                  <a:srgbClr val="FFB200"/>
                </a:solidFill>
                <a:latin typeface="Courier New"/>
                <a:cs typeface="Courier New"/>
              </a:rPr>
              <a:t>[Example 3 - An Orders Table (core of any e-commerce </a:t>
            </a:r>
            <a:r>
              <a:rPr sz="900" b="1" spc="-20" dirty="0">
                <a:solidFill>
                  <a:srgbClr val="FFB200"/>
                </a:solidFill>
                <a:latin typeface="Courier New"/>
                <a:cs typeface="Courier New"/>
              </a:rPr>
              <a:t>DB)]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CREATE TABLE transactions.orders </a:t>
            </a:r>
            <a:r>
              <a:rPr sz="900" spc="-50" dirty="0">
                <a:solidFill>
                  <a:srgbClr val="333333"/>
                </a:solidFill>
                <a:latin typeface="Courier New"/>
                <a:cs typeface="Courier New"/>
              </a:rPr>
              <a:t>(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0410" y="1742657"/>
            <a:ext cx="33350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-- will LINK to customers tomorrow (FOREIGN </a:t>
            </a: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KEY)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10410" y="2072426"/>
            <a:ext cx="11976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-- tomorrow: </a:t>
            </a: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DATE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0410" y="2402181"/>
            <a:ext cx="18186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-- tomorrow: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NUMERIC(12,2)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5519" y="1550288"/>
            <a:ext cx="853440" cy="1344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200"/>
              </a:lnSpc>
              <a:spcBef>
                <a:spcPts val="100"/>
              </a:spcBef>
            </a:pP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order_id customer_id store_id order_date order_status gross_total net_total payment_mode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89711" y="1550288"/>
            <a:ext cx="370205" cy="1344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200"/>
              </a:lnSpc>
              <a:spcBef>
                <a:spcPts val="100"/>
              </a:spcBef>
            </a:pP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TEXT, TEXT, TEXT, TEXT, TEXT, TEXT, TEXT, </a:t>
            </a: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TEXT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9856" y="2896821"/>
            <a:ext cx="4989830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333333"/>
                </a:solidFill>
                <a:latin typeface="Courier New"/>
                <a:cs typeface="Courier New"/>
              </a:rPr>
              <a:t>);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customer_id and store_id will REFERENCE other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tables.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We make those links real (FOREIGN KEY) tomorrow. For now: plain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TEXT.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F47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96898" y="345505"/>
            <a:ext cx="4413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PRO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TIP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Naming</a:t>
            </a:r>
            <a:r>
              <a:rPr spc="-40" dirty="0"/>
              <a:t> </a:t>
            </a:r>
            <a:r>
              <a:rPr dirty="0"/>
              <a:t>Conventions</a:t>
            </a:r>
            <a:r>
              <a:rPr spc="-40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Unwritten</a:t>
            </a:r>
            <a:r>
              <a:rPr spc="-35" dirty="0"/>
              <a:t> </a:t>
            </a:r>
            <a:r>
              <a:rPr spc="-10" dirty="0"/>
              <a:t>Rules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87794" y="1668834"/>
            <a:ext cx="3940175" cy="9525"/>
            <a:chOff x="587794" y="1668834"/>
            <a:chExt cx="3940175" cy="9525"/>
          </a:xfrm>
        </p:grpSpPr>
        <p:sp>
          <p:nvSpPr>
            <p:cNvPr id="6" name="object 6"/>
            <p:cNvSpPr/>
            <p:nvPr/>
          </p:nvSpPr>
          <p:spPr>
            <a:xfrm>
              <a:off x="592556" y="1673597"/>
              <a:ext cx="1999614" cy="0"/>
            </a:xfrm>
            <a:custGeom>
              <a:avLst/>
              <a:gdLst/>
              <a:ahLst/>
              <a:cxnLst/>
              <a:rect l="l" t="t" r="r" b="b"/>
              <a:pathLst>
                <a:path w="1999614">
                  <a:moveTo>
                    <a:pt x="0" y="0"/>
                  </a:moveTo>
                  <a:lnTo>
                    <a:pt x="1999469" y="0"/>
                  </a:lnTo>
                </a:path>
              </a:pathLst>
            </a:custGeom>
            <a:ln w="9158">
              <a:solidFill>
                <a:srgbClr val="689853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60941" y="1673597"/>
              <a:ext cx="1861820" cy="0"/>
            </a:xfrm>
            <a:custGeom>
              <a:avLst/>
              <a:gdLst/>
              <a:ahLst/>
              <a:cxnLst/>
              <a:rect l="l" t="t" r="r" b="b"/>
              <a:pathLst>
                <a:path w="1861820">
                  <a:moveTo>
                    <a:pt x="0" y="0"/>
                  </a:moveTo>
                  <a:lnTo>
                    <a:pt x="1861638" y="0"/>
                  </a:lnTo>
                </a:path>
              </a:pathLst>
            </a:custGeom>
            <a:ln w="9158">
              <a:solidFill>
                <a:srgbClr val="689853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79856" y="1220507"/>
            <a:ext cx="4300855" cy="5200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dirty="0">
                <a:solidFill>
                  <a:srgbClr val="FFB200"/>
                </a:solidFill>
                <a:latin typeface="Courier New"/>
                <a:cs typeface="Courier New"/>
              </a:rPr>
              <a:t>[Professional Naming </a:t>
            </a:r>
            <a:r>
              <a:rPr sz="900" b="1" spc="-10" dirty="0">
                <a:solidFill>
                  <a:srgbClr val="FFB200"/>
                </a:solidFill>
                <a:latin typeface="Courier New"/>
                <a:cs typeface="Courier New"/>
              </a:rPr>
              <a:t>Standards]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  <a:tabLst>
                <a:tab pos="2011680" algn="l"/>
                <a:tab pos="3942079" algn="l"/>
              </a:tabLst>
            </a:pP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RULE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	|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Good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	| </a:t>
            </a:r>
            <a:r>
              <a:rPr sz="900" spc="-25" dirty="0">
                <a:solidFill>
                  <a:srgbClr val="333333"/>
                </a:solidFill>
                <a:latin typeface="Courier New"/>
                <a:cs typeface="Courier New"/>
              </a:rPr>
              <a:t>Bad</a:t>
            </a:r>
            <a:endParaRPr sz="900">
              <a:latin typeface="Courier New"/>
              <a:cs typeface="Courier New"/>
            </a:endParaRPr>
          </a:p>
          <a:p>
            <a:pPr marL="2011680">
              <a:lnSpc>
                <a:spcPct val="100000"/>
              </a:lnSpc>
              <a:spcBef>
                <a:spcPts val="219"/>
              </a:spcBef>
              <a:tabLst>
                <a:tab pos="3942079" algn="l"/>
              </a:tabLst>
            </a:pPr>
            <a:r>
              <a:rPr sz="900" spc="-50" dirty="0">
                <a:solidFill>
                  <a:srgbClr val="699954"/>
                </a:solidFill>
                <a:latin typeface="Courier New"/>
                <a:cs typeface="Courier New"/>
              </a:rPr>
              <a:t>+</a:t>
            </a: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	</a:t>
            </a:r>
            <a:r>
              <a:rPr sz="900" spc="-50" dirty="0">
                <a:solidFill>
                  <a:srgbClr val="699954"/>
                </a:solidFill>
                <a:latin typeface="Courier New"/>
                <a:cs typeface="Courier New"/>
              </a:rPr>
              <a:t>+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91495" y="1673597"/>
            <a:ext cx="1379220" cy="0"/>
          </a:xfrm>
          <a:custGeom>
            <a:avLst/>
            <a:gdLst/>
            <a:ahLst/>
            <a:cxnLst/>
            <a:rect l="l" t="t" r="r" b="b"/>
            <a:pathLst>
              <a:path w="1379220">
                <a:moveTo>
                  <a:pt x="0" y="0"/>
                </a:moveTo>
                <a:lnTo>
                  <a:pt x="1378999" y="0"/>
                </a:lnTo>
              </a:path>
            </a:pathLst>
          </a:custGeom>
          <a:ln w="9158">
            <a:solidFill>
              <a:srgbClr val="689853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9856" y="1715147"/>
            <a:ext cx="1887220" cy="150939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Use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snake_case</a:t>
            </a:r>
            <a:endParaRPr sz="900">
              <a:latin typeface="Courier New"/>
              <a:cs typeface="Courier New"/>
            </a:endParaRPr>
          </a:p>
          <a:p>
            <a:pPr marL="12700" marR="556260">
              <a:lnSpc>
                <a:spcPct val="120200"/>
              </a:lnSpc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Use lowercase </a:t>
            </a: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only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Table = plural </a:t>
            </a: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noun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Column =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singular</a:t>
            </a:r>
            <a:endParaRPr sz="900">
              <a:latin typeface="Courier New"/>
              <a:cs typeface="Courier New"/>
            </a:endParaRPr>
          </a:p>
          <a:p>
            <a:pPr marL="12700" marR="5080">
              <a:lnSpc>
                <a:spcPct val="120200"/>
              </a:lnSpc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ID column =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table_id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Boolean = is_ / has_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prefix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Timestamp = _at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suffix</a:t>
            </a:r>
            <a:endParaRPr sz="900">
              <a:latin typeface="Courier New"/>
              <a:cs typeface="Courier New"/>
            </a:endParaRPr>
          </a:p>
          <a:p>
            <a:pPr marL="12700" marR="73660">
              <a:lnSpc>
                <a:spcPct val="120200"/>
              </a:lnSpc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Date = _date or _on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suffix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No reserved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words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79325" y="1715147"/>
            <a:ext cx="1818639" cy="150939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first_name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order_date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customers,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products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city,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order_status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customer_id,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product_id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is_active,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has_projector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created_at,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updated_at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order_date,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enrolled_on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order_status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9879" y="1715147"/>
            <a:ext cx="1680845" cy="150939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firstName,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FirstName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Order_Date,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ORDER_DATE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customer,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product_tbl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cities,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statuses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id, cust, </a:t>
            </a:r>
            <a:r>
              <a:rPr sz="900" spc="-25" dirty="0">
                <a:solidFill>
                  <a:srgbClr val="333333"/>
                </a:solidFill>
                <a:latin typeface="Courier New"/>
                <a:cs typeface="Courier New"/>
              </a:rPr>
              <a:t>pid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active,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projector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creation,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update_time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date, </a:t>
            </a: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when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| order, status, </a:t>
            </a: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type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9856" y="3437051"/>
            <a:ext cx="5610860" cy="108775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Why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snake_case?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PostgreSQL internally lowercases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everything.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'OrderDate' becomes 'orderdate' unless you quote it. 'order_date' stays as-</a:t>
            </a:r>
            <a:r>
              <a:rPr sz="900" spc="-25" dirty="0">
                <a:solidFill>
                  <a:srgbClr val="699954"/>
                </a:solidFill>
                <a:latin typeface="Courier New"/>
                <a:cs typeface="Courier New"/>
              </a:rPr>
              <a:t>is.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RetailMart V3 follows these conventions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exactly: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customer_id, first_name, order_date,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is_default.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CREATE</a:t>
            </a:r>
            <a:r>
              <a:rPr spc="-10" dirty="0"/>
              <a:t> </a:t>
            </a:r>
            <a:r>
              <a:rPr dirty="0"/>
              <a:t>TABLE</a:t>
            </a:r>
            <a:r>
              <a:rPr spc="-10" dirty="0"/>
              <a:t> </a:t>
            </a:r>
            <a:r>
              <a:rPr dirty="0"/>
              <a:t>IF</a:t>
            </a:r>
            <a:r>
              <a:rPr spc="-15" dirty="0"/>
              <a:t> </a:t>
            </a:r>
            <a:r>
              <a:rPr dirty="0"/>
              <a:t>NOT</a:t>
            </a:r>
            <a:r>
              <a:rPr spc="-10" dirty="0"/>
              <a:t> </a:t>
            </a:r>
            <a:r>
              <a:rPr dirty="0"/>
              <a:t>EXISTS</a:t>
            </a:r>
            <a:r>
              <a:rPr spc="-1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Safety</a:t>
            </a:r>
            <a:r>
              <a:rPr spc="-10" dirty="0"/>
              <a:t> </a:t>
            </a:r>
            <a:r>
              <a:rPr spc="-25" dirty="0"/>
              <a:t>Net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07"/>
            <a:ext cx="4852035" cy="297497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dirty="0">
                <a:solidFill>
                  <a:srgbClr val="FFB200"/>
                </a:solidFill>
                <a:latin typeface="Courier New"/>
                <a:cs typeface="Courier New"/>
              </a:rPr>
              <a:t>[Why You Need </a:t>
            </a:r>
            <a:r>
              <a:rPr sz="900" b="1" spc="-10" dirty="0">
                <a:solidFill>
                  <a:srgbClr val="FFB200"/>
                </a:solidFill>
                <a:latin typeface="Courier New"/>
                <a:cs typeface="Courier New"/>
              </a:rPr>
              <a:t>This]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Without IF NOT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EXISTS: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CREATE TABLE shop.products (product_id TEXT, product_name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TEXT);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Run it once  -&gt;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SUCCESS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Run it again -&gt; ERROR: relation 'shop.products' already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exists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With IF NOT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EXISTS:</a:t>
            </a:r>
            <a:endParaRPr sz="900">
              <a:latin typeface="Courier New"/>
              <a:cs typeface="Courier New"/>
            </a:endParaRPr>
          </a:p>
          <a:p>
            <a:pPr marL="288290" marR="1935480" indent="-276225">
              <a:lnSpc>
                <a:spcPct val="120200"/>
              </a:lnSpc>
              <a:tabLst>
                <a:tab pos="1184275" algn="l"/>
              </a:tabLst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CREATE TABLE IF NOT EXISTS shop.products </a:t>
            </a:r>
            <a:r>
              <a:rPr sz="900" spc="-50" dirty="0">
                <a:solidFill>
                  <a:srgbClr val="333333"/>
                </a:solidFill>
                <a:latin typeface="Courier New"/>
                <a:cs typeface="Courier New"/>
              </a:rPr>
              <a:t>(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product_id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	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TEXT,</a:t>
            </a:r>
            <a:endParaRPr sz="900">
              <a:latin typeface="Courier New"/>
              <a:cs typeface="Courier New"/>
            </a:endParaRPr>
          </a:p>
          <a:p>
            <a:pPr marL="28829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product_name </a:t>
            </a: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TEXT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spc="-25" dirty="0">
                <a:solidFill>
                  <a:srgbClr val="333333"/>
                </a:solidFill>
                <a:latin typeface="Courier New"/>
                <a:cs typeface="Courier New"/>
              </a:rPr>
              <a:t>);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Run it once  -&gt;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SUCCESS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Run it again -&gt; NOTICE: relation already exists,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skipping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No error. Safe to run 100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times.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ALWAYS use this in scripts that might be run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repeatedly: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setup scripts, migration scripts, CI/CD pipelines need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idempotency.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DROP</a:t>
            </a:r>
            <a:r>
              <a:rPr spc="-35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Demolition</a:t>
            </a:r>
            <a:r>
              <a:rPr spc="-30" dirty="0"/>
              <a:t> </a:t>
            </a:r>
            <a:r>
              <a:rPr spc="-20" dirty="0"/>
              <a:t>Crew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60261"/>
            <a:ext cx="7037070" cy="355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DROP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permanently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destroys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database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object.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undo.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recycle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bin.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Ctrl+Z.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Gone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forever.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900" b="1" dirty="0">
                <a:solidFill>
                  <a:srgbClr val="FFB200"/>
                </a:solidFill>
                <a:latin typeface="Courier New"/>
                <a:cs typeface="Courier New"/>
              </a:rPr>
              <a:t>[The DROP </a:t>
            </a:r>
            <a:r>
              <a:rPr sz="900" b="1" spc="-10" dirty="0">
                <a:solidFill>
                  <a:srgbClr val="FFB200"/>
                </a:solidFill>
                <a:latin typeface="Courier New"/>
                <a:cs typeface="Courier New"/>
              </a:rPr>
              <a:t>Commands]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Drop a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table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DROP TABLE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shop.products;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900">
              <a:latin typeface="Courier New"/>
              <a:cs typeface="Courier New"/>
            </a:endParaRPr>
          </a:p>
          <a:p>
            <a:pPr marL="12700" marR="3500120">
              <a:lnSpc>
                <a:spcPct val="1202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Drop a schema (fails if schema still has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tables)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DROP SCHEMA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shop;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ERROR: cannot drop schema shop because other objects depend on </a:t>
            </a:r>
            <a:r>
              <a:rPr sz="900" spc="-25" dirty="0">
                <a:solidFill>
                  <a:srgbClr val="699954"/>
                </a:solidFill>
                <a:latin typeface="Courier New"/>
                <a:cs typeface="Courier New"/>
              </a:rPr>
              <a:t>it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900">
              <a:latin typeface="Courier New"/>
              <a:cs typeface="Courier New"/>
            </a:endParaRPr>
          </a:p>
          <a:p>
            <a:pPr marL="12700" marR="4327525">
              <a:lnSpc>
                <a:spcPct val="120200"/>
              </a:lnSpc>
              <a:spcBef>
                <a:spcPts val="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Drop schema AND everything inside </a:t>
            </a:r>
            <a:r>
              <a:rPr sz="900" spc="-25" dirty="0">
                <a:solidFill>
                  <a:srgbClr val="699954"/>
                </a:solidFill>
                <a:latin typeface="Courier New"/>
                <a:cs typeface="Courier New"/>
              </a:rPr>
              <a:t>it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DROP SCHEMA shop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CASCADE;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CASCADE = 'destroy the folder AND all tables inside'.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DANGEROUS.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900">
              <a:latin typeface="Courier New"/>
              <a:cs typeface="Courier New"/>
            </a:endParaRPr>
          </a:p>
          <a:p>
            <a:pPr marL="12700" marR="2741295">
              <a:lnSpc>
                <a:spcPct val="1202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Drop a database (must be connected to a DIFFERENT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database)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DROP DATABASE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accio_NN;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900">
              <a:latin typeface="Courier New"/>
              <a:cs typeface="Courier New"/>
            </a:endParaRPr>
          </a:p>
          <a:p>
            <a:pPr marL="12700" marR="3706495">
              <a:lnSpc>
                <a:spcPct val="1202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Safe versions (no error if it does not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exist)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DROP TABLE IF EXISTS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shop.products;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DROP SCHEMA IF EXISTS shop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CASCADE;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144" y="276747"/>
            <a:ext cx="39306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DDL</a:t>
            </a:r>
            <a:r>
              <a:rPr sz="1600" spc="-3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vs</a:t>
            </a:r>
            <a:r>
              <a:rPr sz="1600" spc="-2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DML</a:t>
            </a:r>
            <a:r>
              <a:rPr sz="1600" spc="-2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-</a:t>
            </a:r>
            <a:r>
              <a:rPr sz="1600" spc="-2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The</a:t>
            </a:r>
            <a:r>
              <a:rPr sz="1600" spc="-3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Line</a:t>
            </a:r>
            <a:r>
              <a:rPr sz="1600" spc="-3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That</a:t>
            </a:r>
            <a:r>
              <a:rPr sz="1600" spc="-2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B200"/>
                </a:solidFill>
                <a:latin typeface="Calibri"/>
                <a:cs typeface="Calibri"/>
              </a:rPr>
              <a:t>Confuses</a:t>
            </a:r>
            <a:r>
              <a:rPr sz="1600" spc="-3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B200"/>
                </a:solidFill>
                <a:latin typeface="Calibri"/>
                <a:cs typeface="Calibri"/>
              </a:rPr>
              <a:t>Everyone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1256" y="740424"/>
            <a:ext cx="16256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Question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Students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Ask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3956" y="1020705"/>
            <a:ext cx="2438400" cy="0"/>
          </a:xfrm>
          <a:custGeom>
            <a:avLst/>
            <a:gdLst/>
            <a:ahLst/>
            <a:cxnLst/>
            <a:rect l="l" t="t" r="r" b="b"/>
            <a:pathLst>
              <a:path w="2438400">
                <a:moveTo>
                  <a:pt x="0" y="0"/>
                </a:moveTo>
                <a:lnTo>
                  <a:pt x="2438344" y="0"/>
                </a:lnTo>
              </a:path>
            </a:pathLst>
          </a:custGeom>
          <a:ln w="10166">
            <a:solidFill>
              <a:srgbClr val="689853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89467" y="717592"/>
            <a:ext cx="635635" cy="37655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</a:t>
            </a:r>
            <a:r>
              <a:rPr sz="1000" spc="-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Answer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50" dirty="0">
                <a:solidFill>
                  <a:srgbClr val="699954"/>
                </a:solidFill>
                <a:latin typeface="Courier New"/>
                <a:cs typeface="Courier New"/>
              </a:rPr>
              <a:t>+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78159" y="1020705"/>
            <a:ext cx="2820035" cy="0"/>
          </a:xfrm>
          <a:custGeom>
            <a:avLst/>
            <a:gdLst/>
            <a:ahLst/>
            <a:cxnLst/>
            <a:rect l="l" t="t" r="r" b="b"/>
            <a:pathLst>
              <a:path w="2820035">
                <a:moveTo>
                  <a:pt x="0" y="0"/>
                </a:moveTo>
                <a:lnTo>
                  <a:pt x="2819827" y="0"/>
                </a:lnTo>
              </a:path>
            </a:pathLst>
          </a:custGeom>
          <a:ln w="10166">
            <a:solidFill>
              <a:srgbClr val="689853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51256" y="1091071"/>
            <a:ext cx="20834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'DROP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removes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data,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right?'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89467" y="1068252"/>
            <a:ext cx="3226435" cy="37655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DROP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removes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the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ITSELF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+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data.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DELETE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removes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ROWS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but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the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stays.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256" y="1617029"/>
            <a:ext cx="19304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'TRUNCATE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DDL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DML?'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89467" y="1594209"/>
            <a:ext cx="2997835" cy="37655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TRUNCATE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DDL.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removes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ALL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rows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but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keeps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the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structure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intact.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1256" y="2120155"/>
            <a:ext cx="864235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DROP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TABLE TRUNCATE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DELETE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41815" y="2120155"/>
            <a:ext cx="4521835" cy="55181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GONE.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Columns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gone.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Data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gone.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Everything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gone.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but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EMPTY.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Structure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intact.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0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rows.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exists.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Some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rows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removed.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Others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remain.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1256" y="2821436"/>
            <a:ext cx="635000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DROP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TRUNCATE DELETE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89070" y="2821436"/>
            <a:ext cx="4445635" cy="55181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Demolish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the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room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Remove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ALL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furniture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the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(room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stays)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Remove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SPECIFIC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furniture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(room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+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other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furniture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stays)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2"/>
            <a:ext cx="9144000" cy="868680"/>
          </a:xfrm>
          <a:custGeom>
            <a:avLst/>
            <a:gdLst/>
            <a:ahLst/>
            <a:cxnLst/>
            <a:rect l="l" t="t" r="r" b="b"/>
            <a:pathLst>
              <a:path w="9144000" h="868680">
                <a:moveTo>
                  <a:pt x="9143631" y="0"/>
                </a:moveTo>
                <a:lnTo>
                  <a:pt x="0" y="0"/>
                </a:lnTo>
                <a:lnTo>
                  <a:pt x="0" y="868324"/>
                </a:lnTo>
                <a:lnTo>
                  <a:pt x="4572000" y="868324"/>
                </a:lnTo>
                <a:lnTo>
                  <a:pt x="9143631" y="868324"/>
                </a:lnTo>
                <a:lnTo>
                  <a:pt x="9143631" y="0"/>
                </a:lnTo>
                <a:close/>
              </a:path>
            </a:pathLst>
          </a:custGeom>
          <a:solidFill>
            <a:srgbClr val="1D3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144" y="223814"/>
            <a:ext cx="80498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solidFill>
                  <a:srgbClr val="FFFFFF"/>
                </a:solidFill>
              </a:rPr>
              <a:t>PRACTICE</a:t>
            </a:r>
            <a:r>
              <a:rPr sz="2600" spc="-70" dirty="0">
                <a:solidFill>
                  <a:srgbClr val="FFFFFF"/>
                </a:solidFill>
              </a:rPr>
              <a:t> </a:t>
            </a:r>
            <a:r>
              <a:rPr sz="2600" dirty="0">
                <a:solidFill>
                  <a:srgbClr val="FFFFFF"/>
                </a:solidFill>
              </a:rPr>
              <a:t>BLOCK</a:t>
            </a:r>
            <a:r>
              <a:rPr sz="2600" spc="-60" dirty="0">
                <a:solidFill>
                  <a:srgbClr val="FFFFFF"/>
                </a:solidFill>
              </a:rPr>
              <a:t> </a:t>
            </a:r>
            <a:r>
              <a:rPr sz="2600" dirty="0">
                <a:solidFill>
                  <a:srgbClr val="FFFFFF"/>
                </a:solidFill>
              </a:rPr>
              <a:t>1</a:t>
            </a:r>
            <a:r>
              <a:rPr sz="2600" spc="-70" dirty="0">
                <a:solidFill>
                  <a:srgbClr val="FFFFFF"/>
                </a:solidFill>
              </a:rPr>
              <a:t> </a:t>
            </a:r>
            <a:r>
              <a:rPr sz="2600" dirty="0">
                <a:solidFill>
                  <a:srgbClr val="FFFFFF"/>
                </a:solidFill>
              </a:rPr>
              <a:t>-</a:t>
            </a:r>
            <a:r>
              <a:rPr sz="2600" spc="-65" dirty="0">
                <a:solidFill>
                  <a:srgbClr val="FFFFFF"/>
                </a:solidFill>
              </a:rPr>
              <a:t> </a:t>
            </a:r>
            <a:r>
              <a:rPr sz="2600" dirty="0">
                <a:solidFill>
                  <a:srgbClr val="FFFFFF"/>
                </a:solidFill>
              </a:rPr>
              <a:t>DDL:</a:t>
            </a:r>
            <a:r>
              <a:rPr sz="2600" spc="-70" dirty="0">
                <a:solidFill>
                  <a:srgbClr val="FFFFFF"/>
                </a:solidFill>
              </a:rPr>
              <a:t> </a:t>
            </a:r>
            <a:r>
              <a:rPr sz="2600" dirty="0">
                <a:solidFill>
                  <a:srgbClr val="FFFFFF"/>
                </a:solidFill>
              </a:rPr>
              <a:t>Building</a:t>
            </a:r>
            <a:r>
              <a:rPr sz="2600" spc="-65" dirty="0">
                <a:solidFill>
                  <a:srgbClr val="FFFFFF"/>
                </a:solidFill>
              </a:rPr>
              <a:t> </a:t>
            </a:r>
            <a:r>
              <a:rPr sz="2600" spc="-10" dirty="0">
                <a:solidFill>
                  <a:srgbClr val="FFFFFF"/>
                </a:solidFill>
              </a:rPr>
              <a:t>Structures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534136" y="1222097"/>
            <a:ext cx="7798434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practice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database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(accio_NN).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today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focus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structure.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touch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RetailMart.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87576" y="269178"/>
            <a:ext cx="39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696" y="717668"/>
            <a:ext cx="8152130" cy="309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4775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Database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Administrator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Prestige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Engineering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College.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dean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wants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digitize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paper records.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Start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building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structure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scratch.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following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DDL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accio_NN:</a:t>
            </a:r>
            <a:endParaRPr sz="13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spcBef>
                <a:spcPts val="885"/>
              </a:spcBef>
              <a:buAutoNum type="alphaLcParenR"/>
              <a:tabLst>
                <a:tab pos="18224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called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college.</a:t>
            </a:r>
            <a:endParaRPr sz="1300">
              <a:latin typeface="Calibri"/>
              <a:cs typeface="Calibri"/>
            </a:endParaRPr>
          </a:p>
          <a:p>
            <a:pPr marL="12700" marR="42545" indent="176530">
              <a:lnSpc>
                <a:spcPct val="120100"/>
              </a:lnSpc>
              <a:buAutoNum type="alphaLcParenR"/>
              <a:tabLst>
                <a:tab pos="18923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college.students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columns: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student_id,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first_name,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last_name,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email,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date_of_birth,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is_active.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 TEXT.</a:t>
            </a:r>
            <a:endParaRPr sz="1300">
              <a:latin typeface="Calibri"/>
              <a:cs typeface="Calibri"/>
            </a:endParaRPr>
          </a:p>
          <a:p>
            <a:pPr marL="169545" indent="-156845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6954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college.courses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with: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course_id,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course_name,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credits,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department.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TEXT.</a:t>
            </a:r>
            <a:endParaRPr sz="1300">
              <a:latin typeface="Calibri"/>
              <a:cs typeface="Calibri"/>
            </a:endParaRPr>
          </a:p>
          <a:p>
            <a:pPr marL="12700" marR="5080" indent="176530">
              <a:lnSpc>
                <a:spcPct val="120100"/>
              </a:lnSpc>
              <a:buAutoNum type="alphaLcParenR"/>
              <a:tabLst>
                <a:tab pos="18923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Verify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both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exist: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table_schema,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table_name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information_schema.tables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table_schema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=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'college';</a:t>
            </a:r>
            <a:endParaRPr sz="13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8415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Inspect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\d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college.students</a:t>
            </a:r>
            <a:r>
              <a:rPr sz="1300" spc="2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(in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psql)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pgAdmin's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tab.</a:t>
            </a:r>
            <a:endParaRPr sz="1300">
              <a:latin typeface="Calibri"/>
              <a:cs typeface="Calibri"/>
            </a:endParaRPr>
          </a:p>
          <a:p>
            <a:pPr marL="12700" marR="410845">
              <a:lnSpc>
                <a:spcPct val="120100"/>
              </a:lnSpc>
              <a:spcBef>
                <a:spcPts val="570"/>
              </a:spcBef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safety.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Mistake?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DROP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recreate.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point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a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practice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database.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2704" y="180989"/>
            <a:ext cx="8191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B200"/>
                </a:solidFill>
              </a:rPr>
              <a:t>Answer</a:t>
            </a:r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351256" y="641428"/>
            <a:ext cx="34544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CREATE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SCHEMA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IF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college;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CREATE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IF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college.students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3620" y="1129428"/>
            <a:ext cx="7874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student_id first_name last_name email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70171" y="1129428"/>
            <a:ext cx="40703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TEXT, TEXT, TEXT,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1256" y="1800483"/>
            <a:ext cx="3378835" cy="2374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1757680">
              <a:lnSpc>
                <a:spcPct val="110100"/>
              </a:lnSpc>
              <a:spcBef>
                <a:spcPts val="100"/>
              </a:spcBef>
              <a:tabLst>
                <a:tab pos="1231265" algn="l"/>
              </a:tabLst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date_of_birth</a:t>
            </a:r>
            <a:r>
              <a:rPr sz="1000" spc="-6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is_active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	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TEXT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000">
              <a:latin typeface="Courier New"/>
              <a:cs typeface="Courier New"/>
            </a:endParaRPr>
          </a:p>
          <a:p>
            <a:pPr marL="164465" marR="5080" indent="-152400" algn="just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CREATE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IF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college.courses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course_id</a:t>
            </a:r>
            <a:r>
              <a:rPr sz="1000" spc="275" dirty="0">
                <a:solidFill>
                  <a:srgbClr val="D3D3D3"/>
                </a:solidFill>
                <a:latin typeface="Courier New"/>
                <a:cs typeface="Courier New"/>
              </a:rPr>
              <a:t> 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TEXT,</a:t>
            </a:r>
            <a:endParaRPr sz="1000">
              <a:latin typeface="Courier New"/>
              <a:cs typeface="Courier New"/>
            </a:endParaRPr>
          </a:p>
          <a:p>
            <a:pPr marL="164465" marR="1910080" algn="just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course_name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credits</a:t>
            </a:r>
            <a:r>
              <a:rPr sz="1000" spc="385" dirty="0">
                <a:solidFill>
                  <a:srgbClr val="D3D3D3"/>
                </a:solidFill>
                <a:latin typeface="Courier New"/>
                <a:cs typeface="Courier New"/>
              </a:rPr>
              <a:t>  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department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TEXT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995044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table_schema,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table_name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information_schema.tables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table_schema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'college';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33499" y="269178"/>
            <a:ext cx="6991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MEDIUM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696" y="717668"/>
            <a:ext cx="8018780" cy="2861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college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system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growing.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dean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wants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track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teachers,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classrooms,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fee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payments.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Design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college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would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need.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5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endParaRPr sz="1300">
              <a:latin typeface="Calibri"/>
              <a:cs typeface="Calibri"/>
            </a:endParaRPr>
          </a:p>
          <a:p>
            <a:pPr marL="12700" marR="172085" indent="169545">
              <a:lnSpc>
                <a:spcPct val="120100"/>
              </a:lnSpc>
              <a:spcBef>
                <a:spcPts val="570"/>
              </a:spcBef>
              <a:buAutoNum type="alphaLcParenR"/>
              <a:tabLst>
                <a:tab pos="18224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college.teachers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with: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teacher_id,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first_name,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last_name,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email,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phone,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subject_specialty,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monthly_salary, joining_date,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is_hod.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TEXT.</a:t>
            </a:r>
            <a:endParaRPr sz="13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8923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college.classrooms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with: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room_id,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building_name,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room_number, capacity, has_projector,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has_ac.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TEXT.</a:t>
            </a:r>
            <a:endParaRPr sz="1300">
              <a:latin typeface="Calibri"/>
              <a:cs typeface="Calibri"/>
            </a:endParaRPr>
          </a:p>
          <a:p>
            <a:pPr marL="12700" marR="314325" indent="156845">
              <a:lnSpc>
                <a:spcPct val="120100"/>
              </a:lnSpc>
              <a:buAutoNum type="alphaLcParenR"/>
              <a:tabLst>
                <a:tab pos="16954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college.fee_payments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with: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payment_id,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student_id,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fee_type,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amount,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payment_date,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payment_mode,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academic_year,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semester.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TEXT.</a:t>
            </a:r>
            <a:endParaRPr sz="13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8923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college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many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now?</a:t>
            </a:r>
            <a:endParaRPr sz="1300">
              <a:latin typeface="Calibri"/>
              <a:cs typeface="Calibri"/>
            </a:endParaRPr>
          </a:p>
          <a:p>
            <a:pPr marL="12700" marR="206375">
              <a:lnSpc>
                <a:spcPct val="120100"/>
              </a:lnSpc>
              <a:spcBef>
                <a:spcPts val="575"/>
              </a:spcBef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Right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monthly_salary,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amount,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capacity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etc.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TEXT.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Tomorrow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ALTER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them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NUMERIC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/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INT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once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real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data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shows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they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need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be.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2704" y="180989"/>
            <a:ext cx="1372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B200"/>
                </a:solidFill>
              </a:rPr>
              <a:t>Answer</a:t>
            </a:r>
            <a:r>
              <a:rPr sz="1600" spc="-95" dirty="0">
                <a:solidFill>
                  <a:srgbClr val="FFB200"/>
                </a:solidFill>
              </a:rPr>
              <a:t> </a:t>
            </a:r>
            <a:r>
              <a:rPr sz="1600" spc="-20" dirty="0">
                <a:solidFill>
                  <a:srgbClr val="FFB200"/>
                </a:solidFill>
              </a:rPr>
              <a:t>(1/2)</a:t>
            </a:r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351256" y="641428"/>
            <a:ext cx="34544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CREATE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IF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college.teachers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3620" y="793907"/>
            <a:ext cx="787400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teacher_id first_name last_name email phone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4900" y="793907"/>
            <a:ext cx="407034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TEXT, TEXT, TEXT, TEXT,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3620" y="1647992"/>
            <a:ext cx="17780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subject_specialty</a:t>
            </a:r>
            <a:r>
              <a:rPr sz="1000" spc="-8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4900" y="1800483"/>
            <a:ext cx="407034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TEXT,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TEXT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256" y="1800483"/>
            <a:ext cx="12452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monthly_salary joining_date is_hod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1256" y="2639267"/>
            <a:ext cx="36068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 indent="-152400">
              <a:lnSpc>
                <a:spcPct val="110100"/>
              </a:lnSpc>
              <a:spcBef>
                <a:spcPts val="100"/>
              </a:spcBef>
              <a:tabLst>
                <a:tab pos="1231265" algn="l"/>
              </a:tabLst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CREATE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IF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college.classrooms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room_id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	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building_name</a:t>
            </a:r>
            <a:r>
              <a:rPr sz="1000" spc="-6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3620" y="3142568"/>
            <a:ext cx="8642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room_number capacity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70171" y="3142568"/>
            <a:ext cx="407034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TEXT,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1256" y="3478064"/>
            <a:ext cx="3759200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2138045">
              <a:lnSpc>
                <a:spcPct val="110100"/>
              </a:lnSpc>
              <a:spcBef>
                <a:spcPts val="100"/>
              </a:spcBef>
              <a:tabLst>
                <a:tab pos="1231265" algn="l"/>
              </a:tabLst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has_projector</a:t>
            </a:r>
            <a:r>
              <a:rPr sz="1000" spc="-6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has_ac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	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TEXT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CREATE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IF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college.fee_payments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2704" y="180989"/>
            <a:ext cx="1400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B200"/>
                </a:solidFill>
              </a:rPr>
              <a:t>Answer</a:t>
            </a:r>
            <a:r>
              <a:rPr sz="1600" spc="-95" dirty="0">
                <a:solidFill>
                  <a:srgbClr val="FFB200"/>
                </a:solidFill>
              </a:rPr>
              <a:t> </a:t>
            </a:r>
            <a:r>
              <a:rPr sz="1600" spc="-20" dirty="0">
                <a:solidFill>
                  <a:srgbClr val="FFB200"/>
                </a:solidFill>
              </a:rPr>
              <a:t>(2/2)</a:t>
            </a:r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503620" y="626165"/>
            <a:ext cx="940435" cy="103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payment_id student_id fee_type amount payment_date payment_mode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0171" y="626165"/>
            <a:ext cx="407034" cy="103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TEXT, TEXT, TEXT, TEXT, TEXT,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1256" y="1632729"/>
            <a:ext cx="3759200" cy="103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2138045">
              <a:lnSpc>
                <a:spcPct val="110100"/>
              </a:lnSpc>
              <a:spcBef>
                <a:spcPts val="100"/>
              </a:spcBef>
              <a:tabLst>
                <a:tab pos="1231265" algn="l"/>
              </a:tabLst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academic_year</a:t>
            </a:r>
            <a:r>
              <a:rPr sz="1000" spc="-6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semester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	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TEXT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ct val="110100"/>
              </a:lnSpc>
              <a:tabLst>
                <a:tab pos="2602865" algn="l"/>
              </a:tabLst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count(*)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information_schema.tables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table_schema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'college';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	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5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now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54098" y="269178"/>
            <a:ext cx="4578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HARD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696" y="717668"/>
            <a:ext cx="8021955" cy="309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0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Operations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Manager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RetailMart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says: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'Our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supply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chain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team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needs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tracking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system.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Build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me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practice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database.'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get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only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business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requirement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list.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5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endParaRPr sz="13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spcBef>
                <a:spcPts val="885"/>
              </a:spcBef>
              <a:buAutoNum type="alphaLcParenR"/>
              <a:tabLst>
                <a:tab pos="18224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called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supply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accio_NN.</a:t>
            </a:r>
            <a:endParaRPr sz="13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8923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Design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supply.warehouses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think: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id,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city,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capacity,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manager_name,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is_active,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established_date.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TEXT.</a:t>
            </a:r>
            <a:endParaRPr sz="1300">
              <a:latin typeface="Calibri"/>
              <a:cs typeface="Calibri"/>
            </a:endParaRPr>
          </a:p>
          <a:p>
            <a:pPr marL="169545" indent="-156845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6954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Design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supply.suppliers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company_name,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contact_person,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email,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phone,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city,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state,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registration_date.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TEXT.</a:t>
            </a:r>
            <a:endParaRPr sz="1300">
              <a:latin typeface="Calibri"/>
              <a:cs typeface="Calibri"/>
            </a:endParaRPr>
          </a:p>
          <a:p>
            <a:pPr marL="12700" marR="1188085" indent="176530">
              <a:lnSpc>
                <a:spcPct val="120100"/>
              </a:lnSpc>
              <a:buAutoNum type="alphaLcParenR"/>
              <a:tabLst>
                <a:tab pos="18923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1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Design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supply.shipments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 shipment_id, supplier_id, warehouse_id, product_count,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shipped_date,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expected_arrival_date,</a:t>
            </a:r>
            <a:r>
              <a:rPr sz="1300" spc="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actual_arrival_date,</a:t>
            </a:r>
            <a:r>
              <a:rPr sz="1300" spc="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status.</a:t>
            </a:r>
            <a:r>
              <a:rPr sz="1300" spc="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TEXT.</a:t>
            </a:r>
            <a:endParaRPr sz="1300">
              <a:latin typeface="Calibri"/>
              <a:cs typeface="Calibri"/>
            </a:endParaRPr>
          </a:p>
          <a:p>
            <a:pPr marL="12700" marR="5080" indent="171450">
              <a:lnSpc>
                <a:spcPct val="120100"/>
              </a:lnSpc>
              <a:buAutoNum type="alphaLcParenR"/>
              <a:tabLst>
                <a:tab pos="18415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1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\d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supply.shipments.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 RetailMart's supply_chain.shipments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(\d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 supply_chain.shipments).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What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did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miss?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did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add?</a:t>
            </a:r>
            <a:endParaRPr sz="1300">
              <a:latin typeface="Calibri"/>
              <a:cs typeface="Calibri"/>
            </a:endParaRPr>
          </a:p>
          <a:p>
            <a:pPr marL="12700" marR="236220">
              <a:lnSpc>
                <a:spcPct val="120100"/>
              </a:lnSpc>
              <a:spcBef>
                <a:spcPts val="570"/>
              </a:spcBef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wrong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answers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STRUCTURE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only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trade-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offs.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point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decide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which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needs.</a:t>
            </a:r>
            <a:r>
              <a:rPr sz="1300" spc="-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Types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come</a:t>
            </a:r>
            <a:r>
              <a:rPr sz="1300" spc="-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tomorrow.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2704" y="180989"/>
            <a:ext cx="1372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B200"/>
                </a:solidFill>
              </a:rPr>
              <a:t>Answer</a:t>
            </a:r>
            <a:r>
              <a:rPr sz="1600" spc="-95" dirty="0">
                <a:solidFill>
                  <a:srgbClr val="FFB200"/>
                </a:solidFill>
              </a:rPr>
              <a:t> </a:t>
            </a:r>
            <a:r>
              <a:rPr sz="1600" spc="-20" dirty="0">
                <a:solidFill>
                  <a:srgbClr val="FFB200"/>
                </a:solidFill>
              </a:rPr>
              <a:t>(1/2)</a:t>
            </a:r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351256" y="641428"/>
            <a:ext cx="35312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CREATE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SCHEMA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IF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supply;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CREATE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IF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supply.warehouses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3620" y="1129428"/>
            <a:ext cx="940435" cy="103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warehouse_id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name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ct val="110100"/>
              </a:lnSpc>
            </a:pP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city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capacity manager_name is_active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8908" y="1129428"/>
            <a:ext cx="407034" cy="103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TEXT, TEXT, TEXT, TEXT, TEXT,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1256" y="2136004"/>
            <a:ext cx="3454400" cy="69659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established_date</a:t>
            </a:r>
            <a:r>
              <a:rPr sz="1000" spc="-8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TEXT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CREATE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IF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supply.suppliers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3620" y="2807047"/>
            <a:ext cx="1092835" cy="1200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supplier_id company_name contact_person email</a:t>
            </a:r>
            <a:endParaRPr sz="1000">
              <a:latin typeface="Courier New"/>
              <a:cs typeface="Courier New"/>
            </a:endParaRPr>
          </a:p>
          <a:p>
            <a:pPr marL="12700" marR="690880">
              <a:lnSpc>
                <a:spcPct val="110100"/>
              </a:lnSpc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phone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city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state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74900" y="2807047"/>
            <a:ext cx="407034" cy="1200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TEXT, TEXT, TEXT, TEXT, TEXT, TEXT,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1256" y="3981365"/>
            <a:ext cx="1854835" cy="36131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registration_date</a:t>
            </a:r>
            <a:r>
              <a:rPr sz="1000" spc="-8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TEXT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2704" y="180989"/>
            <a:ext cx="1400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B200"/>
                </a:solidFill>
              </a:rPr>
              <a:t>Answer</a:t>
            </a:r>
            <a:r>
              <a:rPr sz="1600" spc="-95" dirty="0">
                <a:solidFill>
                  <a:srgbClr val="FFB200"/>
                </a:solidFill>
              </a:rPr>
              <a:t> </a:t>
            </a:r>
            <a:r>
              <a:rPr sz="1600" spc="-20" dirty="0">
                <a:solidFill>
                  <a:srgbClr val="FFB200"/>
                </a:solidFill>
              </a:rPr>
              <a:t>(2/2)</a:t>
            </a:r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351256" y="794069"/>
            <a:ext cx="34544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CREATE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IF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supply.shipments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9467" y="1114328"/>
            <a:ext cx="2693035" cy="36131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will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link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suppliers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tomorrow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will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link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warehouses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tomorrow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3620" y="946548"/>
            <a:ext cx="1016635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shipment_id supplier_id warehouse_id product_count shipped_date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9628" y="946548"/>
            <a:ext cx="407034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TEXT, TEXT, TEXT, TEXT,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3620" y="1800620"/>
            <a:ext cx="20834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expected_arrival_date</a:t>
            </a:r>
            <a:r>
              <a:rPr sz="1000" spc="-10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79628" y="1953124"/>
            <a:ext cx="407034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TEXT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1256" y="1953124"/>
            <a:ext cx="16256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actual_arrival_date status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31060" y="269178"/>
            <a:ext cx="504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CRAZY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696" y="717668"/>
            <a:ext cx="8052434" cy="309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320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says: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'We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prototyping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RetailMart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V4.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Recreate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sales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scratch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just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looking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at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current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V3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design.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understand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DDL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naming.'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5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endParaRPr sz="13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spcBef>
                <a:spcPts val="885"/>
              </a:spcBef>
              <a:buAutoNum type="alphaLcParenR"/>
              <a:tabLst>
                <a:tab pos="18224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called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mini_mart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accio_NN.</a:t>
            </a:r>
            <a:endParaRPr sz="1300">
              <a:latin typeface="Calibri"/>
              <a:cs typeface="Calibri"/>
            </a:endParaRPr>
          </a:p>
          <a:p>
            <a:pPr marL="12700" marR="5080" indent="176530">
              <a:lnSpc>
                <a:spcPct val="120100"/>
              </a:lnSpc>
              <a:buAutoNum type="alphaLcParenR"/>
              <a:tabLst>
                <a:tab pos="18923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Look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RetailMart's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sales.orders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(\d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sales.orders).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Recreate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mini_mart.orders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All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7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TEXT.</a:t>
            </a:r>
            <a:endParaRPr sz="1300">
              <a:latin typeface="Calibri"/>
              <a:cs typeface="Calibri"/>
            </a:endParaRPr>
          </a:p>
          <a:p>
            <a:pPr marL="169545" indent="-156845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6954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sales.order_items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mini_mart.order_items.</a:t>
            </a:r>
            <a:endParaRPr sz="13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8923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customers.customers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mini_mart.customers.</a:t>
            </a:r>
            <a:endParaRPr sz="1300">
              <a:latin typeface="Calibri"/>
              <a:cs typeface="Calibri"/>
            </a:endParaRPr>
          </a:p>
          <a:p>
            <a:pPr marL="12700" marR="205740" indent="171450">
              <a:lnSpc>
                <a:spcPct val="120100"/>
              </a:lnSpc>
              <a:buAutoNum type="alphaLcParenR"/>
              <a:tabLst>
                <a:tab pos="18415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List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mini_mart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introspection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below,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RetailMart's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'sales'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compare.</a:t>
            </a:r>
            <a:endParaRPr sz="1300">
              <a:latin typeface="Calibri"/>
              <a:cs typeface="Calibri"/>
            </a:endParaRPr>
          </a:p>
          <a:p>
            <a:pPr marL="12700" marR="535940">
              <a:lnSpc>
                <a:spcPct val="120100"/>
              </a:lnSpc>
              <a:spcBef>
                <a:spcPts val="570"/>
              </a:spcBef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Match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exactly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(cust_id,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prod_id,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net_total...).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copy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-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tomorrow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ALTER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them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match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types.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2704" y="180989"/>
            <a:ext cx="21405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B200"/>
                </a:solidFill>
              </a:rPr>
              <a:t>Introspection</a:t>
            </a:r>
            <a:r>
              <a:rPr sz="1600" spc="20" dirty="0">
                <a:solidFill>
                  <a:srgbClr val="FFB200"/>
                </a:solidFill>
              </a:rPr>
              <a:t> </a:t>
            </a:r>
            <a:r>
              <a:rPr sz="1600" spc="-10" dirty="0">
                <a:solidFill>
                  <a:srgbClr val="FFB200"/>
                </a:solidFill>
              </a:rPr>
              <a:t>Query</a:t>
            </a:r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31496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table_name,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column_name,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data_type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information_schema.columns</a:t>
            </a:r>
            <a:endParaRPr sz="1000">
              <a:latin typeface="Courier New"/>
              <a:cs typeface="Courier New"/>
            </a:endParaRPr>
          </a:p>
          <a:p>
            <a:pPr marL="12700" marR="2330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table_schema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'mini_mart'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table_name,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ordinal_position;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2704" y="180989"/>
            <a:ext cx="1372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B200"/>
                </a:solidFill>
              </a:rPr>
              <a:t>Answer</a:t>
            </a:r>
            <a:r>
              <a:rPr sz="1600" spc="-95" dirty="0">
                <a:solidFill>
                  <a:srgbClr val="FFB200"/>
                </a:solidFill>
              </a:rPr>
              <a:t> </a:t>
            </a:r>
            <a:r>
              <a:rPr sz="1600" spc="-20" dirty="0">
                <a:solidFill>
                  <a:srgbClr val="FFB200"/>
                </a:solidFill>
              </a:rPr>
              <a:t>(1/2)</a:t>
            </a:r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351256" y="641428"/>
            <a:ext cx="34544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CREATE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SCHEMA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IF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mini_mart;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CREATE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IF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mini_mart.orders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3620" y="1129428"/>
            <a:ext cx="940435" cy="103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order_id cust_id store_id order_date order_status gross_total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2535" y="1129428"/>
            <a:ext cx="407034" cy="103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TEXT, TEXT, TEXT, TEXT, TEXT,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1256" y="2136004"/>
            <a:ext cx="3835400" cy="103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2062480" algn="just">
              <a:lnSpc>
                <a:spcPct val="1101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discount_amount</a:t>
            </a:r>
            <a:r>
              <a:rPr sz="1000" spc="-7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net_total</a:t>
            </a:r>
            <a:r>
              <a:rPr sz="1000" spc="434" dirty="0">
                <a:solidFill>
                  <a:srgbClr val="D3D3D3"/>
                </a:solidFill>
                <a:latin typeface="Courier New"/>
                <a:cs typeface="Courier New"/>
              </a:rPr>
              <a:t>   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payment_mode_id</a:t>
            </a:r>
            <a:r>
              <a:rPr sz="1000" spc="-7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TEXT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CREATE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IF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mini_mart.order_items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3620" y="3142568"/>
            <a:ext cx="1016635" cy="103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order_item_id order_id prod_id quantity unit_price gross_amount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22535" y="3142568"/>
            <a:ext cx="407034" cy="103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TEXT, TEXT, TEXT, TEXT, TEXT,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3620" y="4164383"/>
            <a:ext cx="16256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discount_amount</a:t>
            </a:r>
            <a:r>
              <a:rPr sz="1000" spc="-7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2704" y="180989"/>
            <a:ext cx="1400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B200"/>
                </a:solidFill>
              </a:rPr>
              <a:t>Answer</a:t>
            </a:r>
            <a:r>
              <a:rPr sz="1600" spc="-95" dirty="0">
                <a:solidFill>
                  <a:srgbClr val="FFB200"/>
                </a:solidFill>
              </a:rPr>
              <a:t> </a:t>
            </a:r>
            <a:r>
              <a:rPr sz="1600" spc="-20" dirty="0">
                <a:solidFill>
                  <a:srgbClr val="FFB200"/>
                </a:solidFill>
              </a:rPr>
              <a:t>(2/2)</a:t>
            </a:r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3683635" cy="69659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220"/>
              </a:spcBef>
              <a:tabLst>
                <a:tab pos="1383665" algn="l"/>
              </a:tabLst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net_amount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	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TEXT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CREATE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IF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mini_mart.customers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3620" y="1297207"/>
            <a:ext cx="864235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customer_id first_name last_name email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phone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4900" y="1297207"/>
            <a:ext cx="407034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TEXT, TEXT, TEXT, TEXT,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3620" y="2151267"/>
            <a:ext cx="17780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registration_date</a:t>
            </a:r>
            <a:r>
              <a:rPr sz="1000" spc="-8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4900" y="2303746"/>
            <a:ext cx="407034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TEXT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256" y="2303746"/>
            <a:ext cx="132143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>
              <a:lnSpc>
                <a:spcPct val="110100"/>
              </a:lnSpc>
              <a:spcBef>
                <a:spcPts val="100"/>
              </a:spcBef>
            </a:pP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tier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tier_updated_at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1256" y="2974788"/>
            <a:ext cx="31496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table_name,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column_name,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data_type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information_schema.columns</a:t>
            </a:r>
            <a:endParaRPr sz="1000">
              <a:latin typeface="Courier New"/>
              <a:cs typeface="Courier New"/>
            </a:endParaRPr>
          </a:p>
          <a:p>
            <a:pPr marL="12700" marR="2330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table_schema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'mini_mart'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table_name,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ordinal_position;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Empty</a:t>
            </a:r>
            <a:r>
              <a:rPr spc="-25" dirty="0"/>
              <a:t> </a:t>
            </a:r>
            <a:r>
              <a:rPr dirty="0"/>
              <a:t>College</a:t>
            </a:r>
            <a:r>
              <a:rPr spc="-25" dirty="0"/>
              <a:t> </a:t>
            </a:r>
            <a:r>
              <a:rPr spc="-10" dirty="0"/>
              <a:t>Analogy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973059" cy="1598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8285">
              <a:lnSpc>
                <a:spcPct val="120100"/>
              </a:lnSpc>
              <a:spcBef>
                <a:spcPts val="100"/>
              </a:spcBef>
            </a:pP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just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built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college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students,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courses,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teachers,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fee_payments.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Beautiful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structure.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a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single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student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courses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listed.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system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structurally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perfect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completely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useless.</a:t>
            </a:r>
            <a:endParaRPr sz="1300">
              <a:latin typeface="Calibri"/>
              <a:cs typeface="Calibri"/>
            </a:endParaRPr>
          </a:p>
          <a:p>
            <a:pPr marL="12700" marR="597535">
              <a:lnSpc>
                <a:spcPct val="120100"/>
              </a:lnSpc>
              <a:spcBef>
                <a:spcPts val="57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DML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START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adds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rows,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UPDATE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changes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them,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DELETE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removes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them,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TRUNCATE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empties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database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Earth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because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someone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INSERT.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20100"/>
              </a:lnSpc>
              <a:spcBef>
                <a:spcPts val="575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Reminder: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today,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type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including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ids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('1',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'2',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'3').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Tomorrow,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when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get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proper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types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auto-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IDs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(SERIAL),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database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fills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ids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you.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INSERT</a:t>
            </a:r>
            <a:r>
              <a:rPr spc="-10" dirty="0"/>
              <a:t> </a:t>
            </a:r>
            <a:r>
              <a:rPr dirty="0"/>
              <a:t>INTO</a:t>
            </a:r>
            <a:r>
              <a:rPr spc="-1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dirty="0"/>
              <a:t>Adding</a:t>
            </a:r>
            <a:r>
              <a:rPr spc="-10" dirty="0"/>
              <a:t> </a:t>
            </a:r>
            <a:r>
              <a:rPr dirty="0"/>
              <a:t>Data</a:t>
            </a:r>
            <a:r>
              <a:rPr spc="-10" dirty="0"/>
              <a:t> (1/2)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147869"/>
            <a:ext cx="7165340" cy="3009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6800"/>
              </a:lnSpc>
              <a:spcBef>
                <a:spcPts val="100"/>
              </a:spcBef>
            </a:pP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Technical: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adds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You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supply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matching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VALUES. Layman's: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like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filling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Excel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type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values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900" b="1" dirty="0">
                <a:solidFill>
                  <a:srgbClr val="FFB200"/>
                </a:solidFill>
                <a:latin typeface="Courier New"/>
                <a:cs typeface="Courier New"/>
              </a:rPr>
              <a:t>[SYNTAX: INSERT </a:t>
            </a:r>
            <a:r>
              <a:rPr sz="900" b="1" spc="-10" dirty="0">
                <a:solidFill>
                  <a:srgbClr val="FFB200"/>
                </a:solidFill>
                <a:latin typeface="Courier New"/>
                <a:cs typeface="Courier New"/>
              </a:rPr>
              <a:t>INTO]</a:t>
            </a:r>
            <a:endParaRPr sz="900">
              <a:latin typeface="Courier New"/>
              <a:cs typeface="Courier New"/>
            </a:endParaRPr>
          </a:p>
          <a:p>
            <a:pPr marL="12700" marR="3765550">
              <a:lnSpc>
                <a:spcPct val="1202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Single row (name the columns, then the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values)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INSERT INTO schema.table (col1, col2,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col3)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 VALUES ('value1', 'value2',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'value3');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900">
              <a:latin typeface="Courier New"/>
              <a:cs typeface="Courier New"/>
            </a:endParaRPr>
          </a:p>
          <a:p>
            <a:pPr marL="12700" marR="4593590">
              <a:lnSpc>
                <a:spcPct val="120200"/>
              </a:lnSpc>
              <a:spcBef>
                <a:spcPts val="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Multiple rows in one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statement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INSERT INTO schema.table (col1,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col2)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VALUES ('a', '1'), ('b', '2'), ('c',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'3');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900">
              <a:latin typeface="Courier New"/>
              <a:cs typeface="Courier New"/>
            </a:endParaRPr>
          </a:p>
          <a:p>
            <a:pPr marL="12700" marR="3903979">
              <a:lnSpc>
                <a:spcPct val="1202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INSERT ... RETURNING (see what was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inserted)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INSERT INTO schema.table (col1,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col2)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VALUES ('value1',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'42')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RETURNING col1,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col2;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INSERT</a:t>
            </a:r>
            <a:r>
              <a:rPr spc="-10" dirty="0"/>
              <a:t> </a:t>
            </a:r>
            <a:r>
              <a:rPr dirty="0"/>
              <a:t>INTO</a:t>
            </a:r>
            <a:r>
              <a:rPr spc="-1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dirty="0"/>
              <a:t>Adding</a:t>
            </a:r>
            <a:r>
              <a:rPr spc="-10" dirty="0"/>
              <a:t> </a:t>
            </a:r>
            <a:r>
              <a:rPr dirty="0"/>
              <a:t>Data</a:t>
            </a:r>
            <a:r>
              <a:rPr spc="-10" dirty="0"/>
              <a:t> (2/2)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48018"/>
            <a:ext cx="5196840" cy="318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Every value is in single quotes today - all columns are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TEXT.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900" b="1" dirty="0">
                <a:solidFill>
                  <a:srgbClr val="FFB200"/>
                </a:solidFill>
                <a:latin typeface="Courier New"/>
                <a:cs typeface="Courier New"/>
              </a:rPr>
              <a:t>[Worked Example - Fill </a:t>
            </a:r>
            <a:r>
              <a:rPr sz="900" b="1" spc="-10" dirty="0">
                <a:solidFill>
                  <a:srgbClr val="FFB200"/>
                </a:solidFill>
                <a:latin typeface="Courier New"/>
                <a:cs typeface="Courier New"/>
              </a:rPr>
              <a:t>college.students]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INSERT INTO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college.students</a:t>
            </a:r>
            <a:endParaRPr sz="900">
              <a:latin typeface="Courier New"/>
              <a:cs typeface="Courier New"/>
            </a:endParaRPr>
          </a:p>
          <a:p>
            <a:pPr marL="12700" marR="5080" indent="137795">
              <a:lnSpc>
                <a:spcPct val="120200"/>
              </a:lnSpc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(student_id, first_name, last_name, email, date_of_birth,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is_active)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VALUES ('1', 'Aarav', 'Sharma',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  <a:hlinkClick r:id="rId2"/>
              </a:rPr>
              <a:t>'aarav@college.edu'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, '2004-03-15',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'true');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900">
              <a:latin typeface="Courier New"/>
              <a:cs typeface="Courier New"/>
            </a:endParaRPr>
          </a:p>
          <a:p>
            <a:pPr marL="12700" marR="2211070">
              <a:lnSpc>
                <a:spcPct val="120200"/>
              </a:lnSpc>
              <a:spcBef>
                <a:spcPts val="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Multi-row: add two more students at </a:t>
            </a:r>
            <a:r>
              <a:rPr sz="900" spc="-20" dirty="0">
                <a:solidFill>
                  <a:srgbClr val="699954"/>
                </a:solidFill>
                <a:latin typeface="Courier New"/>
                <a:cs typeface="Courier New"/>
              </a:rPr>
              <a:t>once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INSERT INTO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college.students</a:t>
            </a:r>
            <a:endParaRPr sz="900">
              <a:latin typeface="Courier New"/>
              <a:cs typeface="Courier New"/>
            </a:endParaRPr>
          </a:p>
          <a:p>
            <a:pPr marL="12700" marR="349885" indent="137795">
              <a:lnSpc>
                <a:spcPct val="120200"/>
              </a:lnSpc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(student_id, first_name, last_name, email, date_of_birth,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is_active) VALUES</a:t>
            </a:r>
            <a:endParaRPr sz="900">
              <a:latin typeface="Courier New"/>
              <a:cs typeface="Courier New"/>
            </a:endParaRPr>
          </a:p>
          <a:p>
            <a:pPr marL="150495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('2', 'Diya',  'Patel', 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  <a:hlinkClick r:id="rId3"/>
              </a:rPr>
              <a:t>'diya@college.edu'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,  '2003-11-02',</a:t>
            </a:r>
            <a:r>
              <a:rPr sz="900" spc="5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'true'),</a:t>
            </a:r>
            <a:endParaRPr sz="900">
              <a:latin typeface="Courier New"/>
              <a:cs typeface="Courier New"/>
            </a:endParaRPr>
          </a:p>
          <a:p>
            <a:pPr marL="150495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('3', 'Kabir', 'Singh', 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  <a:hlinkClick r:id="rId4"/>
              </a:rPr>
              <a:t>'kabir@college.edu'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, '2004-07-21',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'false');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900">
              <a:latin typeface="Courier New"/>
              <a:cs typeface="Courier New"/>
            </a:endParaRPr>
          </a:p>
          <a:p>
            <a:pPr marL="12700" marR="3176270">
              <a:lnSpc>
                <a:spcPct val="1202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See the row you just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added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INSERT INTO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college.students</a:t>
            </a:r>
            <a:endParaRPr sz="900">
              <a:latin typeface="Courier New"/>
              <a:cs typeface="Courier New"/>
            </a:endParaRPr>
          </a:p>
          <a:p>
            <a:pPr marL="12700" marR="211454" indent="137795">
              <a:lnSpc>
                <a:spcPct val="120200"/>
              </a:lnSpc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(student_id, first_name, last_name, email, date_of_birth,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is_active)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VALUES ('4', 'Meera', 'Iyer',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  <a:hlinkClick r:id="rId5"/>
              </a:rPr>
              <a:t>'meera@college.edu'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, '2003-05-09',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'true')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RETURNING student_id, first_name,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email;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UPDATE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Changing</a:t>
            </a:r>
            <a:r>
              <a:rPr spc="-25" dirty="0"/>
              <a:t> </a:t>
            </a:r>
            <a:r>
              <a:rPr dirty="0"/>
              <a:t>Existing</a:t>
            </a:r>
            <a:r>
              <a:rPr spc="-2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(1/2)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899400" cy="8121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Technical: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UPDATE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modifies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existing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gives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value(s);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chooses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which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change.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changes.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Layman's: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UPDATE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'Find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Replace'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forget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replaces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row.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UPDATE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Changing</a:t>
            </a:r>
            <a:r>
              <a:rPr spc="-25" dirty="0"/>
              <a:t> </a:t>
            </a:r>
            <a:r>
              <a:rPr dirty="0"/>
              <a:t>Existing</a:t>
            </a:r>
            <a:r>
              <a:rPr spc="-2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(2/2)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07"/>
            <a:ext cx="3542029" cy="280987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dirty="0">
                <a:solidFill>
                  <a:srgbClr val="FFB200"/>
                </a:solidFill>
                <a:latin typeface="Courier New"/>
                <a:cs typeface="Courier New"/>
              </a:rPr>
              <a:t>[SYNTAX &amp; Worked </a:t>
            </a:r>
            <a:r>
              <a:rPr sz="900" b="1" spc="-10" dirty="0">
                <a:solidFill>
                  <a:srgbClr val="FFB200"/>
                </a:solidFill>
                <a:latin typeface="Courier New"/>
                <a:cs typeface="Courier New"/>
              </a:rPr>
              <a:t>Example]</a:t>
            </a:r>
            <a:endParaRPr sz="900">
              <a:latin typeface="Courier New"/>
              <a:cs typeface="Courier New"/>
            </a:endParaRPr>
          </a:p>
          <a:p>
            <a:pPr marL="12700" marR="1728470">
              <a:lnSpc>
                <a:spcPct val="1202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Basic UPDATE with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WHERE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UPDATE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college.students</a:t>
            </a:r>
            <a:endParaRPr sz="900">
              <a:latin typeface="Courier New"/>
              <a:cs typeface="Courier New"/>
            </a:endParaRPr>
          </a:p>
          <a:p>
            <a:pPr marL="12700" marR="901065">
              <a:lnSpc>
                <a:spcPct val="120200"/>
              </a:lnSpc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SET email =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  <a:hlinkClick r:id="rId2"/>
              </a:rPr>
              <a:t>'aarav.sharma@college.edu'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WHERE student_id = </a:t>
            </a: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'1';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900">
              <a:latin typeface="Courier New"/>
              <a:cs typeface="Courier New"/>
            </a:endParaRPr>
          </a:p>
          <a:p>
            <a:pPr marL="12700" marR="1245870">
              <a:lnSpc>
                <a:spcPct val="1202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Change several columns at </a:t>
            </a:r>
            <a:r>
              <a:rPr sz="900" spc="-20" dirty="0">
                <a:solidFill>
                  <a:srgbClr val="699954"/>
                </a:solidFill>
                <a:latin typeface="Courier New"/>
                <a:cs typeface="Courier New"/>
              </a:rPr>
              <a:t>once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UPDATE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college.students</a:t>
            </a:r>
            <a:endParaRPr sz="900">
              <a:latin typeface="Courier New"/>
              <a:cs typeface="Courier New"/>
            </a:endParaRPr>
          </a:p>
          <a:p>
            <a:pPr marL="12700" marR="5080">
              <a:lnSpc>
                <a:spcPct val="120200"/>
              </a:lnSpc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SET is_active = 'false', last_name = 'Sharma-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Verma'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WHERE student_id = </a:t>
            </a: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'3';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900">
              <a:latin typeface="Courier New"/>
              <a:cs typeface="Courier New"/>
            </a:endParaRPr>
          </a:p>
          <a:p>
            <a:pPr marL="12700" marR="1383665">
              <a:lnSpc>
                <a:spcPct val="1202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RETURNING shows what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changed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UPDATE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college.students</a:t>
            </a:r>
            <a:endParaRPr sz="900">
              <a:latin typeface="Courier New"/>
              <a:cs typeface="Courier New"/>
            </a:endParaRPr>
          </a:p>
          <a:p>
            <a:pPr marL="12700" marR="2004060">
              <a:lnSpc>
                <a:spcPct val="120200"/>
              </a:lnSpc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SET is_active =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'true'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WHERE student_id = </a:t>
            </a:r>
            <a:r>
              <a:rPr sz="900" spc="-25" dirty="0">
                <a:solidFill>
                  <a:srgbClr val="333333"/>
                </a:solidFill>
                <a:latin typeface="Courier New"/>
                <a:cs typeface="Courier New"/>
              </a:rPr>
              <a:t>'3'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RETURNING student_id, first_name,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is_active;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F47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96898" y="345505"/>
            <a:ext cx="4413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PRO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TIP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Feeling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Pain</a:t>
            </a:r>
            <a:r>
              <a:rPr spc="-1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All-</a:t>
            </a:r>
            <a:r>
              <a:rPr dirty="0"/>
              <a:t>TEXT</a:t>
            </a:r>
            <a:r>
              <a:rPr spc="-10" dirty="0"/>
              <a:t> </a:t>
            </a:r>
            <a:r>
              <a:rPr dirty="0"/>
              <a:t>(and</a:t>
            </a:r>
            <a:r>
              <a:rPr spc="-15" dirty="0"/>
              <a:t> </a:t>
            </a:r>
            <a:r>
              <a:rPr dirty="0"/>
              <a:t>why</a:t>
            </a:r>
            <a:r>
              <a:rPr spc="-15" dirty="0"/>
              <a:t> </a:t>
            </a:r>
            <a:r>
              <a:rPr dirty="0"/>
              <a:t>proper</a:t>
            </a:r>
            <a:r>
              <a:rPr spc="-10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types</a:t>
            </a:r>
            <a:r>
              <a:rPr spc="-15" dirty="0"/>
              <a:t> </a:t>
            </a:r>
            <a:r>
              <a:rPr dirty="0"/>
              <a:t>fix</a:t>
            </a:r>
            <a:r>
              <a:rPr spc="-15" dirty="0"/>
              <a:t> </a:t>
            </a:r>
            <a:r>
              <a:rPr spc="-25" dirty="0"/>
              <a:t>it)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60261"/>
            <a:ext cx="506412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Because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today,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two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things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feel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awkward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purpose: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856" y="1543217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856" y="1981697"/>
            <a:ext cx="8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2934" y="1531192"/>
            <a:ext cx="7614920" cy="9029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9865">
              <a:lnSpc>
                <a:spcPct val="119900"/>
              </a:lnSpc>
              <a:spcBef>
                <a:spcPts val="100"/>
              </a:spcBef>
            </a:pP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Math</a:t>
            </a:r>
            <a:r>
              <a:rPr sz="1200" spc="-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clumsy.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6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raise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fee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10%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cannot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write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amount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*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1.1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amount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TEXT.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You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would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have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cast: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amount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202020"/>
                </a:solidFill>
                <a:latin typeface="Calibri"/>
                <a:cs typeface="Calibri"/>
              </a:rPr>
              <a:t>=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(amount::numeric</a:t>
            </a:r>
            <a:r>
              <a:rPr sz="1200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*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1.1)::text.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Ugh.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9900"/>
              </a:lnSpc>
            </a:pP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Comparisons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sort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like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words,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numbers.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amount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'900'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compares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TEXT,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so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'1000'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treated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LESS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than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'900'</a:t>
            </a:r>
            <a:r>
              <a:rPr sz="12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(it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compares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'1'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vs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'9').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Surprising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wrong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numbers.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9856" y="2480949"/>
            <a:ext cx="7875905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discomfort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whole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motivation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tomorrow: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Types.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will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ALTER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amount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NUMERIC,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DATE,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is_active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BOOLEAN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suddenly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math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comparisons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just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work.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DELETE</a:t>
            </a:r>
            <a:r>
              <a:rPr spc="-3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Removing</a:t>
            </a:r>
            <a:r>
              <a:rPr spc="-40" dirty="0"/>
              <a:t> </a:t>
            </a:r>
            <a:r>
              <a:rPr spc="-20" dirty="0"/>
              <a:t>Data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866380" cy="365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Technical: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DELETE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removes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chooses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which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gone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structure stays).</a:t>
            </a:r>
            <a:endParaRPr sz="1300">
              <a:latin typeface="Calibri"/>
              <a:cs typeface="Calibri"/>
            </a:endParaRPr>
          </a:p>
          <a:p>
            <a:pPr marL="12700" marR="180340">
              <a:lnSpc>
                <a:spcPct val="120100"/>
              </a:lnSpc>
              <a:spcBef>
                <a:spcPts val="570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Layman's: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DELETE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removes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specific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spreadsheet.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sheet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headers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remain.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Forget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and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vanishes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empty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sheet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stays.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900" b="1" dirty="0">
                <a:solidFill>
                  <a:srgbClr val="FFB200"/>
                </a:solidFill>
                <a:latin typeface="Courier New"/>
                <a:cs typeface="Courier New"/>
              </a:rPr>
              <a:t>[SYNTAX &amp; Worked </a:t>
            </a:r>
            <a:r>
              <a:rPr sz="900" b="1" spc="-10" dirty="0">
                <a:solidFill>
                  <a:srgbClr val="FFB200"/>
                </a:solidFill>
                <a:latin typeface="Courier New"/>
                <a:cs typeface="Courier New"/>
              </a:rPr>
              <a:t>Example]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Delete specific </a:t>
            </a:r>
            <a:r>
              <a:rPr sz="900" spc="-20" dirty="0">
                <a:solidFill>
                  <a:srgbClr val="699954"/>
                </a:solidFill>
                <a:latin typeface="Courier New"/>
                <a:cs typeface="Courier New"/>
              </a:rPr>
              <a:t>rows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DELETE FROM college.students WHERE student_id = </a:t>
            </a:r>
            <a:r>
              <a:rPr sz="900" spc="-20" dirty="0">
                <a:solidFill>
                  <a:srgbClr val="333333"/>
                </a:solidFill>
                <a:latin typeface="Courier New"/>
                <a:cs typeface="Courier New"/>
              </a:rPr>
              <a:t>'4';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Preview FIRST - what will this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delete?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SELECT * FROM college.students WHERE is_active =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'false';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900">
              <a:latin typeface="Courier New"/>
              <a:cs typeface="Courier New"/>
            </a:endParaRPr>
          </a:p>
          <a:p>
            <a:pPr marL="12700" marR="3363595">
              <a:lnSpc>
                <a:spcPct val="120200"/>
              </a:lnSpc>
              <a:spcBef>
                <a:spcPts val="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Happy with the preview? Delete with RETURNING to see what </a:t>
            </a:r>
            <a:r>
              <a:rPr sz="900" spc="-20" dirty="0">
                <a:solidFill>
                  <a:srgbClr val="699954"/>
                </a:solidFill>
                <a:latin typeface="Courier New"/>
                <a:cs typeface="Courier New"/>
              </a:rPr>
              <a:t>went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DELETE FROM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college.students</a:t>
            </a:r>
            <a:endParaRPr sz="900">
              <a:latin typeface="Courier New"/>
              <a:cs typeface="Courier New"/>
            </a:endParaRPr>
          </a:p>
          <a:p>
            <a:pPr marL="12700" marR="5570220">
              <a:lnSpc>
                <a:spcPct val="120200"/>
              </a:lnSpc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WHERE is_active =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'false'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RETURNING student_id,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first_name;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Delete ALL rows (table stays, structure intact) -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dangerous!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DELETE FROM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college.students;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TRUNCATE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Nuclear</a:t>
            </a:r>
            <a:r>
              <a:rPr spc="-10" dirty="0"/>
              <a:t> Option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828915" cy="324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8920">
              <a:lnSpc>
                <a:spcPct val="120100"/>
              </a:lnSpc>
              <a:spcBef>
                <a:spcPts val="100"/>
              </a:spcBef>
            </a:pP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Technical: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TRUNCATE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removes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without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scanning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far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faster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DELETE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big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tables. Structure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stays.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DDL,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PostgreSQL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rolled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back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inside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transaction.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20100"/>
              </a:lnSpc>
              <a:spcBef>
                <a:spcPts val="570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Layman's: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DELETE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erases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answer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exam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sheet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TRUNCATE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bins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sheet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hands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fresh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blank.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Both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give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blank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sheet;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TRUNCATE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instant.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900" b="1" dirty="0">
                <a:solidFill>
                  <a:srgbClr val="FFB200"/>
                </a:solidFill>
                <a:latin typeface="Courier New"/>
                <a:cs typeface="Courier New"/>
              </a:rPr>
              <a:t>[SYNTAX &amp; Worked </a:t>
            </a:r>
            <a:r>
              <a:rPr sz="900" b="1" spc="-10" dirty="0">
                <a:solidFill>
                  <a:srgbClr val="FFB200"/>
                </a:solidFill>
                <a:latin typeface="Courier New"/>
                <a:cs typeface="Courier New"/>
              </a:rPr>
              <a:t>Example]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Empty a table fast (structure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stays)</a:t>
            </a:r>
            <a:endParaRPr sz="900">
              <a:latin typeface="Courier New"/>
              <a:cs typeface="Courier New"/>
            </a:endParaRPr>
          </a:p>
          <a:p>
            <a:pPr marL="12700" marR="4360545">
              <a:lnSpc>
                <a:spcPct val="120200"/>
              </a:lnSpc>
              <a:tabLst>
                <a:tab pos="2839085" algn="l"/>
              </a:tabLst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SELECT count(*) FROM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college.students;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	-- e.g. </a:t>
            </a:r>
            <a:r>
              <a:rPr sz="900" spc="-50" dirty="0">
                <a:solidFill>
                  <a:srgbClr val="333333"/>
                </a:solidFill>
                <a:latin typeface="Courier New"/>
                <a:cs typeface="Courier New"/>
              </a:rPr>
              <a:t>3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TRUNCATE TABLE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college.students;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  <a:tabLst>
                <a:tab pos="2839085" algn="l"/>
              </a:tabLst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SELECT count(*) FROM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college.students;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	-- </a:t>
            </a:r>
            <a:r>
              <a:rPr sz="900" spc="-50" dirty="0">
                <a:solidFill>
                  <a:srgbClr val="333333"/>
                </a:solidFill>
                <a:latin typeface="Courier New"/>
                <a:cs typeface="Courier New"/>
              </a:rPr>
              <a:t>0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Table still works - insert fresh </a:t>
            </a:r>
            <a:r>
              <a:rPr sz="900" spc="-20" dirty="0">
                <a:solidFill>
                  <a:srgbClr val="699954"/>
                </a:solidFill>
                <a:latin typeface="Courier New"/>
                <a:cs typeface="Courier New"/>
              </a:rPr>
              <a:t>rows</a:t>
            </a:r>
            <a:endParaRPr sz="900">
              <a:latin typeface="Courier New"/>
              <a:cs typeface="Courier New"/>
            </a:endParaRPr>
          </a:p>
          <a:p>
            <a:pPr marL="12700" marR="4154170">
              <a:lnSpc>
                <a:spcPct val="120200"/>
              </a:lnSpc>
            </a:pP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INSERT INTO college.students (student_id,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first_name) </a:t>
            </a:r>
            <a:r>
              <a:rPr sz="900" dirty="0">
                <a:solidFill>
                  <a:srgbClr val="333333"/>
                </a:solidFill>
                <a:latin typeface="Courier New"/>
                <a:cs typeface="Courier New"/>
              </a:rPr>
              <a:t>VALUES ('1', 'Fresh </a:t>
            </a:r>
            <a:r>
              <a:rPr sz="900" spc="-10" dirty="0">
                <a:solidFill>
                  <a:srgbClr val="333333"/>
                </a:solidFill>
                <a:latin typeface="Courier New"/>
                <a:cs typeface="Courier New"/>
              </a:rPr>
              <a:t>Start');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Note: RESTART IDENTITY resets a SERIAL counter to </a:t>
            </a:r>
            <a:r>
              <a:rPr sz="900" spc="-25" dirty="0">
                <a:solidFill>
                  <a:srgbClr val="699954"/>
                </a:solidFill>
                <a:latin typeface="Courier New"/>
                <a:cs typeface="Courier New"/>
              </a:rPr>
              <a:t>1.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699954"/>
                </a:solidFill>
                <a:latin typeface="Courier New"/>
                <a:cs typeface="Courier New"/>
              </a:rPr>
              <a:t>-- Your columns are TEXT today (no SERIAL), so you will use that </a:t>
            </a:r>
            <a:r>
              <a:rPr sz="900" spc="-10" dirty="0">
                <a:solidFill>
                  <a:srgbClr val="699954"/>
                </a:solidFill>
                <a:latin typeface="Courier New"/>
                <a:cs typeface="Courier New"/>
              </a:rPr>
              <a:t>tomorrow.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</a:rPr>
              <a:t>DROP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vs</a:t>
            </a:r>
            <a:r>
              <a:rPr sz="1700" spc="-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TRUNCATE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vs</a:t>
            </a:r>
            <a:r>
              <a:rPr sz="1700" spc="-5" dirty="0">
                <a:solidFill>
                  <a:srgbClr val="1D3A5E"/>
                </a:solidFill>
              </a:rPr>
              <a:t> </a:t>
            </a:r>
            <a:r>
              <a:rPr sz="1700" spc="-10" dirty="0">
                <a:solidFill>
                  <a:srgbClr val="1D3A5E"/>
                </a:solidFill>
              </a:rPr>
              <a:t>DELETE</a:t>
            </a:r>
            <a:endParaRPr sz="170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21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Q: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'What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is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difference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between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45" dirty="0">
                <a:latin typeface="Calibri"/>
                <a:cs typeface="Calibri"/>
              </a:rPr>
              <a:t>DROP,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TRUNCATE,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DELETE?'</a:t>
            </a:r>
          </a:p>
          <a:p>
            <a:pPr marL="12700" marR="5080">
              <a:lnSpc>
                <a:spcPct val="130100"/>
              </a:lnSpc>
              <a:spcBef>
                <a:spcPts val="620"/>
              </a:spcBef>
            </a:pPr>
            <a:r>
              <a:rPr b="0" dirty="0">
                <a:latin typeface="Calibri"/>
                <a:cs typeface="Calibri"/>
              </a:rPr>
              <a:t>A: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'DROP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removes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table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itself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-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structure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data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gone,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table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ceases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to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exist.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TRUNCATE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removes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ALL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rows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but </a:t>
            </a:r>
            <a:r>
              <a:rPr b="0" spc="-10" dirty="0">
                <a:latin typeface="Calibri"/>
                <a:cs typeface="Calibri"/>
              </a:rPr>
              <a:t>keeps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structure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-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fast,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no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WHERE.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DELETE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removes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specific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rows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via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WHERE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condition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-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precise,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you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can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roll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it </a:t>
            </a:r>
            <a:r>
              <a:rPr b="0" dirty="0">
                <a:latin typeface="Calibri"/>
                <a:cs typeface="Calibri"/>
              </a:rPr>
              <a:t>back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inside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transaction.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DROP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TRUNCATE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are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DDL;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DELETE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DML.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Memory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hook: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DROP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=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demolish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room, </a:t>
            </a:r>
            <a:r>
              <a:rPr b="0" spc="-20" dirty="0">
                <a:latin typeface="Calibri"/>
                <a:cs typeface="Calibri"/>
              </a:rPr>
              <a:t>TRUNCATE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=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empty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room,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DELETE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=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remove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specific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furniture.'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2"/>
            <a:ext cx="9144000" cy="868680"/>
          </a:xfrm>
          <a:custGeom>
            <a:avLst/>
            <a:gdLst/>
            <a:ahLst/>
            <a:cxnLst/>
            <a:rect l="l" t="t" r="r" b="b"/>
            <a:pathLst>
              <a:path w="9144000" h="868680">
                <a:moveTo>
                  <a:pt x="9143631" y="0"/>
                </a:moveTo>
                <a:lnTo>
                  <a:pt x="0" y="0"/>
                </a:lnTo>
                <a:lnTo>
                  <a:pt x="0" y="868324"/>
                </a:lnTo>
                <a:lnTo>
                  <a:pt x="4572000" y="868324"/>
                </a:lnTo>
                <a:lnTo>
                  <a:pt x="9143631" y="868324"/>
                </a:lnTo>
                <a:lnTo>
                  <a:pt x="9143631" y="0"/>
                </a:lnTo>
                <a:close/>
              </a:path>
            </a:pathLst>
          </a:custGeom>
          <a:solidFill>
            <a:srgbClr val="1D3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144" y="223814"/>
            <a:ext cx="741045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solidFill>
                  <a:srgbClr val="FFFFFF"/>
                </a:solidFill>
              </a:rPr>
              <a:t>PRACTICE</a:t>
            </a:r>
            <a:r>
              <a:rPr sz="2600" spc="-70" dirty="0">
                <a:solidFill>
                  <a:srgbClr val="FFFFFF"/>
                </a:solidFill>
              </a:rPr>
              <a:t> </a:t>
            </a:r>
            <a:r>
              <a:rPr sz="2600" dirty="0">
                <a:solidFill>
                  <a:srgbClr val="FFFFFF"/>
                </a:solidFill>
              </a:rPr>
              <a:t>BLOCK</a:t>
            </a:r>
            <a:r>
              <a:rPr sz="2600" spc="-60" dirty="0">
                <a:solidFill>
                  <a:srgbClr val="FFFFFF"/>
                </a:solidFill>
              </a:rPr>
              <a:t> </a:t>
            </a:r>
            <a:r>
              <a:rPr sz="2600" dirty="0">
                <a:solidFill>
                  <a:srgbClr val="FFFFFF"/>
                </a:solidFill>
              </a:rPr>
              <a:t>2</a:t>
            </a:r>
            <a:r>
              <a:rPr sz="2600" spc="-65" dirty="0">
                <a:solidFill>
                  <a:srgbClr val="FFFFFF"/>
                </a:solidFill>
              </a:rPr>
              <a:t> </a:t>
            </a:r>
            <a:r>
              <a:rPr sz="2600" dirty="0">
                <a:solidFill>
                  <a:srgbClr val="FFFFFF"/>
                </a:solidFill>
              </a:rPr>
              <a:t>-</a:t>
            </a:r>
            <a:r>
              <a:rPr sz="2600" spc="-65" dirty="0">
                <a:solidFill>
                  <a:srgbClr val="FFFFFF"/>
                </a:solidFill>
              </a:rPr>
              <a:t> </a:t>
            </a:r>
            <a:r>
              <a:rPr sz="2600" dirty="0">
                <a:solidFill>
                  <a:srgbClr val="FFFFFF"/>
                </a:solidFill>
              </a:rPr>
              <a:t>DML:</a:t>
            </a:r>
            <a:r>
              <a:rPr sz="2600" spc="-65" dirty="0">
                <a:solidFill>
                  <a:srgbClr val="FFFFFF"/>
                </a:solidFill>
              </a:rPr>
              <a:t> </a:t>
            </a:r>
            <a:r>
              <a:rPr sz="2600" dirty="0">
                <a:solidFill>
                  <a:srgbClr val="FFFFFF"/>
                </a:solidFill>
              </a:rPr>
              <a:t>Putting</a:t>
            </a:r>
            <a:r>
              <a:rPr sz="2600" spc="-65" dirty="0">
                <a:solidFill>
                  <a:srgbClr val="FFFFFF"/>
                </a:solidFill>
              </a:rPr>
              <a:t> </a:t>
            </a:r>
            <a:r>
              <a:rPr sz="2600" dirty="0">
                <a:solidFill>
                  <a:srgbClr val="FFFFFF"/>
                </a:solidFill>
              </a:rPr>
              <a:t>Data</a:t>
            </a:r>
            <a:r>
              <a:rPr sz="2600" spc="-65" dirty="0">
                <a:solidFill>
                  <a:srgbClr val="FFFFFF"/>
                </a:solidFill>
              </a:rPr>
              <a:t> </a:t>
            </a:r>
            <a:r>
              <a:rPr sz="2600" spc="-25" dirty="0">
                <a:solidFill>
                  <a:srgbClr val="FFFFFF"/>
                </a:solidFill>
              </a:rPr>
              <a:t>In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534136" y="1222097"/>
            <a:ext cx="658939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Still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accio_NN,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still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all-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Build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Block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touch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RetailMart.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87576" y="269178"/>
            <a:ext cx="39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696" y="644948"/>
            <a:ext cx="8073390" cy="198247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Admissions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open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Prestige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College.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Time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put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students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courses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built.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5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endParaRPr sz="13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spcBef>
                <a:spcPts val="885"/>
              </a:spcBef>
              <a:buAutoNum type="alphaLcParenR"/>
              <a:tabLst>
                <a:tab pos="18224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student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college.students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(all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6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columns)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student_id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'1'.</a:t>
            </a:r>
            <a:endParaRPr sz="13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8923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three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more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students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SINGLE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(ids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'2','3','4').</a:t>
            </a:r>
            <a:endParaRPr sz="1300">
              <a:latin typeface="Calibri"/>
              <a:cs typeface="Calibri"/>
            </a:endParaRPr>
          </a:p>
          <a:p>
            <a:pPr marL="169545" indent="-156845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6954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two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courses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college.courses.</a:t>
            </a:r>
            <a:endParaRPr sz="13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8923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RETURNING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added.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value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single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quotes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TEXT.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INSERT: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VALUES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(...),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(...),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(...).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2704" y="180989"/>
            <a:ext cx="8191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B200"/>
                </a:solidFill>
              </a:rPr>
              <a:t>Answer</a:t>
            </a:r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5741035" cy="28778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INSERT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INTO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college.students</a:t>
            </a:r>
            <a:endParaRPr sz="1000">
              <a:latin typeface="Courier New"/>
              <a:cs typeface="Courier New"/>
            </a:endParaRPr>
          </a:p>
          <a:p>
            <a:pPr marL="12700" marR="5080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(student_id,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first_name,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last_name,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email,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date_of_birth,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is_active)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VALUES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('1',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'Aarav',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'Sharma',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  <a:hlinkClick r:id="rId2"/>
              </a:rPr>
              <a:t>'aarav@college.edu'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'2004-03-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15',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'true');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INSERT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INTO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college.students</a:t>
            </a:r>
            <a:endParaRPr sz="1000">
              <a:latin typeface="Courier New"/>
              <a:cs typeface="Courier New"/>
            </a:endParaRPr>
          </a:p>
          <a:p>
            <a:pPr marL="12700" marR="386080" indent="15176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(student_id,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first_name,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last_name,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email,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date_of_birth,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is_active) VALUES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('2',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'Diya',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'Patel',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  <a:hlinkClick r:id="rId3"/>
              </a:rPr>
              <a:t>'diya@college.edu'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'2003-11-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02',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'true'),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('3',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'Kabir',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'Singh',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  <a:hlinkClick r:id="rId4"/>
              </a:rPr>
              <a:t>'kabir@college.edu'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'2004-07-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21',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'false'),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('4',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'Meera',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'Iyer',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  <a:hlinkClick r:id="rId5"/>
              </a:rPr>
              <a:t>'meera@college.edu'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'2003-05-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09',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'true');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1574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INSERT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INTO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college.courses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(course_id,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course_name,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credits,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department)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VALUES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('1',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'Database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Systems',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'4',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'Computer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Science')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RETURNING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course_id,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course_name;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1574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INSERT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INTO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college.courses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(course_id,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course_name,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credits,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department)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VALUES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('2',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'Data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Structures',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'4',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'Computer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Science');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33499" y="269178"/>
            <a:ext cx="6991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MEDIUM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696" y="717668"/>
            <a:ext cx="8115934" cy="2385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Records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change.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student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updates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email,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drops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registrar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wants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deactivate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specific student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carefully,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id.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5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endParaRPr sz="13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spcBef>
                <a:spcPts val="885"/>
              </a:spcBef>
              <a:buAutoNum type="alphaLcParenR"/>
              <a:tabLst>
                <a:tab pos="18224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UPDATE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student_id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'1'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change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email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  <a:hlinkClick r:id="rId2"/>
              </a:rPr>
              <a:t>'aarav.sharma@college.edu'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.</a:t>
            </a:r>
            <a:endParaRPr sz="13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8923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UPDATE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student_id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'3'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set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is_active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'false'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last_name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'Singh-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Rao'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statement.</a:t>
            </a:r>
            <a:endParaRPr sz="1300">
              <a:latin typeface="Calibri"/>
              <a:cs typeface="Calibri"/>
            </a:endParaRPr>
          </a:p>
          <a:p>
            <a:pPr marL="169545" indent="-156845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6954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Preview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SELECT,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DELETE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student_id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'4',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RETURNING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confirm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went.</a:t>
            </a:r>
            <a:endParaRPr sz="13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310"/>
              </a:spcBef>
              <a:buAutoNum type="alphaLcParenR"/>
              <a:tabLst>
                <a:tab pos="18923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Verify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remaining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SELECT.</a:t>
            </a:r>
            <a:endParaRPr sz="1300">
              <a:latin typeface="Calibri"/>
              <a:cs typeface="Calibri"/>
            </a:endParaRPr>
          </a:p>
          <a:p>
            <a:pPr marL="12700" marR="170180">
              <a:lnSpc>
                <a:spcPct val="120100"/>
              </a:lnSpc>
              <a:spcBef>
                <a:spcPts val="575"/>
              </a:spcBef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Always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UPDATE/DELETE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single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affect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exactly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row.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col1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..,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col2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..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updates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multiple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at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once.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2704" y="180989"/>
            <a:ext cx="8191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B200"/>
                </a:solidFill>
              </a:rPr>
              <a:t>Answer</a:t>
            </a:r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4749800" cy="28778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UPDATE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college.students</a:t>
            </a:r>
            <a:endParaRPr sz="1000">
              <a:latin typeface="Courier New"/>
              <a:cs typeface="Courier New"/>
            </a:endParaRPr>
          </a:p>
          <a:p>
            <a:pPr marL="12700" marR="18332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SET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email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  <a:hlinkClick r:id="rId2"/>
              </a:rPr>
              <a:t>'aarav.sharma@college.edu'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student_id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'1';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UPDATE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college.students</a:t>
            </a:r>
            <a:endParaRPr sz="1000">
              <a:latin typeface="Courier New"/>
              <a:cs typeface="Courier New"/>
            </a:endParaRPr>
          </a:p>
          <a:p>
            <a:pPr marL="12700" marR="10712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is_active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'false',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last_name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'Singh-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Rao'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student_id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'3';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Preview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first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college.students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student_id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'4';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25952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DELETE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college.students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student_id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'4'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RETURNING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student_id,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first_name;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student_id,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first_name,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is_active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college.students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BY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student_id;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54098" y="269178"/>
            <a:ext cx="4578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HARD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696" y="717668"/>
            <a:ext cx="8070215" cy="2385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fee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desk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opens.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record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fee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payments,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fix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wrongly-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entered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amount,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remove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duplicate,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new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semester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starts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fees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must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wiped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fresh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import.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5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endParaRPr sz="13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spcBef>
                <a:spcPts val="885"/>
              </a:spcBef>
              <a:buAutoNum type="alphaLcParenR"/>
              <a:tabLst>
                <a:tab pos="18224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4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into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college.fee_payments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(mix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tuition/hostel/library).</a:t>
            </a:r>
            <a:endParaRPr sz="13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8923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UPDATE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payment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whose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amount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typed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wrong.</a:t>
            </a:r>
            <a:endParaRPr sz="1300">
              <a:latin typeface="Calibri"/>
              <a:cs typeface="Calibri"/>
            </a:endParaRPr>
          </a:p>
          <a:p>
            <a:pPr marL="169545" indent="-156845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6954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DELETE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duplicate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payment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(payment_id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'3')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RETURNING.</a:t>
            </a:r>
            <a:endParaRPr sz="13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310"/>
              </a:spcBef>
              <a:buAutoNum type="alphaLcParenR"/>
              <a:tabLst>
                <a:tab pos="18923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1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New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semester: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TRUNCATE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college.fee_payments,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prove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empty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count(*).</a:t>
            </a:r>
            <a:endParaRPr sz="1300">
              <a:latin typeface="Calibri"/>
              <a:cs typeface="Calibri"/>
            </a:endParaRPr>
          </a:p>
          <a:p>
            <a:pPr marL="12700" marR="201930">
              <a:lnSpc>
                <a:spcPct val="120100"/>
              </a:lnSpc>
              <a:spcBef>
                <a:spcPts val="575"/>
              </a:spcBef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TRUNCATE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clears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whole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fast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keeps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structure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perfect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before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fresh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bulk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import.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amount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stays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today;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fine.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2704" y="180989"/>
            <a:ext cx="8191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B200"/>
                </a:solidFill>
              </a:rPr>
              <a:t>Answer</a:t>
            </a:r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5588000" cy="371665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INSERT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INTO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college.fee_payments</a:t>
            </a:r>
            <a:endParaRPr sz="1000">
              <a:latin typeface="Courier New"/>
              <a:cs typeface="Courier New"/>
            </a:endParaRPr>
          </a:p>
          <a:p>
            <a:pPr marL="240665" marR="1147445" indent="-7620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(payment_id,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student_id,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fee_type,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amount,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payment_date,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payment_mode,</a:t>
            </a:r>
            <a:r>
              <a:rPr sz="1000" spc="-7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academic_year,</a:t>
            </a:r>
            <a:r>
              <a:rPr sz="1000" spc="-6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semester)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VALUES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('1',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'1',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'tuition',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'85000',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'2026-01-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05',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'UPI',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'2025-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2026',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'1'),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('2',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'2',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'hostel',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'45000',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'2026-01-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06',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'Card',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'2025-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2026',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'1'),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('3',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'2',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'hostel',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'45000',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'2026-01-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06',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'Card',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'2025-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2026',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'1'),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('4',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'3',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'library',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'2000',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'2026-01-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07',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'Cash',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'2025-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2026',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'1');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2747645">
              <a:lnSpc>
                <a:spcPct val="1101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(b)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amount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was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wrong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for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payment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699954"/>
                </a:solidFill>
                <a:latin typeface="Courier New"/>
                <a:cs typeface="Courier New"/>
              </a:rPr>
              <a:t>1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UPDATE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college.fee_payments</a:t>
            </a:r>
            <a:endParaRPr sz="1000">
              <a:latin typeface="Courier New"/>
              <a:cs typeface="Courier New"/>
            </a:endParaRPr>
          </a:p>
          <a:p>
            <a:pPr marL="12700" marR="3814445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amount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'90000'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payment_id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'1';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2823845">
              <a:lnSpc>
                <a:spcPct val="1101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(c)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row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3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duplicate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of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row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699954"/>
                </a:solidFill>
                <a:latin typeface="Courier New"/>
                <a:cs typeface="Courier New"/>
              </a:rPr>
              <a:t>2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DELETE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college.fee_payments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payment_id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'3'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RETURNING</a:t>
            </a:r>
            <a:r>
              <a:rPr sz="1000" spc="-5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payment_id,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student_id,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amount;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2366645">
              <a:lnSpc>
                <a:spcPct val="110100"/>
              </a:lnSpc>
              <a:spcBef>
                <a:spcPts val="5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(d)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new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semester: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wipe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for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fresh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import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TRUNCATE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college.fee_payments;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441065" algn="l"/>
              </a:tabLst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count(*)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college.fee_payments;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	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0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31060" y="269178"/>
            <a:ext cx="504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CRAZY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696" y="717668"/>
            <a:ext cx="7954645" cy="2623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7630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SCENARIO: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prototype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tiny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scratch,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load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full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DML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operations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discover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hand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all-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make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number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work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painful.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bridge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tomorrow.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YOUR</a:t>
            </a:r>
            <a:r>
              <a:rPr sz="1300" b="1" spc="-5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TASK:</a:t>
            </a:r>
            <a:endParaRPr sz="1300">
              <a:latin typeface="Calibri"/>
              <a:cs typeface="Calibri"/>
            </a:endParaRPr>
          </a:p>
          <a:p>
            <a:pPr marL="182245" indent="-169545">
              <a:lnSpc>
                <a:spcPct val="100000"/>
              </a:lnSpc>
              <a:spcBef>
                <a:spcPts val="885"/>
              </a:spcBef>
              <a:buAutoNum type="alphaLcParenR"/>
              <a:tabLst>
                <a:tab pos="18224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shop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shop.mini_orders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(order_id,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customer_name,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status,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total)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TEXT.</a:t>
            </a:r>
            <a:endParaRPr sz="13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8923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5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5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(totals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like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'900',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'1000',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'250',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'4999',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'120').</a:t>
            </a:r>
            <a:endParaRPr sz="1300">
              <a:latin typeface="Calibri"/>
              <a:cs typeface="Calibri"/>
            </a:endParaRPr>
          </a:p>
          <a:p>
            <a:pPr marL="169545" indent="-156845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6954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Mark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order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'1'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'Delivered'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(UPDATE).</a:t>
            </a:r>
            <a:endParaRPr sz="13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310"/>
              </a:spcBef>
              <a:buAutoNum type="alphaLcParenR"/>
              <a:tabLst>
                <a:tab pos="18923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5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...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total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'900'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look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result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notice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'1000'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MISSING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(TEXT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like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words!).</a:t>
            </a:r>
            <a:endParaRPr sz="13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315"/>
              </a:spcBef>
              <a:buAutoNum type="alphaLcParenR"/>
              <a:tabLst>
                <a:tab pos="184150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DELETE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'Cancelled'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orders.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TRUNCATE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clean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slate.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20100"/>
              </a:lnSpc>
              <a:spcBef>
                <a:spcPts val="575"/>
              </a:spcBef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Hint: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total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'900'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surprise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lesson: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sorts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character-by-character,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so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'1000'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&lt;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'900'.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Tomorrow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you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ALTER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total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NUMERIC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comparison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behaves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like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numbers.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2704" y="180989"/>
            <a:ext cx="1372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B200"/>
                </a:solidFill>
              </a:rPr>
              <a:t>Answer</a:t>
            </a:r>
            <a:r>
              <a:rPr sz="1600" spc="-95" dirty="0">
                <a:solidFill>
                  <a:srgbClr val="FFB200"/>
                </a:solidFill>
              </a:rPr>
              <a:t> </a:t>
            </a:r>
            <a:r>
              <a:rPr sz="1600" spc="-20" dirty="0">
                <a:solidFill>
                  <a:srgbClr val="FFB200"/>
                </a:solidFill>
              </a:rPr>
              <a:t>(1/2)</a:t>
            </a:r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351256" y="641428"/>
            <a:ext cx="34544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CREATE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SCHEMA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IF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shop;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000">
              <a:latin typeface="Courier New"/>
              <a:cs typeface="Courier New"/>
            </a:endParaRPr>
          </a:p>
          <a:p>
            <a:pPr marL="164465" marR="5080" indent="-152400">
              <a:lnSpc>
                <a:spcPct val="110100"/>
              </a:lnSpc>
              <a:tabLst>
                <a:tab pos="1231265" algn="l"/>
              </a:tabLst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CREATE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IF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NOT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EXISTS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shop.mini_orders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(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order_id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	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customer_name</a:t>
            </a:r>
            <a:r>
              <a:rPr sz="1000" spc="-6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0171" y="1464949"/>
            <a:ext cx="407034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TEXT,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TEXT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1256" y="1464949"/>
            <a:ext cx="6350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>
              <a:lnSpc>
                <a:spcPct val="110100"/>
              </a:lnSpc>
              <a:spcBef>
                <a:spcPts val="10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status total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1256" y="2136004"/>
            <a:ext cx="528320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INSERT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INTO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shop.mini_orders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(order_id,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customer_name,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status,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total) VALUES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3620" y="2471526"/>
            <a:ext cx="1931035" cy="36131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('1',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'Aarav',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'Pending',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('2',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'Diya',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'Pending',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37103" y="2471526"/>
            <a:ext cx="635635" cy="36131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'900'),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'1000'),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1256" y="2807047"/>
            <a:ext cx="5435600" cy="153543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('3',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'Kabir',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'Cancelled',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'250'),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  <a:tabLst>
                <a:tab pos="2298065" algn="l"/>
              </a:tabLst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('4',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'Meera',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'Pending',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	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'4999'),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('5',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'Ravi',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'Cancelled',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'120');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UPDATE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shop.mini_orders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status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'Delivered'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order_id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'1';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SURPRISE: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'1000'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NOT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returned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TEXT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compares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char-by-char,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ct val="110100"/>
              </a:lnSpc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3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so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'1000'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&lt;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'900'.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This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the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motivation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for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Data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Types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(tomorrow).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order_id,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total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shop.mini_orders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total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&gt;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'900';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2704" y="180989"/>
            <a:ext cx="1400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B200"/>
                </a:solidFill>
              </a:rPr>
              <a:t>Answer</a:t>
            </a:r>
            <a:r>
              <a:rPr sz="1600" spc="-95" dirty="0">
                <a:solidFill>
                  <a:srgbClr val="FFB200"/>
                </a:solidFill>
              </a:rPr>
              <a:t> </a:t>
            </a:r>
            <a:r>
              <a:rPr sz="1600" spc="-20" dirty="0">
                <a:solidFill>
                  <a:srgbClr val="FFB200"/>
                </a:solidFill>
              </a:rPr>
              <a:t>(2/2)</a:t>
            </a:r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351256" y="778806"/>
            <a:ext cx="429260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DELETE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FROM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shop.mini_orders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WHERE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status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=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'Cancelled';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TRUNCATE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TABLE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shop.mini_orders;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3646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3258" y="345505"/>
            <a:ext cx="3676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RECAP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20" dirty="0"/>
              <a:t> </a:t>
            </a:r>
            <a:r>
              <a:rPr dirty="0"/>
              <a:t>Takeaways</a:t>
            </a:r>
            <a:r>
              <a:rPr spc="-25" dirty="0"/>
              <a:t> </a:t>
            </a:r>
            <a:r>
              <a:rPr spc="-20" dirty="0"/>
              <a:t>(1/2)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935595" cy="1598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4495" indent="164465">
              <a:lnSpc>
                <a:spcPct val="120100"/>
              </a:lnSpc>
              <a:spcBef>
                <a:spcPts val="100"/>
              </a:spcBef>
              <a:buAutoNum type="arabicPeriod"/>
              <a:tabLst>
                <a:tab pos="1771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DDL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=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Structure: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builds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objects,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DROP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destroys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them.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DATABASE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/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/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TABLE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define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the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blueprint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exist,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organized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into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schemas.</a:t>
            </a:r>
            <a:endParaRPr sz="1300">
              <a:latin typeface="Calibri"/>
              <a:cs typeface="Calibri"/>
            </a:endParaRPr>
          </a:p>
          <a:p>
            <a:pPr marL="12700" marR="5080" indent="164465">
              <a:lnSpc>
                <a:spcPct val="120100"/>
              </a:lnSpc>
              <a:spcBef>
                <a:spcPts val="570"/>
              </a:spcBef>
              <a:buAutoNum type="arabicPeriod"/>
              <a:tabLst>
                <a:tab pos="1771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Every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column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is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TEXT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today: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focus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STRUCTURE,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type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selection.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TABLE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just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'column_name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TEXT'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Types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come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tomorrow.</a:t>
            </a:r>
            <a:endParaRPr sz="1300">
              <a:latin typeface="Calibri"/>
              <a:cs typeface="Calibri"/>
            </a:endParaRPr>
          </a:p>
          <a:p>
            <a:pPr marL="12700" marR="153670" indent="164465">
              <a:lnSpc>
                <a:spcPct val="120100"/>
              </a:lnSpc>
              <a:spcBef>
                <a:spcPts val="575"/>
              </a:spcBef>
              <a:buAutoNum type="arabicPeriod"/>
              <a:tabLst>
                <a:tab pos="1771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Safety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habits: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Always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specify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idempotent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scripts.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DROP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permanent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practice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only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accio_NN,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never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RetailMart.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3646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3258" y="345505"/>
            <a:ext cx="3676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RECAP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20" dirty="0"/>
              <a:t> </a:t>
            </a:r>
            <a:r>
              <a:rPr dirty="0"/>
              <a:t>Takeaways</a:t>
            </a:r>
            <a:r>
              <a:rPr spc="-25" dirty="0"/>
              <a:t> </a:t>
            </a:r>
            <a:r>
              <a:rPr spc="-20" dirty="0"/>
              <a:t>(2/2)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873365" cy="2147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8115" indent="164465">
              <a:lnSpc>
                <a:spcPct val="120100"/>
              </a:lnSpc>
              <a:spcBef>
                <a:spcPts val="100"/>
              </a:spcBef>
              <a:buAutoNum type="arabicPeriod" startAt="4"/>
              <a:tabLst>
                <a:tab pos="1771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DML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=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Data: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adds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(single,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row,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RETURNING).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UPDATE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changes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DELETE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removes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All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take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forgetting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hits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row.</a:t>
            </a:r>
            <a:endParaRPr sz="1300">
              <a:latin typeface="Calibri"/>
              <a:cs typeface="Calibri"/>
            </a:endParaRPr>
          </a:p>
          <a:p>
            <a:pPr marL="12700" marR="5080" indent="164465">
              <a:lnSpc>
                <a:spcPct val="120100"/>
              </a:lnSpc>
              <a:spcBef>
                <a:spcPts val="570"/>
              </a:spcBef>
              <a:buAutoNum type="arabicPeriod" startAt="4"/>
              <a:tabLst>
                <a:tab pos="177165" algn="l"/>
              </a:tabLst>
            </a:pP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ALWAYS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WHERE:</a:t>
            </a:r>
            <a:r>
              <a:rPr sz="1300" b="1" spc="-5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UPDATE/DELETE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without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changes/removes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row.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Preview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run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change.</a:t>
            </a:r>
            <a:endParaRPr sz="1300">
              <a:latin typeface="Calibri"/>
              <a:cs typeface="Calibri"/>
            </a:endParaRPr>
          </a:p>
          <a:p>
            <a:pPr marL="12700" marR="314325" indent="164465">
              <a:lnSpc>
                <a:spcPct val="120100"/>
              </a:lnSpc>
              <a:spcBef>
                <a:spcPts val="575"/>
              </a:spcBef>
              <a:buAutoNum type="arabicPeriod" startAt="4"/>
              <a:tabLst>
                <a:tab pos="1771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DROP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vs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TRUNCATE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vs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DELETE: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DROP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demolish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room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(structure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gone).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TRUNCATE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empty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room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fast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(structure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stays).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DELETE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remove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specific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furniture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(WHERE).</a:t>
            </a:r>
            <a:endParaRPr sz="1300">
              <a:latin typeface="Calibri"/>
              <a:cs typeface="Calibri"/>
            </a:endParaRPr>
          </a:p>
          <a:p>
            <a:pPr marL="12700" marR="184785" indent="164465">
              <a:lnSpc>
                <a:spcPct val="120100"/>
              </a:lnSpc>
              <a:spcBef>
                <a:spcPts val="570"/>
              </a:spcBef>
              <a:buAutoNum type="arabicPeriod" startAt="4"/>
              <a:tabLst>
                <a:tab pos="1771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The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all-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TEXT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pain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is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the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point: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Math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comparisons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awkward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TEXT.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discomfort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up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tomorrow's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Data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Types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lesson,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ALTER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proper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types.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144" y="276747"/>
            <a:ext cx="25101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DDL</a:t>
            </a:r>
            <a:r>
              <a:rPr sz="1600" spc="-3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&amp;</a:t>
            </a:r>
            <a:r>
              <a:rPr sz="1600" spc="-3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DML</a:t>
            </a:r>
            <a:r>
              <a:rPr sz="1600" spc="-3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-</a:t>
            </a:r>
            <a:r>
              <a:rPr sz="1600" spc="-3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Quick</a:t>
            </a:r>
            <a:r>
              <a:rPr sz="1600" spc="-2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B200"/>
                </a:solidFill>
                <a:latin typeface="Calibri"/>
                <a:cs typeface="Calibri"/>
              </a:rPr>
              <a:t>Reference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144" y="771743"/>
            <a:ext cx="3700779" cy="438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DDL</a:t>
            </a:r>
            <a:r>
              <a:rPr sz="1100" b="1" spc="-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Commands</a:t>
            </a:r>
            <a:endParaRPr sz="1100">
              <a:latin typeface="Courier New"/>
              <a:cs typeface="Courier New"/>
            </a:endParaRPr>
          </a:p>
          <a:p>
            <a:pPr marL="102235" marR="1797685">
              <a:lnSpc>
                <a:spcPct val="110200"/>
              </a:lnSpc>
              <a:spcBef>
                <a:spcPts val="77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CREATE DATABASE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db_name;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CREATE SCHEMA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schema_name;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CREATE SCHEMA IF NOT EXISTS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schema_name;</a:t>
            </a:r>
            <a:endParaRPr sz="900">
              <a:latin typeface="Courier New"/>
              <a:cs typeface="Courier New"/>
            </a:endParaRPr>
          </a:p>
          <a:p>
            <a:pPr marL="102235" marR="5080">
              <a:lnSpc>
                <a:spcPct val="110200"/>
              </a:lnSpc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CREATE TABLE schema.table (col TEXT, col TEXT,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...);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CREATE TABLE IF NOT EXISTS schema.table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(...);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DROP TABLE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schema.table;</a:t>
            </a:r>
            <a:endParaRPr sz="900">
              <a:latin typeface="Courier New"/>
              <a:cs typeface="Courier New"/>
            </a:endParaRPr>
          </a:p>
          <a:p>
            <a:pPr marL="102235" marR="1038860">
              <a:lnSpc>
                <a:spcPct val="110200"/>
              </a:lnSpc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DROP TABLE IF EXISTS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schema.table;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DROP SCHEMA IF EXISTS schema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CASCADE;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INSERT</a:t>
            </a:r>
            <a:endParaRPr sz="1100">
              <a:latin typeface="Courier New"/>
              <a:cs typeface="Courier New"/>
            </a:endParaRPr>
          </a:p>
          <a:p>
            <a:pPr marL="102235" marR="1315085">
              <a:lnSpc>
                <a:spcPct val="110200"/>
              </a:lnSpc>
              <a:spcBef>
                <a:spcPts val="77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INSERT INTO schema.table (c1, 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c2)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VALUES ('a',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'b');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-- multi-</a:t>
            </a:r>
            <a:r>
              <a:rPr sz="900" spc="-20" dirty="0">
                <a:solidFill>
                  <a:srgbClr val="D3D3D3"/>
                </a:solidFill>
                <a:latin typeface="Courier New"/>
                <a:cs typeface="Courier New"/>
              </a:rPr>
              <a:t>row:</a:t>
            </a:r>
            <a:endParaRPr sz="900">
              <a:latin typeface="Courier New"/>
              <a:cs typeface="Courier New"/>
            </a:endParaRPr>
          </a:p>
          <a:p>
            <a:pPr marL="102235" marR="901065">
              <a:lnSpc>
                <a:spcPct val="110200"/>
              </a:lnSpc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INSERT INTO schema.table (c1, 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c2)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VALUES ('a','1'), ('b','2'),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('c','3');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-- see what was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added: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INSERT INTO ... VALUES (...) RETURNING c1, 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c2;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UPDATE</a:t>
            </a:r>
            <a:endParaRPr sz="11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89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UPDATE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schema.table</a:t>
            </a:r>
            <a:endParaRPr sz="900">
              <a:latin typeface="Courier New"/>
              <a:cs typeface="Courier New"/>
            </a:endParaRPr>
          </a:p>
          <a:p>
            <a:pPr marL="102235" marR="1452880">
              <a:lnSpc>
                <a:spcPct val="110200"/>
              </a:lnSpc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SET col1 = 'new', col2 =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'new2'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WHERE id_col = </a:t>
            </a:r>
            <a:r>
              <a:rPr sz="900" spc="-20" dirty="0">
                <a:solidFill>
                  <a:srgbClr val="D3D3D3"/>
                </a:solidFill>
                <a:latin typeface="Courier New"/>
                <a:cs typeface="Courier New"/>
              </a:rPr>
              <a:t>'1';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-- ALWAYS include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WHERE!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UPDATE ... SET ... WHERE ... RETURNING </a:t>
            </a:r>
            <a:r>
              <a:rPr sz="900" spc="-20" dirty="0">
                <a:solidFill>
                  <a:srgbClr val="D3D3D3"/>
                </a:solidFill>
                <a:latin typeface="Courier New"/>
                <a:cs typeface="Courier New"/>
              </a:rPr>
              <a:t>col;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144" y="276747"/>
            <a:ext cx="25101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DDL</a:t>
            </a:r>
            <a:r>
              <a:rPr sz="1600" spc="-3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&amp;</a:t>
            </a:r>
            <a:r>
              <a:rPr sz="1600" spc="-3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DML</a:t>
            </a:r>
            <a:r>
              <a:rPr sz="1600" spc="-3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-</a:t>
            </a:r>
            <a:r>
              <a:rPr sz="1600" spc="-3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Quick</a:t>
            </a:r>
            <a:r>
              <a:rPr sz="1600" spc="-2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B200"/>
                </a:solidFill>
                <a:latin typeface="Calibri"/>
                <a:cs typeface="Calibri"/>
              </a:rPr>
              <a:t>Reference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144" y="771743"/>
            <a:ext cx="3425190" cy="896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1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DELETE</a:t>
            </a:r>
            <a:r>
              <a:rPr sz="1100" b="1" spc="-1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/</a:t>
            </a:r>
            <a:r>
              <a:rPr sz="1100" b="1" spc="-1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TRUNCATE</a:t>
            </a:r>
            <a:endParaRPr sz="1100">
              <a:latin typeface="Courier New"/>
              <a:cs typeface="Courier New"/>
            </a:endParaRPr>
          </a:p>
          <a:p>
            <a:pPr marL="102235" marR="280670">
              <a:lnSpc>
                <a:spcPct val="110200"/>
              </a:lnSpc>
              <a:spcBef>
                <a:spcPts val="77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DELETE FROM schema.table WHERE id_col = </a:t>
            </a:r>
            <a:r>
              <a:rPr sz="900" spc="-20" dirty="0">
                <a:solidFill>
                  <a:srgbClr val="D3D3D3"/>
                </a:solidFill>
                <a:latin typeface="Courier New"/>
                <a:cs typeface="Courier New"/>
              </a:rPr>
              <a:t>'1';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DELETE FROM ... WHERE ... RETURNING </a:t>
            </a:r>
            <a:r>
              <a:rPr sz="900" spc="-20" dirty="0">
                <a:solidFill>
                  <a:srgbClr val="D3D3D3"/>
                </a:solidFill>
                <a:latin typeface="Courier New"/>
                <a:cs typeface="Courier New"/>
              </a:rPr>
              <a:t>col;</a:t>
            </a:r>
            <a:endParaRPr sz="900">
              <a:latin typeface="Courier New"/>
              <a:cs typeface="Courier New"/>
            </a:endParaRPr>
          </a:p>
          <a:p>
            <a:pPr marL="102235" marR="5080">
              <a:lnSpc>
                <a:spcPct val="110200"/>
              </a:lnSpc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-- empty the whole table fast (structure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stays):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TRUNCATE TABLE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schema.table;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5774" y="2176464"/>
            <a:ext cx="11976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-- columns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(psql)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144" y="1896391"/>
            <a:ext cx="1977389" cy="594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3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Inspect</a:t>
            </a:r>
            <a:r>
              <a:rPr sz="1100" b="1" spc="-2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Your</a:t>
            </a:r>
            <a:r>
              <a:rPr sz="1100" b="1" spc="-3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Work</a:t>
            </a:r>
            <a:endParaRPr sz="11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88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\d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schema.table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SELECT * FROM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schema.table;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144" y="2465031"/>
            <a:ext cx="3080385" cy="2066289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2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SELECT count(*) FROM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schema.table;</a:t>
            </a:r>
            <a:endParaRPr sz="900">
              <a:latin typeface="Courier New"/>
              <a:cs typeface="Courier New"/>
            </a:endParaRPr>
          </a:p>
          <a:p>
            <a:pPr marL="102235" marR="142875">
              <a:lnSpc>
                <a:spcPct val="110200"/>
              </a:lnSpc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SELECT table_name, column_name,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data_type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FROM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information_schema.columns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WHERE table_schema =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'your_schema';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2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Golden</a:t>
            </a: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 Rules</a:t>
            </a:r>
            <a:endParaRPr sz="1100">
              <a:latin typeface="Courier New"/>
              <a:cs typeface="Courier New"/>
            </a:endParaRPr>
          </a:p>
          <a:p>
            <a:pPr marL="102235" marR="349885">
              <a:lnSpc>
                <a:spcPct val="110200"/>
              </a:lnSpc>
              <a:spcBef>
                <a:spcPts val="77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Every column needs a TYPE (TEXT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today)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Always name the schema: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schema.table</a:t>
            </a:r>
            <a:endParaRPr sz="900">
              <a:latin typeface="Courier New"/>
              <a:cs typeface="Courier New"/>
            </a:endParaRPr>
          </a:p>
          <a:p>
            <a:pPr marL="102235" marR="73660">
              <a:lnSpc>
                <a:spcPct val="110200"/>
              </a:lnSpc>
              <a:spcBef>
                <a:spcPts val="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IF NOT EXISTS / IF EXISTS for safe re-</a:t>
            </a:r>
            <a:r>
              <a:rPr sz="900" spc="-20" dirty="0">
                <a:solidFill>
                  <a:srgbClr val="D3D3D3"/>
                </a:solidFill>
                <a:latin typeface="Courier New"/>
                <a:cs typeface="Courier New"/>
              </a:rPr>
              <a:t>runs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UPDATE &amp; DELETE: never forget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WHERE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Preview with SELECT before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UPDATE/DELETE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Never change RetailMart - build in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accio_NN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2"/>
            <a:ext cx="9144000" cy="868680"/>
          </a:xfrm>
          <a:custGeom>
            <a:avLst/>
            <a:gdLst/>
            <a:ahLst/>
            <a:cxnLst/>
            <a:rect l="l" t="t" r="r" b="b"/>
            <a:pathLst>
              <a:path w="9144000" h="868680">
                <a:moveTo>
                  <a:pt x="9143631" y="0"/>
                </a:moveTo>
                <a:lnTo>
                  <a:pt x="0" y="0"/>
                </a:lnTo>
                <a:lnTo>
                  <a:pt x="0" y="868324"/>
                </a:lnTo>
                <a:lnTo>
                  <a:pt x="4572000" y="868324"/>
                </a:lnTo>
                <a:lnTo>
                  <a:pt x="9143631" y="868324"/>
                </a:lnTo>
                <a:lnTo>
                  <a:pt x="9143631" y="0"/>
                </a:lnTo>
                <a:close/>
              </a:path>
            </a:pathLst>
          </a:custGeom>
          <a:solidFill>
            <a:srgbClr val="1D3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144" y="223814"/>
            <a:ext cx="76606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FFFFFF"/>
                </a:solidFill>
              </a:rPr>
              <a:t>INTERVIEW</a:t>
            </a:r>
            <a:r>
              <a:rPr sz="2600" spc="-70" dirty="0">
                <a:solidFill>
                  <a:srgbClr val="FFFFFF"/>
                </a:solidFill>
              </a:rPr>
              <a:t> </a:t>
            </a:r>
            <a:r>
              <a:rPr sz="2600" dirty="0">
                <a:solidFill>
                  <a:srgbClr val="FFFFFF"/>
                </a:solidFill>
              </a:rPr>
              <a:t>QUESTION</a:t>
            </a:r>
            <a:r>
              <a:rPr sz="2600" spc="-65" dirty="0">
                <a:solidFill>
                  <a:srgbClr val="FFFFFF"/>
                </a:solidFill>
              </a:rPr>
              <a:t> </a:t>
            </a:r>
            <a:r>
              <a:rPr sz="2600" dirty="0">
                <a:solidFill>
                  <a:srgbClr val="FFFFFF"/>
                </a:solidFill>
              </a:rPr>
              <a:t>BANK</a:t>
            </a:r>
            <a:r>
              <a:rPr sz="2600" spc="-65" dirty="0">
                <a:solidFill>
                  <a:srgbClr val="FFFFFF"/>
                </a:solidFill>
              </a:rPr>
              <a:t> </a:t>
            </a:r>
            <a:r>
              <a:rPr sz="2600" dirty="0">
                <a:solidFill>
                  <a:srgbClr val="FFFFFF"/>
                </a:solidFill>
              </a:rPr>
              <a:t>-</a:t>
            </a:r>
            <a:r>
              <a:rPr sz="2600" spc="-65" dirty="0">
                <a:solidFill>
                  <a:srgbClr val="FFFFFF"/>
                </a:solidFill>
              </a:rPr>
              <a:t> </a:t>
            </a:r>
            <a:r>
              <a:rPr sz="2600" dirty="0">
                <a:solidFill>
                  <a:srgbClr val="FFFFFF"/>
                </a:solidFill>
              </a:rPr>
              <a:t>DDL</a:t>
            </a:r>
            <a:r>
              <a:rPr sz="2600" spc="-70" dirty="0">
                <a:solidFill>
                  <a:srgbClr val="FFFFFF"/>
                </a:solidFill>
              </a:rPr>
              <a:t> </a:t>
            </a:r>
            <a:r>
              <a:rPr sz="2600" dirty="0">
                <a:solidFill>
                  <a:srgbClr val="FFFFFF"/>
                </a:solidFill>
              </a:rPr>
              <a:t>&amp;</a:t>
            </a:r>
            <a:r>
              <a:rPr sz="2600" spc="-70" dirty="0">
                <a:solidFill>
                  <a:srgbClr val="FFFFFF"/>
                </a:solidFill>
              </a:rPr>
              <a:t> </a:t>
            </a:r>
            <a:r>
              <a:rPr sz="2600" spc="-25" dirty="0">
                <a:solidFill>
                  <a:srgbClr val="FFFFFF"/>
                </a:solidFill>
              </a:rPr>
              <a:t>DML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534136" y="1222097"/>
            <a:ext cx="660273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Practice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answering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OUT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LOUD.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Interviews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how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clearly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explain,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just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whether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know.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</a:rPr>
              <a:t>Interview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Questions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-</a:t>
            </a:r>
            <a:r>
              <a:rPr sz="1700" spc="-3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DDL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&amp;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DML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spc="-10" dirty="0">
                <a:solidFill>
                  <a:srgbClr val="1D3A5E"/>
                </a:solidFill>
              </a:rPr>
              <a:t>(1/5)</a:t>
            </a:r>
            <a:endParaRPr sz="170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/>
              <a:t>Q1:</a:t>
            </a:r>
            <a:r>
              <a:rPr spc="-35" dirty="0"/>
              <a:t> </a:t>
            </a:r>
            <a:r>
              <a:rPr dirty="0"/>
              <a:t>'What</a:t>
            </a:r>
            <a:r>
              <a:rPr spc="-3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DDL?</a:t>
            </a:r>
            <a:r>
              <a:rPr spc="-30" dirty="0"/>
              <a:t> </a:t>
            </a:r>
            <a:r>
              <a:rPr dirty="0"/>
              <a:t>Give</a:t>
            </a:r>
            <a:r>
              <a:rPr spc="-30" dirty="0"/>
              <a:t> </a:t>
            </a:r>
            <a:r>
              <a:rPr dirty="0"/>
              <a:t>3</a:t>
            </a:r>
            <a:r>
              <a:rPr spc="-30" dirty="0"/>
              <a:t> </a:t>
            </a:r>
            <a:r>
              <a:rPr spc="-10" dirty="0"/>
              <a:t>examples.'</a:t>
            </a:r>
          </a:p>
          <a:p>
            <a:pPr marL="12700" marR="5080">
              <a:lnSpc>
                <a:spcPct val="130100"/>
              </a:lnSpc>
            </a:pPr>
            <a:r>
              <a:rPr b="0" dirty="0">
                <a:latin typeface="Calibri"/>
                <a:cs typeface="Calibri"/>
              </a:rPr>
              <a:t>A: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'DDL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is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Data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Definition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Language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-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commands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that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define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or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change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database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STRUCTURE.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CREATE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TABLE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builds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spc="-50" dirty="0">
                <a:latin typeface="Calibri"/>
                <a:cs typeface="Calibri"/>
              </a:rPr>
              <a:t>a </a:t>
            </a:r>
            <a:r>
              <a:rPr b="0" spc="-10" dirty="0">
                <a:latin typeface="Calibri"/>
                <a:cs typeface="Calibri"/>
              </a:rPr>
              <a:t>table,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ALTER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TABLE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modifies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one,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DROP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TABLE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destroys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one.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DDL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changes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blueprint,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not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data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inside.'</a:t>
            </a: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/>
              <a:t>Q2:</a:t>
            </a:r>
            <a:r>
              <a:rPr spc="-30" dirty="0"/>
              <a:t> </a:t>
            </a:r>
            <a:r>
              <a:rPr dirty="0"/>
              <a:t>'What</a:t>
            </a:r>
            <a:r>
              <a:rPr spc="-3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DML?</a:t>
            </a:r>
            <a:r>
              <a:rPr spc="-30" dirty="0"/>
              <a:t> </a:t>
            </a:r>
            <a:r>
              <a:rPr dirty="0"/>
              <a:t>Give</a:t>
            </a:r>
            <a:r>
              <a:rPr spc="-30" dirty="0"/>
              <a:t> </a:t>
            </a:r>
            <a:r>
              <a:rPr dirty="0"/>
              <a:t>3</a:t>
            </a:r>
            <a:r>
              <a:rPr spc="-30" dirty="0"/>
              <a:t> </a:t>
            </a:r>
            <a:r>
              <a:rPr spc="-10" dirty="0"/>
              <a:t>examples.'</a:t>
            </a:r>
          </a:p>
          <a:p>
            <a:pPr marL="12700" marR="104775">
              <a:lnSpc>
                <a:spcPct val="130100"/>
              </a:lnSpc>
            </a:pPr>
            <a:r>
              <a:rPr b="0" dirty="0">
                <a:latin typeface="Calibri"/>
                <a:cs typeface="Calibri"/>
              </a:rPr>
              <a:t>A: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'DML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Data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Manipulation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Language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-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commands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that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work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60" dirty="0">
                <a:latin typeface="Calibri"/>
                <a:cs typeface="Calibri"/>
              </a:rPr>
              <a:t>DATA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tables.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INSERT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adds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rows,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UPDATE changes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rows,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DELETE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removes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rows.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structure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stays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same;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only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rows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change.'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</a:rPr>
              <a:t>Interview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Questions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-</a:t>
            </a:r>
            <a:r>
              <a:rPr sz="1700" spc="-3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DDL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&amp;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DML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spc="-10" dirty="0">
                <a:solidFill>
                  <a:srgbClr val="1D3A5E"/>
                </a:solidFill>
              </a:rPr>
              <a:t>(2/5)</a:t>
            </a:r>
            <a:endParaRPr sz="170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/>
              <a:t>Q3:</a:t>
            </a:r>
            <a:r>
              <a:rPr spc="-35" dirty="0"/>
              <a:t> </a:t>
            </a:r>
            <a:r>
              <a:rPr spc="-20" dirty="0"/>
              <a:t>'Difference</a:t>
            </a:r>
            <a:r>
              <a:rPr spc="-30" dirty="0"/>
              <a:t> </a:t>
            </a:r>
            <a:r>
              <a:rPr dirty="0"/>
              <a:t>between</a:t>
            </a:r>
            <a:r>
              <a:rPr spc="-30" dirty="0"/>
              <a:t> </a:t>
            </a:r>
            <a:r>
              <a:rPr dirty="0"/>
              <a:t>DROP</a:t>
            </a:r>
            <a:r>
              <a:rPr spc="-30" dirty="0"/>
              <a:t> </a:t>
            </a:r>
            <a:r>
              <a:rPr spc="-20" dirty="0"/>
              <a:t>TABLE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DELETE</a:t>
            </a:r>
            <a:r>
              <a:rPr spc="-30" dirty="0"/>
              <a:t> </a:t>
            </a:r>
            <a:r>
              <a:rPr spc="-10" dirty="0"/>
              <a:t>FROM?'</a:t>
            </a:r>
          </a:p>
          <a:p>
            <a:pPr marL="12700" marR="5080">
              <a:lnSpc>
                <a:spcPct val="130100"/>
              </a:lnSpc>
            </a:pPr>
            <a:r>
              <a:rPr b="0" dirty="0">
                <a:latin typeface="Calibri"/>
                <a:cs typeface="Calibri"/>
              </a:rPr>
              <a:t>A: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'DROP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DDL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-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it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destroys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whole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table,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structure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data;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table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no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longer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exists.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DELETE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DML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-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it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removes specific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rows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but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table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stays,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you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can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INSERT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into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it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again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afterwards.'</a:t>
            </a: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/>
              <a:t>Q4:</a:t>
            </a:r>
            <a:r>
              <a:rPr spc="-25" dirty="0"/>
              <a:t> </a:t>
            </a:r>
            <a:r>
              <a:rPr spc="-20" dirty="0"/>
              <a:t>'Difference</a:t>
            </a:r>
            <a:r>
              <a:rPr spc="-25" dirty="0"/>
              <a:t> </a:t>
            </a:r>
            <a:r>
              <a:rPr dirty="0"/>
              <a:t>between</a:t>
            </a:r>
            <a:r>
              <a:rPr spc="-20" dirty="0"/>
              <a:t> </a:t>
            </a:r>
            <a:r>
              <a:rPr spc="-30" dirty="0"/>
              <a:t>DROP,</a:t>
            </a:r>
            <a:r>
              <a:rPr spc="-25" dirty="0"/>
              <a:t> </a:t>
            </a:r>
            <a:r>
              <a:rPr spc="-20" dirty="0"/>
              <a:t>TRUNCATE,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DELETE?'</a:t>
            </a:r>
          </a:p>
          <a:p>
            <a:pPr marL="12700" marR="192405">
              <a:lnSpc>
                <a:spcPct val="130100"/>
              </a:lnSpc>
            </a:pPr>
            <a:r>
              <a:rPr b="0" dirty="0">
                <a:latin typeface="Calibri"/>
                <a:cs typeface="Calibri"/>
              </a:rPr>
              <a:t>A: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'DROP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destroys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table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entirely.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TRUNCATE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removes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ALL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rows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but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keeps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structure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-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fast,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no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WHERE.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DELETE removes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specific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rows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via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WHERE.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DROP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TRUNCATE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are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DDL;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DELETE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DML.'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</a:rPr>
              <a:t>Interview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Questions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-</a:t>
            </a:r>
            <a:r>
              <a:rPr sz="1700" spc="-3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DDL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&amp;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DML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spc="-10" dirty="0">
                <a:solidFill>
                  <a:srgbClr val="1D3A5E"/>
                </a:solidFill>
              </a:rPr>
              <a:t>(3/5)</a:t>
            </a:r>
            <a:endParaRPr sz="170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/>
              <a:t>Q5:</a:t>
            </a:r>
            <a:r>
              <a:rPr spc="-30" dirty="0"/>
              <a:t> </a:t>
            </a:r>
            <a:r>
              <a:rPr dirty="0"/>
              <a:t>'What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schema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PostgreSQL?</a:t>
            </a:r>
            <a:r>
              <a:rPr spc="-25" dirty="0"/>
              <a:t> </a:t>
            </a:r>
            <a:r>
              <a:rPr dirty="0"/>
              <a:t>Why</a:t>
            </a:r>
            <a:r>
              <a:rPr spc="-25" dirty="0"/>
              <a:t> </a:t>
            </a:r>
            <a:r>
              <a:rPr dirty="0"/>
              <a:t>not</a:t>
            </a:r>
            <a:r>
              <a:rPr spc="-30" dirty="0"/>
              <a:t> </a:t>
            </a:r>
            <a:r>
              <a:rPr dirty="0"/>
              <a:t>just</a:t>
            </a:r>
            <a:r>
              <a:rPr spc="-25" dirty="0"/>
              <a:t> </a:t>
            </a:r>
            <a:r>
              <a:rPr dirty="0"/>
              <a:t>use</a:t>
            </a:r>
            <a:r>
              <a:rPr spc="-25" dirty="0"/>
              <a:t> </a:t>
            </a:r>
            <a:r>
              <a:rPr spc="-10" dirty="0"/>
              <a:t>public?'</a:t>
            </a:r>
          </a:p>
          <a:p>
            <a:pPr marL="12700" marR="5080">
              <a:lnSpc>
                <a:spcPct val="130100"/>
              </a:lnSpc>
            </a:pPr>
            <a:r>
              <a:rPr b="0" dirty="0">
                <a:latin typeface="Calibri"/>
                <a:cs typeface="Calibri"/>
              </a:rPr>
              <a:t>A: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'A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schema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namespace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inside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database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that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groups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related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tables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-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like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folders.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Without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schemas,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every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table </a:t>
            </a:r>
            <a:r>
              <a:rPr b="0" dirty="0">
                <a:latin typeface="Calibri"/>
                <a:cs typeface="Calibri"/>
              </a:rPr>
              <a:t>lands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one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flat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public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schema.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schemas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like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sales,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customers,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finance,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tables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are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organized,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two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schemas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can </a:t>
            </a:r>
            <a:r>
              <a:rPr b="0" dirty="0">
                <a:latin typeface="Calibri"/>
                <a:cs typeface="Calibri"/>
              </a:rPr>
              <a:t>hold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tables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same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name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without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clashing.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RetailMart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uses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16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schemas.'</a:t>
            </a: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/>
              <a:t>Q6:</a:t>
            </a:r>
            <a:r>
              <a:rPr spc="-40" dirty="0"/>
              <a:t> </a:t>
            </a:r>
            <a:r>
              <a:rPr dirty="0"/>
              <a:t>'What</a:t>
            </a:r>
            <a:r>
              <a:rPr spc="-35" dirty="0"/>
              <a:t> </a:t>
            </a:r>
            <a:r>
              <a:rPr dirty="0"/>
              <a:t>does</a:t>
            </a:r>
            <a:r>
              <a:rPr spc="-35" dirty="0"/>
              <a:t> </a:t>
            </a:r>
            <a:r>
              <a:rPr dirty="0"/>
              <a:t>IF</a:t>
            </a:r>
            <a:r>
              <a:rPr spc="-35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dirty="0"/>
              <a:t>EXISTS</a:t>
            </a:r>
            <a:r>
              <a:rPr spc="-35" dirty="0"/>
              <a:t> </a:t>
            </a:r>
            <a:r>
              <a:rPr dirty="0"/>
              <a:t>do,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why</a:t>
            </a:r>
            <a:r>
              <a:rPr spc="-35" dirty="0"/>
              <a:t> </a:t>
            </a:r>
            <a:r>
              <a:rPr dirty="0"/>
              <a:t>use</a:t>
            </a:r>
            <a:r>
              <a:rPr spc="-35" dirty="0"/>
              <a:t> </a:t>
            </a:r>
            <a:r>
              <a:rPr spc="-20" dirty="0"/>
              <a:t>it?'</a:t>
            </a:r>
          </a:p>
          <a:p>
            <a:pPr marL="12700" marR="84455">
              <a:lnSpc>
                <a:spcPct val="130100"/>
              </a:lnSpc>
            </a:pPr>
            <a:r>
              <a:rPr b="0" dirty="0">
                <a:latin typeface="Calibri"/>
                <a:cs typeface="Calibri"/>
              </a:rPr>
              <a:t>A: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'CREATE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TABLE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IF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NOT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EXISTS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creates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table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only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if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it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not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already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there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-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otherwise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it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skips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notice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instead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erroring.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It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makes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setup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migration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scripts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idempotent: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safe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to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run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repeatedly.'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</a:rPr>
              <a:t>Interview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Questions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-</a:t>
            </a:r>
            <a:r>
              <a:rPr sz="1700" spc="-3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DDL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&amp;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DML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spc="-10" dirty="0">
                <a:solidFill>
                  <a:srgbClr val="1D3A5E"/>
                </a:solidFill>
              </a:rPr>
              <a:t>(4/5)</a:t>
            </a:r>
            <a:endParaRPr sz="1700"/>
          </a:p>
        </p:txBody>
      </p:sp>
      <p:sp>
        <p:nvSpPr>
          <p:cNvPr id="5" name="object 5"/>
          <p:cNvSpPr txBox="1"/>
          <p:nvPr/>
        </p:nvSpPr>
        <p:spPr>
          <a:xfrm>
            <a:off x="534136" y="1403468"/>
            <a:ext cx="7924800" cy="250317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Q7:</a:t>
            </a:r>
            <a:r>
              <a:rPr sz="1300" b="1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'Why</a:t>
            </a:r>
            <a:r>
              <a:rPr sz="1300" b="1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b="1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202020"/>
                </a:solidFill>
                <a:latin typeface="Calibri"/>
                <a:cs typeface="Calibri"/>
              </a:rPr>
              <a:t>UPDATE</a:t>
            </a:r>
            <a:r>
              <a:rPr sz="1300" b="1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without</a:t>
            </a:r>
            <a:r>
              <a:rPr sz="1300" b="1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b="1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02020"/>
                </a:solidFill>
                <a:latin typeface="Calibri"/>
                <a:cs typeface="Calibri"/>
              </a:rPr>
              <a:t>dangerous?'</a:t>
            </a:r>
            <a:endParaRPr sz="1300">
              <a:latin typeface="Calibri"/>
              <a:cs typeface="Calibri"/>
            </a:endParaRPr>
          </a:p>
          <a:p>
            <a:pPr marL="12700" marR="225425">
              <a:lnSpc>
                <a:spcPct val="130100"/>
              </a:lnSpc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'Without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UPDATE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changes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missing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price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0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zeroes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price. Always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include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preview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condition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first.'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Q8:</a:t>
            </a:r>
            <a:r>
              <a:rPr sz="13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'What</a:t>
            </a:r>
            <a:r>
              <a:rPr sz="13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does</a:t>
            </a:r>
            <a:r>
              <a:rPr sz="13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3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...</a:t>
            </a:r>
            <a:r>
              <a:rPr sz="13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02020"/>
                </a:solidFill>
                <a:latin typeface="Calibri"/>
                <a:cs typeface="Calibri"/>
              </a:rPr>
              <a:t>RETURNING</a:t>
            </a:r>
            <a:r>
              <a:rPr sz="13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202020"/>
                </a:solidFill>
                <a:latin typeface="Calibri"/>
                <a:cs typeface="Calibri"/>
              </a:rPr>
              <a:t>do?'</a:t>
            </a:r>
            <a:endParaRPr sz="1300">
              <a:latin typeface="Calibri"/>
              <a:cs typeface="Calibri"/>
            </a:endParaRPr>
          </a:p>
          <a:p>
            <a:pPr marL="12700" marR="136525">
              <a:lnSpc>
                <a:spcPct val="130100"/>
              </a:lnSpc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'RETURNING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gives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back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just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inserted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updated/deleted)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same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statement.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is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great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grabbing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auto-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generated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without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second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PostgreSQL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feature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MySQL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lacks.'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Q9:</a:t>
            </a:r>
            <a:r>
              <a:rPr sz="1300" b="1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'Is</a:t>
            </a:r>
            <a:r>
              <a:rPr sz="13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202020"/>
                </a:solidFill>
                <a:latin typeface="Calibri"/>
                <a:cs typeface="Calibri"/>
              </a:rPr>
              <a:t>TRUNCATE</a:t>
            </a:r>
            <a:r>
              <a:rPr sz="13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DDL</a:t>
            </a:r>
            <a:r>
              <a:rPr sz="13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DML?</a:t>
            </a:r>
            <a:r>
              <a:rPr sz="13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Can</a:t>
            </a:r>
            <a:r>
              <a:rPr sz="13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be</a:t>
            </a:r>
            <a:r>
              <a:rPr sz="13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rolled</a:t>
            </a:r>
            <a:r>
              <a:rPr sz="13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02020"/>
                </a:solidFill>
                <a:latin typeface="Calibri"/>
                <a:cs typeface="Calibri"/>
              </a:rPr>
              <a:t>back?'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0100"/>
              </a:lnSpc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'TRUNCATE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classified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DDL.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PostgreSQL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CAN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rolled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back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inside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transaction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(BEGIN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...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ROLLBACK),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unlike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some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other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databases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auto-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commits.'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</a:rPr>
              <a:t>Interview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Questions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-</a:t>
            </a:r>
            <a:r>
              <a:rPr sz="1700" spc="-3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DDL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&amp;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DML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spc="-10" dirty="0">
                <a:solidFill>
                  <a:srgbClr val="1D3A5E"/>
                </a:solidFill>
              </a:rPr>
              <a:t>(5/5)</a:t>
            </a:r>
            <a:endParaRPr sz="1700"/>
          </a:p>
        </p:txBody>
      </p:sp>
      <p:sp>
        <p:nvSpPr>
          <p:cNvPr id="5" name="object 5"/>
          <p:cNvSpPr txBox="1"/>
          <p:nvPr/>
        </p:nvSpPr>
        <p:spPr>
          <a:xfrm>
            <a:off x="534136" y="1403468"/>
            <a:ext cx="7736205" cy="105664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70"/>
              </a:spcBef>
            </a:pP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Q10:</a:t>
            </a:r>
            <a:r>
              <a:rPr sz="1300" b="1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'Walk</a:t>
            </a:r>
            <a:r>
              <a:rPr sz="1300" b="1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me</a:t>
            </a:r>
            <a:r>
              <a:rPr sz="1300" b="1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02020"/>
                </a:solidFill>
                <a:latin typeface="Calibri"/>
                <a:cs typeface="Calibri"/>
              </a:rPr>
              <a:t>through</a:t>
            </a:r>
            <a:r>
              <a:rPr sz="1300" b="1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02020"/>
                </a:solidFill>
                <a:latin typeface="Calibri"/>
                <a:cs typeface="Calibri"/>
              </a:rPr>
              <a:t>building</a:t>
            </a:r>
            <a:r>
              <a:rPr sz="1300" b="1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b="1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02020"/>
                </a:solidFill>
                <a:latin typeface="Calibri"/>
                <a:cs typeface="Calibri"/>
              </a:rPr>
              <a:t>filling</a:t>
            </a:r>
            <a:r>
              <a:rPr sz="1300" b="1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b="1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02020"/>
                </a:solidFill>
                <a:latin typeface="Calibri"/>
                <a:cs typeface="Calibri"/>
              </a:rPr>
              <a:t>table.'</a:t>
            </a:r>
            <a:endParaRPr sz="1300">
              <a:latin typeface="Calibri"/>
              <a:cs typeface="Calibri"/>
            </a:endParaRPr>
          </a:p>
          <a:p>
            <a:pPr marL="12700" marR="5080" algn="just">
              <a:lnSpc>
                <a:spcPct val="130100"/>
              </a:lnSpc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A:</a:t>
            </a:r>
            <a:r>
              <a:rPr sz="1300" spc="-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'CREATE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SCHEMA,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need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(DDL).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(DML).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UPDATE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to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correct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change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values,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DELETE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longer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want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always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TRUNCATE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need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wipe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and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reload.'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4D33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05179" y="345505"/>
            <a:ext cx="4235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REVEAL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DDL</a:t>
            </a:r>
            <a:r>
              <a:rPr spc="-20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dirty="0"/>
              <a:t>DML</a:t>
            </a:r>
            <a:r>
              <a:rPr spc="-20" dirty="0"/>
              <a:t> </a:t>
            </a:r>
            <a:r>
              <a:rPr spc="-10" dirty="0"/>
              <a:t>Self-</a:t>
            </a:r>
            <a:r>
              <a:rPr dirty="0"/>
              <a:t>Check</a:t>
            </a:r>
            <a:r>
              <a:rPr spc="-15" dirty="0"/>
              <a:t> </a:t>
            </a:r>
            <a:r>
              <a:rPr dirty="0"/>
              <a:t>(12</a:t>
            </a:r>
            <a:r>
              <a:rPr spc="-10" dirty="0"/>
              <a:t> Questions)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60261"/>
            <a:ext cx="272161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Close</a:t>
            </a:r>
            <a:r>
              <a:rPr sz="1300" spc="-6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300" spc="-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notes.</a:t>
            </a:r>
            <a:r>
              <a:rPr sz="1300" spc="-6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Answer</a:t>
            </a:r>
            <a:r>
              <a:rPr sz="1300" spc="-5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300" spc="-6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memory: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856" y="1506719"/>
            <a:ext cx="80010" cy="26568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2934" y="1531192"/>
            <a:ext cx="4291330" cy="26568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61925" indent="-149225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161925" algn="l"/>
              </a:tabLst>
            </a:pP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does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DDL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stand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for?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Name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3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DDL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commands.</a:t>
            </a:r>
            <a:endParaRPr sz="120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161925" algn="l"/>
              </a:tabLst>
            </a:pP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does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DML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stand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for?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Name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3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DML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commands.</a:t>
            </a:r>
            <a:endParaRPr sz="120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161925" algn="l"/>
              </a:tabLst>
            </a:pP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Write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syntax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from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memory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(3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columns).</a:t>
            </a:r>
            <a:endParaRPr sz="120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161925" algn="l"/>
              </a:tabLst>
            </a:pP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Why</a:t>
            </a:r>
            <a:r>
              <a:rPr sz="12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2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today?</a:t>
            </a:r>
            <a:r>
              <a:rPr sz="12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changes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tomorrow?</a:t>
            </a:r>
            <a:endParaRPr sz="120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161925" algn="l"/>
              </a:tabLst>
            </a:pP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Difference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between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DROP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TABLE,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TRUNCATE,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DELETE?</a:t>
            </a:r>
            <a:endParaRPr sz="120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161925" algn="l"/>
              </a:tabLst>
            </a:pP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schema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why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instead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of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public?</a:t>
            </a:r>
            <a:endParaRPr sz="120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161925" algn="l"/>
              </a:tabLst>
            </a:pP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does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EXISTS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do?</a:t>
            </a:r>
            <a:endParaRPr sz="120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161925" algn="l"/>
              </a:tabLst>
            </a:pP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Write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single-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INSERT.</a:t>
            </a:r>
            <a:endParaRPr sz="120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161925" algn="l"/>
              </a:tabLst>
            </a:pP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Why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UPDATE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without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dangerous?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How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do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stay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safe?</a:t>
            </a:r>
            <a:endParaRPr sz="12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238760" algn="l"/>
              </a:tabLst>
            </a:pP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does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RETURNING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give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you?</a:t>
            </a:r>
            <a:endParaRPr sz="12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238760" algn="l"/>
              </a:tabLst>
            </a:pP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Why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does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WHERE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total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'900'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miss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2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2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'1000'?</a:t>
            </a:r>
            <a:endParaRPr sz="120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238760" algn="l"/>
              </a:tabLst>
            </a:pP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What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CASCADE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2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02020"/>
                </a:solidFill>
                <a:latin typeface="Calibri"/>
                <a:cs typeface="Calibri"/>
              </a:rPr>
              <a:t>DROP</a:t>
            </a:r>
            <a:r>
              <a:rPr sz="12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Calibri"/>
                <a:cs typeface="Calibri"/>
              </a:rPr>
              <a:t>SCHEMA?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9856" y="4274542"/>
            <a:ext cx="58686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Score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10+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ready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Types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&amp;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Constraints.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Below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10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&gt;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re-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read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weak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sections.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4913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5375" y="345505"/>
            <a:ext cx="6438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CHALLENGE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DDL</a:t>
            </a:r>
            <a:r>
              <a:rPr spc="-25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dirty="0"/>
              <a:t>DML</a:t>
            </a:r>
            <a:r>
              <a:rPr spc="-25" dirty="0"/>
              <a:t> </a:t>
            </a:r>
            <a:r>
              <a:rPr spc="-10" dirty="0"/>
              <a:t>Take-</a:t>
            </a:r>
            <a:r>
              <a:rPr dirty="0"/>
              <a:t>Home</a:t>
            </a:r>
            <a:r>
              <a:rPr spc="-15" dirty="0"/>
              <a:t> </a:t>
            </a:r>
            <a:r>
              <a:rPr spc="-10" dirty="0"/>
              <a:t>Challenge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147869"/>
            <a:ext cx="7740015" cy="309943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Complete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these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BEFORE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Data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Types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&amp;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Constraints:</a:t>
            </a:r>
            <a:endParaRPr sz="1300">
              <a:latin typeface="Calibri"/>
              <a:cs typeface="Calibri"/>
            </a:endParaRPr>
          </a:p>
          <a:p>
            <a:pPr marL="12700" marR="391795" indent="164465">
              <a:lnSpc>
                <a:spcPct val="120100"/>
              </a:lnSpc>
              <a:spcBef>
                <a:spcPts val="570"/>
              </a:spcBef>
              <a:buAutoNum type="arabicPeriod"/>
              <a:tabLst>
                <a:tab pos="1771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Build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3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Tables: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accio_NN,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create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mini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 e-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commerce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products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(7+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columns),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customers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(6+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columns),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orders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(7+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columns).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ALL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TEXT.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schema.table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names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IF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EXISTS.</a:t>
            </a:r>
            <a:endParaRPr sz="1300">
              <a:latin typeface="Calibri"/>
              <a:cs typeface="Calibri"/>
            </a:endParaRPr>
          </a:p>
          <a:p>
            <a:pPr marL="12700" marR="5080" indent="164465">
              <a:lnSpc>
                <a:spcPct val="120100"/>
              </a:lnSpc>
              <a:buAutoNum type="arabicPeriod"/>
              <a:tabLst>
                <a:tab pos="1771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Fill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Them: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least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5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multi-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row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INSERT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least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once,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RETURNING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at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least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once.</a:t>
            </a:r>
            <a:endParaRPr sz="1300">
              <a:latin typeface="Calibri"/>
              <a:cs typeface="Calibri"/>
            </a:endParaRPr>
          </a:p>
          <a:p>
            <a:pPr marL="12700" marR="264160" indent="164465">
              <a:lnSpc>
                <a:spcPct val="120100"/>
              </a:lnSpc>
              <a:spcBef>
                <a:spcPts val="5"/>
              </a:spcBef>
              <a:buAutoNum type="arabicPeriod"/>
              <a:tabLst>
                <a:tab pos="1771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Change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Data: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Write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3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UPDATE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statements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(each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WHERE)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2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DELETE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statements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(each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WHERE). Preview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each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SELECT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first.</a:t>
            </a:r>
            <a:endParaRPr sz="1300">
              <a:latin typeface="Calibri"/>
              <a:cs typeface="Calibri"/>
            </a:endParaRPr>
          </a:p>
          <a:p>
            <a:pPr marL="177165" indent="-164465">
              <a:lnSpc>
                <a:spcPct val="100000"/>
              </a:lnSpc>
              <a:spcBef>
                <a:spcPts val="310"/>
              </a:spcBef>
              <a:buAutoNum type="arabicPeriod"/>
              <a:tabLst>
                <a:tab pos="1771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Reset: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TRUNCATE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table,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prove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empty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count(*).</a:t>
            </a:r>
            <a:endParaRPr sz="1300">
              <a:latin typeface="Calibri"/>
              <a:cs typeface="Calibri"/>
            </a:endParaRPr>
          </a:p>
          <a:p>
            <a:pPr marL="12700" marR="425450" indent="164465">
              <a:lnSpc>
                <a:spcPct val="120100"/>
              </a:lnSpc>
              <a:buAutoNum type="arabicPeriod"/>
              <a:tabLst>
                <a:tab pos="1771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Inspect: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-4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Run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information_schema.columns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query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schema</a:t>
            </a:r>
            <a:r>
              <a:rPr sz="1300" spc="-4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note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shows data_type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=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text.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Tomorrow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will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fix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that.</a:t>
            </a:r>
            <a:endParaRPr sz="1300">
              <a:latin typeface="Calibri"/>
              <a:cs typeface="Calibri"/>
            </a:endParaRPr>
          </a:p>
          <a:p>
            <a:pPr marL="12700" marR="229235">
              <a:lnSpc>
                <a:spcPct val="120100"/>
              </a:lnSpc>
              <a:spcBef>
                <a:spcPts val="575"/>
              </a:spcBef>
            </a:pP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Tomorrow: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Data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Types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(ALTER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those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INT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/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NUMERIC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/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DATE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/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BOOLEAN)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Constraints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&amp;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Calibri"/>
                <a:cs typeface="Calibri"/>
              </a:rPr>
              <a:t>Keys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(PRIMARY</a:t>
            </a:r>
            <a:r>
              <a:rPr sz="13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KEY,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FOREIGN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Calibri"/>
                <a:cs typeface="Calibri"/>
              </a:rPr>
              <a:t>KEY,</a:t>
            </a:r>
            <a:r>
              <a:rPr sz="13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NULL,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02020"/>
                </a:solidFill>
                <a:latin typeface="Calibri"/>
                <a:cs typeface="Calibri"/>
              </a:rPr>
              <a:t>UNIQUE,</a:t>
            </a:r>
            <a:r>
              <a:rPr sz="13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Calibri"/>
                <a:cs typeface="Calibri"/>
              </a:rPr>
              <a:t>CHECK).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144" y="368174"/>
            <a:ext cx="314388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1D3A5E"/>
                </a:solidFill>
              </a:rPr>
              <a:t>YOUR</a:t>
            </a:r>
            <a:r>
              <a:rPr sz="2200" spc="-55" dirty="0">
                <a:solidFill>
                  <a:srgbClr val="1D3A5E"/>
                </a:solidFill>
              </a:rPr>
              <a:t> </a:t>
            </a:r>
            <a:r>
              <a:rPr sz="2200" dirty="0">
                <a:solidFill>
                  <a:srgbClr val="1D3A5E"/>
                </a:solidFill>
              </a:rPr>
              <a:t>SQL</a:t>
            </a:r>
            <a:r>
              <a:rPr sz="2200" spc="-50" dirty="0">
                <a:solidFill>
                  <a:srgbClr val="1D3A5E"/>
                </a:solidFill>
              </a:rPr>
              <a:t> </a:t>
            </a:r>
            <a:r>
              <a:rPr sz="2200" spc="-10" dirty="0">
                <a:solidFill>
                  <a:srgbClr val="1D3A5E"/>
                </a:solidFill>
              </a:rPr>
              <a:t>JOURNEY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457200" y="777242"/>
            <a:ext cx="1371600" cy="635"/>
          </a:xfrm>
          <a:custGeom>
            <a:avLst/>
            <a:gdLst/>
            <a:ahLst/>
            <a:cxnLst/>
            <a:rect l="l" t="t" r="r" b="b"/>
            <a:pathLst>
              <a:path w="1371600" h="634">
                <a:moveTo>
                  <a:pt x="0" y="0"/>
                </a:moveTo>
                <a:lnTo>
                  <a:pt x="1371600" y="355"/>
                </a:lnTo>
              </a:path>
            </a:pathLst>
          </a:custGeom>
          <a:ln w="25559">
            <a:solidFill>
              <a:srgbClr val="F861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8284" y="109692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19">
                <a:moveTo>
                  <a:pt x="137160" y="0"/>
                </a:moveTo>
                <a:lnTo>
                  <a:pt x="84555" y="10474"/>
                </a:lnTo>
                <a:lnTo>
                  <a:pt x="40136" y="40182"/>
                </a:lnTo>
                <a:lnTo>
                  <a:pt x="10474" y="84710"/>
                </a:lnTo>
                <a:lnTo>
                  <a:pt x="0" y="137160"/>
                </a:lnTo>
                <a:lnTo>
                  <a:pt x="1197" y="155141"/>
                </a:lnTo>
                <a:lnTo>
                  <a:pt x="18351" y="205917"/>
                </a:lnTo>
                <a:lnTo>
                  <a:pt x="53589" y="246013"/>
                </a:lnTo>
                <a:lnTo>
                  <a:pt x="101560" y="269590"/>
                </a:lnTo>
                <a:lnTo>
                  <a:pt x="137160" y="274320"/>
                </a:lnTo>
                <a:lnTo>
                  <a:pt x="155141" y="273120"/>
                </a:lnTo>
                <a:lnTo>
                  <a:pt x="205917" y="255955"/>
                </a:lnTo>
                <a:lnTo>
                  <a:pt x="246013" y="220724"/>
                </a:lnTo>
                <a:lnTo>
                  <a:pt x="269590" y="172753"/>
                </a:lnTo>
                <a:lnTo>
                  <a:pt x="274320" y="137160"/>
                </a:lnTo>
                <a:lnTo>
                  <a:pt x="273120" y="119178"/>
                </a:lnTo>
                <a:lnTo>
                  <a:pt x="255955" y="68757"/>
                </a:lnTo>
                <a:lnTo>
                  <a:pt x="220724" y="28306"/>
                </a:lnTo>
                <a:lnTo>
                  <a:pt x="172753" y="4722"/>
                </a:lnTo>
                <a:lnTo>
                  <a:pt x="137160" y="0"/>
                </a:lnTo>
                <a:close/>
              </a:path>
            </a:pathLst>
          </a:custGeom>
          <a:solidFill>
            <a:srgbClr val="2E7C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9538" y="1152628"/>
            <a:ext cx="1130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60" dirty="0">
                <a:solidFill>
                  <a:srgbClr val="FFFFFF"/>
                </a:solidFill>
                <a:latin typeface="Yu Gothic"/>
                <a:cs typeface="Yu Gothic"/>
              </a:rPr>
              <a:t>✓</a:t>
            </a:r>
            <a:endParaRPr sz="900">
              <a:latin typeface="Yu Gothic"/>
              <a:cs typeface="Yu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8284" y="1361759"/>
            <a:ext cx="274320" cy="558165"/>
            <a:chOff x="548284" y="1361759"/>
            <a:chExt cx="274320" cy="558165"/>
          </a:xfrm>
        </p:grpSpPr>
        <p:sp>
          <p:nvSpPr>
            <p:cNvPr id="7" name="object 7"/>
            <p:cNvSpPr/>
            <p:nvPr/>
          </p:nvSpPr>
          <p:spPr>
            <a:xfrm>
              <a:off x="685800" y="1371602"/>
              <a:ext cx="635" cy="274320"/>
            </a:xfrm>
            <a:custGeom>
              <a:avLst/>
              <a:gdLst/>
              <a:ahLst/>
              <a:cxnLst/>
              <a:rect l="l" t="t" r="r" b="b"/>
              <a:pathLst>
                <a:path w="634" h="274319">
                  <a:moveTo>
                    <a:pt x="0" y="0"/>
                  </a:moveTo>
                  <a:lnTo>
                    <a:pt x="355" y="274320"/>
                  </a:lnTo>
                </a:path>
              </a:pathLst>
            </a:custGeom>
            <a:ln w="19079">
              <a:solidFill>
                <a:srgbClr val="2E7C3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8284" y="164556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19" h="274319">
                  <a:moveTo>
                    <a:pt x="137160" y="0"/>
                  </a:moveTo>
                  <a:lnTo>
                    <a:pt x="84555" y="10474"/>
                  </a:lnTo>
                  <a:lnTo>
                    <a:pt x="40136" y="40182"/>
                  </a:lnTo>
                  <a:lnTo>
                    <a:pt x="10474" y="84710"/>
                  </a:lnTo>
                  <a:lnTo>
                    <a:pt x="0" y="137160"/>
                  </a:lnTo>
                  <a:lnTo>
                    <a:pt x="1197" y="155141"/>
                  </a:lnTo>
                  <a:lnTo>
                    <a:pt x="18351" y="205917"/>
                  </a:lnTo>
                  <a:lnTo>
                    <a:pt x="53589" y="246013"/>
                  </a:lnTo>
                  <a:lnTo>
                    <a:pt x="101560" y="269590"/>
                  </a:lnTo>
                  <a:lnTo>
                    <a:pt x="137160" y="274319"/>
                  </a:lnTo>
                  <a:lnTo>
                    <a:pt x="155141" y="273120"/>
                  </a:lnTo>
                  <a:lnTo>
                    <a:pt x="205917" y="255955"/>
                  </a:lnTo>
                  <a:lnTo>
                    <a:pt x="246013" y="220724"/>
                  </a:lnTo>
                  <a:lnTo>
                    <a:pt x="269590" y="172753"/>
                  </a:lnTo>
                  <a:lnTo>
                    <a:pt x="274320" y="137160"/>
                  </a:lnTo>
                  <a:lnTo>
                    <a:pt x="273120" y="119178"/>
                  </a:lnTo>
                  <a:lnTo>
                    <a:pt x="255955" y="68757"/>
                  </a:lnTo>
                  <a:lnTo>
                    <a:pt x="220724" y="28306"/>
                  </a:lnTo>
                  <a:lnTo>
                    <a:pt x="172753" y="4722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2E7C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37424" y="1122377"/>
            <a:ext cx="64198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E7C32"/>
                </a:solidFill>
                <a:latin typeface="Calibri"/>
                <a:cs typeface="Calibri"/>
              </a:rPr>
              <a:t>SQL</a:t>
            </a:r>
            <a:r>
              <a:rPr sz="1300" spc="-30" dirty="0">
                <a:solidFill>
                  <a:srgbClr val="2E7C32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E7C32"/>
                </a:solidFill>
                <a:latin typeface="Calibri"/>
                <a:cs typeface="Calibri"/>
              </a:rPr>
              <a:t>Intro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9538" y="1701268"/>
            <a:ext cx="1130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60" dirty="0">
                <a:solidFill>
                  <a:srgbClr val="FFFFFF"/>
                </a:solidFill>
                <a:latin typeface="Yu Gothic"/>
                <a:cs typeface="Yu Gothic"/>
              </a:rPr>
              <a:t>✓</a:t>
            </a:r>
            <a:endParaRPr sz="900">
              <a:latin typeface="Yu Gothic"/>
              <a:cs typeface="Yu Goth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48284" y="1910399"/>
            <a:ext cx="274320" cy="558165"/>
            <a:chOff x="548284" y="1910399"/>
            <a:chExt cx="274320" cy="558165"/>
          </a:xfrm>
        </p:grpSpPr>
        <p:sp>
          <p:nvSpPr>
            <p:cNvPr id="12" name="object 12"/>
            <p:cNvSpPr/>
            <p:nvPr/>
          </p:nvSpPr>
          <p:spPr>
            <a:xfrm>
              <a:off x="685800" y="1920241"/>
              <a:ext cx="635" cy="274320"/>
            </a:xfrm>
            <a:custGeom>
              <a:avLst/>
              <a:gdLst/>
              <a:ahLst/>
              <a:cxnLst/>
              <a:rect l="l" t="t" r="r" b="b"/>
              <a:pathLst>
                <a:path w="634" h="274319">
                  <a:moveTo>
                    <a:pt x="0" y="0"/>
                  </a:moveTo>
                  <a:lnTo>
                    <a:pt x="355" y="274319"/>
                  </a:lnTo>
                </a:path>
              </a:pathLst>
            </a:custGeom>
            <a:ln w="19079">
              <a:solidFill>
                <a:srgbClr val="2E7C3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8284" y="219420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19" h="274319">
                  <a:moveTo>
                    <a:pt x="137160" y="0"/>
                  </a:moveTo>
                  <a:lnTo>
                    <a:pt x="84555" y="10474"/>
                  </a:lnTo>
                  <a:lnTo>
                    <a:pt x="40136" y="40182"/>
                  </a:lnTo>
                  <a:lnTo>
                    <a:pt x="10474" y="84710"/>
                  </a:lnTo>
                  <a:lnTo>
                    <a:pt x="0" y="137159"/>
                  </a:lnTo>
                  <a:lnTo>
                    <a:pt x="1197" y="155141"/>
                  </a:lnTo>
                  <a:lnTo>
                    <a:pt x="18351" y="205917"/>
                  </a:lnTo>
                  <a:lnTo>
                    <a:pt x="53589" y="246013"/>
                  </a:lnTo>
                  <a:lnTo>
                    <a:pt x="101560" y="269590"/>
                  </a:lnTo>
                  <a:lnTo>
                    <a:pt x="137160" y="274319"/>
                  </a:lnTo>
                  <a:lnTo>
                    <a:pt x="155141" y="273120"/>
                  </a:lnTo>
                  <a:lnTo>
                    <a:pt x="205917" y="255955"/>
                  </a:lnTo>
                  <a:lnTo>
                    <a:pt x="246013" y="220724"/>
                  </a:lnTo>
                  <a:lnTo>
                    <a:pt x="269590" y="172753"/>
                  </a:lnTo>
                  <a:lnTo>
                    <a:pt x="274320" y="137159"/>
                  </a:lnTo>
                  <a:lnTo>
                    <a:pt x="273120" y="119178"/>
                  </a:lnTo>
                  <a:lnTo>
                    <a:pt x="255955" y="68757"/>
                  </a:lnTo>
                  <a:lnTo>
                    <a:pt x="220724" y="28306"/>
                  </a:lnTo>
                  <a:lnTo>
                    <a:pt x="172753" y="4722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F86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37424" y="1671017"/>
            <a:ext cx="76708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2E7C32"/>
                </a:solidFill>
                <a:latin typeface="Calibri"/>
                <a:cs typeface="Calibri"/>
              </a:rPr>
              <a:t>Installation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3940" y="2249908"/>
            <a:ext cx="838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8284" y="2459039"/>
            <a:ext cx="274320" cy="558165"/>
            <a:chOff x="548284" y="2459039"/>
            <a:chExt cx="274320" cy="558165"/>
          </a:xfrm>
        </p:grpSpPr>
        <p:sp>
          <p:nvSpPr>
            <p:cNvPr id="17" name="object 17"/>
            <p:cNvSpPr/>
            <p:nvPr/>
          </p:nvSpPr>
          <p:spPr>
            <a:xfrm>
              <a:off x="685800" y="2468881"/>
              <a:ext cx="635" cy="274320"/>
            </a:xfrm>
            <a:custGeom>
              <a:avLst/>
              <a:gdLst/>
              <a:ahLst/>
              <a:cxnLst/>
              <a:rect l="l" t="t" r="r" b="b"/>
              <a:pathLst>
                <a:path w="634" h="274319">
                  <a:moveTo>
                    <a:pt x="0" y="0"/>
                  </a:moveTo>
                  <a:lnTo>
                    <a:pt x="355" y="274319"/>
                  </a:lnTo>
                </a:path>
              </a:pathLst>
            </a:custGeom>
            <a:ln w="19079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8284" y="274284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19" h="274319">
                  <a:moveTo>
                    <a:pt x="137160" y="0"/>
                  </a:moveTo>
                  <a:lnTo>
                    <a:pt x="84555" y="10474"/>
                  </a:lnTo>
                  <a:lnTo>
                    <a:pt x="40136" y="40182"/>
                  </a:lnTo>
                  <a:lnTo>
                    <a:pt x="10474" y="84710"/>
                  </a:lnTo>
                  <a:lnTo>
                    <a:pt x="0" y="137160"/>
                  </a:lnTo>
                  <a:lnTo>
                    <a:pt x="1197" y="155141"/>
                  </a:lnTo>
                  <a:lnTo>
                    <a:pt x="18351" y="205917"/>
                  </a:lnTo>
                  <a:lnTo>
                    <a:pt x="53589" y="246013"/>
                  </a:lnTo>
                  <a:lnTo>
                    <a:pt x="101560" y="269590"/>
                  </a:lnTo>
                  <a:lnTo>
                    <a:pt x="137160" y="274319"/>
                  </a:lnTo>
                  <a:lnTo>
                    <a:pt x="155141" y="273120"/>
                  </a:lnTo>
                  <a:lnTo>
                    <a:pt x="205917" y="255955"/>
                  </a:lnTo>
                  <a:lnTo>
                    <a:pt x="246013" y="220724"/>
                  </a:lnTo>
                  <a:lnTo>
                    <a:pt x="269590" y="172753"/>
                  </a:lnTo>
                  <a:lnTo>
                    <a:pt x="274320" y="137160"/>
                  </a:lnTo>
                  <a:lnTo>
                    <a:pt x="273120" y="119178"/>
                  </a:lnTo>
                  <a:lnTo>
                    <a:pt x="255955" y="68757"/>
                  </a:lnTo>
                  <a:lnTo>
                    <a:pt x="220724" y="28306"/>
                  </a:lnTo>
                  <a:lnTo>
                    <a:pt x="172753" y="4722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37424" y="2212100"/>
            <a:ext cx="21450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02020"/>
                </a:solidFill>
                <a:latin typeface="Calibri"/>
                <a:cs typeface="Calibri"/>
              </a:rPr>
              <a:t>DDL</a:t>
            </a:r>
            <a:r>
              <a:rPr sz="14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02020"/>
                </a:solidFill>
                <a:latin typeface="Calibri"/>
                <a:cs typeface="Calibri"/>
              </a:rPr>
              <a:t>+</a:t>
            </a:r>
            <a:r>
              <a:rPr sz="1400" b="1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02020"/>
                </a:solidFill>
                <a:latin typeface="Calibri"/>
                <a:cs typeface="Calibri"/>
              </a:rPr>
              <a:t>DML</a:t>
            </a:r>
            <a:r>
              <a:rPr sz="1400" b="1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02020"/>
                </a:solidFill>
                <a:latin typeface="Calibri"/>
                <a:cs typeface="Calibri"/>
              </a:rPr>
              <a:t>&lt;-</a:t>
            </a:r>
            <a:r>
              <a:rPr sz="1400" b="1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400" b="1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02020"/>
                </a:solidFill>
                <a:latin typeface="Calibri"/>
                <a:cs typeface="Calibri"/>
              </a:rPr>
              <a:t>ARE</a:t>
            </a:r>
            <a:r>
              <a:rPr sz="1400" b="1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202020"/>
                </a:solidFill>
                <a:latin typeface="Calibri"/>
                <a:cs typeface="Calibri"/>
              </a:rPr>
              <a:t>HERE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12095" y="2227213"/>
            <a:ext cx="527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86166"/>
                </a:solidFill>
                <a:latin typeface="Calibri"/>
                <a:cs typeface="Calibri"/>
              </a:rPr>
              <a:t>←</a:t>
            </a:r>
            <a:r>
              <a:rPr sz="1200" b="1" spc="-20" dirty="0">
                <a:solidFill>
                  <a:srgbClr val="F86166"/>
                </a:solidFill>
                <a:latin typeface="Calibri"/>
                <a:cs typeface="Calibri"/>
              </a:rPr>
              <a:t> HERE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3940" y="2798548"/>
            <a:ext cx="838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4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8284" y="3007679"/>
            <a:ext cx="274320" cy="558165"/>
            <a:chOff x="548284" y="3007679"/>
            <a:chExt cx="274320" cy="558165"/>
          </a:xfrm>
        </p:grpSpPr>
        <p:sp>
          <p:nvSpPr>
            <p:cNvPr id="23" name="object 23"/>
            <p:cNvSpPr/>
            <p:nvPr/>
          </p:nvSpPr>
          <p:spPr>
            <a:xfrm>
              <a:off x="685800" y="3017522"/>
              <a:ext cx="635" cy="274320"/>
            </a:xfrm>
            <a:custGeom>
              <a:avLst/>
              <a:gdLst/>
              <a:ahLst/>
              <a:cxnLst/>
              <a:rect l="l" t="t" r="r" b="b"/>
              <a:pathLst>
                <a:path w="634" h="274320">
                  <a:moveTo>
                    <a:pt x="0" y="0"/>
                  </a:moveTo>
                  <a:lnTo>
                    <a:pt x="355" y="274319"/>
                  </a:lnTo>
                </a:path>
              </a:pathLst>
            </a:custGeom>
            <a:ln w="19079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8284" y="329148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19" h="274320">
                  <a:moveTo>
                    <a:pt x="137160" y="0"/>
                  </a:moveTo>
                  <a:lnTo>
                    <a:pt x="84555" y="10474"/>
                  </a:lnTo>
                  <a:lnTo>
                    <a:pt x="40136" y="40182"/>
                  </a:lnTo>
                  <a:lnTo>
                    <a:pt x="10474" y="84710"/>
                  </a:lnTo>
                  <a:lnTo>
                    <a:pt x="0" y="137159"/>
                  </a:lnTo>
                  <a:lnTo>
                    <a:pt x="1197" y="155141"/>
                  </a:lnTo>
                  <a:lnTo>
                    <a:pt x="18351" y="205917"/>
                  </a:lnTo>
                  <a:lnTo>
                    <a:pt x="53589" y="246013"/>
                  </a:lnTo>
                  <a:lnTo>
                    <a:pt x="101560" y="269590"/>
                  </a:lnTo>
                  <a:lnTo>
                    <a:pt x="137160" y="274319"/>
                  </a:lnTo>
                  <a:lnTo>
                    <a:pt x="155141" y="273120"/>
                  </a:lnTo>
                  <a:lnTo>
                    <a:pt x="205917" y="255955"/>
                  </a:lnTo>
                  <a:lnTo>
                    <a:pt x="246013" y="220724"/>
                  </a:lnTo>
                  <a:lnTo>
                    <a:pt x="269590" y="172753"/>
                  </a:lnTo>
                  <a:lnTo>
                    <a:pt x="274320" y="137159"/>
                  </a:lnTo>
                  <a:lnTo>
                    <a:pt x="273120" y="119178"/>
                  </a:lnTo>
                  <a:lnTo>
                    <a:pt x="255955" y="68757"/>
                  </a:lnTo>
                  <a:lnTo>
                    <a:pt x="220724" y="28306"/>
                  </a:lnTo>
                  <a:lnTo>
                    <a:pt x="172753" y="4722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037424" y="2768297"/>
            <a:ext cx="16656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666666"/>
                </a:solidFill>
                <a:latin typeface="Calibri"/>
                <a:cs typeface="Calibri"/>
              </a:rPr>
              <a:t>Data</a:t>
            </a:r>
            <a:r>
              <a:rPr sz="1300" spc="-4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66666"/>
                </a:solidFill>
                <a:latin typeface="Calibri"/>
                <a:cs typeface="Calibri"/>
              </a:rPr>
              <a:t>Types</a:t>
            </a:r>
            <a:r>
              <a:rPr sz="1300" spc="-4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66666"/>
                </a:solidFill>
                <a:latin typeface="Calibri"/>
                <a:cs typeface="Calibri"/>
              </a:rPr>
              <a:t>+</a:t>
            </a:r>
            <a:r>
              <a:rPr sz="1300" spc="-4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66666"/>
                </a:solidFill>
                <a:latin typeface="Calibri"/>
                <a:cs typeface="Calibri"/>
              </a:rPr>
              <a:t>Constraints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3940" y="3347188"/>
            <a:ext cx="838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5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48284" y="3556622"/>
            <a:ext cx="274320" cy="558165"/>
            <a:chOff x="548284" y="3556622"/>
            <a:chExt cx="274320" cy="558165"/>
          </a:xfrm>
        </p:grpSpPr>
        <p:sp>
          <p:nvSpPr>
            <p:cNvPr id="28" name="object 28"/>
            <p:cNvSpPr/>
            <p:nvPr/>
          </p:nvSpPr>
          <p:spPr>
            <a:xfrm>
              <a:off x="685800" y="3566161"/>
              <a:ext cx="635" cy="274320"/>
            </a:xfrm>
            <a:custGeom>
              <a:avLst/>
              <a:gdLst/>
              <a:ahLst/>
              <a:cxnLst/>
              <a:rect l="l" t="t" r="r" b="b"/>
              <a:pathLst>
                <a:path w="634" h="274320">
                  <a:moveTo>
                    <a:pt x="0" y="0"/>
                  </a:moveTo>
                  <a:lnTo>
                    <a:pt x="355" y="274319"/>
                  </a:lnTo>
                </a:path>
              </a:pathLst>
            </a:custGeom>
            <a:ln w="19079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8284" y="384012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19" h="274320">
                  <a:moveTo>
                    <a:pt x="137160" y="0"/>
                  </a:moveTo>
                  <a:lnTo>
                    <a:pt x="84555" y="10474"/>
                  </a:lnTo>
                  <a:lnTo>
                    <a:pt x="40136" y="40182"/>
                  </a:lnTo>
                  <a:lnTo>
                    <a:pt x="10474" y="84710"/>
                  </a:lnTo>
                  <a:lnTo>
                    <a:pt x="0" y="137159"/>
                  </a:lnTo>
                  <a:lnTo>
                    <a:pt x="1197" y="155141"/>
                  </a:lnTo>
                  <a:lnTo>
                    <a:pt x="18351" y="205917"/>
                  </a:lnTo>
                  <a:lnTo>
                    <a:pt x="53589" y="246013"/>
                  </a:lnTo>
                  <a:lnTo>
                    <a:pt x="101560" y="269590"/>
                  </a:lnTo>
                  <a:lnTo>
                    <a:pt x="137160" y="274319"/>
                  </a:lnTo>
                  <a:lnTo>
                    <a:pt x="155141" y="273120"/>
                  </a:lnTo>
                  <a:lnTo>
                    <a:pt x="205917" y="255955"/>
                  </a:lnTo>
                  <a:lnTo>
                    <a:pt x="246013" y="220724"/>
                  </a:lnTo>
                  <a:lnTo>
                    <a:pt x="269590" y="172753"/>
                  </a:lnTo>
                  <a:lnTo>
                    <a:pt x="274320" y="137159"/>
                  </a:lnTo>
                  <a:lnTo>
                    <a:pt x="273120" y="119178"/>
                  </a:lnTo>
                  <a:lnTo>
                    <a:pt x="255955" y="68757"/>
                  </a:lnTo>
                  <a:lnTo>
                    <a:pt x="220724" y="28306"/>
                  </a:lnTo>
                  <a:lnTo>
                    <a:pt x="172753" y="4722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37424" y="3316937"/>
            <a:ext cx="13411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666666"/>
                </a:solidFill>
                <a:latin typeface="Calibri"/>
                <a:cs typeface="Calibri"/>
              </a:rPr>
              <a:t>Filtering</a:t>
            </a:r>
            <a:r>
              <a:rPr sz="1300" spc="-2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66666"/>
                </a:solidFill>
                <a:latin typeface="Calibri"/>
                <a:cs typeface="Calibri"/>
              </a:rPr>
              <a:t>(first</a:t>
            </a:r>
            <a:r>
              <a:rPr sz="1300" spc="-2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66666"/>
                </a:solidFill>
                <a:latin typeface="Calibri"/>
                <a:cs typeface="Calibri"/>
              </a:rPr>
              <a:t>DQL!)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3940" y="3895828"/>
            <a:ext cx="838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37424" y="3865577"/>
            <a:ext cx="35369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666666"/>
                </a:solidFill>
                <a:latin typeface="Calibri"/>
                <a:cs typeface="Calibri"/>
              </a:rPr>
              <a:t>Joins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845964" y="109692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19">
                <a:moveTo>
                  <a:pt x="137160" y="0"/>
                </a:moveTo>
                <a:lnTo>
                  <a:pt x="84710" y="10474"/>
                </a:lnTo>
                <a:lnTo>
                  <a:pt x="40182" y="40182"/>
                </a:lnTo>
                <a:lnTo>
                  <a:pt x="10474" y="84710"/>
                </a:lnTo>
                <a:lnTo>
                  <a:pt x="0" y="137160"/>
                </a:lnTo>
                <a:lnTo>
                  <a:pt x="1197" y="155141"/>
                </a:lnTo>
                <a:lnTo>
                  <a:pt x="18351" y="205917"/>
                </a:lnTo>
                <a:lnTo>
                  <a:pt x="53745" y="246013"/>
                </a:lnTo>
                <a:lnTo>
                  <a:pt x="101606" y="269590"/>
                </a:lnTo>
                <a:lnTo>
                  <a:pt x="137160" y="274320"/>
                </a:lnTo>
                <a:lnTo>
                  <a:pt x="155141" y="273120"/>
                </a:lnTo>
                <a:lnTo>
                  <a:pt x="205917" y="255955"/>
                </a:lnTo>
                <a:lnTo>
                  <a:pt x="246013" y="220724"/>
                </a:lnTo>
                <a:lnTo>
                  <a:pt x="269590" y="172753"/>
                </a:lnTo>
                <a:lnTo>
                  <a:pt x="274320" y="137160"/>
                </a:lnTo>
                <a:lnTo>
                  <a:pt x="273120" y="119178"/>
                </a:lnTo>
                <a:lnTo>
                  <a:pt x="255955" y="68757"/>
                </a:lnTo>
                <a:lnTo>
                  <a:pt x="220724" y="28306"/>
                </a:lnTo>
                <a:lnTo>
                  <a:pt x="172753" y="4722"/>
                </a:lnTo>
                <a:lnTo>
                  <a:pt x="13716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941620" y="1083857"/>
            <a:ext cx="83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3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845964" y="1361759"/>
            <a:ext cx="274320" cy="558165"/>
            <a:chOff x="4845964" y="1361759"/>
            <a:chExt cx="274320" cy="558165"/>
          </a:xfrm>
        </p:grpSpPr>
        <p:sp>
          <p:nvSpPr>
            <p:cNvPr id="36" name="object 36"/>
            <p:cNvSpPr/>
            <p:nvPr/>
          </p:nvSpPr>
          <p:spPr>
            <a:xfrm>
              <a:off x="4983479" y="1371602"/>
              <a:ext cx="635" cy="274320"/>
            </a:xfrm>
            <a:custGeom>
              <a:avLst/>
              <a:gdLst/>
              <a:ahLst/>
              <a:cxnLst/>
              <a:rect l="l" t="t" r="r" b="b"/>
              <a:pathLst>
                <a:path w="635" h="274319">
                  <a:moveTo>
                    <a:pt x="0" y="0"/>
                  </a:moveTo>
                  <a:lnTo>
                    <a:pt x="355" y="274320"/>
                  </a:lnTo>
                </a:path>
              </a:pathLst>
            </a:custGeom>
            <a:ln w="19079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45964" y="164556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37160" y="0"/>
                  </a:moveTo>
                  <a:lnTo>
                    <a:pt x="84710" y="10474"/>
                  </a:lnTo>
                  <a:lnTo>
                    <a:pt x="40182" y="40182"/>
                  </a:lnTo>
                  <a:lnTo>
                    <a:pt x="10474" y="84710"/>
                  </a:lnTo>
                  <a:lnTo>
                    <a:pt x="0" y="137160"/>
                  </a:lnTo>
                  <a:lnTo>
                    <a:pt x="1197" y="155141"/>
                  </a:lnTo>
                  <a:lnTo>
                    <a:pt x="18351" y="205917"/>
                  </a:lnTo>
                  <a:lnTo>
                    <a:pt x="53745" y="246013"/>
                  </a:lnTo>
                  <a:lnTo>
                    <a:pt x="101606" y="269590"/>
                  </a:lnTo>
                  <a:lnTo>
                    <a:pt x="137160" y="274319"/>
                  </a:lnTo>
                  <a:lnTo>
                    <a:pt x="155141" y="273120"/>
                  </a:lnTo>
                  <a:lnTo>
                    <a:pt x="205917" y="255955"/>
                  </a:lnTo>
                  <a:lnTo>
                    <a:pt x="246013" y="220724"/>
                  </a:lnTo>
                  <a:lnTo>
                    <a:pt x="269590" y="172753"/>
                  </a:lnTo>
                  <a:lnTo>
                    <a:pt x="274320" y="137160"/>
                  </a:lnTo>
                  <a:lnTo>
                    <a:pt x="273120" y="119178"/>
                  </a:lnTo>
                  <a:lnTo>
                    <a:pt x="255955" y="68757"/>
                  </a:lnTo>
                  <a:lnTo>
                    <a:pt x="220724" y="28306"/>
                  </a:lnTo>
                  <a:lnTo>
                    <a:pt x="172753" y="4722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335104" y="1122377"/>
            <a:ext cx="33909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0" dirty="0">
                <a:solidFill>
                  <a:srgbClr val="666666"/>
                </a:solidFill>
                <a:latin typeface="Calibri"/>
                <a:cs typeface="Calibri"/>
              </a:rPr>
              <a:t>CTEs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41620" y="1632498"/>
            <a:ext cx="83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6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845964" y="1910399"/>
            <a:ext cx="274320" cy="558165"/>
            <a:chOff x="4845964" y="1910399"/>
            <a:chExt cx="274320" cy="558165"/>
          </a:xfrm>
        </p:grpSpPr>
        <p:sp>
          <p:nvSpPr>
            <p:cNvPr id="41" name="object 41"/>
            <p:cNvSpPr/>
            <p:nvPr/>
          </p:nvSpPr>
          <p:spPr>
            <a:xfrm>
              <a:off x="4983479" y="1920241"/>
              <a:ext cx="635" cy="274320"/>
            </a:xfrm>
            <a:custGeom>
              <a:avLst/>
              <a:gdLst/>
              <a:ahLst/>
              <a:cxnLst/>
              <a:rect l="l" t="t" r="r" b="b"/>
              <a:pathLst>
                <a:path w="635" h="274319">
                  <a:moveTo>
                    <a:pt x="0" y="0"/>
                  </a:moveTo>
                  <a:lnTo>
                    <a:pt x="355" y="274319"/>
                  </a:lnTo>
                </a:path>
              </a:pathLst>
            </a:custGeom>
            <a:ln w="19079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45964" y="219420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37160" y="0"/>
                  </a:moveTo>
                  <a:lnTo>
                    <a:pt x="84710" y="10474"/>
                  </a:lnTo>
                  <a:lnTo>
                    <a:pt x="40182" y="40182"/>
                  </a:lnTo>
                  <a:lnTo>
                    <a:pt x="10474" y="84710"/>
                  </a:lnTo>
                  <a:lnTo>
                    <a:pt x="0" y="137159"/>
                  </a:lnTo>
                  <a:lnTo>
                    <a:pt x="1197" y="155141"/>
                  </a:lnTo>
                  <a:lnTo>
                    <a:pt x="18351" y="205917"/>
                  </a:lnTo>
                  <a:lnTo>
                    <a:pt x="53745" y="246013"/>
                  </a:lnTo>
                  <a:lnTo>
                    <a:pt x="101606" y="269590"/>
                  </a:lnTo>
                  <a:lnTo>
                    <a:pt x="137160" y="274319"/>
                  </a:lnTo>
                  <a:lnTo>
                    <a:pt x="155141" y="273120"/>
                  </a:lnTo>
                  <a:lnTo>
                    <a:pt x="205917" y="255955"/>
                  </a:lnTo>
                  <a:lnTo>
                    <a:pt x="246013" y="220724"/>
                  </a:lnTo>
                  <a:lnTo>
                    <a:pt x="269590" y="172753"/>
                  </a:lnTo>
                  <a:lnTo>
                    <a:pt x="274320" y="137159"/>
                  </a:lnTo>
                  <a:lnTo>
                    <a:pt x="273120" y="119178"/>
                  </a:lnTo>
                  <a:lnTo>
                    <a:pt x="255955" y="68757"/>
                  </a:lnTo>
                  <a:lnTo>
                    <a:pt x="220724" y="28306"/>
                  </a:lnTo>
                  <a:lnTo>
                    <a:pt x="172753" y="4722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335104" y="1671017"/>
            <a:ext cx="12719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666666"/>
                </a:solidFill>
                <a:latin typeface="Calibri"/>
                <a:cs typeface="Calibri"/>
              </a:rPr>
              <a:t>Window</a:t>
            </a:r>
            <a:r>
              <a:rPr sz="1300" spc="-2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66666"/>
                </a:solidFill>
                <a:latin typeface="Calibri"/>
                <a:cs typeface="Calibri"/>
              </a:rPr>
              <a:t>Functions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941620" y="2181137"/>
            <a:ext cx="83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845964" y="2459039"/>
            <a:ext cx="274320" cy="558165"/>
            <a:chOff x="4845964" y="2459039"/>
            <a:chExt cx="274320" cy="558165"/>
          </a:xfrm>
        </p:grpSpPr>
        <p:sp>
          <p:nvSpPr>
            <p:cNvPr id="46" name="object 46"/>
            <p:cNvSpPr/>
            <p:nvPr/>
          </p:nvSpPr>
          <p:spPr>
            <a:xfrm>
              <a:off x="4983479" y="2468881"/>
              <a:ext cx="635" cy="274320"/>
            </a:xfrm>
            <a:custGeom>
              <a:avLst/>
              <a:gdLst/>
              <a:ahLst/>
              <a:cxnLst/>
              <a:rect l="l" t="t" r="r" b="b"/>
              <a:pathLst>
                <a:path w="635" h="274319">
                  <a:moveTo>
                    <a:pt x="0" y="0"/>
                  </a:moveTo>
                  <a:lnTo>
                    <a:pt x="355" y="274319"/>
                  </a:lnTo>
                </a:path>
              </a:pathLst>
            </a:custGeom>
            <a:ln w="19079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845964" y="274284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37160" y="0"/>
                  </a:moveTo>
                  <a:lnTo>
                    <a:pt x="84710" y="10474"/>
                  </a:lnTo>
                  <a:lnTo>
                    <a:pt x="40182" y="40182"/>
                  </a:lnTo>
                  <a:lnTo>
                    <a:pt x="10474" y="84710"/>
                  </a:lnTo>
                  <a:lnTo>
                    <a:pt x="0" y="137160"/>
                  </a:lnTo>
                  <a:lnTo>
                    <a:pt x="1197" y="155141"/>
                  </a:lnTo>
                  <a:lnTo>
                    <a:pt x="18351" y="205917"/>
                  </a:lnTo>
                  <a:lnTo>
                    <a:pt x="53745" y="246013"/>
                  </a:lnTo>
                  <a:lnTo>
                    <a:pt x="101606" y="269590"/>
                  </a:lnTo>
                  <a:lnTo>
                    <a:pt x="137160" y="274319"/>
                  </a:lnTo>
                  <a:lnTo>
                    <a:pt x="155141" y="273120"/>
                  </a:lnTo>
                  <a:lnTo>
                    <a:pt x="205917" y="255955"/>
                  </a:lnTo>
                  <a:lnTo>
                    <a:pt x="246013" y="220724"/>
                  </a:lnTo>
                  <a:lnTo>
                    <a:pt x="269590" y="172753"/>
                  </a:lnTo>
                  <a:lnTo>
                    <a:pt x="274320" y="137160"/>
                  </a:lnTo>
                  <a:lnTo>
                    <a:pt x="273120" y="119178"/>
                  </a:lnTo>
                  <a:lnTo>
                    <a:pt x="255955" y="68757"/>
                  </a:lnTo>
                  <a:lnTo>
                    <a:pt x="220724" y="28306"/>
                  </a:lnTo>
                  <a:lnTo>
                    <a:pt x="172753" y="4722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335104" y="2219657"/>
            <a:ext cx="59309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666666"/>
                </a:solidFill>
                <a:latin typeface="Calibri"/>
                <a:cs typeface="Calibri"/>
              </a:rPr>
              <a:t>Indexing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941620" y="2729777"/>
            <a:ext cx="83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5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845964" y="3007679"/>
            <a:ext cx="274320" cy="558165"/>
            <a:chOff x="4845964" y="3007679"/>
            <a:chExt cx="274320" cy="558165"/>
          </a:xfrm>
        </p:grpSpPr>
        <p:sp>
          <p:nvSpPr>
            <p:cNvPr id="51" name="object 51"/>
            <p:cNvSpPr/>
            <p:nvPr/>
          </p:nvSpPr>
          <p:spPr>
            <a:xfrm>
              <a:off x="4983479" y="3017522"/>
              <a:ext cx="635" cy="274320"/>
            </a:xfrm>
            <a:custGeom>
              <a:avLst/>
              <a:gdLst/>
              <a:ahLst/>
              <a:cxnLst/>
              <a:rect l="l" t="t" r="r" b="b"/>
              <a:pathLst>
                <a:path w="635" h="274320">
                  <a:moveTo>
                    <a:pt x="0" y="0"/>
                  </a:moveTo>
                  <a:lnTo>
                    <a:pt x="355" y="274319"/>
                  </a:lnTo>
                </a:path>
              </a:pathLst>
            </a:custGeom>
            <a:ln w="19079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845964" y="329148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137160" y="0"/>
                  </a:moveTo>
                  <a:lnTo>
                    <a:pt x="84710" y="10474"/>
                  </a:lnTo>
                  <a:lnTo>
                    <a:pt x="40182" y="40182"/>
                  </a:lnTo>
                  <a:lnTo>
                    <a:pt x="10474" y="84710"/>
                  </a:lnTo>
                  <a:lnTo>
                    <a:pt x="0" y="137159"/>
                  </a:lnTo>
                  <a:lnTo>
                    <a:pt x="1197" y="155141"/>
                  </a:lnTo>
                  <a:lnTo>
                    <a:pt x="18351" y="205917"/>
                  </a:lnTo>
                  <a:lnTo>
                    <a:pt x="53745" y="246013"/>
                  </a:lnTo>
                  <a:lnTo>
                    <a:pt x="101606" y="269590"/>
                  </a:lnTo>
                  <a:lnTo>
                    <a:pt x="137160" y="274319"/>
                  </a:lnTo>
                  <a:lnTo>
                    <a:pt x="155141" y="273120"/>
                  </a:lnTo>
                  <a:lnTo>
                    <a:pt x="205917" y="255955"/>
                  </a:lnTo>
                  <a:lnTo>
                    <a:pt x="246013" y="220724"/>
                  </a:lnTo>
                  <a:lnTo>
                    <a:pt x="269590" y="172753"/>
                  </a:lnTo>
                  <a:lnTo>
                    <a:pt x="274320" y="137159"/>
                  </a:lnTo>
                  <a:lnTo>
                    <a:pt x="273120" y="119178"/>
                  </a:lnTo>
                  <a:lnTo>
                    <a:pt x="255955" y="68757"/>
                  </a:lnTo>
                  <a:lnTo>
                    <a:pt x="220724" y="28306"/>
                  </a:lnTo>
                  <a:lnTo>
                    <a:pt x="172753" y="4722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335104" y="2768297"/>
            <a:ext cx="41910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666666"/>
                </a:solidFill>
                <a:latin typeface="Calibri"/>
                <a:cs typeface="Calibri"/>
              </a:rPr>
              <a:t>Views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941620" y="3278418"/>
            <a:ext cx="83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7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845964" y="3556622"/>
            <a:ext cx="274320" cy="558165"/>
            <a:chOff x="4845964" y="3556622"/>
            <a:chExt cx="274320" cy="558165"/>
          </a:xfrm>
        </p:grpSpPr>
        <p:sp>
          <p:nvSpPr>
            <p:cNvPr id="56" name="object 56"/>
            <p:cNvSpPr/>
            <p:nvPr/>
          </p:nvSpPr>
          <p:spPr>
            <a:xfrm>
              <a:off x="4983479" y="3566161"/>
              <a:ext cx="635" cy="274320"/>
            </a:xfrm>
            <a:custGeom>
              <a:avLst/>
              <a:gdLst/>
              <a:ahLst/>
              <a:cxnLst/>
              <a:rect l="l" t="t" r="r" b="b"/>
              <a:pathLst>
                <a:path w="635" h="274320">
                  <a:moveTo>
                    <a:pt x="0" y="0"/>
                  </a:moveTo>
                  <a:lnTo>
                    <a:pt x="355" y="274319"/>
                  </a:lnTo>
                </a:path>
              </a:pathLst>
            </a:custGeom>
            <a:ln w="19079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845964" y="384012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137160" y="0"/>
                  </a:moveTo>
                  <a:lnTo>
                    <a:pt x="84710" y="10474"/>
                  </a:lnTo>
                  <a:lnTo>
                    <a:pt x="40182" y="40182"/>
                  </a:lnTo>
                  <a:lnTo>
                    <a:pt x="10474" y="84710"/>
                  </a:lnTo>
                  <a:lnTo>
                    <a:pt x="0" y="137159"/>
                  </a:lnTo>
                  <a:lnTo>
                    <a:pt x="1197" y="155141"/>
                  </a:lnTo>
                  <a:lnTo>
                    <a:pt x="18351" y="205917"/>
                  </a:lnTo>
                  <a:lnTo>
                    <a:pt x="53745" y="246013"/>
                  </a:lnTo>
                  <a:lnTo>
                    <a:pt x="101606" y="269590"/>
                  </a:lnTo>
                  <a:lnTo>
                    <a:pt x="137160" y="274319"/>
                  </a:lnTo>
                  <a:lnTo>
                    <a:pt x="155141" y="273120"/>
                  </a:lnTo>
                  <a:lnTo>
                    <a:pt x="205917" y="255955"/>
                  </a:lnTo>
                  <a:lnTo>
                    <a:pt x="246013" y="220724"/>
                  </a:lnTo>
                  <a:lnTo>
                    <a:pt x="269590" y="172753"/>
                  </a:lnTo>
                  <a:lnTo>
                    <a:pt x="274320" y="137159"/>
                  </a:lnTo>
                  <a:lnTo>
                    <a:pt x="273120" y="119178"/>
                  </a:lnTo>
                  <a:lnTo>
                    <a:pt x="255955" y="68757"/>
                  </a:lnTo>
                  <a:lnTo>
                    <a:pt x="220724" y="28306"/>
                  </a:lnTo>
                  <a:lnTo>
                    <a:pt x="172753" y="4722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5335104" y="3316937"/>
            <a:ext cx="85598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666666"/>
                </a:solidFill>
                <a:latin typeface="Calibri"/>
                <a:cs typeface="Calibri"/>
              </a:rPr>
              <a:t>Cohort/RFM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941620" y="3827058"/>
            <a:ext cx="83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b="1" spc="-50" dirty="0">
                <a:solidFill>
                  <a:srgbClr val="666666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335104" y="3865577"/>
            <a:ext cx="6496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666666"/>
                </a:solidFill>
                <a:latin typeface="Calibri"/>
                <a:cs typeface="Calibri"/>
              </a:rPr>
              <a:t>Capstone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164" y="273966"/>
            <a:ext cx="7680959" cy="457200"/>
          </a:xfrm>
          <a:custGeom>
            <a:avLst/>
            <a:gdLst/>
            <a:ahLst/>
            <a:cxnLst/>
            <a:rect l="l" t="t" r="r" b="b"/>
            <a:pathLst>
              <a:path w="7680959" h="457200">
                <a:moveTo>
                  <a:pt x="7680591" y="0"/>
                </a:moveTo>
                <a:lnTo>
                  <a:pt x="0" y="0"/>
                </a:lnTo>
                <a:lnTo>
                  <a:pt x="0" y="456831"/>
                </a:lnTo>
                <a:lnTo>
                  <a:pt x="3840479" y="456831"/>
                </a:lnTo>
                <a:lnTo>
                  <a:pt x="7680591" y="456831"/>
                </a:lnTo>
                <a:lnTo>
                  <a:pt x="7680591" y="0"/>
                </a:lnTo>
                <a:close/>
              </a:path>
            </a:pathLst>
          </a:custGeom>
          <a:solidFill>
            <a:srgbClr val="24D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70655" y="338841"/>
            <a:ext cx="219964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0" spc="-210" dirty="0">
                <a:solidFill>
                  <a:srgbClr val="FFFFFF"/>
                </a:solidFill>
                <a:latin typeface="Segoe UI Symbol"/>
                <a:cs typeface="Segoe UI Symbol"/>
              </a:rPr>
              <a:t>📱</a:t>
            </a:r>
            <a:r>
              <a:rPr sz="1750" b="0" spc="-300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WhatsApp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Announcement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1164" y="822606"/>
            <a:ext cx="7680959" cy="4114800"/>
          </a:xfrm>
          <a:custGeom>
            <a:avLst/>
            <a:gdLst/>
            <a:ahLst/>
            <a:cxnLst/>
            <a:rect l="l" t="t" r="r" b="b"/>
            <a:pathLst>
              <a:path w="7680959" h="4114800">
                <a:moveTo>
                  <a:pt x="7680591" y="0"/>
                </a:moveTo>
                <a:lnTo>
                  <a:pt x="0" y="0"/>
                </a:lnTo>
                <a:lnTo>
                  <a:pt x="0" y="4114431"/>
                </a:lnTo>
                <a:lnTo>
                  <a:pt x="3840479" y="4114431"/>
                </a:lnTo>
                <a:lnTo>
                  <a:pt x="7680591" y="4114431"/>
                </a:lnTo>
                <a:lnTo>
                  <a:pt x="7680591" y="0"/>
                </a:lnTo>
                <a:close/>
              </a:path>
            </a:pathLst>
          </a:custGeom>
          <a:solidFill>
            <a:srgbClr val="E8F4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8456" y="874701"/>
            <a:ext cx="52393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Tomorrow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give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PROPER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types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add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RULES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protect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your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data: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8456" y="1088043"/>
            <a:ext cx="75565" cy="963294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1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1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1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1534" y="1110345"/>
            <a:ext cx="3972560" cy="963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900"/>
              </a:lnSpc>
              <a:spcBef>
                <a:spcPts val="100"/>
              </a:spcBef>
            </a:pP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Data</a:t>
            </a:r>
            <a:r>
              <a:rPr sz="11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Types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INT,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NUMERIC,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DATE, </a:t>
            </a:r>
            <a:r>
              <a:rPr sz="1100" spc="-30" dirty="0">
                <a:solidFill>
                  <a:srgbClr val="202020"/>
                </a:solidFill>
                <a:latin typeface="Calibri"/>
                <a:cs typeface="Calibri"/>
              </a:rPr>
              <a:t>TIMESTAMP,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BOOLEAN,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friends 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ALTER TABLE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convert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today's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TEXT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columns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into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their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proper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types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NOT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NULL,</a:t>
            </a:r>
            <a:r>
              <a:rPr sz="11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02020"/>
                </a:solidFill>
                <a:latin typeface="Calibri"/>
                <a:cs typeface="Calibri"/>
              </a:rPr>
              <a:t>DEFAULT,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UNIQUE,</a:t>
            </a:r>
            <a:r>
              <a:rPr sz="11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CHECK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data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integrity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constraints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PRIMARY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KEY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uniquely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identify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every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row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FOREIGN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KEY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100" spc="-3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link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tables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together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(the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'relational'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part!)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8456" y="2048151"/>
            <a:ext cx="6699250" cy="5372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Today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built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structure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filled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it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with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data.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Tomorrow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make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that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data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CORRECT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type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SAFE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by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rule.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1100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See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you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on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Data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 Types,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Constraints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&amp;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Keys!</a:t>
            </a:r>
            <a:r>
              <a:rPr sz="1100" spc="-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02020"/>
                </a:solidFill>
                <a:latin typeface="Calibri"/>
                <a:cs typeface="Calibri"/>
              </a:rPr>
              <a:t>Siraj</a:t>
            </a:r>
            <a:r>
              <a:rPr sz="1100" spc="-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02020"/>
                </a:solidFill>
                <a:latin typeface="Calibri"/>
                <a:cs typeface="Calibri"/>
              </a:rPr>
              <a:t>Sir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8071</Words>
  <Application>Microsoft Office PowerPoint</Application>
  <PresentationFormat>Custom</PresentationFormat>
  <Paragraphs>772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Yu Gothic</vt:lpstr>
      <vt:lpstr>Arial MT</vt:lpstr>
      <vt:lpstr>Calibri</vt:lpstr>
      <vt:lpstr>Courier New</vt:lpstr>
      <vt:lpstr>Georgia</vt:lpstr>
      <vt:lpstr>Segoe UI Symbol</vt:lpstr>
      <vt:lpstr>Office Theme</vt:lpstr>
      <vt:lpstr>DDL &amp; DML</vt:lpstr>
      <vt:lpstr>📱 WhatsApp Announcement</vt:lpstr>
      <vt:lpstr>TODAY'S AGENDA (2 Hours)</vt:lpstr>
      <vt:lpstr>5-Minute Memory Check</vt:lpstr>
      <vt:lpstr>The Architect, the Builder, and the Resident (1/2)</vt:lpstr>
      <vt:lpstr>The Architect, the Builder, and the Resident (2/2)</vt:lpstr>
      <vt:lpstr>Today's Big Idea: Every Column Is TEXT</vt:lpstr>
      <vt:lpstr>CREATE DATABASE - The Empty Plot of Land</vt:lpstr>
      <vt:lpstr>CREATE SCHEMA - Folders Inside the Database (1/4)</vt:lpstr>
      <vt:lpstr>CREATE SCHEMA - Folders Inside the Database (2/4)</vt:lpstr>
      <vt:lpstr>CREATE TABLE - The Main Event (1/5)</vt:lpstr>
      <vt:lpstr>CREATE TABLE - The Main Event (2/5)</vt:lpstr>
      <vt:lpstr>CREATE TABLE - The Main Event (3/5)</vt:lpstr>
      <vt:lpstr>CREATE TABLE - The Main Event (4/5)</vt:lpstr>
      <vt:lpstr>CREATE TABLE - The Main Event (5/5)</vt:lpstr>
      <vt:lpstr>Naming Conventions - The Unwritten Rules</vt:lpstr>
      <vt:lpstr>CREATE TABLE IF NOT EXISTS - The Safety Net</vt:lpstr>
      <vt:lpstr>DROP - The Demolition Crew</vt:lpstr>
      <vt:lpstr>DDL vs DML - The Line That Confuses Everyone</vt:lpstr>
      <vt:lpstr>PRACTICE BLOCK 1 - DDL: Building Structures</vt:lpstr>
      <vt:lpstr>EASY</vt:lpstr>
      <vt:lpstr>Answer</vt:lpstr>
      <vt:lpstr>MEDIUM</vt:lpstr>
      <vt:lpstr>Answer (1/2)</vt:lpstr>
      <vt:lpstr>Answer (2/2)</vt:lpstr>
      <vt:lpstr>HARD</vt:lpstr>
      <vt:lpstr>Answer (1/2)</vt:lpstr>
      <vt:lpstr>Answer (2/2)</vt:lpstr>
      <vt:lpstr>CRAZY</vt:lpstr>
      <vt:lpstr>Introspection Query</vt:lpstr>
      <vt:lpstr>Answer (1/2)</vt:lpstr>
      <vt:lpstr>Answer (2/2)</vt:lpstr>
      <vt:lpstr>The Empty College Analogy</vt:lpstr>
      <vt:lpstr>INSERT INTO - Adding Data (1/2)</vt:lpstr>
      <vt:lpstr>INSERT INTO - Adding Data (2/2)</vt:lpstr>
      <vt:lpstr>UPDATE - Changing Existing Data (1/2)</vt:lpstr>
      <vt:lpstr>UPDATE - Changing Existing Data (2/2)</vt:lpstr>
      <vt:lpstr>Feeling the Pain of All-TEXT (and why proper data types fix it)</vt:lpstr>
      <vt:lpstr>DELETE - Removing Data</vt:lpstr>
      <vt:lpstr>TRUNCATE - The Nuclear Option</vt:lpstr>
      <vt:lpstr>DROP vs TRUNCATE vs DELETE</vt:lpstr>
      <vt:lpstr>PRACTICE BLOCK 2 - DML: Putting Data In</vt:lpstr>
      <vt:lpstr>EASY</vt:lpstr>
      <vt:lpstr>Answer</vt:lpstr>
      <vt:lpstr>MEDIUM</vt:lpstr>
      <vt:lpstr>Answer</vt:lpstr>
      <vt:lpstr>HARD</vt:lpstr>
      <vt:lpstr>Answer</vt:lpstr>
      <vt:lpstr>CRAZY</vt:lpstr>
      <vt:lpstr>Answer (1/2)</vt:lpstr>
      <vt:lpstr>Answer (2/2)</vt:lpstr>
      <vt:lpstr>Key Takeaways (1/2)</vt:lpstr>
      <vt:lpstr>Key Takeaways (2/2)</vt:lpstr>
      <vt:lpstr>DDL &amp; DML - Quick Reference</vt:lpstr>
      <vt:lpstr>DDL &amp; DML - Quick Reference</vt:lpstr>
      <vt:lpstr>INTERVIEW QUESTION BANK - DDL &amp; DML</vt:lpstr>
      <vt:lpstr>Interview Questions - DDL &amp; DML (1/5)</vt:lpstr>
      <vt:lpstr>Interview Questions - DDL &amp; DML (2/5)</vt:lpstr>
      <vt:lpstr>Interview Questions - DDL &amp; DML (3/5)</vt:lpstr>
      <vt:lpstr>Interview Questions - DDL &amp; DML (4/5)</vt:lpstr>
      <vt:lpstr>Interview Questions - DDL &amp; DML (5/5)</vt:lpstr>
      <vt:lpstr>DDL &amp; DML Self-Check (12 Questions)</vt:lpstr>
      <vt:lpstr>DDL &amp; DML Take-Home Challenge</vt:lpstr>
      <vt:lpstr>YOUR SQL JOURNEY</vt:lpstr>
      <vt:lpstr>📱 WhatsApp Announcement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DDL &amp; DML — RetailMart V3 SQL</dc:title>
  <dc:subject>SQL Masterclass — RetailMart V3</dc:subject>
  <dc:creator>AccioJob — Siraj Sir</dc:creator>
  <cp:lastModifiedBy>Ankit Kumar</cp:lastModifiedBy>
  <cp:revision>1</cp:revision>
  <dcterms:created xsi:type="dcterms:W3CDTF">2026-09-15T06:10:21Z</dcterms:created>
  <dcterms:modified xsi:type="dcterms:W3CDTF">2026-09-15T06:16:18Z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2026-08-02T00:00:00Z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26.2.3.2 (AARCH64)</vt:lpwstr>
  </property>
  <property fmtid="{D5CDD505-2E9C-101B-9397-08002B2CF9AE}" pid="6" name="LastSaved">
    <vt:filetime>2026-08-02T00:00:00Z</vt:filetime>
  </property>
</Properties>
</file>